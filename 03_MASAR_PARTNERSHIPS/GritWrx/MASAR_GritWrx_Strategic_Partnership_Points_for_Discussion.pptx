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24"/>
  </p:notesMasterIdLst>
  <p:sldIdLst>
    <p:sldId id="256" r:id="rId3"/>
    <p:sldId id="257" r:id="rId4"/>
    <p:sldId id="272" r:id="rId5"/>
    <p:sldId id="273" r:id="rId6"/>
    <p:sldId id="274" r:id="rId7"/>
    <p:sldId id="258" r:id="rId8"/>
    <p:sldId id="259" r:id="rId9"/>
    <p:sldId id="275" r:id="rId10"/>
    <p:sldId id="276" r:id="rId11"/>
    <p:sldId id="260" r:id="rId12"/>
    <p:sldId id="261" r:id="rId13"/>
    <p:sldId id="262" r:id="rId14"/>
    <p:sldId id="263" r:id="rId15"/>
    <p:sldId id="264" r:id="rId16"/>
    <p:sldId id="265" r:id="rId17"/>
    <p:sldId id="266" r:id="rId18"/>
    <p:sldId id="267" r:id="rId19"/>
    <p:sldId id="268" r:id="rId20"/>
    <p:sldId id="269" r:id="rId21"/>
    <p:sldId id="271" r:id="rId22"/>
    <p:sldId id="270"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48" d="100"/>
          <a:sy n="48" d="100"/>
        </p:scale>
        <p:origin x="888" y="51"/>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74487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افتتاحية: هذا ليس عرضًا نهائيًا ولا التزامًا من أي طرف. الهدف هو استكشاف ما إذا كانت هناك مساحة حقيقية لشراكة استراتيجية بين MASAR وGritWrx، ثم تحديد الخطوات المناسبة بناءً على ما نتعلمه.</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اشرح أن التوقيت مناسب لأن الأصول التعليمية موجودة بالفعل، لكن الطبقة التقنية والتجارية ما زالت تحتاج إلى تنظيم وبناء تدريجي.</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هذه الشريحة مهمة جدًا: مسار لا تبحث عن منفذ لموقع فقط. الفكرة هي استكشاف طبقة تقنية يمكن أن تحمل أصول ومنتجات متعددة، مع البناء التدريجي.</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اعتمد على التعريف الموجود في العرض السابق: living, adaptive educational system، مع إبراز الوحدات والتفريد والدعم البشري.</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326112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35780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هذه الشريحة تعيد توازن العلاقة: مسار لا تطلب تقنية فقط؛ لديها أصول تربوية وخبرة واتجاه سوقي. الشراكة المحتملة تضيف طبقة تقنية وتجارية إلى ذلك.</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لا تقدّم الشراكة كأن أحد الطرفين ينفذ للآخر. ركّز على التكامل: مسار تحمل الأصل التربوي، وGritWrx قد تضيف قدرات المنتج والتقنية والتنفيذ.</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هذه الصورة تربط ما تم بناؤه في MASAR: التشخيص، الخطة، التنفيذ والمتابعة. الهدف التقني هو جعل الدورة متصلة وقابلة للتوسع.</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قدّم هذه العناصر كمساحة استكشاف فقط. لا تدخل في تفاصيل تقنية أو وعود قبل جلسة اكتشاف مشتركة.</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هذه شريحة مرنة جدًا. الهدف عدم حصر GritWrx في دور المطور، ولكن أيضًا عدم افتراض أنها ستتولى كل شيء. نحدد لاحقًا ما يناسب الطرفين.</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توجد عدة جماهير محتملة. لا نحتاج إلى بناء كل شيء دفعة واحدة؛ الأفضل اختبار حالة استخدام ذات قيمة واضحة ثم التوسع.</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الفكرة مستوحاة أيضًا من عرض GritWrx السابق: ابدأ باختبار محدود ومحدد، ثم قرر التوسع بناءً على التعلم. لكن هنا نعرضها كمنهج عام للمباحثات، لا كعرض تجاري نهائي.</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هذه هي الشريحة البديلة عن النسب وأنواع الشركات. نبدأ باكتشاف ثم مواءمة ثم أولوية ثم اختبار ثم مراجعة. بعد ذلك فقط نتحدث عن الهيكل المناسب.</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هذه الشريحة تستبدل النسب والكيانات المقترحة. كل ما فيها أفكار عامة فقط. لا توجد نسبة ملكية أو هيكل قانوني مقترح في هذه المرحلة.</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هذه الشريحة تعكس ما نريد حمايته في بداية العلاقة: الملكية الفكرية، البناء التدريجي، وضوح الأدوار، التعلم من الواقع، والمنفعة المتبادلة.</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ملاحظات المتحدث:</a:t>
            </a:r>
          </a:p>
          <a:p>
            <a:r>
              <a:t>هذه الشريحة ليست قائمة شروط أو التزامات مقترحة، وإنما أجندة أولية تساعدنا على تنظيم الحوار مع GritWrx. الهدف هو تحديد ما نحتاج إلى فهمه والاتفاق عليه تدريجيًا: نقطة البداية، الإطار الزمني، الموارد والتقديرات المالية، الفريق، آليات القياس، الحوكمة، وإمكانات التوسع. جميع هذه النقاط قابلة للتعديل، ولا يُفترض اتخاذ قرارات نهائية بشأنها في الاجتماع الأول.</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الخاتمة: لا نطلب قرارًا الآن. المطلوب جلسة عمل حقيقية لفهم الأصول والقدرات وتحديد أول فرصة عملية. إذا وجدنا توافقًا، ننتقل للخطوة التالية بناءً على ما تعلمناه.</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33657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9071406"/>
      </p:ext>
    </p:extLst>
  </p:cSld>
  <p:clrMap bg1="lt1" tx1="dk1" bg2="lt2" tx2="dk2" accent1="accent1" accent2="accent2" accent3="accent3" accent4="accent4" accent5="accent5" accent6="accent6" hlink="hlink" folHlink="folHlink"/>
  <p:sldLayoutIdLst>
    <p:sldLayoutId id="214748366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drabeer66.github.io/Masar-/01_MASAR_TOOLS_PRODUCTS/Skill_Gap_Diagnostic/skill-gap-diagnostic.html" TargetMode="External"/><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hyperlink" Target="https://drabeer66.github.io/Masar-/01_MASAR_TOOLS_PRODUCTS/Monitoring_Tools/monitoring-dashboard.html" TargetMode="External"/><Relationship Id="rId5" Type="http://schemas.openxmlformats.org/officeDocument/2006/relationships/hyperlink" Target="https://drabeer66.github.io/Masar-/01_MASAR_TOOLS_PRODUCTS/Activity_Generator/activity-generator.html" TargetMode="External"/><Relationship Id="rId4" Type="http://schemas.openxmlformats.org/officeDocument/2006/relationships/hyperlink" Target="https://drabeer66.github.io/Masar-/01_MASAR_TOOLS_PRODUCTS/IEP_Planning/iep-builder-demo.html"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3A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502920"/>
            <a:ext cx="4572000" cy="411480"/>
          </a:xfrm>
          <a:prstGeom prst="rect">
            <a:avLst/>
          </a:prstGeom>
          <a:noFill/>
        </p:spPr>
        <p:txBody>
          <a:bodyPr wrap="square" anchor="t">
            <a:spAutoFit/>
          </a:bodyPr>
          <a:lstStyle/>
          <a:p>
            <a:pPr algn="l">
              <a:spcBef>
                <a:spcPts val="0"/>
              </a:spcBef>
              <a:spcAft>
                <a:spcPts val="0"/>
              </a:spcAft>
            </a:pPr>
            <a:r>
              <a:rPr sz="2200" b="1">
                <a:solidFill>
                  <a:srgbClr val="FFFFFF"/>
                </a:solidFill>
                <a:latin typeface="Aptos"/>
              </a:rPr>
              <a:t>MASAR  ×  GritWrx</a:t>
            </a:r>
          </a:p>
        </p:txBody>
      </p:sp>
      <p:sp>
        <p:nvSpPr>
          <p:cNvPr id="4" name="TextBox 3"/>
          <p:cNvSpPr txBox="1"/>
          <p:nvPr/>
        </p:nvSpPr>
        <p:spPr>
          <a:xfrm>
            <a:off x="658368" y="1325880"/>
            <a:ext cx="8686800" cy="658368"/>
          </a:xfrm>
          <a:prstGeom prst="rect">
            <a:avLst/>
          </a:prstGeom>
          <a:noFill/>
        </p:spPr>
        <p:txBody>
          <a:bodyPr wrap="square" anchor="t">
            <a:spAutoFit/>
          </a:bodyPr>
          <a:lstStyle/>
          <a:p>
            <a:pPr algn="l">
              <a:spcBef>
                <a:spcPts val="0"/>
              </a:spcBef>
              <a:spcAft>
                <a:spcPts val="0"/>
              </a:spcAft>
            </a:pPr>
            <a:r>
              <a:rPr sz="3400" b="1">
                <a:solidFill>
                  <a:srgbClr val="FFFFFF"/>
                </a:solidFill>
                <a:latin typeface="Aptos"/>
              </a:rPr>
              <a:t>Strategic Partnership Discussion</a:t>
            </a:r>
          </a:p>
        </p:txBody>
      </p:sp>
      <p:sp>
        <p:nvSpPr>
          <p:cNvPr id="5" name="TextBox 4"/>
          <p:cNvSpPr txBox="1"/>
          <p:nvPr/>
        </p:nvSpPr>
        <p:spPr>
          <a:xfrm>
            <a:off x="658368" y="2148840"/>
            <a:ext cx="8595360" cy="685800"/>
          </a:xfrm>
          <a:prstGeom prst="rect">
            <a:avLst/>
          </a:prstGeom>
          <a:noFill/>
        </p:spPr>
        <p:txBody>
          <a:bodyPr wrap="square" anchor="t">
            <a:spAutoFit/>
          </a:bodyPr>
          <a:lstStyle/>
          <a:p>
            <a:pPr algn="l">
              <a:spcBef>
                <a:spcPts val="0"/>
              </a:spcBef>
              <a:spcAft>
                <a:spcPts val="0"/>
              </a:spcAft>
            </a:pPr>
            <a:r>
              <a:rPr sz="1900" b="0">
                <a:solidFill>
                  <a:srgbClr val="DEE9F2"/>
                </a:solidFill>
                <a:latin typeface="Aptos"/>
              </a:rPr>
              <a:t>Exploring how educational IP, product thinking and technology could come together.</a:t>
            </a:r>
          </a:p>
        </p:txBody>
      </p:sp>
      <p:sp>
        <p:nvSpPr>
          <p:cNvPr id="6" name="Rounded Rectangle 5"/>
          <p:cNvSpPr/>
          <p:nvPr/>
        </p:nvSpPr>
        <p:spPr>
          <a:xfrm>
            <a:off x="658368" y="3246120"/>
            <a:ext cx="6812280" cy="960120"/>
          </a:xfrm>
          <a:prstGeom prst="roundRect">
            <a:avLst/>
          </a:prstGeom>
          <a:solidFill>
            <a:srgbClr val="264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96112" y="3529584"/>
            <a:ext cx="6309360" cy="347472"/>
          </a:xfrm>
          <a:prstGeom prst="rect">
            <a:avLst/>
          </a:prstGeom>
          <a:noFill/>
        </p:spPr>
        <p:txBody>
          <a:bodyPr wrap="square" anchor="t">
            <a:spAutoFit/>
          </a:bodyPr>
          <a:lstStyle/>
          <a:p>
            <a:pPr algn="ctr">
              <a:spcBef>
                <a:spcPts val="0"/>
              </a:spcBef>
              <a:spcAft>
                <a:spcPts val="0"/>
              </a:spcAft>
            </a:pPr>
            <a:r>
              <a:rPr sz="1500" b="1">
                <a:solidFill>
                  <a:srgbClr val="CAA143"/>
                </a:solidFill>
                <a:latin typeface="Aptos"/>
              </a:rPr>
              <a:t>A discussion framework — not a fixed proposal or binding offer.</a:t>
            </a:r>
          </a:p>
        </p:txBody>
      </p:sp>
      <p:sp>
        <p:nvSpPr>
          <p:cNvPr id="8" name="Rounded Rectangle 7"/>
          <p:cNvSpPr/>
          <p:nvPr/>
        </p:nvSpPr>
        <p:spPr>
          <a:xfrm>
            <a:off x="658368" y="4617720"/>
            <a:ext cx="2011680" cy="411480"/>
          </a:xfrm>
          <a:prstGeom prst="roundRect">
            <a:avLst/>
          </a:prstGeom>
          <a:solidFill>
            <a:srgbClr val="223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4727448"/>
            <a:ext cx="2011680" cy="164592"/>
          </a:xfrm>
          <a:prstGeom prst="rect">
            <a:avLst/>
          </a:prstGeom>
          <a:noFill/>
        </p:spPr>
        <p:txBody>
          <a:bodyPr wrap="square" anchor="t">
            <a:spAutoFit/>
          </a:bodyPr>
          <a:lstStyle/>
          <a:p>
            <a:pPr algn="ctr">
              <a:spcBef>
                <a:spcPts val="0"/>
              </a:spcBef>
              <a:spcAft>
                <a:spcPts val="0"/>
              </a:spcAft>
            </a:pPr>
            <a:r>
              <a:rPr sz="900" b="1">
                <a:solidFill>
                  <a:srgbClr val="1D9D97"/>
                </a:solidFill>
                <a:latin typeface="Aptos"/>
              </a:rPr>
              <a:t>Educational IP</a:t>
            </a:r>
          </a:p>
        </p:txBody>
      </p:sp>
      <p:sp>
        <p:nvSpPr>
          <p:cNvPr id="10" name="Rounded Rectangle 9"/>
          <p:cNvSpPr/>
          <p:nvPr/>
        </p:nvSpPr>
        <p:spPr>
          <a:xfrm>
            <a:off x="2926080" y="4617720"/>
            <a:ext cx="2011680" cy="411480"/>
          </a:xfrm>
          <a:prstGeom prst="roundRect">
            <a:avLst/>
          </a:prstGeom>
          <a:solidFill>
            <a:srgbClr val="223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926080" y="4727448"/>
            <a:ext cx="2011680" cy="164592"/>
          </a:xfrm>
          <a:prstGeom prst="rect">
            <a:avLst/>
          </a:prstGeom>
          <a:noFill/>
        </p:spPr>
        <p:txBody>
          <a:bodyPr wrap="square" anchor="t">
            <a:spAutoFit/>
          </a:bodyPr>
          <a:lstStyle/>
          <a:p>
            <a:pPr algn="ctr">
              <a:spcBef>
                <a:spcPts val="0"/>
              </a:spcBef>
              <a:spcAft>
                <a:spcPts val="0"/>
              </a:spcAft>
            </a:pPr>
            <a:r>
              <a:rPr sz="900" b="1">
                <a:solidFill>
                  <a:srgbClr val="4C7EAA"/>
                </a:solidFill>
                <a:latin typeface="Aptos"/>
              </a:rPr>
              <a:t>Product &amp; Technology</a:t>
            </a:r>
          </a:p>
        </p:txBody>
      </p:sp>
      <p:sp>
        <p:nvSpPr>
          <p:cNvPr id="12" name="Rounded Rectangle 11"/>
          <p:cNvSpPr/>
          <p:nvPr/>
        </p:nvSpPr>
        <p:spPr>
          <a:xfrm>
            <a:off x="5193792" y="4617720"/>
            <a:ext cx="2011680" cy="411480"/>
          </a:xfrm>
          <a:prstGeom prst="roundRect">
            <a:avLst/>
          </a:prstGeom>
          <a:solidFill>
            <a:srgbClr val="223E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193792" y="4727448"/>
            <a:ext cx="2011680" cy="164592"/>
          </a:xfrm>
          <a:prstGeom prst="rect">
            <a:avLst/>
          </a:prstGeom>
          <a:noFill/>
        </p:spPr>
        <p:txBody>
          <a:bodyPr wrap="square" anchor="t">
            <a:spAutoFit/>
          </a:bodyPr>
          <a:lstStyle/>
          <a:p>
            <a:pPr algn="ctr">
              <a:spcBef>
                <a:spcPts val="0"/>
              </a:spcBef>
              <a:spcAft>
                <a:spcPts val="0"/>
              </a:spcAft>
            </a:pPr>
            <a:r>
              <a:rPr sz="900" b="1">
                <a:solidFill>
                  <a:srgbClr val="CAA143"/>
                </a:solidFill>
                <a:latin typeface="Aptos"/>
              </a:rPr>
              <a:t>Market Development</a:t>
            </a:r>
          </a:p>
        </p:txBody>
      </p:sp>
      <p:sp>
        <p:nvSpPr>
          <p:cNvPr id="15" name="TextBox 14"/>
          <p:cNvSpPr txBox="1"/>
          <p:nvPr/>
        </p:nvSpPr>
        <p:spPr>
          <a:xfrm>
            <a:off x="566928" y="6473952"/>
            <a:ext cx="1828800" cy="182880"/>
          </a:xfrm>
          <a:prstGeom prst="rect">
            <a:avLst/>
          </a:prstGeom>
          <a:noFill/>
        </p:spPr>
        <p:txBody>
          <a:bodyPr wrap="square" anchor="t">
            <a:spAutoFit/>
          </a:bodyPr>
          <a:lstStyle/>
          <a:p>
            <a:pPr algn="l">
              <a:spcBef>
                <a:spcPts val="0"/>
              </a:spcBef>
              <a:spcAft>
                <a:spcPts val="0"/>
              </a:spcAft>
            </a:pPr>
            <a:r>
              <a:rPr sz="800" b="1">
                <a:solidFill>
                  <a:srgbClr val="FFFFFF"/>
                </a:solidFill>
                <a:latin typeface="Aptos"/>
              </a:rPr>
              <a:t>MASAR | مسار</a:t>
            </a:r>
          </a:p>
        </p:txBody>
      </p:sp>
      <p:sp>
        <p:nvSpPr>
          <p:cNvPr id="16" name="TextBox 15"/>
          <p:cNvSpPr txBox="1"/>
          <p:nvPr/>
        </p:nvSpPr>
        <p:spPr>
          <a:xfrm>
            <a:off x="11109960" y="6473952"/>
            <a:ext cx="502920" cy="182880"/>
          </a:xfrm>
          <a:prstGeom prst="rect">
            <a:avLst/>
          </a:prstGeom>
          <a:noFill/>
        </p:spPr>
        <p:txBody>
          <a:bodyPr wrap="square" anchor="t">
            <a:spAutoFit/>
          </a:bodyPr>
          <a:lstStyle/>
          <a:p>
            <a:pPr algn="r">
              <a:spcBef>
                <a:spcPts val="0"/>
              </a:spcBef>
              <a:spcAft>
                <a:spcPts val="0"/>
              </a:spcAft>
            </a:pPr>
            <a:r>
              <a:rPr sz="800" b="1">
                <a:solidFill>
                  <a:srgbClr val="B1C4D6"/>
                </a:solidFill>
                <a:latin typeface="Aptos"/>
              </a:rP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46888"/>
            <a:ext cx="3200400" cy="228600"/>
          </a:xfrm>
          <a:prstGeom prst="rect">
            <a:avLst/>
          </a:prstGeom>
          <a:noFill/>
        </p:spPr>
        <p:txBody>
          <a:bodyPr wrap="square" anchor="t">
            <a:spAutoFit/>
          </a:bodyPr>
          <a:lstStyle/>
          <a:p>
            <a:pPr algn="l">
              <a:spcBef>
                <a:spcPts val="0"/>
              </a:spcBef>
              <a:spcAft>
                <a:spcPts val="0"/>
              </a:spcAft>
            </a:pPr>
            <a:r>
              <a:rPr sz="900" b="1">
                <a:solidFill>
                  <a:srgbClr val="CAA143"/>
                </a:solidFill>
                <a:latin typeface="Aptos"/>
              </a:rPr>
              <a:t>MASAR | مسار   •   02</a:t>
            </a:r>
          </a:p>
        </p:txBody>
      </p:sp>
      <p:sp>
        <p:nvSpPr>
          <p:cNvPr id="4" name="TextBox 3"/>
          <p:cNvSpPr txBox="1"/>
          <p:nvPr/>
        </p:nvSpPr>
        <p:spPr>
          <a:xfrm>
            <a:off x="594360" y="621792"/>
            <a:ext cx="10972800" cy="594360"/>
          </a:xfrm>
          <a:prstGeom prst="rect">
            <a:avLst/>
          </a:prstGeom>
          <a:noFill/>
        </p:spPr>
        <p:txBody>
          <a:bodyPr wrap="square" anchor="t">
            <a:spAutoFit/>
          </a:bodyPr>
          <a:lstStyle/>
          <a:p>
            <a:pPr algn="l">
              <a:spcBef>
                <a:spcPts val="0"/>
              </a:spcBef>
              <a:spcAft>
                <a:spcPts val="0"/>
              </a:spcAft>
            </a:pPr>
            <a:r>
              <a:rPr sz="2800" b="1">
                <a:solidFill>
                  <a:srgbClr val="183A5B"/>
                </a:solidFill>
                <a:latin typeface="Aptos"/>
              </a:rPr>
              <a:t>Why MASAR, Why Now</a:t>
            </a:r>
          </a:p>
        </p:txBody>
      </p:sp>
      <p:sp>
        <p:nvSpPr>
          <p:cNvPr id="5" name="TextBox 4"/>
          <p:cNvSpPr txBox="1"/>
          <p:nvPr/>
        </p:nvSpPr>
        <p:spPr>
          <a:xfrm>
            <a:off x="612648" y="1261872"/>
            <a:ext cx="10789920" cy="384048"/>
          </a:xfrm>
          <a:prstGeom prst="rect">
            <a:avLst/>
          </a:prstGeom>
          <a:noFill/>
        </p:spPr>
        <p:txBody>
          <a:bodyPr wrap="square" anchor="t">
            <a:spAutoFit/>
          </a:bodyPr>
          <a:lstStyle/>
          <a:p>
            <a:pPr algn="l">
              <a:spcBef>
                <a:spcPts val="0"/>
              </a:spcBef>
              <a:spcAft>
                <a:spcPts val="0"/>
              </a:spcAft>
            </a:pPr>
            <a:r>
              <a:rPr sz="1150" b="0">
                <a:solidFill>
                  <a:srgbClr val="5C6A78"/>
                </a:solidFill>
                <a:latin typeface="Aptos"/>
              </a:rPr>
              <a:t>The educational foundation exists. The next opportunity is to build the right enabling layer.</a:t>
            </a:r>
          </a:p>
        </p:txBody>
      </p:sp>
      <p:sp>
        <p:nvSpPr>
          <p:cNvPr id="6" name="Oval 5"/>
          <p:cNvSpPr/>
          <p:nvPr/>
        </p:nvSpPr>
        <p:spPr>
          <a:xfrm>
            <a:off x="685800" y="1892807"/>
            <a:ext cx="530352" cy="530352"/>
          </a:xfrm>
          <a:prstGeom prst="ellipse">
            <a:avLst/>
          </a:prstGeom>
          <a:solidFill>
            <a:srgbClr val="1D9D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929384"/>
            <a:ext cx="438912" cy="457200"/>
          </a:xfrm>
          <a:prstGeom prst="rect">
            <a:avLst/>
          </a:prstGeom>
          <a:noFill/>
        </p:spPr>
        <p:txBody>
          <a:bodyPr wrap="square" anchor="ctr">
            <a:spAutoFit/>
          </a:bodyPr>
          <a:lstStyle/>
          <a:p>
            <a:pPr algn="ctr">
              <a:spcBef>
                <a:spcPts val="0"/>
              </a:spcBef>
              <a:spcAft>
                <a:spcPts val="0"/>
              </a:spcAft>
            </a:pPr>
            <a:r>
              <a:rPr sz="900" b="1">
                <a:solidFill>
                  <a:srgbClr val="FFFFFF"/>
                </a:solidFill>
                <a:latin typeface="Aptos"/>
              </a:rPr>
              <a:t>1</a:t>
            </a:r>
          </a:p>
        </p:txBody>
      </p:sp>
      <p:sp>
        <p:nvSpPr>
          <p:cNvPr id="8" name="TextBox 7"/>
          <p:cNvSpPr txBox="1"/>
          <p:nvPr/>
        </p:nvSpPr>
        <p:spPr>
          <a:xfrm>
            <a:off x="1417320" y="1783080"/>
            <a:ext cx="2743200" cy="292608"/>
          </a:xfrm>
          <a:prstGeom prst="rect">
            <a:avLst/>
          </a:prstGeom>
          <a:noFill/>
        </p:spPr>
        <p:txBody>
          <a:bodyPr wrap="square" anchor="t">
            <a:spAutoFit/>
          </a:bodyPr>
          <a:lstStyle/>
          <a:p>
            <a:pPr algn="l">
              <a:spcBef>
                <a:spcPts val="0"/>
              </a:spcBef>
              <a:spcAft>
                <a:spcPts val="0"/>
              </a:spcAft>
            </a:pPr>
            <a:r>
              <a:rPr sz="1400" b="1">
                <a:solidFill>
                  <a:srgbClr val="183A5B"/>
                </a:solidFill>
                <a:latin typeface="Aptos"/>
              </a:rPr>
              <a:t>Real educational assets</a:t>
            </a:r>
          </a:p>
        </p:txBody>
      </p:sp>
      <p:sp>
        <p:nvSpPr>
          <p:cNvPr id="9" name="TextBox 8"/>
          <p:cNvSpPr txBox="1"/>
          <p:nvPr/>
        </p:nvSpPr>
        <p:spPr>
          <a:xfrm>
            <a:off x="4069080" y="1783080"/>
            <a:ext cx="7132320" cy="566928"/>
          </a:xfrm>
          <a:prstGeom prst="rect">
            <a:avLst/>
          </a:prstGeom>
          <a:noFill/>
        </p:spPr>
        <p:txBody>
          <a:bodyPr wrap="square" anchor="t">
            <a:spAutoFit/>
          </a:bodyPr>
          <a:lstStyle/>
          <a:p>
            <a:pPr algn="l">
              <a:spcBef>
                <a:spcPts val="0"/>
              </a:spcBef>
              <a:spcAft>
                <a:spcPts val="0"/>
              </a:spcAft>
            </a:pPr>
            <a:r>
              <a:rPr sz="1100" b="0">
                <a:solidFill>
                  <a:srgbClr val="5C6A78"/>
                </a:solidFill>
                <a:latin typeface="Aptos"/>
              </a:rPr>
              <a:t>MASAR has frameworks, skills banks, diagnostic concepts, IEP methodology, tools and school-solution thinking.</a:t>
            </a:r>
          </a:p>
        </p:txBody>
      </p:sp>
      <p:sp>
        <p:nvSpPr>
          <p:cNvPr id="10" name="Oval 9"/>
          <p:cNvSpPr/>
          <p:nvPr/>
        </p:nvSpPr>
        <p:spPr>
          <a:xfrm>
            <a:off x="685800" y="2944368"/>
            <a:ext cx="530352" cy="530352"/>
          </a:xfrm>
          <a:prstGeom prst="ellipse">
            <a:avLst/>
          </a:prstGeom>
          <a:solidFill>
            <a:srgbClr val="4C7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2980944"/>
            <a:ext cx="438912" cy="457200"/>
          </a:xfrm>
          <a:prstGeom prst="rect">
            <a:avLst/>
          </a:prstGeom>
          <a:noFill/>
        </p:spPr>
        <p:txBody>
          <a:bodyPr wrap="square" anchor="ctr">
            <a:spAutoFit/>
          </a:bodyPr>
          <a:lstStyle/>
          <a:p>
            <a:pPr algn="ctr">
              <a:spcBef>
                <a:spcPts val="0"/>
              </a:spcBef>
              <a:spcAft>
                <a:spcPts val="0"/>
              </a:spcAft>
            </a:pPr>
            <a:r>
              <a:rPr sz="900" b="1">
                <a:solidFill>
                  <a:srgbClr val="FFFFFF"/>
                </a:solidFill>
                <a:latin typeface="Aptos"/>
              </a:rPr>
              <a:t>2</a:t>
            </a:r>
          </a:p>
        </p:txBody>
      </p:sp>
      <p:sp>
        <p:nvSpPr>
          <p:cNvPr id="12" name="TextBox 11"/>
          <p:cNvSpPr txBox="1"/>
          <p:nvPr/>
        </p:nvSpPr>
        <p:spPr>
          <a:xfrm>
            <a:off x="1417320" y="2834639"/>
            <a:ext cx="2743200" cy="292608"/>
          </a:xfrm>
          <a:prstGeom prst="rect">
            <a:avLst/>
          </a:prstGeom>
          <a:noFill/>
        </p:spPr>
        <p:txBody>
          <a:bodyPr wrap="square" anchor="t">
            <a:spAutoFit/>
          </a:bodyPr>
          <a:lstStyle/>
          <a:p>
            <a:pPr algn="l">
              <a:spcBef>
                <a:spcPts val="0"/>
              </a:spcBef>
              <a:spcAft>
                <a:spcPts val="0"/>
              </a:spcAft>
            </a:pPr>
            <a:r>
              <a:rPr sz="1400" b="1">
                <a:solidFill>
                  <a:srgbClr val="183A5B"/>
                </a:solidFill>
                <a:latin typeface="Aptos"/>
              </a:rPr>
              <a:t>Working concepts</a:t>
            </a:r>
          </a:p>
        </p:txBody>
      </p:sp>
      <p:sp>
        <p:nvSpPr>
          <p:cNvPr id="13" name="TextBox 12"/>
          <p:cNvSpPr txBox="1"/>
          <p:nvPr/>
        </p:nvSpPr>
        <p:spPr>
          <a:xfrm>
            <a:off x="4069080" y="2834639"/>
            <a:ext cx="7132320" cy="566928"/>
          </a:xfrm>
          <a:prstGeom prst="rect">
            <a:avLst/>
          </a:prstGeom>
          <a:noFill/>
        </p:spPr>
        <p:txBody>
          <a:bodyPr wrap="square" anchor="t">
            <a:spAutoFit/>
          </a:bodyPr>
          <a:lstStyle/>
          <a:p>
            <a:pPr algn="l">
              <a:spcBef>
                <a:spcPts val="0"/>
              </a:spcBef>
              <a:spcAft>
                <a:spcPts val="0"/>
              </a:spcAft>
            </a:pPr>
            <a:r>
              <a:rPr sz="1100" b="0">
                <a:solidFill>
                  <a:srgbClr val="5C6A78"/>
                </a:solidFill>
                <a:latin typeface="Aptos"/>
              </a:rPr>
              <a:t>Several tools and a school package already exist as working demos / pilot material — this is not starting from a blank page.</a:t>
            </a:r>
          </a:p>
        </p:txBody>
      </p:sp>
      <p:sp>
        <p:nvSpPr>
          <p:cNvPr id="14" name="Oval 13"/>
          <p:cNvSpPr/>
          <p:nvPr/>
        </p:nvSpPr>
        <p:spPr>
          <a:xfrm>
            <a:off x="685800" y="3995928"/>
            <a:ext cx="530352" cy="530352"/>
          </a:xfrm>
          <a:prstGeom prst="ellipse">
            <a:avLst/>
          </a:prstGeom>
          <a:solidFill>
            <a:srgbClr val="CAA1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4032504"/>
            <a:ext cx="438912" cy="457200"/>
          </a:xfrm>
          <a:prstGeom prst="rect">
            <a:avLst/>
          </a:prstGeom>
          <a:noFill/>
        </p:spPr>
        <p:txBody>
          <a:bodyPr wrap="square" anchor="ctr">
            <a:spAutoFit/>
          </a:bodyPr>
          <a:lstStyle/>
          <a:p>
            <a:pPr algn="ctr">
              <a:spcBef>
                <a:spcPts val="0"/>
              </a:spcBef>
              <a:spcAft>
                <a:spcPts val="0"/>
              </a:spcAft>
            </a:pPr>
            <a:r>
              <a:rPr sz="900" b="1">
                <a:solidFill>
                  <a:srgbClr val="FFFFFF"/>
                </a:solidFill>
                <a:latin typeface="Aptos"/>
              </a:rPr>
              <a:t>3</a:t>
            </a:r>
          </a:p>
        </p:txBody>
      </p:sp>
      <p:sp>
        <p:nvSpPr>
          <p:cNvPr id="16" name="TextBox 15"/>
          <p:cNvSpPr txBox="1"/>
          <p:nvPr/>
        </p:nvSpPr>
        <p:spPr>
          <a:xfrm>
            <a:off x="1417320" y="3886200"/>
            <a:ext cx="2743200" cy="292608"/>
          </a:xfrm>
          <a:prstGeom prst="rect">
            <a:avLst/>
          </a:prstGeom>
          <a:noFill/>
        </p:spPr>
        <p:txBody>
          <a:bodyPr wrap="square" anchor="t">
            <a:spAutoFit/>
          </a:bodyPr>
          <a:lstStyle/>
          <a:p>
            <a:pPr algn="l">
              <a:spcBef>
                <a:spcPts val="0"/>
              </a:spcBef>
              <a:spcAft>
                <a:spcPts val="0"/>
              </a:spcAft>
            </a:pPr>
            <a:r>
              <a:rPr sz="1400" b="1">
                <a:solidFill>
                  <a:srgbClr val="183A5B"/>
                </a:solidFill>
                <a:latin typeface="Aptos"/>
              </a:rPr>
              <a:t>A fragmented digital layer</a:t>
            </a:r>
          </a:p>
        </p:txBody>
      </p:sp>
      <p:sp>
        <p:nvSpPr>
          <p:cNvPr id="17" name="TextBox 16"/>
          <p:cNvSpPr txBox="1"/>
          <p:nvPr/>
        </p:nvSpPr>
        <p:spPr>
          <a:xfrm>
            <a:off x="4069080" y="3886200"/>
            <a:ext cx="7132320" cy="566928"/>
          </a:xfrm>
          <a:prstGeom prst="rect">
            <a:avLst/>
          </a:prstGeom>
          <a:noFill/>
        </p:spPr>
        <p:txBody>
          <a:bodyPr wrap="square" anchor="t">
            <a:spAutoFit/>
          </a:bodyPr>
          <a:lstStyle/>
          <a:p>
            <a:pPr algn="l">
              <a:spcBef>
                <a:spcPts val="0"/>
              </a:spcBef>
              <a:spcAft>
                <a:spcPts val="0"/>
              </a:spcAft>
            </a:pPr>
            <a:r>
              <a:rPr sz="1100" b="0">
                <a:solidFill>
                  <a:srgbClr val="5C6A78"/>
                </a:solidFill>
                <a:latin typeface="Aptos"/>
              </a:rPr>
              <a:t>The current assets need stronger integration, data flow, product infrastructure and scalable delivery.</a:t>
            </a:r>
          </a:p>
        </p:txBody>
      </p:sp>
      <p:sp>
        <p:nvSpPr>
          <p:cNvPr id="18" name="Oval 17"/>
          <p:cNvSpPr/>
          <p:nvPr/>
        </p:nvSpPr>
        <p:spPr>
          <a:xfrm>
            <a:off x="685800" y="5047488"/>
            <a:ext cx="530352" cy="530352"/>
          </a:xfrm>
          <a:prstGeom prst="ellipse">
            <a:avLst/>
          </a:prstGeom>
          <a:solidFill>
            <a:srgbClr val="1D9D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 y="5084064"/>
            <a:ext cx="438912" cy="457200"/>
          </a:xfrm>
          <a:prstGeom prst="rect">
            <a:avLst/>
          </a:prstGeom>
          <a:noFill/>
        </p:spPr>
        <p:txBody>
          <a:bodyPr wrap="square" anchor="ctr">
            <a:spAutoFit/>
          </a:bodyPr>
          <a:lstStyle/>
          <a:p>
            <a:pPr algn="ctr">
              <a:spcBef>
                <a:spcPts val="0"/>
              </a:spcBef>
              <a:spcAft>
                <a:spcPts val="0"/>
              </a:spcAft>
            </a:pPr>
            <a:r>
              <a:rPr sz="900" b="1">
                <a:solidFill>
                  <a:srgbClr val="FFFFFF"/>
                </a:solidFill>
                <a:latin typeface="Aptos"/>
              </a:rPr>
              <a:t>4</a:t>
            </a:r>
          </a:p>
        </p:txBody>
      </p:sp>
      <p:sp>
        <p:nvSpPr>
          <p:cNvPr id="20" name="TextBox 19"/>
          <p:cNvSpPr txBox="1"/>
          <p:nvPr/>
        </p:nvSpPr>
        <p:spPr>
          <a:xfrm>
            <a:off x="1417320" y="4937759"/>
            <a:ext cx="2743200" cy="292608"/>
          </a:xfrm>
          <a:prstGeom prst="rect">
            <a:avLst/>
          </a:prstGeom>
          <a:noFill/>
        </p:spPr>
        <p:txBody>
          <a:bodyPr wrap="square" anchor="t">
            <a:spAutoFit/>
          </a:bodyPr>
          <a:lstStyle/>
          <a:p>
            <a:pPr algn="l">
              <a:spcBef>
                <a:spcPts val="0"/>
              </a:spcBef>
              <a:spcAft>
                <a:spcPts val="0"/>
              </a:spcAft>
            </a:pPr>
            <a:r>
              <a:rPr sz="1400" b="1">
                <a:solidFill>
                  <a:srgbClr val="183A5B"/>
                </a:solidFill>
                <a:latin typeface="Aptos"/>
              </a:rPr>
              <a:t>A larger opportunity</a:t>
            </a:r>
          </a:p>
        </p:txBody>
      </p:sp>
      <p:sp>
        <p:nvSpPr>
          <p:cNvPr id="21" name="TextBox 20"/>
          <p:cNvSpPr txBox="1"/>
          <p:nvPr/>
        </p:nvSpPr>
        <p:spPr>
          <a:xfrm>
            <a:off x="4069080" y="4937759"/>
            <a:ext cx="7132320" cy="566928"/>
          </a:xfrm>
          <a:prstGeom prst="rect">
            <a:avLst/>
          </a:prstGeom>
          <a:noFill/>
        </p:spPr>
        <p:txBody>
          <a:bodyPr wrap="square" anchor="t">
            <a:spAutoFit/>
          </a:bodyPr>
          <a:lstStyle/>
          <a:p>
            <a:pPr algn="l">
              <a:spcBef>
                <a:spcPts val="0"/>
              </a:spcBef>
              <a:spcAft>
                <a:spcPts val="0"/>
              </a:spcAft>
            </a:pPr>
            <a:r>
              <a:rPr sz="1100" b="0">
                <a:solidFill>
                  <a:srgbClr val="5C6A78"/>
                </a:solidFill>
                <a:latin typeface="Aptos"/>
              </a:rPr>
              <a:t>The same educational logic can support products for schools, educators, families and institutions.</a:t>
            </a:r>
          </a:p>
        </p:txBody>
      </p:sp>
      <p:sp>
        <p:nvSpPr>
          <p:cNvPr id="22" name="TextBox 21"/>
          <p:cNvSpPr txBox="1"/>
          <p:nvPr/>
        </p:nvSpPr>
        <p:spPr>
          <a:xfrm>
            <a:off x="914400" y="5989320"/>
            <a:ext cx="10378440" cy="411480"/>
          </a:xfrm>
          <a:prstGeom prst="rect">
            <a:avLst/>
          </a:prstGeom>
          <a:noFill/>
        </p:spPr>
        <p:txBody>
          <a:bodyPr wrap="square" anchor="t">
            <a:spAutoFit/>
          </a:bodyPr>
          <a:lstStyle/>
          <a:p>
            <a:pPr algn="ctr">
              <a:spcBef>
                <a:spcPts val="0"/>
              </a:spcBef>
              <a:spcAft>
                <a:spcPts val="0"/>
              </a:spcAft>
            </a:pPr>
            <a:r>
              <a:rPr sz="1500" b="1">
                <a:solidFill>
                  <a:srgbClr val="183A5B"/>
                </a:solidFill>
                <a:latin typeface="Aptos"/>
              </a:rPr>
              <a:t>The question is not “Can we build a website?” — it is “What is the right infrastructure for the system MASAR is becoming?”</a:t>
            </a:r>
          </a:p>
        </p:txBody>
      </p:sp>
      <p:sp>
        <p:nvSpPr>
          <p:cNvPr id="23" name="TextBox 22"/>
          <p:cNvSpPr txBox="1"/>
          <p:nvPr/>
        </p:nvSpPr>
        <p:spPr>
          <a:xfrm>
            <a:off x="566928" y="6473952"/>
            <a:ext cx="1828800" cy="182880"/>
          </a:xfrm>
          <a:prstGeom prst="rect">
            <a:avLst/>
          </a:prstGeom>
          <a:noFill/>
        </p:spPr>
        <p:txBody>
          <a:bodyPr wrap="square" anchor="t">
            <a:spAutoFit/>
          </a:bodyPr>
          <a:lstStyle/>
          <a:p>
            <a:pPr algn="l">
              <a:spcBef>
                <a:spcPts val="0"/>
              </a:spcBef>
              <a:spcAft>
                <a:spcPts val="0"/>
              </a:spcAft>
            </a:pPr>
            <a:r>
              <a:rPr sz="800" b="1">
                <a:solidFill>
                  <a:srgbClr val="183A5B"/>
                </a:solidFill>
                <a:latin typeface="Aptos"/>
              </a:rPr>
              <a:t>MASAR | مسار</a:t>
            </a:r>
          </a:p>
        </p:txBody>
      </p:sp>
      <p:sp>
        <p:nvSpPr>
          <p:cNvPr id="24" name="TextBox 23"/>
          <p:cNvSpPr txBox="1"/>
          <p:nvPr/>
        </p:nvSpPr>
        <p:spPr>
          <a:xfrm>
            <a:off x="11109960" y="6473952"/>
            <a:ext cx="502920" cy="182880"/>
          </a:xfrm>
          <a:prstGeom prst="rect">
            <a:avLst/>
          </a:prstGeom>
          <a:noFill/>
        </p:spPr>
        <p:txBody>
          <a:bodyPr wrap="square" anchor="t">
            <a:spAutoFit/>
          </a:bodyPr>
          <a:lstStyle/>
          <a:p>
            <a:pPr algn="r">
              <a:spcBef>
                <a:spcPts val="0"/>
              </a:spcBef>
              <a:spcAft>
                <a:spcPts val="0"/>
              </a:spcAft>
            </a:pPr>
            <a:r>
              <a:rPr sz="800" b="1">
                <a:solidFill>
                  <a:srgbClr val="5C6A78"/>
                </a:solidFill>
                <a:latin typeface="Aptos"/>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457200"/>
            <a:ext cx="11094415"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3F63"/>
                </a:solidFill>
                <a:effectLst/>
                <a:uLnTx/>
                <a:uFillTx/>
                <a:latin typeface="Arial" pitchFamily="34" charset="0"/>
                <a:ea typeface="Arial" pitchFamily="34" charset="-122"/>
                <a:cs typeface="Arial" pitchFamily="34" charset="-120"/>
              </a:rPr>
              <a:t>The MASAR Service Journey</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txBox="1"/>
          <p:nvPr/>
        </p:nvSpPr>
        <p:spPr>
          <a:xfrm>
            <a:off x="548640" y="1097280"/>
            <a:ext cx="11094415"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1" u="none" strike="noStrike" kern="1200" cap="none" spc="0" normalizeH="0" baseline="0" noProof="0" dirty="0">
                <a:ln>
                  <a:noFill/>
                </a:ln>
                <a:solidFill>
                  <a:srgbClr val="0E6E67"/>
                </a:solidFill>
                <a:effectLst/>
                <a:uLnTx/>
                <a:uFillTx/>
                <a:latin typeface="Arial" pitchFamily="34" charset="0"/>
                <a:ea typeface="Arial" pitchFamily="34" charset="-122"/>
                <a:cs typeface="Arial" pitchFamily="34" charset="-120"/>
              </a:rPr>
              <a:t>Every stage below is a real, working tool — click to open the live demo</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48640" y="2103120"/>
            <a:ext cx="1999427" cy="3291840"/>
          </a:xfrm>
          <a:prstGeom prst="roundRect">
            <a:avLst>
              <a:gd name="adj" fmla="val 3659"/>
            </a:avLst>
          </a:prstGeom>
          <a:solidFill>
            <a:srgbClr val="F4F8FA"/>
          </a:solidFill>
          <a:ln w="12700">
            <a:solidFill>
              <a:srgbClr val="E3ECF0"/>
            </a:solidFill>
            <a:prstDash val="solid"/>
          </a:ln>
        </p:spPr>
      </p:sp>
      <p:sp>
        <p:nvSpPr>
          <p:cNvPr id="5" name="Shape 3"/>
          <p:cNvSpPr/>
          <p:nvPr/>
        </p:nvSpPr>
        <p:spPr>
          <a:xfrm>
            <a:off x="1251174" y="2308860"/>
            <a:ext cx="594360" cy="594360"/>
          </a:xfrm>
          <a:prstGeom prst="ellipse">
            <a:avLst/>
          </a:prstGeom>
          <a:solidFill>
            <a:srgbClr val="173F63"/>
          </a:solidFill>
          <a:ln/>
        </p:spPr>
      </p:sp>
      <p:sp>
        <p:nvSpPr>
          <p:cNvPr id="6" name="Text 4"/>
          <p:cNvSpPr txBox="1"/>
          <p:nvPr/>
        </p:nvSpPr>
        <p:spPr>
          <a:xfrm>
            <a:off x="1251174" y="2308860"/>
            <a:ext cx="594360" cy="5943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1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1</a:t>
            </a:r>
            <a:endParaRPr kumimoji="0" lang="en-US" sz="221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txBox="1"/>
          <p:nvPr/>
        </p:nvSpPr>
        <p:spPr>
          <a:xfrm>
            <a:off x="685800" y="3063240"/>
            <a:ext cx="1725107" cy="6400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173F63"/>
                </a:solidFill>
                <a:effectLst/>
                <a:uLnTx/>
                <a:uFillTx/>
                <a:latin typeface="Arial" pitchFamily="34" charset="0"/>
                <a:ea typeface="Arial" pitchFamily="34" charset="-122"/>
                <a:cs typeface="Arial" pitchFamily="34" charset="-120"/>
              </a:rPr>
              <a:t>Contact &amp; Assessment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txBox="1"/>
          <p:nvPr/>
        </p:nvSpPr>
        <p:spPr>
          <a:xfrm>
            <a:off x="685800" y="3703320"/>
            <a:ext cx="1725107" cy="10972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0606C"/>
                </a:solidFill>
                <a:effectLst/>
                <a:uLnTx/>
                <a:uFillTx/>
                <a:latin typeface="Arial" pitchFamily="34" charset="0"/>
                <a:ea typeface="Arial" pitchFamily="34" charset="-122"/>
                <a:cs typeface="Arial" pitchFamily="34" charset="-120"/>
              </a:rPr>
              <a:t>School shares priorities; MASAR reviews actual needs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txBox="1"/>
          <p:nvPr/>
        </p:nvSpPr>
        <p:spPr>
          <a:xfrm>
            <a:off x="685800" y="4937760"/>
            <a:ext cx="1725107"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9AA7AF"/>
                </a:solidFill>
                <a:effectLst/>
                <a:uLnTx/>
                <a:uFillTx/>
                <a:latin typeface="Arial" pitchFamily="34" charset="0"/>
                <a:ea typeface="Arial" pitchFamily="34" charset="-122"/>
                <a:cs typeface="Arial" pitchFamily="34" charset="-120"/>
              </a:rPr>
              <a:t>(process step)</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txBox="1"/>
          <p:nvPr/>
        </p:nvSpPr>
        <p:spPr>
          <a:xfrm>
            <a:off x="2548067" y="3566160"/>
            <a:ext cx="27432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A9E96"/>
                </a:solidFill>
                <a:effectLst/>
                <a:uLnTx/>
                <a:uFillTx/>
                <a:latin typeface="Arial" pitchFamily="34" charset="0"/>
                <a:ea typeface="Arial" pitchFamily="34" charset="-122"/>
                <a:cs typeface="Arial" pitchFamily="34" charset="-120"/>
              </a:rPr>
              <a:t>→</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2822387" y="2103120"/>
            <a:ext cx="1999427" cy="3291840"/>
          </a:xfrm>
          <a:prstGeom prst="roundRect">
            <a:avLst>
              <a:gd name="adj" fmla="val 3659"/>
            </a:avLst>
          </a:prstGeom>
          <a:solidFill>
            <a:srgbClr val="CFEBF9"/>
          </a:solidFill>
          <a:ln w="12700">
            <a:solidFill>
              <a:srgbClr val="E3ECF0"/>
            </a:solidFill>
            <a:prstDash val="solid"/>
          </a:ln>
        </p:spPr>
      </p:sp>
      <p:sp>
        <p:nvSpPr>
          <p:cNvPr id="12" name="Shape 10"/>
          <p:cNvSpPr/>
          <p:nvPr/>
        </p:nvSpPr>
        <p:spPr>
          <a:xfrm>
            <a:off x="3524921" y="2308860"/>
            <a:ext cx="594360" cy="594360"/>
          </a:xfrm>
          <a:prstGeom prst="ellipse">
            <a:avLst/>
          </a:prstGeom>
          <a:solidFill>
            <a:srgbClr val="173F63"/>
          </a:solidFill>
          <a:ln/>
        </p:spPr>
      </p:sp>
      <p:sp>
        <p:nvSpPr>
          <p:cNvPr id="13" name="Text 11"/>
          <p:cNvSpPr txBox="1"/>
          <p:nvPr/>
        </p:nvSpPr>
        <p:spPr>
          <a:xfrm>
            <a:off x="3524921" y="2308860"/>
            <a:ext cx="594360" cy="5943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1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2</a:t>
            </a:r>
            <a:endParaRPr kumimoji="0" lang="en-US" sz="221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txBox="1"/>
          <p:nvPr/>
        </p:nvSpPr>
        <p:spPr>
          <a:xfrm>
            <a:off x="2959547" y="3063240"/>
            <a:ext cx="1725107" cy="6400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173F63"/>
                </a:solidFill>
                <a:effectLst/>
                <a:uLnTx/>
                <a:uFillTx/>
                <a:latin typeface="Arial" pitchFamily="34" charset="0"/>
                <a:ea typeface="Arial" pitchFamily="34" charset="-122"/>
                <a:cs typeface="Arial" pitchFamily="34" charset="-120"/>
              </a:rPr>
              <a:t>Diagnosis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txBox="1"/>
          <p:nvPr/>
        </p:nvSpPr>
        <p:spPr>
          <a:xfrm>
            <a:off x="2959547" y="3703320"/>
            <a:ext cx="1725107" cy="10972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0606C"/>
                </a:solidFill>
                <a:effectLst/>
                <a:uLnTx/>
                <a:uFillTx/>
                <a:latin typeface="Arial" pitchFamily="34" charset="0"/>
                <a:ea typeface="Arial" pitchFamily="34" charset="-122"/>
                <a:cs typeface="Arial" pitchFamily="34" charset="-120"/>
              </a:rPr>
              <a:t>Skill Gap Diagnostic Tool identifies each student's exact gap</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a:hlinkClick r:id="rId3"/>
          </p:cNvPr>
          <p:cNvSpPr/>
          <p:nvPr/>
        </p:nvSpPr>
        <p:spPr>
          <a:xfrm>
            <a:off x="2959547" y="4800600"/>
            <a:ext cx="1725107" cy="457200"/>
          </a:xfrm>
          <a:prstGeom prst="roundRect">
            <a:avLst>
              <a:gd name="adj" fmla="val 50000"/>
            </a:avLst>
          </a:prstGeom>
          <a:solidFill>
            <a:srgbClr val="1A9E96"/>
          </a:solidFill>
          <a:ln/>
        </p:spPr>
      </p:sp>
      <p:sp>
        <p:nvSpPr>
          <p:cNvPr id="17" name="Text 15">
            <a:hlinkClick r:id="rId3"/>
          </p:cNvPr>
          <p:cNvSpPr txBox="1"/>
          <p:nvPr/>
        </p:nvSpPr>
        <p:spPr>
          <a:xfrm>
            <a:off x="2959547" y="4800600"/>
            <a:ext cx="1725107"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sng"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View Live Demo →</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txBox="1"/>
          <p:nvPr/>
        </p:nvSpPr>
        <p:spPr>
          <a:xfrm>
            <a:off x="4821814" y="3566160"/>
            <a:ext cx="27432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A9E96"/>
                </a:solidFill>
                <a:effectLst/>
                <a:uLnTx/>
                <a:uFillTx/>
                <a:latin typeface="Arial" pitchFamily="34" charset="0"/>
                <a:ea typeface="Arial" pitchFamily="34" charset="-122"/>
                <a:cs typeface="Arial" pitchFamily="34" charset="-120"/>
              </a:rPr>
              <a:t>→</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5096134" y="2103120"/>
            <a:ext cx="1999427" cy="3291840"/>
          </a:xfrm>
          <a:prstGeom prst="roundRect">
            <a:avLst>
              <a:gd name="adj" fmla="val 3659"/>
            </a:avLst>
          </a:prstGeom>
          <a:solidFill>
            <a:srgbClr val="F4F8FA"/>
          </a:solidFill>
          <a:ln w="12700">
            <a:solidFill>
              <a:srgbClr val="E3ECF0"/>
            </a:solidFill>
            <a:prstDash val="solid"/>
          </a:ln>
        </p:spPr>
      </p:sp>
      <p:sp>
        <p:nvSpPr>
          <p:cNvPr id="20" name="Shape 18"/>
          <p:cNvSpPr/>
          <p:nvPr/>
        </p:nvSpPr>
        <p:spPr>
          <a:xfrm>
            <a:off x="5798668" y="2308860"/>
            <a:ext cx="594360" cy="594360"/>
          </a:xfrm>
          <a:prstGeom prst="ellipse">
            <a:avLst/>
          </a:prstGeom>
          <a:solidFill>
            <a:srgbClr val="173F63"/>
          </a:solidFill>
          <a:ln/>
        </p:spPr>
      </p:sp>
      <p:sp>
        <p:nvSpPr>
          <p:cNvPr id="21" name="Text 19"/>
          <p:cNvSpPr txBox="1"/>
          <p:nvPr/>
        </p:nvSpPr>
        <p:spPr>
          <a:xfrm>
            <a:off x="5798668" y="2308860"/>
            <a:ext cx="594360" cy="5943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1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3</a:t>
            </a:r>
            <a:endParaRPr kumimoji="0" lang="en-US" sz="221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txBox="1"/>
          <p:nvPr/>
        </p:nvSpPr>
        <p:spPr>
          <a:xfrm>
            <a:off x="5233294" y="3063240"/>
            <a:ext cx="1725107" cy="6400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173F63"/>
                </a:solidFill>
                <a:effectLst/>
                <a:uLnTx/>
                <a:uFillTx/>
                <a:latin typeface="Arial" pitchFamily="34" charset="0"/>
                <a:ea typeface="Arial" pitchFamily="34" charset="-122"/>
                <a:cs typeface="Arial" pitchFamily="34" charset="-120"/>
              </a:rPr>
              <a:t>Individualized Planning</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txBox="1"/>
          <p:nvPr/>
        </p:nvSpPr>
        <p:spPr>
          <a:xfrm>
            <a:off x="5233294" y="3703320"/>
            <a:ext cx="1725107" cy="10972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0606C"/>
                </a:solidFill>
                <a:effectLst/>
                <a:uLnTx/>
                <a:uFillTx/>
                <a:latin typeface="Arial" pitchFamily="34" charset="0"/>
                <a:ea typeface="Arial" pitchFamily="34" charset="-122"/>
                <a:cs typeface="Arial" pitchFamily="34" charset="-120"/>
              </a:rPr>
              <a:t>IEP Builder turns gaps into a structured plan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a:hlinkClick r:id="rId4"/>
          </p:cNvPr>
          <p:cNvSpPr/>
          <p:nvPr/>
        </p:nvSpPr>
        <p:spPr>
          <a:xfrm>
            <a:off x="5233294" y="4800600"/>
            <a:ext cx="1725107" cy="457200"/>
          </a:xfrm>
          <a:prstGeom prst="roundRect">
            <a:avLst>
              <a:gd name="adj" fmla="val 50000"/>
            </a:avLst>
          </a:prstGeom>
          <a:solidFill>
            <a:srgbClr val="1A9E96"/>
          </a:solidFill>
          <a:ln/>
        </p:spPr>
      </p:sp>
      <p:sp>
        <p:nvSpPr>
          <p:cNvPr id="25" name="Text 23">
            <a:hlinkClick r:id="rId4"/>
          </p:cNvPr>
          <p:cNvSpPr txBox="1"/>
          <p:nvPr/>
        </p:nvSpPr>
        <p:spPr>
          <a:xfrm>
            <a:off x="5233294" y="4800600"/>
            <a:ext cx="1725107"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sng"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hlinkClick r:id="rId4">
                  <a:extLst>
                    <a:ext uri="{A12FA001-AC4F-418D-AE19-62706E023703}">
                      <ahyp:hlinkClr xmlns:ahyp="http://schemas.microsoft.com/office/drawing/2018/hyperlinkcolor" val="tx"/>
                    </a:ext>
                  </a:extLst>
                </a:hlinkClick>
              </a:rPr>
              <a:t>View Live Demo →</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txBox="1"/>
          <p:nvPr/>
        </p:nvSpPr>
        <p:spPr>
          <a:xfrm>
            <a:off x="7095561" y="3566160"/>
            <a:ext cx="27432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A9E96"/>
                </a:solidFill>
                <a:effectLst/>
                <a:uLnTx/>
                <a:uFillTx/>
                <a:latin typeface="Arial" pitchFamily="34" charset="0"/>
                <a:ea typeface="Arial" pitchFamily="34" charset="-122"/>
                <a:cs typeface="Arial" pitchFamily="34" charset="-120"/>
              </a:rPr>
              <a:t>→</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5"/>
          <p:cNvSpPr/>
          <p:nvPr/>
        </p:nvSpPr>
        <p:spPr>
          <a:xfrm>
            <a:off x="7369881" y="2103120"/>
            <a:ext cx="1999427" cy="3291840"/>
          </a:xfrm>
          <a:prstGeom prst="roundRect">
            <a:avLst>
              <a:gd name="adj" fmla="val 3659"/>
            </a:avLst>
          </a:prstGeom>
          <a:solidFill>
            <a:srgbClr val="CFEBF9"/>
          </a:solidFill>
          <a:ln w="12700">
            <a:solidFill>
              <a:srgbClr val="E3ECF0"/>
            </a:solidFill>
            <a:prstDash val="solid"/>
          </a:ln>
        </p:spPr>
      </p:sp>
      <p:sp>
        <p:nvSpPr>
          <p:cNvPr id="28" name="Shape 26"/>
          <p:cNvSpPr/>
          <p:nvPr/>
        </p:nvSpPr>
        <p:spPr>
          <a:xfrm>
            <a:off x="8072415" y="2308860"/>
            <a:ext cx="594360" cy="594360"/>
          </a:xfrm>
          <a:prstGeom prst="ellipse">
            <a:avLst/>
          </a:prstGeom>
          <a:solidFill>
            <a:srgbClr val="173F63"/>
          </a:solidFill>
          <a:ln/>
        </p:spPr>
      </p:sp>
      <p:sp>
        <p:nvSpPr>
          <p:cNvPr id="29" name="Text 27"/>
          <p:cNvSpPr txBox="1"/>
          <p:nvPr/>
        </p:nvSpPr>
        <p:spPr>
          <a:xfrm>
            <a:off x="8072415" y="2308860"/>
            <a:ext cx="594360" cy="5943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1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4</a:t>
            </a:r>
            <a:endParaRPr kumimoji="0" lang="en-US" sz="221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8"/>
          <p:cNvSpPr txBox="1"/>
          <p:nvPr/>
        </p:nvSpPr>
        <p:spPr>
          <a:xfrm>
            <a:off x="7507041" y="3063240"/>
            <a:ext cx="1725107" cy="6400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173F63"/>
                </a:solidFill>
                <a:effectLst/>
                <a:uLnTx/>
                <a:uFillTx/>
                <a:latin typeface="Arial" pitchFamily="34" charset="0"/>
                <a:ea typeface="Arial" pitchFamily="34" charset="-122"/>
                <a:cs typeface="Arial" pitchFamily="34" charset="-120"/>
              </a:rPr>
              <a:t>Differentiated Instruction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9"/>
          <p:cNvSpPr txBox="1"/>
          <p:nvPr/>
        </p:nvSpPr>
        <p:spPr>
          <a:xfrm>
            <a:off x="7507041" y="3703320"/>
            <a:ext cx="1725107" cy="10972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0606C"/>
                </a:solidFill>
                <a:effectLst/>
                <a:uLnTx/>
                <a:uFillTx/>
                <a:latin typeface="Arial" pitchFamily="34" charset="0"/>
                <a:ea typeface="Arial" pitchFamily="34" charset="-122"/>
                <a:cs typeface="Arial" pitchFamily="34" charset="-120"/>
              </a:rPr>
              <a:t>Activity Generator creates 3-level activities instantly</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Shape 30">
            <a:hlinkClick r:id="rId5"/>
          </p:cNvPr>
          <p:cNvSpPr/>
          <p:nvPr/>
        </p:nvSpPr>
        <p:spPr>
          <a:xfrm>
            <a:off x="7507041" y="4800600"/>
            <a:ext cx="1725107" cy="457200"/>
          </a:xfrm>
          <a:prstGeom prst="roundRect">
            <a:avLst>
              <a:gd name="adj" fmla="val 50000"/>
            </a:avLst>
          </a:prstGeom>
          <a:solidFill>
            <a:srgbClr val="1A9E96"/>
          </a:solidFill>
          <a:ln/>
        </p:spPr>
      </p:sp>
      <p:sp>
        <p:nvSpPr>
          <p:cNvPr id="33" name="Text 31">
            <a:hlinkClick r:id="rId5"/>
          </p:cNvPr>
          <p:cNvSpPr txBox="1"/>
          <p:nvPr/>
        </p:nvSpPr>
        <p:spPr>
          <a:xfrm>
            <a:off x="7507041" y="4800600"/>
            <a:ext cx="1725107"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sng"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hlinkClick r:id="rId5">
                  <a:extLst>
                    <a:ext uri="{A12FA001-AC4F-418D-AE19-62706E023703}">
                      <ahyp:hlinkClr xmlns:ahyp="http://schemas.microsoft.com/office/drawing/2018/hyperlinkcolor" val="tx"/>
                    </a:ext>
                  </a:extLst>
                </a:hlinkClick>
              </a:rPr>
              <a:t>View Live Demo →</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p:cNvSpPr txBox="1"/>
          <p:nvPr/>
        </p:nvSpPr>
        <p:spPr>
          <a:xfrm>
            <a:off x="9369308" y="3566160"/>
            <a:ext cx="27432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A9E96"/>
                </a:solidFill>
                <a:effectLst/>
                <a:uLnTx/>
                <a:uFillTx/>
                <a:latin typeface="Arial" pitchFamily="34" charset="0"/>
                <a:ea typeface="Arial" pitchFamily="34" charset="-122"/>
                <a:cs typeface="Arial" pitchFamily="34" charset="-120"/>
              </a:rPr>
              <a:t>→</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Shape 33"/>
          <p:cNvSpPr/>
          <p:nvPr/>
        </p:nvSpPr>
        <p:spPr>
          <a:xfrm>
            <a:off x="9643628" y="2103120"/>
            <a:ext cx="1999427" cy="3291840"/>
          </a:xfrm>
          <a:prstGeom prst="roundRect">
            <a:avLst>
              <a:gd name="adj" fmla="val 3659"/>
            </a:avLst>
          </a:prstGeom>
          <a:solidFill>
            <a:srgbClr val="F4F8FA"/>
          </a:solidFill>
          <a:ln w="12700">
            <a:solidFill>
              <a:srgbClr val="E3ECF0"/>
            </a:solidFill>
            <a:prstDash val="solid"/>
          </a:ln>
        </p:spPr>
      </p:sp>
      <p:sp>
        <p:nvSpPr>
          <p:cNvPr id="36" name="Shape 34"/>
          <p:cNvSpPr/>
          <p:nvPr/>
        </p:nvSpPr>
        <p:spPr>
          <a:xfrm>
            <a:off x="10346162" y="2308860"/>
            <a:ext cx="594360" cy="594360"/>
          </a:xfrm>
          <a:prstGeom prst="ellipse">
            <a:avLst/>
          </a:prstGeom>
          <a:solidFill>
            <a:srgbClr val="173F63"/>
          </a:solidFill>
          <a:ln/>
        </p:spPr>
      </p:sp>
      <p:sp>
        <p:nvSpPr>
          <p:cNvPr id="37" name="Text 35"/>
          <p:cNvSpPr txBox="1"/>
          <p:nvPr/>
        </p:nvSpPr>
        <p:spPr>
          <a:xfrm>
            <a:off x="10346162" y="2308860"/>
            <a:ext cx="594360" cy="5943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1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5</a:t>
            </a:r>
            <a:endParaRPr kumimoji="0" lang="en-US" sz="221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36"/>
          <p:cNvSpPr txBox="1"/>
          <p:nvPr/>
        </p:nvSpPr>
        <p:spPr>
          <a:xfrm>
            <a:off x="9780788" y="3063240"/>
            <a:ext cx="1725107" cy="6400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173F63"/>
                </a:solidFill>
                <a:effectLst/>
                <a:uLnTx/>
                <a:uFillTx/>
                <a:latin typeface="Arial" pitchFamily="34" charset="0"/>
                <a:ea typeface="Arial" pitchFamily="34" charset="-122"/>
                <a:cs typeface="Arial" pitchFamily="34" charset="-120"/>
              </a:rPr>
              <a:t>Monitoring &amp; Renewal</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7"/>
          <p:cNvSpPr txBox="1"/>
          <p:nvPr/>
        </p:nvSpPr>
        <p:spPr>
          <a:xfrm>
            <a:off x="9780788" y="3703320"/>
            <a:ext cx="1725107" cy="10972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0606C"/>
                </a:solidFill>
                <a:effectLst/>
                <a:uLnTx/>
                <a:uFillTx/>
                <a:latin typeface="Arial" pitchFamily="34" charset="0"/>
                <a:ea typeface="Arial" pitchFamily="34" charset="-122"/>
                <a:cs typeface="Arial" pitchFamily="34" charset="-120"/>
              </a:rPr>
              <a:t>Dashboard tracks progress; subscription renews yearly</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Shape 38">
            <a:hlinkClick r:id="rId6"/>
          </p:cNvPr>
          <p:cNvSpPr/>
          <p:nvPr/>
        </p:nvSpPr>
        <p:spPr>
          <a:xfrm>
            <a:off x="9780788" y="4800600"/>
            <a:ext cx="1725107" cy="457200"/>
          </a:xfrm>
          <a:prstGeom prst="roundRect">
            <a:avLst>
              <a:gd name="adj" fmla="val 50000"/>
            </a:avLst>
          </a:prstGeom>
          <a:solidFill>
            <a:srgbClr val="1A9E96"/>
          </a:solidFill>
          <a:ln/>
        </p:spPr>
      </p:sp>
      <p:sp>
        <p:nvSpPr>
          <p:cNvPr id="41" name="Text 39">
            <a:hlinkClick r:id="rId6"/>
          </p:cNvPr>
          <p:cNvSpPr txBox="1"/>
          <p:nvPr/>
        </p:nvSpPr>
        <p:spPr>
          <a:xfrm>
            <a:off x="9780788" y="4800600"/>
            <a:ext cx="1725107"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sng"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hlinkClick r:id="rId6">
                  <a:extLst>
                    <a:ext uri="{A12FA001-AC4F-418D-AE19-62706E023703}">
                      <ahyp:hlinkClr xmlns:ahyp="http://schemas.microsoft.com/office/drawing/2018/hyperlinkcolor" val="tx"/>
                    </a:ext>
                  </a:extLst>
                </a:hlinkClick>
              </a:rPr>
              <a:t>View Live Demo →</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Text 40"/>
          <p:cNvSpPr txBox="1"/>
          <p:nvPr/>
        </p:nvSpPr>
        <p:spPr>
          <a:xfrm>
            <a:off x="548640" y="5623560"/>
            <a:ext cx="11094415"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1A9E96"/>
                </a:solidFill>
                <a:effectLst/>
                <a:uLnTx/>
                <a:uFillTx/>
                <a:latin typeface="Arial" pitchFamily="34" charset="0"/>
                <a:ea typeface="Arial" pitchFamily="34" charset="-122"/>
                <a:cs typeface="Arial" pitchFamily="34" charset="-120"/>
              </a:rPr>
              <a:t>The cycle repeats annually — each renewal is informed by the previous year's evidence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Text 41"/>
          <p:cNvSpPr txBox="1"/>
          <p:nvPr/>
        </p:nvSpPr>
        <p:spPr>
          <a:xfrm>
            <a:off x="365760" y="6355080"/>
            <a:ext cx="914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50606C"/>
                </a:solidFill>
                <a:effectLst/>
                <a:uLnTx/>
                <a:uFillTx/>
                <a:latin typeface="Arial" pitchFamily="34" charset="0"/>
                <a:ea typeface="Arial" pitchFamily="34" charset="-122"/>
                <a:cs typeface="Arial" pitchFamily="34" charset="-120"/>
              </a:rPr>
              <a:t>03</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Text 42"/>
          <p:cNvSpPr txBox="1"/>
          <p:nvPr/>
        </p:nvSpPr>
        <p:spPr>
          <a:xfrm>
            <a:off x="9082735" y="6355080"/>
            <a:ext cx="274320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50606C"/>
                </a:solidFill>
                <a:effectLst/>
                <a:uLnTx/>
                <a:uFillTx/>
                <a:latin typeface="Arial" pitchFamily="34" charset="0"/>
                <a:ea typeface="Arial" pitchFamily="34" charset="-122"/>
                <a:cs typeface="Arial" pitchFamily="34" charset="-120"/>
              </a:rPr>
              <a:t>MASAR  |  مسار</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457200"/>
            <a:ext cx="11094415"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3F63"/>
                </a:solidFill>
                <a:effectLst/>
                <a:uLnTx/>
                <a:uFillTx/>
                <a:latin typeface="Arial" pitchFamily="34" charset="0"/>
                <a:ea typeface="Arial" pitchFamily="34" charset="-122"/>
                <a:cs typeface="Arial" pitchFamily="34" charset="-120"/>
              </a:rPr>
              <a:t>Why MASAR Is Different</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txBox="1"/>
          <p:nvPr/>
        </p:nvSpPr>
        <p:spPr>
          <a:xfrm>
            <a:off x="548640" y="1097280"/>
            <a:ext cx="11094415"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1" u="none" strike="noStrike" kern="1200" cap="none" spc="0" normalizeH="0" baseline="0" noProof="0" dirty="0">
                <a:ln>
                  <a:noFill/>
                </a:ln>
                <a:solidFill>
                  <a:srgbClr val="0E6E67"/>
                </a:solidFill>
                <a:effectLst/>
                <a:uLnTx/>
                <a:uFillTx/>
                <a:latin typeface="Arial" pitchFamily="34" charset="0"/>
                <a:ea typeface="Arial" pitchFamily="34" charset="-122"/>
                <a:cs typeface="Arial" pitchFamily="34" charset="-120"/>
              </a:rPr>
              <a:t>A direct comparison with the closest existing models in the market</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5" name="Table 0"/>
          <p:cNvGraphicFramePr>
            <a:graphicFrameLocks noGrp="1"/>
          </p:cNvGraphicFramePr>
          <p:nvPr>
            <p:extLst/>
          </p:nvPr>
        </p:nvGraphicFramePr>
        <p:xfrm>
          <a:off x="548640" y="1874520"/>
          <a:ext cx="10287000" cy="4114800"/>
        </p:xfrm>
        <a:graphic>
          <a:graphicData uri="http://schemas.openxmlformats.org/drawingml/2006/table">
            <a:tbl>
              <a:tblPr/>
              <a:tblGrid>
                <a:gridCol w="3246120">
                  <a:extLst>
                    <a:ext uri="{9D8B030D-6E8A-4147-A177-3AD203B41FA5}">
                      <a16:colId xmlns:a16="http://schemas.microsoft.com/office/drawing/2014/main" val="20000"/>
                    </a:ext>
                  </a:extLst>
                </a:gridCol>
                <a:gridCol w="2788920">
                  <a:extLst>
                    <a:ext uri="{9D8B030D-6E8A-4147-A177-3AD203B41FA5}">
                      <a16:colId xmlns:a16="http://schemas.microsoft.com/office/drawing/2014/main" val="20001"/>
                    </a:ext>
                  </a:extLst>
                </a:gridCol>
                <a:gridCol w="278892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457200">
                <a:tc>
                  <a:txBody>
                    <a:bodyPr/>
                    <a:lstStyle/>
                    <a:p>
                      <a:pPr marL="0" indent="0" algn="ctr">
                        <a:buNone/>
                      </a:pPr>
                      <a:r>
                        <a:rPr lang="en-US" sz="1150" b="1" dirty="0">
                          <a:solidFill>
                            <a:srgbClr val="FFFFFF"/>
                          </a:solidFill>
                          <a:latin typeface="Arial" pitchFamily="34" charset="0"/>
                          <a:ea typeface="Arial" pitchFamily="34" charset="-122"/>
                          <a:cs typeface="Arial" pitchFamily="34" charset="-120"/>
                        </a:rPr>
                        <a:t>MASAR</a:t>
                      </a:r>
                      <a:endParaRPr lang="en-US" sz="1150" dirty="0">
                        <a:latin typeface="Arial" charset="0"/>
                        <a:ea typeface="Arial" charset="0"/>
                        <a:cs typeface="Arial" charset="0"/>
                      </a:endParaRPr>
                    </a:p>
                  </a:txBody>
                  <a:tcPr anchor="ctr">
                    <a:lnL w="9525" cap="flat" cmpd="sng" algn="ctr">
                      <a:solidFill>
                        <a:srgbClr val="E3ECF0"/>
                      </a:solidFill>
                      <a:prstDash val="solid"/>
                      <a:round/>
                      <a:headEnd type="none" w="med" len="med"/>
                      <a:tailEnd type="none" w="med" len="med"/>
                    </a:lnL>
                    <a:lnR w="9525" cap="flat" cmpd="sng" algn="ctr">
                      <a:solidFill>
                        <a:srgbClr val="E3ECF0"/>
                      </a:solidFill>
                      <a:prstDash val="solid"/>
                      <a:round/>
                      <a:headEnd type="none" w="med" len="med"/>
                      <a:tailEnd type="none" w="med" len="med"/>
                    </a:lnR>
                    <a:lnT w="9525" cap="flat" cmpd="sng" algn="ctr">
                      <a:solidFill>
                        <a:srgbClr val="E3ECF0"/>
                      </a:solidFill>
                      <a:prstDash val="solid"/>
                      <a:round/>
                      <a:headEnd type="none" w="med" len="med"/>
                      <a:tailEnd type="none" w="med" len="med"/>
                    </a:lnT>
                    <a:lnB w="9525" cap="flat" cmpd="sng" algn="ctr">
                      <a:solidFill>
                        <a:srgbClr val="E3ECF0"/>
                      </a:solidFill>
                      <a:prstDash val="solid"/>
                      <a:round/>
                      <a:headEnd type="none" w="med" len="med"/>
                      <a:tailEnd type="none" w="med" len="med"/>
                    </a:lnB>
                    <a:solidFill>
                      <a:srgbClr val="1A9E96"/>
                    </a:solidFill>
                  </a:tcPr>
                </a:tc>
                <a:tc>
                  <a:txBody>
                    <a:bodyPr/>
                    <a:lstStyle/>
                    <a:p>
                      <a:pPr marL="0" indent="0" algn="ctr">
                        <a:buNone/>
                      </a:pPr>
                      <a:r>
                        <a:rPr lang="en-US" sz="1150" b="1" dirty="0">
                          <a:solidFill>
                            <a:srgbClr val="FFFFFF"/>
                          </a:solidFill>
                          <a:latin typeface="Arial" pitchFamily="34" charset="0"/>
                          <a:ea typeface="Arial" pitchFamily="34" charset="-122"/>
                          <a:cs typeface="Arial" pitchFamily="34" charset="-120"/>
                        </a:rPr>
                        <a:t>US MTSS Platforms (e.g. Branching Minds)</a:t>
                      </a:r>
                      <a:endParaRPr lang="en-US" sz="1150" dirty="0">
                        <a:latin typeface="Arial" charset="0"/>
                        <a:ea typeface="Arial" charset="0"/>
                        <a:cs typeface="Arial" charset="0"/>
                      </a:endParaRPr>
                    </a:p>
                  </a:txBody>
                  <a:tcPr anchor="ctr">
                    <a:lnL w="9525" cap="flat" cmpd="sng" algn="ctr">
                      <a:solidFill>
                        <a:srgbClr val="E3ECF0"/>
                      </a:solidFill>
                      <a:prstDash val="solid"/>
                      <a:round/>
                      <a:headEnd type="none" w="med" len="med"/>
                      <a:tailEnd type="none" w="med" len="med"/>
                    </a:lnL>
                    <a:lnR w="9525" cap="flat" cmpd="sng" algn="ctr">
                      <a:solidFill>
                        <a:srgbClr val="E3ECF0"/>
                      </a:solidFill>
                      <a:prstDash val="solid"/>
                      <a:round/>
                      <a:headEnd type="none" w="med" len="med"/>
                      <a:tailEnd type="none" w="med" len="med"/>
                    </a:lnR>
                    <a:lnT w="9525" cap="flat" cmpd="sng" algn="ctr">
                      <a:solidFill>
                        <a:srgbClr val="E3ECF0"/>
                      </a:solidFill>
                      <a:prstDash val="solid"/>
                      <a:round/>
                      <a:headEnd type="none" w="med" len="med"/>
                      <a:tailEnd type="none" w="med" len="med"/>
                    </a:lnT>
                    <a:lnB w="9525" cap="flat" cmpd="sng" algn="ctr">
                      <a:solidFill>
                        <a:srgbClr val="E3ECF0"/>
                      </a:solidFill>
                      <a:prstDash val="solid"/>
                      <a:round/>
                      <a:headEnd type="none" w="med" len="med"/>
                      <a:tailEnd type="none" w="med" len="med"/>
                    </a:lnB>
                    <a:solidFill>
                      <a:srgbClr val="173F63"/>
                    </a:solidFill>
                  </a:tcPr>
                </a:tc>
                <a:tc>
                  <a:txBody>
                    <a:bodyPr/>
                    <a:lstStyle/>
                    <a:p>
                      <a:pPr marL="0" indent="0" algn="ctr">
                        <a:buNone/>
                      </a:pPr>
                      <a:r>
                        <a:rPr lang="en-US" sz="1150" b="1" dirty="0">
                          <a:solidFill>
                            <a:srgbClr val="FFFFFF"/>
                          </a:solidFill>
                          <a:latin typeface="Arial" pitchFamily="34" charset="0"/>
                          <a:ea typeface="Arial" pitchFamily="34" charset="-122"/>
                          <a:cs typeface="Arial" pitchFamily="34" charset="-120"/>
                        </a:rPr>
                        <a:t>Large Digital Platforms (e.g. Alef, Noon)</a:t>
                      </a:r>
                      <a:endParaRPr lang="en-US" sz="1150" dirty="0">
                        <a:latin typeface="Arial" charset="0"/>
                        <a:ea typeface="Arial" charset="0"/>
                        <a:cs typeface="Arial" charset="0"/>
                      </a:endParaRPr>
                    </a:p>
                  </a:txBody>
                  <a:tcPr anchor="ctr">
                    <a:lnL w="9525" cap="flat" cmpd="sng" algn="ctr">
                      <a:solidFill>
                        <a:srgbClr val="E3ECF0"/>
                      </a:solidFill>
                      <a:prstDash val="solid"/>
                      <a:round/>
                      <a:headEnd type="none" w="med" len="med"/>
                      <a:tailEnd type="none" w="med" len="med"/>
                    </a:lnL>
                    <a:lnR w="9525" cap="flat" cmpd="sng" algn="ctr">
                      <a:solidFill>
                        <a:srgbClr val="E3ECF0"/>
                      </a:solidFill>
                      <a:prstDash val="solid"/>
                      <a:round/>
                      <a:headEnd type="none" w="med" len="med"/>
                      <a:tailEnd type="none" w="med" len="med"/>
                    </a:lnR>
                    <a:lnT w="9525" cap="flat" cmpd="sng" algn="ctr">
                      <a:solidFill>
                        <a:srgbClr val="E3ECF0"/>
                      </a:solidFill>
                      <a:prstDash val="solid"/>
                      <a:round/>
                      <a:headEnd type="none" w="med" len="med"/>
                      <a:tailEnd type="none" w="med" len="med"/>
                    </a:lnT>
                    <a:lnB w="9525" cap="flat" cmpd="sng" algn="ctr">
                      <a:solidFill>
                        <a:srgbClr val="E3ECF0"/>
                      </a:solidFill>
                      <a:prstDash val="solid"/>
                      <a:round/>
                      <a:headEnd type="none" w="med" len="med"/>
                      <a:tailEnd type="none" w="med" len="med"/>
                    </a:lnB>
                    <a:solidFill>
                      <a:srgbClr val="173F63"/>
                    </a:solidFill>
                  </a:tcPr>
                </a:tc>
                <a:tc>
                  <a:txBody>
                    <a:bodyPr/>
                    <a:lstStyle/>
                    <a:p>
                      <a:pPr marL="0" indent="0" algn="ctr">
                        <a:buNone/>
                      </a:pPr>
                      <a:r>
                        <a:rPr lang="en-US" sz="1150" b="1" dirty="0">
                          <a:solidFill>
                            <a:srgbClr val="FFFFFF"/>
                          </a:solidFill>
                          <a:latin typeface="Arial" pitchFamily="34" charset="0"/>
                          <a:ea typeface="Arial" pitchFamily="34" charset="-122"/>
                          <a:cs typeface="Arial" pitchFamily="34" charset="-120"/>
                        </a:rPr>
                        <a:t>Dimension</a:t>
                      </a:r>
                      <a:endParaRPr lang="en-US" sz="1150" dirty="0">
                        <a:latin typeface="Arial" charset="0"/>
                        <a:ea typeface="Arial" charset="0"/>
                        <a:cs typeface="Arial" charset="0"/>
                      </a:endParaRPr>
                    </a:p>
                  </a:txBody>
                  <a:tcPr anchor="ctr">
                    <a:lnL w="9525" cap="flat" cmpd="sng" algn="ctr">
                      <a:solidFill>
                        <a:srgbClr val="E3ECF0"/>
                      </a:solidFill>
                      <a:prstDash val="solid"/>
                      <a:round/>
                      <a:headEnd type="none" w="med" len="med"/>
                      <a:tailEnd type="none" w="med" len="med"/>
                    </a:lnL>
                    <a:lnR w="9525" cap="flat" cmpd="sng" algn="ctr">
                      <a:solidFill>
                        <a:srgbClr val="E3ECF0"/>
                      </a:solidFill>
                      <a:prstDash val="solid"/>
                      <a:round/>
                      <a:headEnd type="none" w="med" len="med"/>
                      <a:tailEnd type="none" w="med" len="med"/>
                    </a:lnR>
                    <a:lnT w="9525" cap="flat" cmpd="sng" algn="ctr">
                      <a:solidFill>
                        <a:srgbClr val="E3ECF0"/>
                      </a:solidFill>
                      <a:prstDash val="solid"/>
                      <a:round/>
                      <a:headEnd type="none" w="med" len="med"/>
                      <a:tailEnd type="none" w="med" len="med"/>
                    </a:lnT>
                    <a:lnB w="9525" cap="flat" cmpd="sng" algn="ctr">
                      <a:solidFill>
                        <a:srgbClr val="E3ECF0"/>
                      </a:solidFill>
                      <a:prstDash val="solid"/>
                      <a:round/>
                      <a:headEnd type="none" w="med" len="med"/>
                      <a:tailEnd type="none" w="med" len="med"/>
                    </a:lnB>
                    <a:solidFill>
                      <a:srgbClr val="173F63"/>
                    </a:solidFill>
                  </a:tcPr>
                </a:tc>
                <a:extLst>
                  <a:ext uri="{0D108BD9-81ED-4DB2-BD59-A6C34878D82A}">
                    <a16:rowId xmlns:a16="http://schemas.microsoft.com/office/drawing/2014/main" val="10000"/>
                  </a:ext>
                </a:extLst>
              </a:tr>
              <a:tr h="914400">
                <a:tc>
                  <a:txBody>
                    <a:bodyPr/>
                    <a:lstStyle/>
                    <a:p>
                      <a:pPr marL="0" indent="0" algn="l">
                        <a:buNone/>
                      </a:pPr>
                      <a:r>
                        <a:rPr lang="en-US" sz="1000" dirty="0">
                          <a:solidFill>
                            <a:srgbClr val="1A2E40"/>
                          </a:solidFill>
                          <a:latin typeface="Arial" pitchFamily="34" charset="0"/>
                          <a:ea typeface="Arial" pitchFamily="34" charset="-122"/>
                          <a:cs typeface="Arial" pitchFamily="34" charset="-120"/>
                        </a:rPr>
                        <a:t>Precise individual diagnosis + real differentiation + plans built on documented skill banks</a:t>
                      </a:r>
                      <a:endParaRPr lang="en-US" sz="1000" dirty="0">
                        <a:latin typeface="Arial" charset="0"/>
                        <a:ea typeface="Arial" charset="0"/>
                        <a:cs typeface="Arial" charset="0"/>
                      </a:endParaRPr>
                    </a:p>
                  </a:txBody>
                  <a:tcPr anchor="ctr">
                    <a:lnL w="9525" cap="flat" cmpd="sng" algn="ctr">
                      <a:solidFill>
                        <a:srgbClr val="E3ECF0"/>
                      </a:solidFill>
                      <a:prstDash val="solid"/>
                      <a:round/>
                      <a:headEnd type="none" w="med" len="med"/>
                      <a:tailEnd type="none" w="med" len="med"/>
                    </a:lnL>
                    <a:lnR w="9525" cap="flat" cmpd="sng" algn="ctr">
                      <a:solidFill>
                        <a:srgbClr val="E3ECF0"/>
                      </a:solidFill>
                      <a:prstDash val="solid"/>
                      <a:round/>
                      <a:headEnd type="none" w="med" len="med"/>
                      <a:tailEnd type="none" w="med" len="med"/>
                    </a:lnR>
                    <a:lnT w="9525" cap="flat" cmpd="sng" algn="ctr">
                      <a:solidFill>
                        <a:srgbClr val="E3ECF0"/>
                      </a:solidFill>
                      <a:prstDash val="solid"/>
                      <a:round/>
                      <a:headEnd type="none" w="med" len="med"/>
                      <a:tailEnd type="none" w="med" len="med"/>
                    </a:lnT>
                    <a:lnB w="9525" cap="flat" cmpd="sng" algn="ctr">
                      <a:solidFill>
                        <a:srgbClr val="E3ECF0"/>
                      </a:solidFill>
                      <a:prstDash val="solid"/>
                      <a:round/>
                      <a:headEnd type="none" w="med" len="med"/>
                      <a:tailEnd type="none" w="med" len="med"/>
                    </a:lnB>
                    <a:solidFill>
                      <a:srgbClr val="CFEBF9"/>
                    </a:solidFill>
                  </a:tcPr>
                </a:tc>
                <a:tc>
                  <a:txBody>
                    <a:bodyPr/>
                    <a:lstStyle/>
                    <a:p>
                      <a:pPr marL="0" indent="0" algn="l">
                        <a:buNone/>
                      </a:pPr>
                      <a:r>
                        <a:rPr lang="en-US" sz="1000" dirty="0">
                          <a:solidFill>
                            <a:srgbClr val="1A2E40"/>
                          </a:solidFill>
                          <a:latin typeface="Arial" pitchFamily="34" charset="0"/>
                          <a:ea typeface="Arial" pitchFamily="34" charset="-122"/>
                          <a:cs typeface="Arial" pitchFamily="34" charset="-120"/>
                        </a:rPr>
                        <a:t>Organizes and documents multi-tier support cycles administratively</a:t>
                      </a:r>
                      <a:endParaRPr lang="en-US" sz="1000" dirty="0">
                        <a:latin typeface="Arial" charset="0"/>
                        <a:ea typeface="Arial" charset="0"/>
                        <a:cs typeface="Arial" charset="0"/>
                      </a:endParaRPr>
                    </a:p>
                  </a:txBody>
                  <a:tcPr anchor="ctr">
                    <a:lnL w="9525" cap="flat" cmpd="sng" algn="ctr">
                      <a:solidFill>
                        <a:srgbClr val="E3ECF0"/>
                      </a:solidFill>
                      <a:prstDash val="solid"/>
                      <a:round/>
                      <a:headEnd type="none" w="med" len="med"/>
                      <a:tailEnd type="none" w="med" len="med"/>
                    </a:lnL>
                    <a:lnR w="9525" cap="flat" cmpd="sng" algn="ctr">
                      <a:solidFill>
                        <a:srgbClr val="E3ECF0"/>
                      </a:solidFill>
                      <a:prstDash val="solid"/>
                      <a:round/>
                      <a:headEnd type="none" w="med" len="med"/>
                      <a:tailEnd type="none" w="med" len="med"/>
                    </a:lnR>
                    <a:lnT w="9525" cap="flat" cmpd="sng" algn="ctr">
                      <a:solidFill>
                        <a:srgbClr val="E3ECF0"/>
                      </a:solidFill>
                      <a:prstDash val="solid"/>
                      <a:round/>
                      <a:headEnd type="none" w="med" len="med"/>
                      <a:tailEnd type="none" w="med" len="med"/>
                    </a:lnT>
                    <a:lnB w="9525" cap="flat" cmpd="sng" algn="ctr">
                      <a:solidFill>
                        <a:srgbClr val="E3EC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2E40"/>
                          </a:solidFill>
                          <a:latin typeface="Arial" pitchFamily="34" charset="0"/>
                          <a:ea typeface="Arial" pitchFamily="34" charset="-122"/>
                          <a:cs typeface="Arial" pitchFamily="34" charset="-120"/>
                        </a:rPr>
                        <a:t>Digital learning content and analytics at broad scale for all students</a:t>
                      </a:r>
                      <a:endParaRPr lang="en-US" sz="1000" dirty="0">
                        <a:latin typeface="Arial" charset="0"/>
                        <a:ea typeface="Arial" charset="0"/>
                        <a:cs typeface="Arial" charset="0"/>
                      </a:endParaRPr>
                    </a:p>
                  </a:txBody>
                  <a:tcPr anchor="ctr">
                    <a:lnL w="9525" cap="flat" cmpd="sng" algn="ctr">
                      <a:solidFill>
                        <a:srgbClr val="E3ECF0"/>
                      </a:solidFill>
                      <a:prstDash val="solid"/>
                      <a:round/>
                      <a:headEnd type="none" w="med" len="med"/>
                      <a:tailEnd type="none" w="med" len="med"/>
                    </a:lnL>
                    <a:lnR w="9525" cap="flat" cmpd="sng" algn="ctr">
                      <a:solidFill>
                        <a:srgbClr val="E3ECF0"/>
                      </a:solidFill>
                      <a:prstDash val="solid"/>
                      <a:round/>
                      <a:headEnd type="none" w="med" len="med"/>
                      <a:tailEnd type="none" w="med" len="med"/>
                    </a:lnR>
                    <a:lnT w="9525" cap="flat" cmpd="sng" algn="ctr">
                      <a:solidFill>
                        <a:srgbClr val="E3ECF0"/>
                      </a:solidFill>
                      <a:prstDash val="solid"/>
                      <a:round/>
                      <a:headEnd type="none" w="med" len="med"/>
                      <a:tailEnd type="none" w="med" len="med"/>
                    </a:lnT>
                    <a:lnB w="9525" cap="flat" cmpd="sng" algn="ctr">
                      <a:solidFill>
                        <a:srgbClr val="E3EC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A2E40"/>
                          </a:solidFill>
                          <a:latin typeface="Arial" pitchFamily="34" charset="0"/>
                          <a:ea typeface="Arial" pitchFamily="34" charset="-122"/>
                          <a:cs typeface="Arial" pitchFamily="34" charset="-120"/>
                        </a:rPr>
                        <a:t>Value Focus</a:t>
                      </a:r>
                      <a:endParaRPr lang="en-US" sz="1000" dirty="0">
                        <a:latin typeface="Arial" charset="0"/>
                        <a:ea typeface="Arial" charset="0"/>
                        <a:cs typeface="Arial" charset="0"/>
                      </a:endParaRPr>
                    </a:p>
                  </a:txBody>
                  <a:tcPr anchor="ctr">
                    <a:lnL w="9525" cap="flat" cmpd="sng" algn="ctr">
                      <a:solidFill>
                        <a:srgbClr val="E3ECF0"/>
                      </a:solidFill>
                      <a:prstDash val="solid"/>
                      <a:round/>
                      <a:headEnd type="none" w="med" len="med"/>
                      <a:tailEnd type="none" w="med" len="med"/>
                    </a:lnL>
                    <a:lnR w="9525" cap="flat" cmpd="sng" algn="ctr">
                      <a:solidFill>
                        <a:srgbClr val="E3ECF0"/>
                      </a:solidFill>
                      <a:prstDash val="solid"/>
                      <a:round/>
                      <a:headEnd type="none" w="med" len="med"/>
                      <a:tailEnd type="none" w="med" len="med"/>
                    </a:lnR>
                    <a:lnT w="9525" cap="flat" cmpd="sng" algn="ctr">
                      <a:solidFill>
                        <a:srgbClr val="E3ECF0"/>
                      </a:solidFill>
                      <a:prstDash val="solid"/>
                      <a:round/>
                      <a:headEnd type="none" w="med" len="med"/>
                      <a:tailEnd type="none" w="med" len="med"/>
                    </a:lnT>
                    <a:lnB w="9525" cap="flat" cmpd="sng" algn="ctr">
                      <a:solidFill>
                        <a:srgbClr val="E3EC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14400">
                <a:tc>
                  <a:txBody>
                    <a:bodyPr/>
                    <a:lstStyle/>
                    <a:p>
                      <a:pPr marL="0" indent="0" algn="l">
                        <a:buNone/>
                      </a:pPr>
                      <a:r>
                        <a:rPr lang="en-US" sz="1000" dirty="0">
                          <a:solidFill>
                            <a:srgbClr val="1A2E40"/>
                          </a:solidFill>
                          <a:latin typeface="Arial" pitchFamily="34" charset="0"/>
                          <a:ea typeface="Arial" pitchFamily="34" charset="-122"/>
                          <a:cs typeface="Arial" pitchFamily="34" charset="-120"/>
                        </a:rPr>
                        <a:t>Modular: every tool purchasable standalone or as an integrated system per school need</a:t>
                      </a:r>
                      <a:endParaRPr lang="en-US" sz="1000" dirty="0">
                        <a:latin typeface="Arial" charset="0"/>
                        <a:ea typeface="Arial" charset="0"/>
                        <a:cs typeface="Arial" charset="0"/>
                      </a:endParaRPr>
                    </a:p>
                  </a:txBody>
                  <a:tcPr anchor="ctr">
                    <a:lnL w="9525" cap="flat" cmpd="sng" algn="ctr">
                      <a:solidFill>
                        <a:srgbClr val="E3ECF0"/>
                      </a:solidFill>
                      <a:prstDash val="solid"/>
                      <a:round/>
                      <a:headEnd type="none" w="med" len="med"/>
                      <a:tailEnd type="none" w="med" len="med"/>
                    </a:lnL>
                    <a:lnR w="9525" cap="flat" cmpd="sng" algn="ctr">
                      <a:solidFill>
                        <a:srgbClr val="E3ECF0"/>
                      </a:solidFill>
                      <a:prstDash val="solid"/>
                      <a:round/>
                      <a:headEnd type="none" w="med" len="med"/>
                      <a:tailEnd type="none" w="med" len="med"/>
                    </a:lnR>
                    <a:lnT w="9525" cap="flat" cmpd="sng" algn="ctr">
                      <a:solidFill>
                        <a:srgbClr val="E3ECF0"/>
                      </a:solidFill>
                      <a:prstDash val="solid"/>
                      <a:round/>
                      <a:headEnd type="none" w="med" len="med"/>
                      <a:tailEnd type="none" w="med" len="med"/>
                    </a:lnT>
                    <a:lnB w="9525" cap="flat" cmpd="sng" algn="ctr">
                      <a:solidFill>
                        <a:srgbClr val="E3ECF0"/>
                      </a:solidFill>
                      <a:prstDash val="solid"/>
                      <a:round/>
                      <a:headEnd type="none" w="med" len="med"/>
                      <a:tailEnd type="none" w="med" len="med"/>
                    </a:lnB>
                    <a:solidFill>
                      <a:srgbClr val="CFEBF9"/>
                    </a:solidFill>
                  </a:tcPr>
                </a:tc>
                <a:tc>
                  <a:txBody>
                    <a:bodyPr/>
                    <a:lstStyle/>
                    <a:p>
                      <a:pPr marL="0" indent="0" algn="l">
                        <a:buNone/>
                      </a:pPr>
                      <a:r>
                        <a:rPr lang="en-US" sz="1000" dirty="0">
                          <a:solidFill>
                            <a:srgbClr val="1A2E40"/>
                          </a:solidFill>
                          <a:latin typeface="Arial" pitchFamily="34" charset="0"/>
                          <a:ea typeface="Arial" pitchFamily="34" charset="-122"/>
                          <a:cs typeface="Arial" pitchFamily="34" charset="-120"/>
                        </a:rPr>
                        <a:t>Annual platform license at district or school level</a:t>
                      </a:r>
                      <a:endParaRPr lang="en-US" sz="1000" dirty="0">
                        <a:latin typeface="Arial" charset="0"/>
                        <a:ea typeface="Arial" charset="0"/>
                        <a:cs typeface="Arial" charset="0"/>
                      </a:endParaRPr>
                    </a:p>
                  </a:txBody>
                  <a:tcPr anchor="ctr">
                    <a:lnL w="9525" cap="flat" cmpd="sng" algn="ctr">
                      <a:solidFill>
                        <a:srgbClr val="E3ECF0"/>
                      </a:solidFill>
                      <a:prstDash val="solid"/>
                      <a:round/>
                      <a:headEnd type="none" w="med" len="med"/>
                      <a:tailEnd type="none" w="med" len="med"/>
                    </a:lnL>
                    <a:lnR w="9525" cap="flat" cmpd="sng" algn="ctr">
                      <a:solidFill>
                        <a:srgbClr val="E3ECF0"/>
                      </a:solidFill>
                      <a:prstDash val="solid"/>
                      <a:round/>
                      <a:headEnd type="none" w="med" len="med"/>
                      <a:tailEnd type="none" w="med" len="med"/>
                    </a:lnR>
                    <a:lnT w="9525" cap="flat" cmpd="sng" algn="ctr">
                      <a:solidFill>
                        <a:srgbClr val="E3ECF0"/>
                      </a:solidFill>
                      <a:prstDash val="solid"/>
                      <a:round/>
                      <a:headEnd type="none" w="med" len="med"/>
                      <a:tailEnd type="none" w="med" len="med"/>
                    </a:lnT>
                    <a:lnB w="9525" cap="flat" cmpd="sng" algn="ctr">
                      <a:solidFill>
                        <a:srgbClr val="E3EC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2E40"/>
                          </a:solidFill>
                          <a:latin typeface="Arial" pitchFamily="34" charset="0"/>
                          <a:ea typeface="Arial" pitchFamily="34" charset="-122"/>
                          <a:cs typeface="Arial" pitchFamily="34" charset="-120"/>
                        </a:rPr>
                        <a:t>Broad annual subscription, usually ministry or school-wide</a:t>
                      </a:r>
                      <a:endParaRPr lang="en-US" sz="1000" dirty="0">
                        <a:latin typeface="Arial" charset="0"/>
                        <a:ea typeface="Arial" charset="0"/>
                        <a:cs typeface="Arial" charset="0"/>
                      </a:endParaRPr>
                    </a:p>
                  </a:txBody>
                  <a:tcPr anchor="ctr">
                    <a:lnL w="9525" cap="flat" cmpd="sng" algn="ctr">
                      <a:solidFill>
                        <a:srgbClr val="E3ECF0"/>
                      </a:solidFill>
                      <a:prstDash val="solid"/>
                      <a:round/>
                      <a:headEnd type="none" w="med" len="med"/>
                      <a:tailEnd type="none" w="med" len="med"/>
                    </a:lnL>
                    <a:lnR w="9525" cap="flat" cmpd="sng" algn="ctr">
                      <a:solidFill>
                        <a:srgbClr val="E3ECF0"/>
                      </a:solidFill>
                      <a:prstDash val="solid"/>
                      <a:round/>
                      <a:headEnd type="none" w="med" len="med"/>
                      <a:tailEnd type="none" w="med" len="med"/>
                    </a:lnR>
                    <a:lnT w="9525" cap="flat" cmpd="sng" algn="ctr">
                      <a:solidFill>
                        <a:srgbClr val="E3ECF0"/>
                      </a:solidFill>
                      <a:prstDash val="solid"/>
                      <a:round/>
                      <a:headEnd type="none" w="med" len="med"/>
                      <a:tailEnd type="none" w="med" len="med"/>
                    </a:lnT>
                    <a:lnB w="9525" cap="flat" cmpd="sng" algn="ctr">
                      <a:solidFill>
                        <a:srgbClr val="E3EC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A2E40"/>
                          </a:solidFill>
                          <a:latin typeface="Arial" pitchFamily="34" charset="0"/>
                          <a:ea typeface="Arial" pitchFamily="34" charset="-122"/>
                          <a:cs typeface="Arial" pitchFamily="34" charset="-120"/>
                        </a:rPr>
                        <a:t>Sales Model</a:t>
                      </a:r>
                      <a:endParaRPr lang="en-US" sz="1000" dirty="0">
                        <a:latin typeface="Arial" charset="0"/>
                        <a:ea typeface="Arial" charset="0"/>
                        <a:cs typeface="Arial" charset="0"/>
                      </a:endParaRPr>
                    </a:p>
                  </a:txBody>
                  <a:tcPr anchor="ctr">
                    <a:lnL w="9525" cap="flat" cmpd="sng" algn="ctr">
                      <a:solidFill>
                        <a:srgbClr val="E3ECF0"/>
                      </a:solidFill>
                      <a:prstDash val="solid"/>
                      <a:round/>
                      <a:headEnd type="none" w="med" len="med"/>
                      <a:tailEnd type="none" w="med" len="med"/>
                    </a:lnL>
                    <a:lnR w="9525" cap="flat" cmpd="sng" algn="ctr">
                      <a:solidFill>
                        <a:srgbClr val="E3ECF0"/>
                      </a:solidFill>
                      <a:prstDash val="solid"/>
                      <a:round/>
                      <a:headEnd type="none" w="med" len="med"/>
                      <a:tailEnd type="none" w="med" len="med"/>
                    </a:lnR>
                    <a:lnT w="9525" cap="flat" cmpd="sng" algn="ctr">
                      <a:solidFill>
                        <a:srgbClr val="E3ECF0"/>
                      </a:solidFill>
                      <a:prstDash val="solid"/>
                      <a:round/>
                      <a:headEnd type="none" w="med" len="med"/>
                      <a:tailEnd type="none" w="med" len="med"/>
                    </a:lnT>
                    <a:lnB w="9525" cap="flat" cmpd="sng" algn="ctr">
                      <a:solidFill>
                        <a:srgbClr val="E3EC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14400">
                <a:tc>
                  <a:txBody>
                    <a:bodyPr/>
                    <a:lstStyle/>
                    <a:p>
                      <a:pPr marL="0" indent="0" algn="l">
                        <a:buNone/>
                      </a:pPr>
                      <a:r>
                        <a:rPr lang="en-US" sz="1000" dirty="0">
                          <a:solidFill>
                            <a:srgbClr val="1A2E40"/>
                          </a:solidFill>
                          <a:latin typeface="Arial" pitchFamily="34" charset="0"/>
                          <a:ea typeface="Arial" pitchFamily="34" charset="-122"/>
                          <a:cs typeface="Arial" pitchFamily="34" charset="-120"/>
                        </a:rPr>
                        <a:t>Continuous pedagogical + technical consulting, with optional on-site expert visits</a:t>
                      </a:r>
                      <a:endParaRPr lang="en-US" sz="1000" dirty="0">
                        <a:latin typeface="Arial" charset="0"/>
                        <a:ea typeface="Arial" charset="0"/>
                        <a:cs typeface="Arial" charset="0"/>
                      </a:endParaRPr>
                    </a:p>
                  </a:txBody>
                  <a:tcPr anchor="ctr">
                    <a:lnL w="9525" cap="flat" cmpd="sng" algn="ctr">
                      <a:solidFill>
                        <a:srgbClr val="E3ECF0"/>
                      </a:solidFill>
                      <a:prstDash val="solid"/>
                      <a:round/>
                      <a:headEnd type="none" w="med" len="med"/>
                      <a:tailEnd type="none" w="med" len="med"/>
                    </a:lnL>
                    <a:lnR w="9525" cap="flat" cmpd="sng" algn="ctr">
                      <a:solidFill>
                        <a:srgbClr val="E3ECF0"/>
                      </a:solidFill>
                      <a:prstDash val="solid"/>
                      <a:round/>
                      <a:headEnd type="none" w="med" len="med"/>
                      <a:tailEnd type="none" w="med" len="med"/>
                    </a:lnR>
                    <a:lnT w="9525" cap="flat" cmpd="sng" algn="ctr">
                      <a:solidFill>
                        <a:srgbClr val="E3ECF0"/>
                      </a:solidFill>
                      <a:prstDash val="solid"/>
                      <a:round/>
                      <a:headEnd type="none" w="med" len="med"/>
                      <a:tailEnd type="none" w="med" len="med"/>
                    </a:lnT>
                    <a:lnB w="9525" cap="flat" cmpd="sng" algn="ctr">
                      <a:solidFill>
                        <a:srgbClr val="E3ECF0"/>
                      </a:solidFill>
                      <a:prstDash val="solid"/>
                      <a:round/>
                      <a:headEnd type="none" w="med" len="med"/>
                      <a:tailEnd type="none" w="med" len="med"/>
                    </a:lnB>
                    <a:solidFill>
                      <a:srgbClr val="CFEBF9"/>
                    </a:solidFill>
                  </a:tcPr>
                </a:tc>
                <a:tc>
                  <a:txBody>
                    <a:bodyPr/>
                    <a:lstStyle/>
                    <a:p>
                      <a:pPr marL="0" indent="0" algn="l">
                        <a:buNone/>
                      </a:pPr>
                      <a:r>
                        <a:rPr lang="en-US" sz="1000" dirty="0">
                          <a:solidFill>
                            <a:srgbClr val="1A2E40"/>
                          </a:solidFill>
                          <a:latin typeface="Arial" pitchFamily="34" charset="0"/>
                          <a:ea typeface="Arial" pitchFamily="34" charset="-122"/>
                          <a:cs typeface="Arial" pitchFamily="34" charset="-120"/>
                        </a:rPr>
                        <a:t>Customer support and professional development within subscription</a:t>
                      </a:r>
                      <a:endParaRPr lang="en-US" sz="1000" dirty="0">
                        <a:latin typeface="Arial" charset="0"/>
                        <a:ea typeface="Arial" charset="0"/>
                        <a:cs typeface="Arial" charset="0"/>
                      </a:endParaRPr>
                    </a:p>
                  </a:txBody>
                  <a:tcPr anchor="ctr">
                    <a:lnL w="9525" cap="flat" cmpd="sng" algn="ctr">
                      <a:solidFill>
                        <a:srgbClr val="E3ECF0"/>
                      </a:solidFill>
                      <a:prstDash val="solid"/>
                      <a:round/>
                      <a:headEnd type="none" w="med" len="med"/>
                      <a:tailEnd type="none" w="med" len="med"/>
                    </a:lnL>
                    <a:lnR w="9525" cap="flat" cmpd="sng" algn="ctr">
                      <a:solidFill>
                        <a:srgbClr val="E3ECF0"/>
                      </a:solidFill>
                      <a:prstDash val="solid"/>
                      <a:round/>
                      <a:headEnd type="none" w="med" len="med"/>
                      <a:tailEnd type="none" w="med" len="med"/>
                    </a:lnR>
                    <a:lnT w="9525" cap="flat" cmpd="sng" algn="ctr">
                      <a:solidFill>
                        <a:srgbClr val="E3ECF0"/>
                      </a:solidFill>
                      <a:prstDash val="solid"/>
                      <a:round/>
                      <a:headEnd type="none" w="med" len="med"/>
                      <a:tailEnd type="none" w="med" len="med"/>
                    </a:lnT>
                    <a:lnB w="9525" cap="flat" cmpd="sng" algn="ctr">
                      <a:solidFill>
                        <a:srgbClr val="E3EC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2E40"/>
                          </a:solidFill>
                          <a:latin typeface="Arial" pitchFamily="34" charset="0"/>
                          <a:ea typeface="Arial" pitchFamily="34" charset="-122"/>
                          <a:cs typeface="Arial" pitchFamily="34" charset="-120"/>
                        </a:rPr>
                        <a:t>Mostly remote technical support and digital training</a:t>
                      </a:r>
                      <a:endParaRPr lang="en-US" sz="1000" dirty="0">
                        <a:latin typeface="Arial" charset="0"/>
                        <a:ea typeface="Arial" charset="0"/>
                        <a:cs typeface="Arial" charset="0"/>
                      </a:endParaRPr>
                    </a:p>
                  </a:txBody>
                  <a:tcPr anchor="ctr">
                    <a:lnL w="9525" cap="flat" cmpd="sng" algn="ctr">
                      <a:solidFill>
                        <a:srgbClr val="E3ECF0"/>
                      </a:solidFill>
                      <a:prstDash val="solid"/>
                      <a:round/>
                      <a:headEnd type="none" w="med" len="med"/>
                      <a:tailEnd type="none" w="med" len="med"/>
                    </a:lnL>
                    <a:lnR w="9525" cap="flat" cmpd="sng" algn="ctr">
                      <a:solidFill>
                        <a:srgbClr val="E3ECF0"/>
                      </a:solidFill>
                      <a:prstDash val="solid"/>
                      <a:round/>
                      <a:headEnd type="none" w="med" len="med"/>
                      <a:tailEnd type="none" w="med" len="med"/>
                    </a:lnR>
                    <a:lnT w="9525" cap="flat" cmpd="sng" algn="ctr">
                      <a:solidFill>
                        <a:srgbClr val="E3ECF0"/>
                      </a:solidFill>
                      <a:prstDash val="solid"/>
                      <a:round/>
                      <a:headEnd type="none" w="med" len="med"/>
                      <a:tailEnd type="none" w="med" len="med"/>
                    </a:lnT>
                    <a:lnB w="9525" cap="flat" cmpd="sng" algn="ctr">
                      <a:solidFill>
                        <a:srgbClr val="E3EC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A2E40"/>
                          </a:solidFill>
                          <a:latin typeface="Arial" pitchFamily="34" charset="0"/>
                          <a:ea typeface="Arial" pitchFamily="34" charset="-122"/>
                          <a:cs typeface="Arial" pitchFamily="34" charset="-120"/>
                        </a:rPr>
                        <a:t>Human Support</a:t>
                      </a:r>
                      <a:endParaRPr lang="en-US" sz="1000" dirty="0">
                        <a:latin typeface="Arial" charset="0"/>
                        <a:ea typeface="Arial" charset="0"/>
                        <a:cs typeface="Arial" charset="0"/>
                      </a:endParaRPr>
                    </a:p>
                  </a:txBody>
                  <a:tcPr anchor="ctr">
                    <a:lnL w="9525" cap="flat" cmpd="sng" algn="ctr">
                      <a:solidFill>
                        <a:srgbClr val="E3ECF0"/>
                      </a:solidFill>
                      <a:prstDash val="solid"/>
                      <a:round/>
                      <a:headEnd type="none" w="med" len="med"/>
                      <a:tailEnd type="none" w="med" len="med"/>
                    </a:lnL>
                    <a:lnR w="9525" cap="flat" cmpd="sng" algn="ctr">
                      <a:solidFill>
                        <a:srgbClr val="E3ECF0"/>
                      </a:solidFill>
                      <a:prstDash val="solid"/>
                      <a:round/>
                      <a:headEnd type="none" w="med" len="med"/>
                      <a:tailEnd type="none" w="med" len="med"/>
                    </a:lnR>
                    <a:lnT w="9525" cap="flat" cmpd="sng" algn="ctr">
                      <a:solidFill>
                        <a:srgbClr val="E3ECF0"/>
                      </a:solidFill>
                      <a:prstDash val="solid"/>
                      <a:round/>
                      <a:headEnd type="none" w="med" len="med"/>
                      <a:tailEnd type="none" w="med" len="med"/>
                    </a:lnT>
                    <a:lnB w="9525" cap="flat" cmpd="sng" algn="ctr">
                      <a:solidFill>
                        <a:srgbClr val="E3EC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14400">
                <a:tc>
                  <a:txBody>
                    <a:bodyPr/>
                    <a:lstStyle/>
                    <a:p>
                      <a:pPr marL="0" indent="0" algn="l">
                        <a:buNone/>
                      </a:pPr>
                      <a:r>
                        <a:rPr lang="en-US" sz="1000" dirty="0">
                          <a:solidFill>
                            <a:srgbClr val="1A2E40"/>
                          </a:solidFill>
                          <a:latin typeface="Arial" pitchFamily="34" charset="0"/>
                          <a:ea typeface="Arial" pitchFamily="34" charset="-122"/>
                          <a:cs typeface="Arial" pitchFamily="34" charset="-120"/>
                        </a:rPr>
                        <a:t>Genuinely adapts to each school's context, tools, and content</a:t>
                      </a:r>
                      <a:endParaRPr lang="en-US" sz="1000" dirty="0">
                        <a:latin typeface="Arial" charset="0"/>
                        <a:ea typeface="Arial" charset="0"/>
                        <a:cs typeface="Arial" charset="0"/>
                      </a:endParaRPr>
                    </a:p>
                  </a:txBody>
                  <a:tcPr anchor="ctr">
                    <a:lnL w="9525" cap="flat" cmpd="sng" algn="ctr">
                      <a:solidFill>
                        <a:srgbClr val="E3ECF0"/>
                      </a:solidFill>
                      <a:prstDash val="solid"/>
                      <a:round/>
                      <a:headEnd type="none" w="med" len="med"/>
                      <a:tailEnd type="none" w="med" len="med"/>
                    </a:lnL>
                    <a:lnR w="9525" cap="flat" cmpd="sng" algn="ctr">
                      <a:solidFill>
                        <a:srgbClr val="E3ECF0"/>
                      </a:solidFill>
                      <a:prstDash val="solid"/>
                      <a:round/>
                      <a:headEnd type="none" w="med" len="med"/>
                      <a:tailEnd type="none" w="med" len="med"/>
                    </a:lnR>
                    <a:lnT w="9525" cap="flat" cmpd="sng" algn="ctr">
                      <a:solidFill>
                        <a:srgbClr val="E3ECF0"/>
                      </a:solidFill>
                      <a:prstDash val="solid"/>
                      <a:round/>
                      <a:headEnd type="none" w="med" len="med"/>
                      <a:tailEnd type="none" w="med" len="med"/>
                    </a:lnT>
                    <a:lnB w="9525" cap="flat" cmpd="sng" algn="ctr">
                      <a:solidFill>
                        <a:srgbClr val="E3ECF0"/>
                      </a:solidFill>
                      <a:prstDash val="solid"/>
                      <a:round/>
                      <a:headEnd type="none" w="med" len="med"/>
                      <a:tailEnd type="none" w="med" len="med"/>
                    </a:lnB>
                    <a:solidFill>
                      <a:srgbClr val="CFEBF9"/>
                    </a:solidFill>
                  </a:tcPr>
                </a:tc>
                <a:tc>
                  <a:txBody>
                    <a:bodyPr/>
                    <a:lstStyle/>
                    <a:p>
                      <a:pPr marL="0" indent="0" algn="l">
                        <a:buNone/>
                      </a:pPr>
                      <a:r>
                        <a:rPr lang="en-US" sz="1000" dirty="0">
                          <a:solidFill>
                            <a:srgbClr val="1A2E40"/>
                          </a:solidFill>
                          <a:latin typeface="Arial" pitchFamily="34" charset="0"/>
                          <a:ea typeface="Arial" pitchFamily="34" charset="-122"/>
                          <a:cs typeface="Arial" pitchFamily="34" charset="-120"/>
                        </a:rPr>
                        <a:t>Flexible in administrative workflow, less so in pedagogical depth</a:t>
                      </a:r>
                      <a:endParaRPr lang="en-US" sz="1000" dirty="0">
                        <a:latin typeface="Arial" charset="0"/>
                        <a:ea typeface="Arial" charset="0"/>
                        <a:cs typeface="Arial" charset="0"/>
                      </a:endParaRPr>
                    </a:p>
                  </a:txBody>
                  <a:tcPr anchor="ctr">
                    <a:lnL w="9525" cap="flat" cmpd="sng" algn="ctr">
                      <a:solidFill>
                        <a:srgbClr val="E3ECF0"/>
                      </a:solidFill>
                      <a:prstDash val="solid"/>
                      <a:round/>
                      <a:headEnd type="none" w="med" len="med"/>
                      <a:tailEnd type="none" w="med" len="med"/>
                    </a:lnL>
                    <a:lnR w="9525" cap="flat" cmpd="sng" algn="ctr">
                      <a:solidFill>
                        <a:srgbClr val="E3ECF0"/>
                      </a:solidFill>
                      <a:prstDash val="solid"/>
                      <a:round/>
                      <a:headEnd type="none" w="med" len="med"/>
                      <a:tailEnd type="none" w="med" len="med"/>
                    </a:lnR>
                    <a:lnT w="9525" cap="flat" cmpd="sng" algn="ctr">
                      <a:solidFill>
                        <a:srgbClr val="E3ECF0"/>
                      </a:solidFill>
                      <a:prstDash val="solid"/>
                      <a:round/>
                      <a:headEnd type="none" w="med" len="med"/>
                      <a:tailEnd type="none" w="med" len="med"/>
                    </a:lnT>
                    <a:lnB w="9525" cap="flat" cmpd="sng" algn="ctr">
                      <a:solidFill>
                        <a:srgbClr val="E3EC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2E40"/>
                          </a:solidFill>
                          <a:latin typeface="Arial" pitchFamily="34" charset="0"/>
                          <a:ea typeface="Arial" pitchFamily="34" charset="-122"/>
                          <a:cs typeface="Arial" pitchFamily="34" charset="-120"/>
                        </a:rPr>
                        <a:t>Limited customization within one unified platform for all schools</a:t>
                      </a:r>
                      <a:endParaRPr lang="en-US" sz="1000" dirty="0">
                        <a:latin typeface="Arial" charset="0"/>
                        <a:ea typeface="Arial" charset="0"/>
                        <a:cs typeface="Arial" charset="0"/>
                      </a:endParaRPr>
                    </a:p>
                  </a:txBody>
                  <a:tcPr anchor="ctr">
                    <a:lnL w="9525" cap="flat" cmpd="sng" algn="ctr">
                      <a:solidFill>
                        <a:srgbClr val="E3ECF0"/>
                      </a:solidFill>
                      <a:prstDash val="solid"/>
                      <a:round/>
                      <a:headEnd type="none" w="med" len="med"/>
                      <a:tailEnd type="none" w="med" len="med"/>
                    </a:lnL>
                    <a:lnR w="9525" cap="flat" cmpd="sng" algn="ctr">
                      <a:solidFill>
                        <a:srgbClr val="E3ECF0"/>
                      </a:solidFill>
                      <a:prstDash val="solid"/>
                      <a:round/>
                      <a:headEnd type="none" w="med" len="med"/>
                      <a:tailEnd type="none" w="med" len="med"/>
                    </a:lnR>
                    <a:lnT w="9525" cap="flat" cmpd="sng" algn="ctr">
                      <a:solidFill>
                        <a:srgbClr val="E3ECF0"/>
                      </a:solidFill>
                      <a:prstDash val="solid"/>
                      <a:round/>
                      <a:headEnd type="none" w="med" len="med"/>
                      <a:tailEnd type="none" w="med" len="med"/>
                    </a:lnT>
                    <a:lnB w="9525" cap="flat" cmpd="sng" algn="ctr">
                      <a:solidFill>
                        <a:srgbClr val="E3EC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A2E40"/>
                          </a:solidFill>
                          <a:latin typeface="Arial" pitchFamily="34" charset="0"/>
                          <a:ea typeface="Arial" pitchFamily="34" charset="-122"/>
                          <a:cs typeface="Arial" pitchFamily="34" charset="-120"/>
                        </a:rPr>
                        <a:t>Flexibility</a:t>
                      </a:r>
                      <a:endParaRPr lang="en-US" sz="1000" dirty="0">
                        <a:latin typeface="Arial" charset="0"/>
                        <a:ea typeface="Arial" charset="0"/>
                        <a:cs typeface="Arial" charset="0"/>
                      </a:endParaRPr>
                    </a:p>
                  </a:txBody>
                  <a:tcPr anchor="ctr">
                    <a:lnL w="9525" cap="flat" cmpd="sng" algn="ctr">
                      <a:solidFill>
                        <a:srgbClr val="E3ECF0"/>
                      </a:solidFill>
                      <a:prstDash val="solid"/>
                      <a:round/>
                      <a:headEnd type="none" w="med" len="med"/>
                      <a:tailEnd type="none" w="med" len="med"/>
                    </a:lnL>
                    <a:lnR w="9525" cap="flat" cmpd="sng" algn="ctr">
                      <a:solidFill>
                        <a:srgbClr val="E3ECF0"/>
                      </a:solidFill>
                      <a:prstDash val="solid"/>
                      <a:round/>
                      <a:headEnd type="none" w="med" len="med"/>
                      <a:tailEnd type="none" w="med" len="med"/>
                    </a:lnR>
                    <a:lnT w="9525" cap="flat" cmpd="sng" algn="ctr">
                      <a:solidFill>
                        <a:srgbClr val="E3ECF0"/>
                      </a:solidFill>
                      <a:prstDash val="solid"/>
                      <a:round/>
                      <a:headEnd type="none" w="med" len="med"/>
                      <a:tailEnd type="none" w="med" len="med"/>
                    </a:lnT>
                    <a:lnB w="9525" cap="flat" cmpd="sng" algn="ctr">
                      <a:solidFill>
                        <a:srgbClr val="E3EC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4" name="Text 2"/>
          <p:cNvSpPr txBox="1"/>
          <p:nvPr/>
        </p:nvSpPr>
        <p:spPr>
          <a:xfrm>
            <a:off x="365760" y="6355080"/>
            <a:ext cx="914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50606C"/>
                </a:solidFill>
                <a:effectLst/>
                <a:uLnTx/>
                <a:uFillTx/>
                <a:latin typeface="Arial" pitchFamily="34" charset="0"/>
                <a:ea typeface="Arial" pitchFamily="34" charset="-122"/>
                <a:cs typeface="Arial" pitchFamily="34" charset="-120"/>
              </a:rPr>
              <a:t>04</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3"/>
          <p:cNvSpPr txBox="1"/>
          <p:nvPr/>
        </p:nvSpPr>
        <p:spPr>
          <a:xfrm>
            <a:off x="9082735" y="6355080"/>
            <a:ext cx="274320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50606C"/>
                </a:solidFill>
                <a:effectLst/>
                <a:uLnTx/>
                <a:uFillTx/>
                <a:latin typeface="Arial" pitchFamily="34" charset="0"/>
                <a:ea typeface="Arial" pitchFamily="34" charset="-122"/>
                <a:cs typeface="Arial" pitchFamily="34" charset="-120"/>
              </a:rPr>
              <a:t>MASAR  |  مسار</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bg_navy.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548640"/>
            <a:ext cx="11094415" cy="7315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The Gap in the Arab EdTech Market</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1"/>
          <p:cNvSpPr txBox="1"/>
          <p:nvPr/>
        </p:nvSpPr>
        <p:spPr>
          <a:xfrm>
            <a:off x="548640" y="1188720"/>
            <a:ext cx="11094415"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1" u="none" strike="noStrike" kern="1200" cap="none" spc="0" normalizeH="0" baseline="0" noProof="0" dirty="0">
                <a:ln>
                  <a:noFill/>
                </a:ln>
                <a:solidFill>
                  <a:srgbClr val="CFEBF9"/>
                </a:solidFill>
                <a:effectLst/>
                <a:uLnTx/>
                <a:uFillTx/>
                <a:latin typeface="Arial" pitchFamily="34" charset="0"/>
                <a:ea typeface="Arial" pitchFamily="34" charset="-122"/>
                <a:cs typeface="Arial" pitchFamily="34" charset="-120"/>
              </a:rPr>
              <a:t>Where MASAR stands today, and where it's headed — with deliberate, evidence-based growth</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2"/>
          <p:cNvSpPr/>
          <p:nvPr/>
        </p:nvSpPr>
        <p:spPr>
          <a:xfrm>
            <a:off x="548640" y="1965960"/>
            <a:ext cx="5349240" cy="3931920"/>
          </a:xfrm>
          <a:prstGeom prst="roundRect">
            <a:avLst>
              <a:gd name="adj" fmla="val 2326"/>
            </a:avLst>
          </a:prstGeom>
          <a:solidFill>
            <a:srgbClr val="12314F"/>
          </a:solidFill>
          <a:ln/>
        </p:spPr>
      </p:sp>
      <p:sp>
        <p:nvSpPr>
          <p:cNvPr id="6" name="Text 3"/>
          <p:cNvSpPr txBox="1"/>
          <p:nvPr/>
        </p:nvSpPr>
        <p:spPr>
          <a:xfrm>
            <a:off x="822960" y="2194560"/>
            <a:ext cx="48006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A9E96"/>
                </a:solidFill>
                <a:effectLst/>
                <a:uLnTx/>
                <a:uFillTx/>
                <a:latin typeface="Arial" pitchFamily="34" charset="0"/>
                <a:ea typeface="Arial" pitchFamily="34" charset="-122"/>
                <a:cs typeface="Arial" pitchFamily="34" charset="-120"/>
              </a:rPr>
              <a:t>Current Market Gaps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4"/>
          <p:cNvSpPr/>
          <p:nvPr/>
        </p:nvSpPr>
        <p:spPr>
          <a:xfrm>
            <a:off x="822960" y="3044952"/>
            <a:ext cx="128016" cy="128016"/>
          </a:xfrm>
          <a:prstGeom prst="ellipse">
            <a:avLst/>
          </a:prstGeom>
          <a:solidFill>
            <a:srgbClr val="1A9E96"/>
          </a:solidFill>
          <a:ln/>
        </p:spPr>
      </p:sp>
      <p:sp>
        <p:nvSpPr>
          <p:cNvPr id="8" name="Text 5"/>
          <p:cNvSpPr txBox="1"/>
          <p:nvPr/>
        </p:nvSpPr>
        <p:spPr>
          <a:xfrm>
            <a:off x="1097280" y="2715768"/>
            <a:ext cx="448056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Heavy reliance on translated/imported content instead of Arabic-native systems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822960" y="3776472"/>
            <a:ext cx="128016" cy="128016"/>
          </a:xfrm>
          <a:prstGeom prst="ellipse">
            <a:avLst/>
          </a:prstGeom>
          <a:solidFill>
            <a:srgbClr val="1A9E96"/>
          </a:solidFill>
          <a:ln/>
        </p:spPr>
      </p:sp>
      <p:sp>
        <p:nvSpPr>
          <p:cNvPr id="10" name="Text 7"/>
          <p:cNvSpPr txBox="1"/>
          <p:nvPr/>
        </p:nvSpPr>
        <p:spPr>
          <a:xfrm>
            <a:off x="1097280" y="3447288"/>
            <a:ext cx="448056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No purchasing flexibility: one full bundle, or nothing</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822960" y="4507992"/>
            <a:ext cx="128016" cy="128016"/>
          </a:xfrm>
          <a:prstGeom prst="ellipse">
            <a:avLst/>
          </a:prstGeom>
          <a:solidFill>
            <a:srgbClr val="1A9E96"/>
          </a:solidFill>
          <a:ln/>
        </p:spPr>
      </p:sp>
      <p:sp>
        <p:nvSpPr>
          <p:cNvPr id="12" name="Text 9"/>
          <p:cNvSpPr txBox="1"/>
          <p:nvPr/>
        </p:nvSpPr>
        <p:spPr>
          <a:xfrm>
            <a:off x="1097280" y="4178808"/>
            <a:ext cx="448056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Weak on-the-ground human presence alongside digital tools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0"/>
          <p:cNvSpPr/>
          <p:nvPr/>
        </p:nvSpPr>
        <p:spPr>
          <a:xfrm>
            <a:off x="822960" y="5239512"/>
            <a:ext cx="128016" cy="128016"/>
          </a:xfrm>
          <a:prstGeom prst="ellipse">
            <a:avLst/>
          </a:prstGeom>
          <a:solidFill>
            <a:srgbClr val="1A9E96"/>
          </a:solidFill>
          <a:ln/>
        </p:spPr>
      </p:sp>
      <p:sp>
        <p:nvSpPr>
          <p:cNvPr id="14" name="Text 11"/>
          <p:cNvSpPr txBox="1"/>
          <p:nvPr/>
        </p:nvSpPr>
        <p:spPr>
          <a:xfrm>
            <a:off x="1097280" y="4910328"/>
            <a:ext cx="448056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A gap between individual diagnosis and actual classroom action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2"/>
          <p:cNvSpPr/>
          <p:nvPr/>
        </p:nvSpPr>
        <p:spPr>
          <a:xfrm>
            <a:off x="6263640" y="1965960"/>
            <a:ext cx="5349240" cy="3931920"/>
          </a:xfrm>
          <a:prstGeom prst="roundRect">
            <a:avLst>
              <a:gd name="adj" fmla="val 2326"/>
            </a:avLst>
          </a:prstGeom>
          <a:solidFill>
            <a:srgbClr val="1A9E96"/>
          </a:solidFill>
          <a:ln/>
        </p:spPr>
      </p:sp>
      <p:sp>
        <p:nvSpPr>
          <p:cNvPr id="16" name="Text 13"/>
          <p:cNvSpPr txBox="1"/>
          <p:nvPr/>
        </p:nvSpPr>
        <p:spPr>
          <a:xfrm>
            <a:off x="6537960" y="2194560"/>
            <a:ext cx="48006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MASAR's Role — Today &amp; Tomorrow</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p:cNvSpPr txBox="1"/>
          <p:nvPr/>
        </p:nvSpPr>
        <p:spPr>
          <a:xfrm>
            <a:off x="6537960" y="2788920"/>
            <a:ext cx="480060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Today: closing these gaps within a deliberate, controlled scope with each partner school, measuring real impact before any expansion.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5"/>
          <p:cNvSpPr txBox="1"/>
          <p:nvPr/>
        </p:nvSpPr>
        <p:spPr>
          <a:xfrm>
            <a:off x="6537960" y="3977640"/>
            <a:ext cx="480060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Tomorrow: gradual, cautious expansion built on documented impact with existing schools — not fast growth at the expense of quality.</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6"/>
          <p:cNvSpPr txBox="1"/>
          <p:nvPr/>
        </p:nvSpPr>
        <p:spPr>
          <a:xfrm>
            <a:off x="6537960" y="5120640"/>
            <a:ext cx="48006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1" u="none" strike="noStrike" kern="1200" cap="none" spc="0" normalizeH="0" baseline="0" noProof="0" dirty="0">
                <a:ln>
                  <a:noFill/>
                </a:ln>
                <a:solidFill>
                  <a:srgbClr val="173F63"/>
                </a:solidFill>
                <a:effectLst/>
                <a:uLnTx/>
                <a:uFillTx/>
                <a:latin typeface="Arial" pitchFamily="34" charset="0"/>
                <a:ea typeface="Arial" pitchFamily="34" charset="-122"/>
                <a:cs typeface="Arial" pitchFamily="34" charset="-120"/>
              </a:rPr>
              <a:t>A long-term partner, not a fast-scaling vendor</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7"/>
          <p:cNvSpPr txBox="1"/>
          <p:nvPr/>
        </p:nvSpPr>
        <p:spPr>
          <a:xfrm>
            <a:off x="365760" y="6355080"/>
            <a:ext cx="914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8FA8BE"/>
                </a:solidFill>
                <a:effectLst/>
                <a:uLnTx/>
                <a:uFillTx/>
                <a:latin typeface="Arial" pitchFamily="34" charset="0"/>
                <a:ea typeface="Arial" pitchFamily="34" charset="-122"/>
                <a:cs typeface="Arial" pitchFamily="34" charset="-120"/>
              </a:rPr>
              <a:t>05</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8"/>
          <p:cNvSpPr txBox="1"/>
          <p:nvPr/>
        </p:nvSpPr>
        <p:spPr>
          <a:xfrm>
            <a:off x="9082735" y="6355080"/>
            <a:ext cx="274320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8FA8BE"/>
                </a:solidFill>
                <a:effectLst/>
                <a:uLnTx/>
                <a:uFillTx/>
                <a:latin typeface="Arial" pitchFamily="34" charset="0"/>
                <a:ea typeface="Arial" pitchFamily="34" charset="-122"/>
                <a:cs typeface="Arial" pitchFamily="34" charset="-120"/>
              </a:rPr>
              <a:t>MASAR  |  مسار</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46888"/>
            <a:ext cx="3200400" cy="228600"/>
          </a:xfrm>
          <a:prstGeom prst="rect">
            <a:avLst/>
          </a:prstGeom>
          <a:noFill/>
        </p:spPr>
        <p:txBody>
          <a:bodyPr wrap="square" anchor="t">
            <a:spAutoFit/>
          </a:bodyPr>
          <a:lstStyle/>
          <a:p>
            <a:pPr algn="l">
              <a:spcBef>
                <a:spcPts val="0"/>
              </a:spcBef>
              <a:spcAft>
                <a:spcPts val="0"/>
              </a:spcAft>
            </a:pPr>
            <a:r>
              <a:rPr sz="900" b="1">
                <a:solidFill>
                  <a:srgbClr val="CAA143"/>
                </a:solidFill>
                <a:latin typeface="Aptos"/>
              </a:rPr>
              <a:t>MASAR | مسار   •   03</a:t>
            </a:r>
          </a:p>
        </p:txBody>
      </p:sp>
      <p:sp>
        <p:nvSpPr>
          <p:cNvPr id="4" name="TextBox 3"/>
          <p:cNvSpPr txBox="1"/>
          <p:nvPr/>
        </p:nvSpPr>
        <p:spPr>
          <a:xfrm>
            <a:off x="594360" y="621792"/>
            <a:ext cx="10972800" cy="594360"/>
          </a:xfrm>
          <a:prstGeom prst="rect">
            <a:avLst/>
          </a:prstGeom>
          <a:noFill/>
        </p:spPr>
        <p:txBody>
          <a:bodyPr wrap="square" anchor="t">
            <a:spAutoFit/>
          </a:bodyPr>
          <a:lstStyle/>
          <a:p>
            <a:pPr algn="l">
              <a:spcBef>
                <a:spcPts val="0"/>
              </a:spcBef>
              <a:spcAft>
                <a:spcPts val="0"/>
              </a:spcAft>
            </a:pPr>
            <a:r>
              <a:rPr sz="2800" b="1">
                <a:solidFill>
                  <a:srgbClr val="183A5B"/>
                </a:solidFill>
                <a:latin typeface="Aptos"/>
              </a:rPr>
              <a:t>Why This Could Be More Than a Website</a:t>
            </a:r>
          </a:p>
        </p:txBody>
      </p:sp>
      <p:sp>
        <p:nvSpPr>
          <p:cNvPr id="5" name="TextBox 4"/>
          <p:cNvSpPr txBox="1"/>
          <p:nvPr/>
        </p:nvSpPr>
        <p:spPr>
          <a:xfrm>
            <a:off x="612648" y="1261872"/>
            <a:ext cx="10789920" cy="384048"/>
          </a:xfrm>
          <a:prstGeom prst="rect">
            <a:avLst/>
          </a:prstGeom>
          <a:noFill/>
        </p:spPr>
        <p:txBody>
          <a:bodyPr wrap="square" anchor="t">
            <a:spAutoFit/>
          </a:bodyPr>
          <a:lstStyle/>
          <a:p>
            <a:pPr algn="l">
              <a:spcBef>
                <a:spcPts val="0"/>
              </a:spcBef>
              <a:spcAft>
                <a:spcPts val="0"/>
              </a:spcAft>
            </a:pPr>
            <a:r>
              <a:rPr sz="1150" b="0">
                <a:solidFill>
                  <a:srgbClr val="5C6A78"/>
                </a:solidFill>
                <a:latin typeface="Aptos"/>
              </a:rPr>
              <a:t>The website is only the visible layer.</a:t>
            </a:r>
          </a:p>
        </p:txBody>
      </p:sp>
      <p:sp>
        <p:nvSpPr>
          <p:cNvPr id="6" name="Rounded Rectangle 5"/>
          <p:cNvSpPr/>
          <p:nvPr/>
        </p:nvSpPr>
        <p:spPr>
          <a:xfrm>
            <a:off x="1828800" y="1600200"/>
            <a:ext cx="8503920" cy="566928"/>
          </a:xfrm>
          <a:prstGeom prst="roundRect">
            <a:avLst/>
          </a:prstGeom>
          <a:solidFill>
            <a:srgbClr val="EBF3F9"/>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828800" y="1600200"/>
            <a:ext cx="109728" cy="566928"/>
          </a:xfrm>
          <a:prstGeom prst="rect">
            <a:avLst/>
          </a:prstGeom>
          <a:solidFill>
            <a:srgbClr val="183A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48840" y="1709928"/>
            <a:ext cx="2468880" cy="228600"/>
          </a:xfrm>
          <a:prstGeom prst="rect">
            <a:avLst/>
          </a:prstGeom>
          <a:noFill/>
        </p:spPr>
        <p:txBody>
          <a:bodyPr wrap="square" anchor="t">
            <a:spAutoFit/>
          </a:bodyPr>
          <a:lstStyle/>
          <a:p>
            <a:pPr algn="l">
              <a:spcBef>
                <a:spcPts val="0"/>
              </a:spcBef>
              <a:spcAft>
                <a:spcPts val="0"/>
              </a:spcAft>
            </a:pPr>
            <a:r>
              <a:rPr sz="1150" b="1">
                <a:solidFill>
                  <a:srgbClr val="183A5B"/>
                </a:solidFill>
                <a:latin typeface="Aptos"/>
              </a:rPr>
              <a:t>MASAR Educational IP</a:t>
            </a:r>
          </a:p>
        </p:txBody>
      </p:sp>
      <p:sp>
        <p:nvSpPr>
          <p:cNvPr id="9" name="TextBox 8"/>
          <p:cNvSpPr txBox="1"/>
          <p:nvPr/>
        </p:nvSpPr>
        <p:spPr>
          <a:xfrm>
            <a:off x="4617720" y="1709928"/>
            <a:ext cx="5349240" cy="256032"/>
          </a:xfrm>
          <a:prstGeom prst="rect">
            <a:avLst/>
          </a:prstGeom>
          <a:noFill/>
        </p:spPr>
        <p:txBody>
          <a:bodyPr wrap="square" anchor="t">
            <a:spAutoFit/>
          </a:bodyPr>
          <a:lstStyle/>
          <a:p>
            <a:pPr algn="l">
              <a:spcBef>
                <a:spcPts val="0"/>
              </a:spcBef>
              <a:spcAft>
                <a:spcPts val="0"/>
              </a:spcAft>
            </a:pPr>
            <a:r>
              <a:rPr sz="950" b="0">
                <a:solidFill>
                  <a:srgbClr val="5C6A78"/>
                </a:solidFill>
                <a:latin typeface="Aptos"/>
              </a:rPr>
              <a:t>Frameworks • Skills Banks • Diagnostics • IEP • Methodology</a:t>
            </a:r>
          </a:p>
        </p:txBody>
      </p:sp>
      <p:sp>
        <p:nvSpPr>
          <p:cNvPr id="10" name="Rounded Rectangle 9"/>
          <p:cNvSpPr/>
          <p:nvPr/>
        </p:nvSpPr>
        <p:spPr>
          <a:xfrm>
            <a:off x="1828800" y="2404872"/>
            <a:ext cx="8503920" cy="566928"/>
          </a:xfrm>
          <a:prstGeom prst="roundRect">
            <a:avLst/>
          </a:prstGeom>
          <a:solidFill>
            <a:srgbClr val="F6F9FB"/>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828800" y="2404872"/>
            <a:ext cx="109728" cy="566928"/>
          </a:xfrm>
          <a:prstGeom prst="rect">
            <a:avLst/>
          </a:prstGeom>
          <a:solidFill>
            <a:srgbClr val="1D9D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148840" y="2514600"/>
            <a:ext cx="2468880" cy="228600"/>
          </a:xfrm>
          <a:prstGeom prst="rect">
            <a:avLst/>
          </a:prstGeom>
          <a:noFill/>
        </p:spPr>
        <p:txBody>
          <a:bodyPr wrap="square" anchor="t">
            <a:spAutoFit/>
          </a:bodyPr>
          <a:lstStyle/>
          <a:p>
            <a:pPr algn="l">
              <a:spcBef>
                <a:spcPts val="0"/>
              </a:spcBef>
              <a:spcAft>
                <a:spcPts val="0"/>
              </a:spcAft>
            </a:pPr>
            <a:r>
              <a:rPr sz="1150" b="1">
                <a:solidFill>
                  <a:srgbClr val="183A5B"/>
                </a:solidFill>
                <a:latin typeface="Aptos"/>
              </a:rPr>
              <a:t>Product Logic</a:t>
            </a:r>
          </a:p>
        </p:txBody>
      </p:sp>
      <p:sp>
        <p:nvSpPr>
          <p:cNvPr id="13" name="TextBox 12"/>
          <p:cNvSpPr txBox="1"/>
          <p:nvPr/>
        </p:nvSpPr>
        <p:spPr>
          <a:xfrm>
            <a:off x="4617720" y="2514600"/>
            <a:ext cx="5349240" cy="256032"/>
          </a:xfrm>
          <a:prstGeom prst="rect">
            <a:avLst/>
          </a:prstGeom>
          <a:noFill/>
        </p:spPr>
        <p:txBody>
          <a:bodyPr wrap="square" anchor="t">
            <a:spAutoFit/>
          </a:bodyPr>
          <a:lstStyle/>
          <a:p>
            <a:pPr algn="l">
              <a:spcBef>
                <a:spcPts val="0"/>
              </a:spcBef>
              <a:spcAft>
                <a:spcPts val="0"/>
              </a:spcAft>
            </a:pPr>
            <a:r>
              <a:rPr sz="950" b="0">
                <a:solidFill>
                  <a:srgbClr val="5C6A78"/>
                </a:solidFill>
                <a:latin typeface="Aptos"/>
              </a:rPr>
              <a:t>Profiles • Recommendations • Activities • Plans • Monitoring</a:t>
            </a:r>
          </a:p>
        </p:txBody>
      </p:sp>
      <p:sp>
        <p:nvSpPr>
          <p:cNvPr id="14" name="Rounded Rectangle 13"/>
          <p:cNvSpPr/>
          <p:nvPr/>
        </p:nvSpPr>
        <p:spPr>
          <a:xfrm>
            <a:off x="1828800" y="3209544"/>
            <a:ext cx="8503920" cy="566928"/>
          </a:xfrm>
          <a:prstGeom prst="roundRect">
            <a:avLst/>
          </a:prstGeom>
          <a:solidFill>
            <a:srgbClr val="EBF3F9"/>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828800" y="3209544"/>
            <a:ext cx="109728" cy="566928"/>
          </a:xfrm>
          <a:prstGeom prst="rect">
            <a:avLst/>
          </a:prstGeom>
          <a:solidFill>
            <a:srgbClr val="4C7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48840" y="3319272"/>
            <a:ext cx="2468880" cy="228600"/>
          </a:xfrm>
          <a:prstGeom prst="rect">
            <a:avLst/>
          </a:prstGeom>
          <a:noFill/>
        </p:spPr>
        <p:txBody>
          <a:bodyPr wrap="square" anchor="t">
            <a:spAutoFit/>
          </a:bodyPr>
          <a:lstStyle/>
          <a:p>
            <a:pPr algn="l">
              <a:spcBef>
                <a:spcPts val="0"/>
              </a:spcBef>
              <a:spcAft>
                <a:spcPts val="0"/>
              </a:spcAft>
            </a:pPr>
            <a:r>
              <a:rPr sz="1150" b="1">
                <a:solidFill>
                  <a:srgbClr val="183A5B"/>
                </a:solidFill>
                <a:latin typeface="Aptos"/>
              </a:rPr>
              <a:t>Technology Layer</a:t>
            </a:r>
          </a:p>
        </p:txBody>
      </p:sp>
      <p:sp>
        <p:nvSpPr>
          <p:cNvPr id="17" name="TextBox 16"/>
          <p:cNvSpPr txBox="1"/>
          <p:nvPr/>
        </p:nvSpPr>
        <p:spPr>
          <a:xfrm>
            <a:off x="4617720" y="3319272"/>
            <a:ext cx="5349240" cy="256032"/>
          </a:xfrm>
          <a:prstGeom prst="rect">
            <a:avLst/>
          </a:prstGeom>
          <a:noFill/>
        </p:spPr>
        <p:txBody>
          <a:bodyPr wrap="square" anchor="t">
            <a:spAutoFit/>
          </a:bodyPr>
          <a:lstStyle/>
          <a:p>
            <a:pPr algn="l">
              <a:spcBef>
                <a:spcPts val="0"/>
              </a:spcBef>
              <a:spcAft>
                <a:spcPts val="0"/>
              </a:spcAft>
            </a:pPr>
            <a:r>
              <a:rPr sz="950" b="0">
                <a:solidFill>
                  <a:srgbClr val="5C6A78"/>
                </a:solidFill>
                <a:latin typeface="Aptos"/>
              </a:rPr>
              <a:t>Database • Accounts • APIs • Workflows • Security</a:t>
            </a:r>
          </a:p>
        </p:txBody>
      </p:sp>
      <p:sp>
        <p:nvSpPr>
          <p:cNvPr id="18" name="Rounded Rectangle 17"/>
          <p:cNvSpPr/>
          <p:nvPr/>
        </p:nvSpPr>
        <p:spPr>
          <a:xfrm>
            <a:off x="1828800" y="4014216"/>
            <a:ext cx="8503920" cy="566928"/>
          </a:xfrm>
          <a:prstGeom prst="roundRect">
            <a:avLst/>
          </a:prstGeom>
          <a:solidFill>
            <a:srgbClr val="F6F9FB"/>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1828800" y="4014216"/>
            <a:ext cx="109728" cy="566928"/>
          </a:xfrm>
          <a:prstGeom prst="rect">
            <a:avLst/>
          </a:prstGeom>
          <a:solidFill>
            <a:srgbClr val="CAA1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148840" y="4123944"/>
            <a:ext cx="2468880" cy="228600"/>
          </a:xfrm>
          <a:prstGeom prst="rect">
            <a:avLst/>
          </a:prstGeom>
          <a:noFill/>
        </p:spPr>
        <p:txBody>
          <a:bodyPr wrap="square" anchor="t">
            <a:spAutoFit/>
          </a:bodyPr>
          <a:lstStyle/>
          <a:p>
            <a:pPr algn="l">
              <a:spcBef>
                <a:spcPts val="0"/>
              </a:spcBef>
              <a:spcAft>
                <a:spcPts val="0"/>
              </a:spcAft>
            </a:pPr>
            <a:r>
              <a:rPr sz="1150" b="1">
                <a:solidFill>
                  <a:srgbClr val="183A5B"/>
                </a:solidFill>
                <a:latin typeface="Aptos"/>
              </a:rPr>
              <a:t>Products &amp; Services</a:t>
            </a:r>
          </a:p>
        </p:txBody>
      </p:sp>
      <p:sp>
        <p:nvSpPr>
          <p:cNvPr id="21" name="TextBox 20"/>
          <p:cNvSpPr txBox="1"/>
          <p:nvPr/>
        </p:nvSpPr>
        <p:spPr>
          <a:xfrm>
            <a:off x="4617720" y="4123944"/>
            <a:ext cx="5349240" cy="256032"/>
          </a:xfrm>
          <a:prstGeom prst="rect">
            <a:avLst/>
          </a:prstGeom>
          <a:noFill/>
        </p:spPr>
        <p:txBody>
          <a:bodyPr wrap="square" anchor="t">
            <a:spAutoFit/>
          </a:bodyPr>
          <a:lstStyle/>
          <a:p>
            <a:pPr algn="l">
              <a:spcBef>
                <a:spcPts val="0"/>
              </a:spcBef>
              <a:spcAft>
                <a:spcPts val="0"/>
              </a:spcAft>
            </a:pPr>
            <a:r>
              <a:rPr sz="950" b="0">
                <a:solidFill>
                  <a:srgbClr val="5C6A78"/>
                </a:solidFill>
                <a:latin typeface="Aptos"/>
              </a:rPr>
              <a:t>School solutions • Professional tools • Parent/teacher products</a:t>
            </a:r>
          </a:p>
        </p:txBody>
      </p:sp>
      <p:sp>
        <p:nvSpPr>
          <p:cNvPr id="22" name="Rounded Rectangle 21"/>
          <p:cNvSpPr/>
          <p:nvPr/>
        </p:nvSpPr>
        <p:spPr>
          <a:xfrm>
            <a:off x="1828800" y="4818888"/>
            <a:ext cx="8503920" cy="566928"/>
          </a:xfrm>
          <a:prstGeom prst="roundRect">
            <a:avLst/>
          </a:prstGeom>
          <a:solidFill>
            <a:srgbClr val="EBF3F9"/>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1828800" y="4818888"/>
            <a:ext cx="109728" cy="566928"/>
          </a:xfrm>
          <a:prstGeom prst="rect">
            <a:avLst/>
          </a:prstGeom>
          <a:solidFill>
            <a:srgbClr val="1D9D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48840" y="4928616"/>
            <a:ext cx="2468880" cy="228600"/>
          </a:xfrm>
          <a:prstGeom prst="rect">
            <a:avLst/>
          </a:prstGeom>
          <a:noFill/>
        </p:spPr>
        <p:txBody>
          <a:bodyPr wrap="square" anchor="t">
            <a:spAutoFit/>
          </a:bodyPr>
          <a:lstStyle/>
          <a:p>
            <a:pPr algn="l">
              <a:spcBef>
                <a:spcPts val="0"/>
              </a:spcBef>
              <a:spcAft>
                <a:spcPts val="0"/>
              </a:spcAft>
            </a:pPr>
            <a:r>
              <a:rPr sz="1150" b="1">
                <a:solidFill>
                  <a:srgbClr val="183A5B"/>
                </a:solidFill>
                <a:latin typeface="Aptos"/>
              </a:rPr>
              <a:t>Growth Layer</a:t>
            </a:r>
          </a:p>
        </p:txBody>
      </p:sp>
      <p:sp>
        <p:nvSpPr>
          <p:cNvPr id="25" name="TextBox 24"/>
          <p:cNvSpPr txBox="1"/>
          <p:nvPr/>
        </p:nvSpPr>
        <p:spPr>
          <a:xfrm>
            <a:off x="4617720" y="4928616"/>
            <a:ext cx="5349240" cy="256032"/>
          </a:xfrm>
          <a:prstGeom prst="rect">
            <a:avLst/>
          </a:prstGeom>
          <a:noFill/>
        </p:spPr>
        <p:txBody>
          <a:bodyPr wrap="square" anchor="t">
            <a:spAutoFit/>
          </a:bodyPr>
          <a:lstStyle/>
          <a:p>
            <a:pPr algn="l">
              <a:spcBef>
                <a:spcPts val="0"/>
              </a:spcBef>
              <a:spcAft>
                <a:spcPts val="0"/>
              </a:spcAft>
            </a:pPr>
            <a:r>
              <a:rPr sz="950" b="0">
                <a:solidFill>
                  <a:srgbClr val="5C6A78"/>
                </a:solidFill>
                <a:latin typeface="Aptos"/>
              </a:rPr>
              <a:t>Subscriptions • Licensing • B2B • B2C • Partnerships</a:t>
            </a:r>
          </a:p>
        </p:txBody>
      </p:sp>
      <p:sp>
        <p:nvSpPr>
          <p:cNvPr id="26" name="TextBox 25"/>
          <p:cNvSpPr txBox="1"/>
          <p:nvPr/>
        </p:nvSpPr>
        <p:spPr>
          <a:xfrm>
            <a:off x="1097280" y="5852160"/>
            <a:ext cx="9966960" cy="384048"/>
          </a:xfrm>
          <a:prstGeom prst="rect">
            <a:avLst/>
          </a:prstGeom>
          <a:noFill/>
        </p:spPr>
        <p:txBody>
          <a:bodyPr wrap="square" anchor="t">
            <a:spAutoFit/>
          </a:bodyPr>
          <a:lstStyle/>
          <a:p>
            <a:pPr algn="ctr">
              <a:spcBef>
                <a:spcPts val="0"/>
              </a:spcBef>
              <a:spcAft>
                <a:spcPts val="0"/>
              </a:spcAft>
            </a:pPr>
            <a:r>
              <a:rPr sz="1400" b="1">
                <a:solidFill>
                  <a:srgbClr val="183A5B"/>
                </a:solidFill>
                <a:latin typeface="Aptos"/>
              </a:rPr>
              <a:t>Potentially: one technology foundation serving multiple MASAR products — built progressively, not all at once.</a:t>
            </a:r>
          </a:p>
        </p:txBody>
      </p:sp>
      <p:sp>
        <p:nvSpPr>
          <p:cNvPr id="27" name="TextBox 26"/>
          <p:cNvSpPr txBox="1"/>
          <p:nvPr/>
        </p:nvSpPr>
        <p:spPr>
          <a:xfrm>
            <a:off x="566928" y="6473952"/>
            <a:ext cx="1828800" cy="182880"/>
          </a:xfrm>
          <a:prstGeom prst="rect">
            <a:avLst/>
          </a:prstGeom>
          <a:noFill/>
        </p:spPr>
        <p:txBody>
          <a:bodyPr wrap="square" anchor="t">
            <a:spAutoFit/>
          </a:bodyPr>
          <a:lstStyle/>
          <a:p>
            <a:pPr algn="l">
              <a:spcBef>
                <a:spcPts val="0"/>
              </a:spcBef>
              <a:spcAft>
                <a:spcPts val="0"/>
              </a:spcAft>
            </a:pPr>
            <a:r>
              <a:rPr sz="800" b="1">
                <a:solidFill>
                  <a:srgbClr val="183A5B"/>
                </a:solidFill>
                <a:latin typeface="Aptos"/>
              </a:rPr>
              <a:t>MASAR | مسار</a:t>
            </a:r>
          </a:p>
        </p:txBody>
      </p:sp>
      <p:sp>
        <p:nvSpPr>
          <p:cNvPr id="28" name="TextBox 27"/>
          <p:cNvSpPr txBox="1"/>
          <p:nvPr/>
        </p:nvSpPr>
        <p:spPr>
          <a:xfrm>
            <a:off x="11109960" y="6473952"/>
            <a:ext cx="502920" cy="182880"/>
          </a:xfrm>
          <a:prstGeom prst="rect">
            <a:avLst/>
          </a:prstGeom>
          <a:noFill/>
        </p:spPr>
        <p:txBody>
          <a:bodyPr wrap="square" anchor="t">
            <a:spAutoFit/>
          </a:bodyPr>
          <a:lstStyle/>
          <a:p>
            <a:pPr algn="r">
              <a:spcBef>
                <a:spcPts val="0"/>
              </a:spcBef>
              <a:spcAft>
                <a:spcPts val="0"/>
              </a:spcAft>
            </a:pPr>
            <a:r>
              <a:rPr sz="800" b="1">
                <a:solidFill>
                  <a:srgbClr val="5C6A78"/>
                </a:solidFill>
                <a:latin typeface="Aptos"/>
              </a:rPr>
              <a:t>03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46888"/>
            <a:ext cx="3200400" cy="228600"/>
          </a:xfrm>
          <a:prstGeom prst="rect">
            <a:avLst/>
          </a:prstGeom>
          <a:noFill/>
        </p:spPr>
        <p:txBody>
          <a:bodyPr wrap="square" anchor="t">
            <a:spAutoFit/>
          </a:bodyPr>
          <a:lstStyle/>
          <a:p>
            <a:pPr algn="l">
              <a:spcBef>
                <a:spcPts val="0"/>
              </a:spcBef>
              <a:spcAft>
                <a:spcPts val="0"/>
              </a:spcAft>
            </a:pPr>
            <a:r>
              <a:rPr sz="900" b="1">
                <a:solidFill>
                  <a:srgbClr val="CAA143"/>
                </a:solidFill>
                <a:latin typeface="Aptos"/>
              </a:rPr>
              <a:t>MASAR | مسار   •   04</a:t>
            </a:r>
          </a:p>
        </p:txBody>
      </p:sp>
      <p:sp>
        <p:nvSpPr>
          <p:cNvPr id="4" name="TextBox 3"/>
          <p:cNvSpPr txBox="1"/>
          <p:nvPr/>
        </p:nvSpPr>
        <p:spPr>
          <a:xfrm>
            <a:off x="594360" y="621792"/>
            <a:ext cx="10972800" cy="594360"/>
          </a:xfrm>
          <a:prstGeom prst="rect">
            <a:avLst/>
          </a:prstGeom>
          <a:noFill/>
        </p:spPr>
        <p:txBody>
          <a:bodyPr wrap="square" anchor="t">
            <a:spAutoFit/>
          </a:bodyPr>
          <a:lstStyle/>
          <a:p>
            <a:pPr algn="l">
              <a:spcBef>
                <a:spcPts val="0"/>
              </a:spcBef>
              <a:spcAft>
                <a:spcPts val="0"/>
              </a:spcAft>
            </a:pPr>
            <a:r>
              <a:rPr sz="2800" b="1">
                <a:solidFill>
                  <a:srgbClr val="183A5B"/>
                </a:solidFill>
                <a:latin typeface="Aptos"/>
              </a:rPr>
              <a:t>What MASAR Is</a:t>
            </a:r>
          </a:p>
        </p:txBody>
      </p:sp>
      <p:sp>
        <p:nvSpPr>
          <p:cNvPr id="5" name="TextBox 4"/>
          <p:cNvSpPr txBox="1"/>
          <p:nvPr/>
        </p:nvSpPr>
        <p:spPr>
          <a:xfrm>
            <a:off x="612648" y="1261872"/>
            <a:ext cx="10789920" cy="384048"/>
          </a:xfrm>
          <a:prstGeom prst="rect">
            <a:avLst/>
          </a:prstGeom>
          <a:noFill/>
        </p:spPr>
        <p:txBody>
          <a:bodyPr wrap="square" anchor="t">
            <a:spAutoFit/>
          </a:bodyPr>
          <a:lstStyle/>
          <a:p>
            <a:pPr algn="l">
              <a:spcBef>
                <a:spcPts val="0"/>
              </a:spcBef>
              <a:spcAft>
                <a:spcPts val="0"/>
              </a:spcAft>
            </a:pPr>
            <a:r>
              <a:rPr sz="1150" b="0">
                <a:solidFill>
                  <a:srgbClr val="5C6A78"/>
                </a:solidFill>
                <a:latin typeface="Aptos"/>
              </a:rPr>
              <a:t>A living, adaptive educational system — not a static product.</a:t>
            </a:r>
          </a:p>
        </p:txBody>
      </p:sp>
      <p:sp>
        <p:nvSpPr>
          <p:cNvPr id="6" name="Rounded Rectangle 5"/>
          <p:cNvSpPr/>
          <p:nvPr/>
        </p:nvSpPr>
        <p:spPr>
          <a:xfrm>
            <a:off x="594360" y="1737360"/>
            <a:ext cx="3493008" cy="1508760"/>
          </a:xfrm>
          <a:prstGeom prst="roundRect">
            <a:avLst/>
          </a:prstGeom>
          <a:solidFill>
            <a:srgbClr val="FFFFFF"/>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94360" y="1737360"/>
            <a:ext cx="50292" cy="1508760"/>
          </a:xfrm>
          <a:prstGeom prst="rect">
            <a:avLst/>
          </a:prstGeom>
          <a:solidFill>
            <a:srgbClr val="1D9D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95528" y="1901952"/>
            <a:ext cx="3108960" cy="347472"/>
          </a:xfrm>
          <a:prstGeom prst="rect">
            <a:avLst/>
          </a:prstGeom>
          <a:noFill/>
        </p:spPr>
        <p:txBody>
          <a:bodyPr wrap="square" anchor="t">
            <a:spAutoFit/>
          </a:bodyPr>
          <a:lstStyle/>
          <a:p>
            <a:pPr algn="l">
              <a:spcBef>
                <a:spcPts val="0"/>
              </a:spcBef>
              <a:spcAft>
                <a:spcPts val="0"/>
              </a:spcAft>
            </a:pPr>
            <a:r>
              <a:rPr sz="1300" b="1">
                <a:solidFill>
                  <a:srgbClr val="183A5B"/>
                </a:solidFill>
                <a:latin typeface="Aptos"/>
              </a:rPr>
              <a:t>Arabic-native</a:t>
            </a:r>
          </a:p>
        </p:txBody>
      </p:sp>
      <p:sp>
        <p:nvSpPr>
          <p:cNvPr id="9" name="TextBox 8"/>
          <p:cNvSpPr txBox="1"/>
          <p:nvPr/>
        </p:nvSpPr>
        <p:spPr>
          <a:xfrm>
            <a:off x="795528" y="2377439"/>
            <a:ext cx="3108960" cy="740664"/>
          </a:xfrm>
          <a:prstGeom prst="rect">
            <a:avLst/>
          </a:prstGeom>
          <a:noFill/>
        </p:spPr>
        <p:txBody>
          <a:bodyPr wrap="square" anchor="t">
            <a:spAutoFit/>
          </a:bodyPr>
          <a:lstStyle/>
          <a:p>
            <a:pPr algn="l">
              <a:spcBef>
                <a:spcPts val="0"/>
              </a:spcBef>
              <a:spcAft>
                <a:spcPts val="0"/>
              </a:spcAft>
            </a:pPr>
            <a:r>
              <a:rPr sz="969" b="0">
                <a:solidFill>
                  <a:srgbClr val="5C6A78"/>
                </a:solidFill>
                <a:latin typeface="Aptos"/>
              </a:rPr>
              <a:t>Built around Arabic educational contexts and practical needs.</a:t>
            </a:r>
          </a:p>
        </p:txBody>
      </p:sp>
      <p:sp>
        <p:nvSpPr>
          <p:cNvPr id="10" name="Rounded Rectangle 9"/>
          <p:cNvSpPr/>
          <p:nvPr/>
        </p:nvSpPr>
        <p:spPr>
          <a:xfrm>
            <a:off x="4434840" y="1737360"/>
            <a:ext cx="3493008" cy="1508760"/>
          </a:xfrm>
          <a:prstGeom prst="roundRect">
            <a:avLst/>
          </a:prstGeom>
          <a:solidFill>
            <a:srgbClr val="FFFFFF"/>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434840" y="1737360"/>
            <a:ext cx="50292" cy="1508760"/>
          </a:xfrm>
          <a:prstGeom prst="rect">
            <a:avLst/>
          </a:prstGeom>
          <a:solidFill>
            <a:srgbClr val="4C7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36008" y="1901952"/>
            <a:ext cx="3108960" cy="347472"/>
          </a:xfrm>
          <a:prstGeom prst="rect">
            <a:avLst/>
          </a:prstGeom>
          <a:noFill/>
        </p:spPr>
        <p:txBody>
          <a:bodyPr wrap="square" anchor="t">
            <a:spAutoFit/>
          </a:bodyPr>
          <a:lstStyle/>
          <a:p>
            <a:pPr algn="l">
              <a:spcBef>
                <a:spcPts val="0"/>
              </a:spcBef>
              <a:spcAft>
                <a:spcPts val="0"/>
              </a:spcAft>
            </a:pPr>
            <a:r>
              <a:rPr sz="1300" b="1">
                <a:solidFill>
                  <a:srgbClr val="183A5B"/>
                </a:solidFill>
                <a:latin typeface="Aptos"/>
              </a:rPr>
              <a:t>Evidence-informed</a:t>
            </a:r>
          </a:p>
        </p:txBody>
      </p:sp>
      <p:sp>
        <p:nvSpPr>
          <p:cNvPr id="13" name="TextBox 12"/>
          <p:cNvSpPr txBox="1"/>
          <p:nvPr/>
        </p:nvSpPr>
        <p:spPr>
          <a:xfrm>
            <a:off x="4636008" y="2377439"/>
            <a:ext cx="3108960" cy="740664"/>
          </a:xfrm>
          <a:prstGeom prst="rect">
            <a:avLst/>
          </a:prstGeom>
          <a:noFill/>
        </p:spPr>
        <p:txBody>
          <a:bodyPr wrap="square" anchor="t">
            <a:spAutoFit/>
          </a:bodyPr>
          <a:lstStyle/>
          <a:p>
            <a:pPr algn="l">
              <a:spcBef>
                <a:spcPts val="0"/>
              </a:spcBef>
              <a:spcAft>
                <a:spcPts val="0"/>
              </a:spcAft>
            </a:pPr>
            <a:r>
              <a:rPr sz="969" b="0">
                <a:solidFill>
                  <a:srgbClr val="5C6A78"/>
                </a:solidFill>
                <a:latin typeface="Aptos"/>
              </a:rPr>
              <a:t>Designed around established educational principles and responsible claims.</a:t>
            </a:r>
          </a:p>
        </p:txBody>
      </p:sp>
      <p:sp>
        <p:nvSpPr>
          <p:cNvPr id="14" name="Rounded Rectangle 13"/>
          <p:cNvSpPr/>
          <p:nvPr/>
        </p:nvSpPr>
        <p:spPr>
          <a:xfrm>
            <a:off x="8275320" y="1737360"/>
            <a:ext cx="3493008" cy="1508760"/>
          </a:xfrm>
          <a:prstGeom prst="roundRect">
            <a:avLst/>
          </a:prstGeom>
          <a:solidFill>
            <a:srgbClr val="FFFFFF"/>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275320" y="1737360"/>
            <a:ext cx="50292" cy="1508760"/>
          </a:xfrm>
          <a:prstGeom prst="rect">
            <a:avLst/>
          </a:prstGeom>
          <a:solidFill>
            <a:srgbClr val="CAA1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76488" y="1901952"/>
            <a:ext cx="3108960" cy="347472"/>
          </a:xfrm>
          <a:prstGeom prst="rect">
            <a:avLst/>
          </a:prstGeom>
          <a:noFill/>
        </p:spPr>
        <p:txBody>
          <a:bodyPr wrap="square" anchor="t">
            <a:spAutoFit/>
          </a:bodyPr>
          <a:lstStyle/>
          <a:p>
            <a:pPr algn="l">
              <a:spcBef>
                <a:spcPts val="0"/>
              </a:spcBef>
              <a:spcAft>
                <a:spcPts val="0"/>
              </a:spcAft>
            </a:pPr>
            <a:r>
              <a:rPr sz="1300" b="1">
                <a:solidFill>
                  <a:srgbClr val="183A5B"/>
                </a:solidFill>
                <a:latin typeface="Aptos"/>
              </a:rPr>
              <a:t>Individualized</a:t>
            </a:r>
          </a:p>
        </p:txBody>
      </p:sp>
      <p:sp>
        <p:nvSpPr>
          <p:cNvPr id="17" name="TextBox 16"/>
          <p:cNvSpPr txBox="1"/>
          <p:nvPr/>
        </p:nvSpPr>
        <p:spPr>
          <a:xfrm>
            <a:off x="8476488" y="2377439"/>
            <a:ext cx="3108960" cy="740664"/>
          </a:xfrm>
          <a:prstGeom prst="rect">
            <a:avLst/>
          </a:prstGeom>
          <a:noFill/>
        </p:spPr>
        <p:txBody>
          <a:bodyPr wrap="square" anchor="t">
            <a:spAutoFit/>
          </a:bodyPr>
          <a:lstStyle/>
          <a:p>
            <a:pPr algn="l">
              <a:spcBef>
                <a:spcPts val="0"/>
              </a:spcBef>
              <a:spcAft>
                <a:spcPts val="0"/>
              </a:spcAft>
            </a:pPr>
            <a:r>
              <a:rPr sz="969" b="0">
                <a:solidFill>
                  <a:srgbClr val="5C6A78"/>
                </a:solidFill>
                <a:latin typeface="Aptos"/>
              </a:rPr>
              <a:t>Designed to connect learner needs, skills, plans and action.</a:t>
            </a:r>
          </a:p>
        </p:txBody>
      </p:sp>
      <p:sp>
        <p:nvSpPr>
          <p:cNvPr id="18" name="Rounded Rectangle 17"/>
          <p:cNvSpPr/>
          <p:nvPr/>
        </p:nvSpPr>
        <p:spPr>
          <a:xfrm>
            <a:off x="594360" y="3611879"/>
            <a:ext cx="3493008" cy="1508760"/>
          </a:xfrm>
          <a:prstGeom prst="roundRect">
            <a:avLst/>
          </a:prstGeom>
          <a:solidFill>
            <a:srgbClr val="FFFFFF"/>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94360" y="3611879"/>
            <a:ext cx="50292" cy="1508760"/>
          </a:xfrm>
          <a:prstGeom prst="rect">
            <a:avLst/>
          </a:prstGeom>
          <a:solidFill>
            <a:srgbClr val="1D9D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95528" y="3776472"/>
            <a:ext cx="3108960" cy="347472"/>
          </a:xfrm>
          <a:prstGeom prst="rect">
            <a:avLst/>
          </a:prstGeom>
          <a:noFill/>
        </p:spPr>
        <p:txBody>
          <a:bodyPr wrap="square" anchor="t">
            <a:spAutoFit/>
          </a:bodyPr>
          <a:lstStyle/>
          <a:p>
            <a:pPr algn="l">
              <a:spcBef>
                <a:spcPts val="0"/>
              </a:spcBef>
              <a:spcAft>
                <a:spcPts val="0"/>
              </a:spcAft>
            </a:pPr>
            <a:r>
              <a:rPr sz="1300" b="1">
                <a:solidFill>
                  <a:srgbClr val="183A5B"/>
                </a:solidFill>
                <a:latin typeface="Aptos"/>
              </a:rPr>
              <a:t>Modular</a:t>
            </a:r>
          </a:p>
        </p:txBody>
      </p:sp>
      <p:sp>
        <p:nvSpPr>
          <p:cNvPr id="21" name="TextBox 20"/>
          <p:cNvSpPr txBox="1"/>
          <p:nvPr/>
        </p:nvSpPr>
        <p:spPr>
          <a:xfrm>
            <a:off x="795528" y="4251959"/>
            <a:ext cx="3108960" cy="740664"/>
          </a:xfrm>
          <a:prstGeom prst="rect">
            <a:avLst/>
          </a:prstGeom>
          <a:noFill/>
        </p:spPr>
        <p:txBody>
          <a:bodyPr wrap="square" anchor="t">
            <a:spAutoFit/>
          </a:bodyPr>
          <a:lstStyle/>
          <a:p>
            <a:pPr algn="l">
              <a:spcBef>
                <a:spcPts val="0"/>
              </a:spcBef>
              <a:spcAft>
                <a:spcPts val="0"/>
              </a:spcAft>
            </a:pPr>
            <a:r>
              <a:rPr sz="969" b="0">
                <a:solidFill>
                  <a:srgbClr val="5C6A78"/>
                </a:solidFill>
                <a:latin typeface="Aptos"/>
              </a:rPr>
              <a:t>Tools and solution components can stand alone or work together.</a:t>
            </a:r>
          </a:p>
        </p:txBody>
      </p:sp>
      <p:sp>
        <p:nvSpPr>
          <p:cNvPr id="22" name="Rounded Rectangle 21"/>
          <p:cNvSpPr/>
          <p:nvPr/>
        </p:nvSpPr>
        <p:spPr>
          <a:xfrm>
            <a:off x="4434840" y="3611879"/>
            <a:ext cx="3493008" cy="1508760"/>
          </a:xfrm>
          <a:prstGeom prst="roundRect">
            <a:avLst/>
          </a:prstGeom>
          <a:solidFill>
            <a:srgbClr val="FFFFFF"/>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434840" y="3611879"/>
            <a:ext cx="50292" cy="1508760"/>
          </a:xfrm>
          <a:prstGeom prst="rect">
            <a:avLst/>
          </a:prstGeom>
          <a:solidFill>
            <a:srgbClr val="4C7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636008" y="3776472"/>
            <a:ext cx="3108960" cy="347472"/>
          </a:xfrm>
          <a:prstGeom prst="rect">
            <a:avLst/>
          </a:prstGeom>
          <a:noFill/>
        </p:spPr>
        <p:txBody>
          <a:bodyPr wrap="square" anchor="t">
            <a:spAutoFit/>
          </a:bodyPr>
          <a:lstStyle/>
          <a:p>
            <a:pPr algn="l">
              <a:spcBef>
                <a:spcPts val="0"/>
              </a:spcBef>
              <a:spcAft>
                <a:spcPts val="0"/>
              </a:spcAft>
            </a:pPr>
            <a:r>
              <a:rPr sz="1300" b="1">
                <a:solidFill>
                  <a:srgbClr val="183A5B"/>
                </a:solidFill>
                <a:latin typeface="Aptos"/>
              </a:rPr>
              <a:t>Human-supported</a:t>
            </a:r>
          </a:p>
        </p:txBody>
      </p:sp>
      <p:sp>
        <p:nvSpPr>
          <p:cNvPr id="25" name="TextBox 24"/>
          <p:cNvSpPr txBox="1"/>
          <p:nvPr/>
        </p:nvSpPr>
        <p:spPr>
          <a:xfrm>
            <a:off x="4636008" y="4251959"/>
            <a:ext cx="3108960" cy="740664"/>
          </a:xfrm>
          <a:prstGeom prst="rect">
            <a:avLst/>
          </a:prstGeom>
          <a:noFill/>
        </p:spPr>
        <p:txBody>
          <a:bodyPr wrap="square" anchor="t">
            <a:spAutoFit/>
          </a:bodyPr>
          <a:lstStyle/>
          <a:p>
            <a:pPr algn="l">
              <a:spcBef>
                <a:spcPts val="0"/>
              </a:spcBef>
              <a:spcAft>
                <a:spcPts val="0"/>
              </a:spcAft>
            </a:pPr>
            <a:r>
              <a:rPr sz="969" b="0">
                <a:solidFill>
                  <a:srgbClr val="5C6A78"/>
                </a:solidFill>
                <a:latin typeface="Aptos"/>
              </a:rPr>
              <a:t>Technology is paired with professional and implementation support.</a:t>
            </a:r>
          </a:p>
        </p:txBody>
      </p:sp>
      <p:sp>
        <p:nvSpPr>
          <p:cNvPr id="26" name="Rounded Rectangle 25"/>
          <p:cNvSpPr/>
          <p:nvPr/>
        </p:nvSpPr>
        <p:spPr>
          <a:xfrm>
            <a:off x="8275320" y="3611879"/>
            <a:ext cx="3493008" cy="1508760"/>
          </a:xfrm>
          <a:prstGeom prst="roundRect">
            <a:avLst/>
          </a:prstGeom>
          <a:solidFill>
            <a:srgbClr val="FFFFFF"/>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275320" y="3611879"/>
            <a:ext cx="50292" cy="1508760"/>
          </a:xfrm>
          <a:prstGeom prst="rect">
            <a:avLst/>
          </a:prstGeom>
          <a:solidFill>
            <a:srgbClr val="CAA1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476488" y="3776472"/>
            <a:ext cx="3108960" cy="347472"/>
          </a:xfrm>
          <a:prstGeom prst="rect">
            <a:avLst/>
          </a:prstGeom>
          <a:noFill/>
        </p:spPr>
        <p:txBody>
          <a:bodyPr wrap="square" anchor="t">
            <a:spAutoFit/>
          </a:bodyPr>
          <a:lstStyle/>
          <a:p>
            <a:pPr algn="l">
              <a:spcBef>
                <a:spcPts val="0"/>
              </a:spcBef>
              <a:spcAft>
                <a:spcPts val="0"/>
              </a:spcAft>
            </a:pPr>
            <a:r>
              <a:rPr sz="1300" b="1">
                <a:solidFill>
                  <a:srgbClr val="183A5B"/>
                </a:solidFill>
                <a:latin typeface="Aptos"/>
              </a:rPr>
              <a:t>Built to adapt</a:t>
            </a:r>
          </a:p>
        </p:txBody>
      </p:sp>
      <p:sp>
        <p:nvSpPr>
          <p:cNvPr id="29" name="TextBox 28"/>
          <p:cNvSpPr txBox="1"/>
          <p:nvPr/>
        </p:nvSpPr>
        <p:spPr>
          <a:xfrm>
            <a:off x="8476488" y="4251959"/>
            <a:ext cx="3108960" cy="740664"/>
          </a:xfrm>
          <a:prstGeom prst="rect">
            <a:avLst/>
          </a:prstGeom>
          <a:noFill/>
        </p:spPr>
        <p:txBody>
          <a:bodyPr wrap="square" anchor="t">
            <a:spAutoFit/>
          </a:bodyPr>
          <a:lstStyle/>
          <a:p>
            <a:pPr algn="l">
              <a:spcBef>
                <a:spcPts val="0"/>
              </a:spcBef>
              <a:spcAft>
                <a:spcPts val="0"/>
              </a:spcAft>
            </a:pPr>
            <a:r>
              <a:rPr sz="969" b="0">
                <a:solidFill>
                  <a:srgbClr val="5C6A78"/>
                </a:solidFill>
                <a:latin typeface="Aptos"/>
              </a:rPr>
              <a:t>Solutions can change with school context, priorities and learning needs.</a:t>
            </a:r>
          </a:p>
        </p:txBody>
      </p:sp>
      <p:sp>
        <p:nvSpPr>
          <p:cNvPr id="30" name="TextBox 29"/>
          <p:cNvSpPr txBox="1"/>
          <p:nvPr/>
        </p:nvSpPr>
        <p:spPr>
          <a:xfrm>
            <a:off x="566928" y="6473952"/>
            <a:ext cx="1828800" cy="182880"/>
          </a:xfrm>
          <a:prstGeom prst="rect">
            <a:avLst/>
          </a:prstGeom>
          <a:noFill/>
        </p:spPr>
        <p:txBody>
          <a:bodyPr wrap="square" anchor="t">
            <a:spAutoFit/>
          </a:bodyPr>
          <a:lstStyle/>
          <a:p>
            <a:pPr algn="l">
              <a:spcBef>
                <a:spcPts val="0"/>
              </a:spcBef>
              <a:spcAft>
                <a:spcPts val="0"/>
              </a:spcAft>
            </a:pPr>
            <a:r>
              <a:rPr sz="800" b="1">
                <a:solidFill>
                  <a:srgbClr val="183A5B"/>
                </a:solidFill>
                <a:latin typeface="Aptos"/>
              </a:rPr>
              <a:t>MASAR | مسار</a:t>
            </a:r>
          </a:p>
        </p:txBody>
      </p:sp>
      <p:sp>
        <p:nvSpPr>
          <p:cNvPr id="31" name="TextBox 30"/>
          <p:cNvSpPr txBox="1"/>
          <p:nvPr/>
        </p:nvSpPr>
        <p:spPr>
          <a:xfrm>
            <a:off x="11109960" y="6473952"/>
            <a:ext cx="502920" cy="182880"/>
          </a:xfrm>
          <a:prstGeom prst="rect">
            <a:avLst/>
          </a:prstGeom>
          <a:noFill/>
        </p:spPr>
        <p:txBody>
          <a:bodyPr wrap="square" anchor="t">
            <a:spAutoFit/>
          </a:bodyPr>
          <a:lstStyle/>
          <a:p>
            <a:pPr algn="r">
              <a:spcBef>
                <a:spcPts val="0"/>
              </a:spcBef>
              <a:spcAft>
                <a:spcPts val="0"/>
              </a:spcAft>
            </a:pPr>
            <a:r>
              <a:rPr sz="800" b="1">
                <a:solidFill>
                  <a:srgbClr val="5C6A78"/>
                </a:solidFill>
                <a:latin typeface="Aptos"/>
              </a:rPr>
              <a:t>04</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457200"/>
            <a:ext cx="11094415"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3F63"/>
                </a:solidFill>
                <a:effectLst/>
                <a:uLnTx/>
                <a:uFillTx/>
                <a:latin typeface="Arial" pitchFamily="34" charset="0"/>
                <a:ea typeface="Arial" pitchFamily="34" charset="-122"/>
                <a:cs typeface="Arial" pitchFamily="34" charset="-120"/>
              </a:rPr>
              <a:t>What MASAR Needs From a Technical Partner</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txBox="1"/>
          <p:nvPr/>
        </p:nvSpPr>
        <p:spPr>
          <a:xfrm>
            <a:off x="548640" y="1097280"/>
            <a:ext cx="11094415"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1" u="none" strike="noStrike" kern="1200" cap="none" spc="0" normalizeH="0" baseline="0" noProof="0" dirty="0">
                <a:ln>
                  <a:noFill/>
                </a:ln>
                <a:solidFill>
                  <a:srgbClr val="0E6E67"/>
                </a:solidFill>
                <a:effectLst/>
                <a:uLnTx/>
                <a:uFillTx/>
                <a:latin typeface="Arial" pitchFamily="34" charset="0"/>
                <a:ea typeface="Arial" pitchFamily="34" charset="-122"/>
                <a:cs typeface="Arial" pitchFamily="34" charset="-120"/>
              </a:rPr>
              <a:t>The specific gap GritWrx is positioned to fill</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7" name="Table 0"/>
          <p:cNvGraphicFramePr>
            <a:graphicFrameLocks noGrp="1"/>
          </p:cNvGraphicFramePr>
          <p:nvPr>
            <p:extLst/>
          </p:nvPr>
        </p:nvGraphicFramePr>
        <p:xfrm>
          <a:off x="548640" y="1828800"/>
          <a:ext cx="10789920" cy="4663440"/>
        </p:xfrm>
        <a:graphic>
          <a:graphicData uri="http://schemas.openxmlformats.org/drawingml/2006/table">
            <a:tbl>
              <a:tblPr/>
              <a:tblGrid>
                <a:gridCol w="2926080">
                  <a:extLst>
                    <a:ext uri="{9D8B030D-6E8A-4147-A177-3AD203B41FA5}">
                      <a16:colId xmlns:a16="http://schemas.microsoft.com/office/drawing/2014/main" val="20000"/>
                    </a:ext>
                  </a:extLst>
                </a:gridCol>
                <a:gridCol w="7863840">
                  <a:extLst>
                    <a:ext uri="{9D8B030D-6E8A-4147-A177-3AD203B41FA5}">
                      <a16:colId xmlns:a16="http://schemas.microsoft.com/office/drawing/2014/main" val="20001"/>
                    </a:ext>
                  </a:extLst>
                </a:gridCol>
              </a:tblGrid>
              <a:tr h="365760">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Need</a:t>
                      </a:r>
                      <a:endParaRPr lang="en-US" sz="1200" dirty="0">
                        <a:latin typeface="Arial" charset="0"/>
                        <a:ea typeface="Arial" charset="0"/>
                        <a:cs typeface="Arial" charset="0"/>
                      </a:endParaRPr>
                    </a:p>
                  </a:txBody>
                  <a:tcPr anchor="ctr">
                    <a:lnL w="6350" cap="flat" cmpd="sng" algn="ctr">
                      <a:solidFill>
                        <a:srgbClr val="E3ECF0"/>
                      </a:solidFill>
                      <a:prstDash val="solid"/>
                      <a:round/>
                      <a:headEnd type="none" w="med" len="med"/>
                      <a:tailEnd type="none" w="med" len="med"/>
                    </a:lnL>
                    <a:lnR w="6350" cap="flat" cmpd="sng" algn="ctr">
                      <a:solidFill>
                        <a:srgbClr val="E3ECF0"/>
                      </a:solidFill>
                      <a:prstDash val="solid"/>
                      <a:round/>
                      <a:headEnd type="none" w="med" len="med"/>
                      <a:tailEnd type="none" w="med" len="med"/>
                    </a:lnR>
                    <a:lnT w="6350" cap="flat" cmpd="sng" algn="ctr">
                      <a:solidFill>
                        <a:srgbClr val="E3ECF0"/>
                      </a:solidFill>
                      <a:prstDash val="solid"/>
                      <a:round/>
                      <a:headEnd type="none" w="med" len="med"/>
                      <a:tailEnd type="none" w="med" len="med"/>
                    </a:lnT>
                    <a:lnB w="6350" cap="flat" cmpd="sng" algn="ctr">
                      <a:solidFill>
                        <a:srgbClr val="E3ECF0"/>
                      </a:solidFill>
                      <a:prstDash val="solid"/>
                      <a:round/>
                      <a:headEnd type="none" w="med" len="med"/>
                      <a:tailEnd type="none" w="med" len="med"/>
                    </a:lnB>
                    <a:solidFill>
                      <a:srgbClr val="173F63"/>
                    </a:solidFill>
                  </a:tcPr>
                </a:tc>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What It Involves</a:t>
                      </a:r>
                      <a:endParaRPr lang="en-US" sz="1200" dirty="0">
                        <a:latin typeface="Arial" charset="0"/>
                        <a:ea typeface="Arial" charset="0"/>
                        <a:cs typeface="Arial" charset="0"/>
                      </a:endParaRPr>
                    </a:p>
                  </a:txBody>
                  <a:tcPr anchor="ctr">
                    <a:lnL w="6350" cap="flat" cmpd="sng" algn="ctr">
                      <a:solidFill>
                        <a:srgbClr val="E3ECF0"/>
                      </a:solidFill>
                      <a:prstDash val="solid"/>
                      <a:round/>
                      <a:headEnd type="none" w="med" len="med"/>
                      <a:tailEnd type="none" w="med" len="med"/>
                    </a:lnL>
                    <a:lnR w="6350" cap="flat" cmpd="sng" algn="ctr">
                      <a:solidFill>
                        <a:srgbClr val="E3ECF0"/>
                      </a:solidFill>
                      <a:prstDash val="solid"/>
                      <a:round/>
                      <a:headEnd type="none" w="med" len="med"/>
                      <a:tailEnd type="none" w="med" len="med"/>
                    </a:lnR>
                    <a:lnT w="6350" cap="flat" cmpd="sng" algn="ctr">
                      <a:solidFill>
                        <a:srgbClr val="E3ECF0"/>
                      </a:solidFill>
                      <a:prstDash val="solid"/>
                      <a:round/>
                      <a:headEnd type="none" w="med" len="med"/>
                      <a:tailEnd type="none" w="med" len="med"/>
                    </a:lnT>
                    <a:lnB w="6350" cap="flat" cmpd="sng" algn="ctr">
                      <a:solidFill>
                        <a:srgbClr val="E3ECF0"/>
                      </a:solidFill>
                      <a:prstDash val="solid"/>
                      <a:round/>
                      <a:headEnd type="none" w="med" len="med"/>
                      <a:tailEnd type="none" w="med" len="med"/>
                    </a:lnB>
                    <a:solidFill>
                      <a:srgbClr val="173F63"/>
                    </a:solidFill>
                  </a:tcPr>
                </a:tc>
                <a:extLst>
                  <a:ext uri="{0D108BD9-81ED-4DB2-BD59-A6C34878D82A}">
                    <a16:rowId xmlns:a16="http://schemas.microsoft.com/office/drawing/2014/main" val="10000"/>
                  </a:ext>
                </a:extLst>
              </a:tr>
              <a:tr h="429768">
                <a:tc>
                  <a:txBody>
                    <a:bodyPr/>
                    <a:lstStyle/>
                    <a:p>
                      <a:pPr marL="0" indent="0" algn="l">
                        <a:buNone/>
                      </a:pPr>
                      <a:r>
                        <a:rPr lang="en-US" sz="1000" b="1" dirty="0">
                          <a:solidFill>
                            <a:srgbClr val="173F63"/>
                          </a:solidFill>
                          <a:latin typeface="Arial" pitchFamily="34" charset="0"/>
                          <a:ea typeface="Arial" pitchFamily="34" charset="-122"/>
                          <a:cs typeface="Arial" pitchFamily="34" charset="-120"/>
                        </a:rPr>
                        <a:t>Backend &amp; Database</a:t>
                      </a:r>
                      <a:endParaRPr lang="en-US" sz="1000" dirty="0">
                        <a:latin typeface="Arial" charset="0"/>
                        <a:ea typeface="Arial" charset="0"/>
                        <a:cs typeface="Arial" charset="0"/>
                      </a:endParaRPr>
                    </a:p>
                  </a:txBody>
                  <a:tcPr anchor="ctr">
                    <a:lnL w="6350" cap="flat" cmpd="sng" algn="ctr">
                      <a:solidFill>
                        <a:srgbClr val="E3ECF0"/>
                      </a:solidFill>
                      <a:prstDash val="solid"/>
                      <a:round/>
                      <a:headEnd type="none" w="med" len="med"/>
                      <a:tailEnd type="none" w="med" len="med"/>
                    </a:lnL>
                    <a:lnR w="6350" cap="flat" cmpd="sng" algn="ctr">
                      <a:solidFill>
                        <a:srgbClr val="E3ECF0"/>
                      </a:solidFill>
                      <a:prstDash val="solid"/>
                      <a:round/>
                      <a:headEnd type="none" w="med" len="med"/>
                      <a:tailEnd type="none" w="med" len="med"/>
                    </a:lnR>
                    <a:lnT w="6350" cap="flat" cmpd="sng" algn="ctr">
                      <a:solidFill>
                        <a:srgbClr val="E3ECF0"/>
                      </a:solidFill>
                      <a:prstDash val="solid"/>
                      <a:round/>
                      <a:headEnd type="none" w="med" len="med"/>
                      <a:tailEnd type="none" w="med" len="med"/>
                    </a:lnT>
                    <a:lnB w="6350" cap="flat" cmpd="sng" algn="ctr">
                      <a:solidFill>
                        <a:srgbClr val="E3ECF0"/>
                      </a:solidFill>
                      <a:prstDash val="solid"/>
                      <a:round/>
                      <a:headEnd type="none" w="med" len="med"/>
                      <a:tailEnd type="none" w="med" len="med"/>
                    </a:lnB>
                    <a:solidFill>
                      <a:srgbClr val="F4F8FA"/>
                    </a:solidFill>
                  </a:tcPr>
                </a:tc>
                <a:tc>
                  <a:txBody>
                    <a:bodyPr/>
                    <a:lstStyle/>
                    <a:p>
                      <a:pPr marL="0" indent="0" algn="l">
                        <a:buNone/>
                      </a:pPr>
                      <a:r>
                        <a:rPr lang="en-US" sz="1000" dirty="0">
                          <a:solidFill>
                            <a:srgbClr val="1A2E40"/>
                          </a:solidFill>
                          <a:latin typeface="Arial" pitchFamily="34" charset="0"/>
                          <a:ea typeface="Arial" pitchFamily="34" charset="-122"/>
                          <a:cs typeface="Arial" pitchFamily="34" charset="-120"/>
                        </a:rPr>
                        <a:t>Move from Excel files and standalone HTML tools to a real central database for student, diagnostic, and IEP data</a:t>
                      </a:r>
                      <a:endParaRPr lang="en-US" sz="1000" dirty="0">
                        <a:latin typeface="Arial" charset="0"/>
                        <a:ea typeface="Arial" charset="0"/>
                        <a:cs typeface="Arial" charset="0"/>
                      </a:endParaRPr>
                    </a:p>
                  </a:txBody>
                  <a:tcPr anchor="ctr">
                    <a:lnL w="6350" cap="flat" cmpd="sng" algn="ctr">
                      <a:solidFill>
                        <a:srgbClr val="E3ECF0"/>
                      </a:solidFill>
                      <a:prstDash val="solid"/>
                      <a:round/>
                      <a:headEnd type="none" w="med" len="med"/>
                      <a:tailEnd type="none" w="med" len="med"/>
                    </a:lnL>
                    <a:lnR w="6350" cap="flat" cmpd="sng" algn="ctr">
                      <a:solidFill>
                        <a:srgbClr val="E3ECF0"/>
                      </a:solidFill>
                      <a:prstDash val="solid"/>
                      <a:round/>
                      <a:headEnd type="none" w="med" len="med"/>
                      <a:tailEnd type="none" w="med" len="med"/>
                    </a:lnR>
                    <a:lnT w="6350" cap="flat" cmpd="sng" algn="ctr">
                      <a:solidFill>
                        <a:srgbClr val="E3ECF0"/>
                      </a:solidFill>
                      <a:prstDash val="solid"/>
                      <a:round/>
                      <a:headEnd type="none" w="med" len="med"/>
                      <a:tailEnd type="none" w="med" len="med"/>
                    </a:lnT>
                    <a:lnB w="6350" cap="flat" cmpd="sng" algn="ctr">
                      <a:solidFill>
                        <a:srgbClr val="E3ECF0"/>
                      </a:solidFill>
                      <a:prstDash val="solid"/>
                      <a:round/>
                      <a:headEnd type="none" w="med" len="med"/>
                      <a:tailEnd type="none" w="med" len="med"/>
                    </a:lnB>
                    <a:solidFill>
                      <a:srgbClr val="F4F8FA"/>
                    </a:solidFill>
                  </a:tcPr>
                </a:tc>
                <a:extLst>
                  <a:ext uri="{0D108BD9-81ED-4DB2-BD59-A6C34878D82A}">
                    <a16:rowId xmlns:a16="http://schemas.microsoft.com/office/drawing/2014/main" val="10001"/>
                  </a:ext>
                </a:extLst>
              </a:tr>
              <a:tr h="429768">
                <a:tc>
                  <a:txBody>
                    <a:bodyPr/>
                    <a:lstStyle/>
                    <a:p>
                      <a:pPr marL="0" indent="0" algn="l">
                        <a:buNone/>
                      </a:pPr>
                      <a:r>
                        <a:rPr lang="en-US" sz="1000" b="1" dirty="0">
                          <a:solidFill>
                            <a:srgbClr val="173F63"/>
                          </a:solidFill>
                          <a:latin typeface="Arial" pitchFamily="34" charset="0"/>
                          <a:ea typeface="Arial" pitchFamily="34" charset="-122"/>
                          <a:cs typeface="Arial" pitchFamily="34" charset="-120"/>
                        </a:rPr>
                        <a:t>Live Linking Layer</a:t>
                      </a:r>
                      <a:endParaRPr lang="en-US" sz="1000" dirty="0">
                        <a:latin typeface="Arial" charset="0"/>
                        <a:ea typeface="Arial" charset="0"/>
                        <a:cs typeface="Arial" charset="0"/>
                      </a:endParaRPr>
                    </a:p>
                  </a:txBody>
                  <a:tcPr anchor="ctr">
                    <a:lnL w="6350" cap="flat" cmpd="sng" algn="ctr">
                      <a:solidFill>
                        <a:srgbClr val="E3ECF0"/>
                      </a:solidFill>
                      <a:prstDash val="solid"/>
                      <a:round/>
                      <a:headEnd type="none" w="med" len="med"/>
                      <a:tailEnd type="none" w="med" len="med"/>
                    </a:lnL>
                    <a:lnR w="6350" cap="flat" cmpd="sng" algn="ctr">
                      <a:solidFill>
                        <a:srgbClr val="E3ECF0"/>
                      </a:solidFill>
                      <a:prstDash val="solid"/>
                      <a:round/>
                      <a:headEnd type="none" w="med" len="med"/>
                      <a:tailEnd type="none" w="med" len="med"/>
                    </a:lnR>
                    <a:lnT w="6350" cap="flat" cmpd="sng" algn="ctr">
                      <a:solidFill>
                        <a:srgbClr val="E3ECF0"/>
                      </a:solidFill>
                      <a:prstDash val="solid"/>
                      <a:round/>
                      <a:headEnd type="none" w="med" len="med"/>
                      <a:tailEnd type="none" w="med" len="med"/>
                    </a:lnT>
                    <a:lnB w="6350" cap="flat" cmpd="sng" algn="ctr">
                      <a:solidFill>
                        <a:srgbClr val="E3EC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2E40"/>
                          </a:solidFill>
                          <a:latin typeface="Arial" pitchFamily="34" charset="0"/>
                          <a:ea typeface="Arial" pitchFamily="34" charset="-122"/>
                          <a:cs typeface="Arial" pitchFamily="34" charset="-120"/>
                        </a:rPr>
                        <a:t>Turn the skill-bank federation concept into a real runtime system querying all banks live</a:t>
                      </a:r>
                      <a:endParaRPr lang="en-US" sz="1000" dirty="0">
                        <a:latin typeface="Arial" charset="0"/>
                        <a:ea typeface="Arial" charset="0"/>
                        <a:cs typeface="Arial" charset="0"/>
                      </a:endParaRPr>
                    </a:p>
                  </a:txBody>
                  <a:tcPr anchor="ctr">
                    <a:lnL w="6350" cap="flat" cmpd="sng" algn="ctr">
                      <a:solidFill>
                        <a:srgbClr val="E3ECF0"/>
                      </a:solidFill>
                      <a:prstDash val="solid"/>
                      <a:round/>
                      <a:headEnd type="none" w="med" len="med"/>
                      <a:tailEnd type="none" w="med" len="med"/>
                    </a:lnL>
                    <a:lnR w="6350" cap="flat" cmpd="sng" algn="ctr">
                      <a:solidFill>
                        <a:srgbClr val="E3ECF0"/>
                      </a:solidFill>
                      <a:prstDash val="solid"/>
                      <a:round/>
                      <a:headEnd type="none" w="med" len="med"/>
                      <a:tailEnd type="none" w="med" len="med"/>
                    </a:lnR>
                    <a:lnT w="6350" cap="flat" cmpd="sng" algn="ctr">
                      <a:solidFill>
                        <a:srgbClr val="E3ECF0"/>
                      </a:solidFill>
                      <a:prstDash val="solid"/>
                      <a:round/>
                      <a:headEnd type="none" w="med" len="med"/>
                      <a:tailEnd type="none" w="med" len="med"/>
                    </a:lnT>
                    <a:lnB w="6350" cap="flat" cmpd="sng" algn="ctr">
                      <a:solidFill>
                        <a:srgbClr val="E3EC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9768">
                <a:tc>
                  <a:txBody>
                    <a:bodyPr/>
                    <a:lstStyle/>
                    <a:p>
                      <a:pPr marL="0" indent="0" algn="l">
                        <a:buNone/>
                      </a:pPr>
                      <a:r>
                        <a:rPr lang="en-US" sz="1000" b="1" dirty="0">
                          <a:solidFill>
                            <a:srgbClr val="173F63"/>
                          </a:solidFill>
                          <a:latin typeface="Arial" pitchFamily="34" charset="0"/>
                          <a:ea typeface="Arial" pitchFamily="34" charset="-122"/>
                          <a:cs typeface="Arial" pitchFamily="34" charset="-120"/>
                        </a:rPr>
                        <a:t>Auth &amp; User Accounts</a:t>
                      </a:r>
                      <a:endParaRPr lang="en-US" sz="1000" dirty="0">
                        <a:latin typeface="Arial" charset="0"/>
                        <a:ea typeface="Arial" charset="0"/>
                        <a:cs typeface="Arial" charset="0"/>
                      </a:endParaRPr>
                    </a:p>
                  </a:txBody>
                  <a:tcPr anchor="ctr">
                    <a:lnL w="6350" cap="flat" cmpd="sng" algn="ctr">
                      <a:solidFill>
                        <a:srgbClr val="E3ECF0"/>
                      </a:solidFill>
                      <a:prstDash val="solid"/>
                      <a:round/>
                      <a:headEnd type="none" w="med" len="med"/>
                      <a:tailEnd type="none" w="med" len="med"/>
                    </a:lnL>
                    <a:lnR w="6350" cap="flat" cmpd="sng" algn="ctr">
                      <a:solidFill>
                        <a:srgbClr val="E3ECF0"/>
                      </a:solidFill>
                      <a:prstDash val="solid"/>
                      <a:round/>
                      <a:headEnd type="none" w="med" len="med"/>
                      <a:tailEnd type="none" w="med" len="med"/>
                    </a:lnR>
                    <a:lnT w="6350" cap="flat" cmpd="sng" algn="ctr">
                      <a:solidFill>
                        <a:srgbClr val="E3ECF0"/>
                      </a:solidFill>
                      <a:prstDash val="solid"/>
                      <a:round/>
                      <a:headEnd type="none" w="med" len="med"/>
                      <a:tailEnd type="none" w="med" len="med"/>
                    </a:lnT>
                    <a:lnB w="6350" cap="flat" cmpd="sng" algn="ctr">
                      <a:solidFill>
                        <a:srgbClr val="E3ECF0"/>
                      </a:solidFill>
                      <a:prstDash val="solid"/>
                      <a:round/>
                      <a:headEnd type="none" w="med" len="med"/>
                      <a:tailEnd type="none" w="med" len="med"/>
                    </a:lnB>
                    <a:solidFill>
                      <a:srgbClr val="F4F8FA"/>
                    </a:solidFill>
                  </a:tcPr>
                </a:tc>
                <a:tc>
                  <a:txBody>
                    <a:bodyPr/>
                    <a:lstStyle/>
                    <a:p>
                      <a:pPr marL="0" indent="0" algn="l">
                        <a:buNone/>
                      </a:pPr>
                      <a:r>
                        <a:rPr lang="en-US" sz="1000" dirty="0">
                          <a:solidFill>
                            <a:srgbClr val="1A2E40"/>
                          </a:solidFill>
                          <a:latin typeface="Arial" pitchFamily="34" charset="0"/>
                          <a:ea typeface="Arial" pitchFamily="34" charset="-122"/>
                          <a:cs typeface="Arial" pitchFamily="34" charset="-120"/>
                        </a:rPr>
                        <a:t>School, teacher, and role-based accounts for real multi-user institutional use</a:t>
                      </a:r>
                      <a:endParaRPr lang="en-US" sz="1000" dirty="0">
                        <a:latin typeface="Arial" charset="0"/>
                        <a:ea typeface="Arial" charset="0"/>
                        <a:cs typeface="Arial" charset="0"/>
                      </a:endParaRPr>
                    </a:p>
                  </a:txBody>
                  <a:tcPr anchor="ctr">
                    <a:lnL w="6350" cap="flat" cmpd="sng" algn="ctr">
                      <a:solidFill>
                        <a:srgbClr val="E3ECF0"/>
                      </a:solidFill>
                      <a:prstDash val="solid"/>
                      <a:round/>
                      <a:headEnd type="none" w="med" len="med"/>
                      <a:tailEnd type="none" w="med" len="med"/>
                    </a:lnL>
                    <a:lnR w="6350" cap="flat" cmpd="sng" algn="ctr">
                      <a:solidFill>
                        <a:srgbClr val="E3ECF0"/>
                      </a:solidFill>
                      <a:prstDash val="solid"/>
                      <a:round/>
                      <a:headEnd type="none" w="med" len="med"/>
                      <a:tailEnd type="none" w="med" len="med"/>
                    </a:lnR>
                    <a:lnT w="6350" cap="flat" cmpd="sng" algn="ctr">
                      <a:solidFill>
                        <a:srgbClr val="E3ECF0"/>
                      </a:solidFill>
                      <a:prstDash val="solid"/>
                      <a:round/>
                      <a:headEnd type="none" w="med" len="med"/>
                      <a:tailEnd type="none" w="med" len="med"/>
                    </a:lnT>
                    <a:lnB w="6350" cap="flat" cmpd="sng" algn="ctr">
                      <a:solidFill>
                        <a:srgbClr val="E3ECF0"/>
                      </a:solidFill>
                      <a:prstDash val="solid"/>
                      <a:round/>
                      <a:headEnd type="none" w="med" len="med"/>
                      <a:tailEnd type="none" w="med" len="med"/>
                    </a:lnB>
                    <a:solidFill>
                      <a:srgbClr val="F4F8FA"/>
                    </a:solidFill>
                  </a:tcPr>
                </a:tc>
                <a:extLst>
                  <a:ext uri="{0D108BD9-81ED-4DB2-BD59-A6C34878D82A}">
                    <a16:rowId xmlns:a16="http://schemas.microsoft.com/office/drawing/2014/main" val="10003"/>
                  </a:ext>
                </a:extLst>
              </a:tr>
              <a:tr h="429768">
                <a:tc>
                  <a:txBody>
                    <a:bodyPr/>
                    <a:lstStyle/>
                    <a:p>
                      <a:pPr marL="0" indent="0" algn="l">
                        <a:buNone/>
                      </a:pPr>
                      <a:r>
                        <a:rPr lang="en-US" sz="1000" b="1" dirty="0">
                          <a:solidFill>
                            <a:srgbClr val="173F63"/>
                          </a:solidFill>
                          <a:latin typeface="Arial" pitchFamily="34" charset="0"/>
                          <a:ea typeface="Arial" pitchFamily="34" charset="-122"/>
                          <a:cs typeface="Arial" pitchFamily="34" charset="-120"/>
                        </a:rPr>
                        <a:t>API Layer</a:t>
                      </a:r>
                      <a:endParaRPr lang="en-US" sz="1000" dirty="0">
                        <a:latin typeface="Arial" charset="0"/>
                        <a:ea typeface="Arial" charset="0"/>
                        <a:cs typeface="Arial" charset="0"/>
                      </a:endParaRPr>
                    </a:p>
                  </a:txBody>
                  <a:tcPr anchor="ctr">
                    <a:lnL w="6350" cap="flat" cmpd="sng" algn="ctr">
                      <a:solidFill>
                        <a:srgbClr val="E3ECF0"/>
                      </a:solidFill>
                      <a:prstDash val="solid"/>
                      <a:round/>
                      <a:headEnd type="none" w="med" len="med"/>
                      <a:tailEnd type="none" w="med" len="med"/>
                    </a:lnL>
                    <a:lnR w="6350" cap="flat" cmpd="sng" algn="ctr">
                      <a:solidFill>
                        <a:srgbClr val="E3ECF0"/>
                      </a:solidFill>
                      <a:prstDash val="solid"/>
                      <a:round/>
                      <a:headEnd type="none" w="med" len="med"/>
                      <a:tailEnd type="none" w="med" len="med"/>
                    </a:lnR>
                    <a:lnT w="6350" cap="flat" cmpd="sng" algn="ctr">
                      <a:solidFill>
                        <a:srgbClr val="E3ECF0"/>
                      </a:solidFill>
                      <a:prstDash val="solid"/>
                      <a:round/>
                      <a:headEnd type="none" w="med" len="med"/>
                      <a:tailEnd type="none" w="med" len="med"/>
                    </a:lnT>
                    <a:lnB w="6350" cap="flat" cmpd="sng" algn="ctr">
                      <a:solidFill>
                        <a:srgbClr val="E3EC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2E40"/>
                          </a:solidFill>
                          <a:latin typeface="Arial" pitchFamily="34" charset="0"/>
                          <a:ea typeface="Arial" pitchFamily="34" charset="-122"/>
                          <a:cs typeface="Arial" pitchFamily="34" charset="-120"/>
                        </a:rPr>
                        <a:t>Connect diagnosis, activity generation, IEPs, and monitoring into one live data flow</a:t>
                      </a:r>
                      <a:endParaRPr lang="en-US" sz="1000" dirty="0">
                        <a:latin typeface="Arial" charset="0"/>
                        <a:ea typeface="Arial" charset="0"/>
                        <a:cs typeface="Arial" charset="0"/>
                      </a:endParaRPr>
                    </a:p>
                  </a:txBody>
                  <a:tcPr anchor="ctr">
                    <a:lnL w="6350" cap="flat" cmpd="sng" algn="ctr">
                      <a:solidFill>
                        <a:srgbClr val="E3ECF0"/>
                      </a:solidFill>
                      <a:prstDash val="solid"/>
                      <a:round/>
                      <a:headEnd type="none" w="med" len="med"/>
                      <a:tailEnd type="none" w="med" len="med"/>
                    </a:lnL>
                    <a:lnR w="6350" cap="flat" cmpd="sng" algn="ctr">
                      <a:solidFill>
                        <a:srgbClr val="E3ECF0"/>
                      </a:solidFill>
                      <a:prstDash val="solid"/>
                      <a:round/>
                      <a:headEnd type="none" w="med" len="med"/>
                      <a:tailEnd type="none" w="med" len="med"/>
                    </a:lnR>
                    <a:lnT w="6350" cap="flat" cmpd="sng" algn="ctr">
                      <a:solidFill>
                        <a:srgbClr val="E3ECF0"/>
                      </a:solidFill>
                      <a:prstDash val="solid"/>
                      <a:round/>
                      <a:headEnd type="none" w="med" len="med"/>
                      <a:tailEnd type="none" w="med" len="med"/>
                    </a:lnT>
                    <a:lnB w="6350" cap="flat" cmpd="sng" algn="ctr">
                      <a:solidFill>
                        <a:srgbClr val="E3EC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9768">
                <a:tc>
                  <a:txBody>
                    <a:bodyPr/>
                    <a:lstStyle/>
                    <a:p>
                      <a:pPr marL="0" indent="0" algn="l">
                        <a:buNone/>
                      </a:pPr>
                      <a:r>
                        <a:rPr lang="en-US" sz="1000" b="1" dirty="0">
                          <a:solidFill>
                            <a:srgbClr val="173F63"/>
                          </a:solidFill>
                          <a:latin typeface="Arial" pitchFamily="34" charset="0"/>
                          <a:ea typeface="Arial" pitchFamily="34" charset="-122"/>
                          <a:cs typeface="Arial" pitchFamily="34" charset="-120"/>
                        </a:rPr>
                        <a:t>Cloud Hosting &amp; DevOps</a:t>
                      </a:r>
                      <a:endParaRPr lang="en-US" sz="1000" dirty="0">
                        <a:latin typeface="Arial" charset="0"/>
                        <a:ea typeface="Arial" charset="0"/>
                        <a:cs typeface="Arial" charset="0"/>
                      </a:endParaRPr>
                    </a:p>
                  </a:txBody>
                  <a:tcPr anchor="ctr">
                    <a:lnL w="6350" cap="flat" cmpd="sng" algn="ctr">
                      <a:solidFill>
                        <a:srgbClr val="E3ECF0"/>
                      </a:solidFill>
                      <a:prstDash val="solid"/>
                      <a:round/>
                      <a:headEnd type="none" w="med" len="med"/>
                      <a:tailEnd type="none" w="med" len="med"/>
                    </a:lnL>
                    <a:lnR w="6350" cap="flat" cmpd="sng" algn="ctr">
                      <a:solidFill>
                        <a:srgbClr val="E3ECF0"/>
                      </a:solidFill>
                      <a:prstDash val="solid"/>
                      <a:round/>
                      <a:headEnd type="none" w="med" len="med"/>
                      <a:tailEnd type="none" w="med" len="med"/>
                    </a:lnR>
                    <a:lnT w="6350" cap="flat" cmpd="sng" algn="ctr">
                      <a:solidFill>
                        <a:srgbClr val="E3ECF0"/>
                      </a:solidFill>
                      <a:prstDash val="solid"/>
                      <a:round/>
                      <a:headEnd type="none" w="med" len="med"/>
                      <a:tailEnd type="none" w="med" len="med"/>
                    </a:lnT>
                    <a:lnB w="6350" cap="flat" cmpd="sng" algn="ctr">
                      <a:solidFill>
                        <a:srgbClr val="E3ECF0"/>
                      </a:solidFill>
                      <a:prstDash val="solid"/>
                      <a:round/>
                      <a:headEnd type="none" w="med" len="med"/>
                      <a:tailEnd type="none" w="med" len="med"/>
                    </a:lnB>
                    <a:solidFill>
                      <a:srgbClr val="F4F8FA"/>
                    </a:solidFill>
                  </a:tcPr>
                </a:tc>
                <a:tc>
                  <a:txBody>
                    <a:bodyPr/>
                    <a:lstStyle/>
                    <a:p>
                      <a:pPr marL="0" indent="0" algn="l">
                        <a:buNone/>
                      </a:pPr>
                      <a:r>
                        <a:rPr lang="en-US" sz="1000" dirty="0">
                          <a:solidFill>
                            <a:srgbClr val="1A2E40"/>
                          </a:solidFill>
                          <a:latin typeface="Arial" pitchFamily="34" charset="0"/>
                          <a:ea typeface="Arial" pitchFamily="34" charset="-122"/>
                          <a:cs typeface="Arial" pitchFamily="34" charset="-120"/>
                        </a:rPr>
                        <a:t>Move beyond free static GitHub Pages to scalable, monitored, backed-up infrastructure</a:t>
                      </a:r>
                      <a:endParaRPr lang="en-US" sz="1000" dirty="0">
                        <a:latin typeface="Arial" charset="0"/>
                        <a:ea typeface="Arial" charset="0"/>
                        <a:cs typeface="Arial" charset="0"/>
                      </a:endParaRPr>
                    </a:p>
                  </a:txBody>
                  <a:tcPr anchor="ctr">
                    <a:lnL w="6350" cap="flat" cmpd="sng" algn="ctr">
                      <a:solidFill>
                        <a:srgbClr val="E3ECF0"/>
                      </a:solidFill>
                      <a:prstDash val="solid"/>
                      <a:round/>
                      <a:headEnd type="none" w="med" len="med"/>
                      <a:tailEnd type="none" w="med" len="med"/>
                    </a:lnL>
                    <a:lnR w="6350" cap="flat" cmpd="sng" algn="ctr">
                      <a:solidFill>
                        <a:srgbClr val="E3ECF0"/>
                      </a:solidFill>
                      <a:prstDash val="solid"/>
                      <a:round/>
                      <a:headEnd type="none" w="med" len="med"/>
                      <a:tailEnd type="none" w="med" len="med"/>
                    </a:lnR>
                    <a:lnT w="6350" cap="flat" cmpd="sng" algn="ctr">
                      <a:solidFill>
                        <a:srgbClr val="E3ECF0"/>
                      </a:solidFill>
                      <a:prstDash val="solid"/>
                      <a:round/>
                      <a:headEnd type="none" w="med" len="med"/>
                      <a:tailEnd type="none" w="med" len="med"/>
                    </a:lnT>
                    <a:lnB w="6350" cap="flat" cmpd="sng" algn="ctr">
                      <a:solidFill>
                        <a:srgbClr val="E3ECF0"/>
                      </a:solidFill>
                      <a:prstDash val="solid"/>
                      <a:round/>
                      <a:headEnd type="none" w="med" len="med"/>
                      <a:tailEnd type="none" w="med" len="med"/>
                    </a:lnB>
                    <a:solidFill>
                      <a:srgbClr val="F4F8FA"/>
                    </a:solidFill>
                  </a:tcPr>
                </a:tc>
                <a:extLst>
                  <a:ext uri="{0D108BD9-81ED-4DB2-BD59-A6C34878D82A}">
                    <a16:rowId xmlns:a16="http://schemas.microsoft.com/office/drawing/2014/main" val="10005"/>
                  </a:ext>
                </a:extLst>
              </a:tr>
              <a:tr h="429768">
                <a:tc>
                  <a:txBody>
                    <a:bodyPr/>
                    <a:lstStyle/>
                    <a:p>
                      <a:pPr marL="0" indent="0" algn="l">
                        <a:buNone/>
                      </a:pPr>
                      <a:r>
                        <a:rPr lang="en-US" sz="1000" b="1" dirty="0">
                          <a:solidFill>
                            <a:srgbClr val="173F63"/>
                          </a:solidFill>
                          <a:latin typeface="Arial" pitchFamily="34" charset="0"/>
                          <a:ea typeface="Arial" pitchFamily="34" charset="-122"/>
                          <a:cs typeface="Arial" pitchFamily="34" charset="-120"/>
                        </a:rPr>
                        <a:t>Mobile Apps</a:t>
                      </a:r>
                      <a:endParaRPr lang="en-US" sz="1000" dirty="0">
                        <a:latin typeface="Arial" charset="0"/>
                        <a:ea typeface="Arial" charset="0"/>
                        <a:cs typeface="Arial" charset="0"/>
                      </a:endParaRPr>
                    </a:p>
                  </a:txBody>
                  <a:tcPr anchor="ctr">
                    <a:lnL w="6350" cap="flat" cmpd="sng" algn="ctr">
                      <a:solidFill>
                        <a:srgbClr val="E3ECF0"/>
                      </a:solidFill>
                      <a:prstDash val="solid"/>
                      <a:round/>
                      <a:headEnd type="none" w="med" len="med"/>
                      <a:tailEnd type="none" w="med" len="med"/>
                    </a:lnL>
                    <a:lnR w="6350" cap="flat" cmpd="sng" algn="ctr">
                      <a:solidFill>
                        <a:srgbClr val="E3ECF0"/>
                      </a:solidFill>
                      <a:prstDash val="solid"/>
                      <a:round/>
                      <a:headEnd type="none" w="med" len="med"/>
                      <a:tailEnd type="none" w="med" len="med"/>
                    </a:lnR>
                    <a:lnT w="6350" cap="flat" cmpd="sng" algn="ctr">
                      <a:solidFill>
                        <a:srgbClr val="E3ECF0"/>
                      </a:solidFill>
                      <a:prstDash val="solid"/>
                      <a:round/>
                      <a:headEnd type="none" w="med" len="med"/>
                      <a:tailEnd type="none" w="med" len="med"/>
                    </a:lnT>
                    <a:lnB w="6350" cap="flat" cmpd="sng" algn="ctr">
                      <a:solidFill>
                        <a:srgbClr val="E3EC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2E40"/>
                          </a:solidFill>
                          <a:latin typeface="Arial" pitchFamily="34" charset="0"/>
                          <a:ea typeface="Arial" pitchFamily="34" charset="-122"/>
                          <a:cs typeface="Arial" pitchFamily="34" charset="-120"/>
                        </a:rPr>
                        <a:t>Native or cross-platform apps for teachers, parents, and specialists</a:t>
                      </a:r>
                      <a:endParaRPr lang="en-US" sz="1000" dirty="0">
                        <a:latin typeface="Arial" charset="0"/>
                        <a:ea typeface="Arial" charset="0"/>
                        <a:cs typeface="Arial" charset="0"/>
                      </a:endParaRPr>
                    </a:p>
                  </a:txBody>
                  <a:tcPr anchor="ctr">
                    <a:lnL w="6350" cap="flat" cmpd="sng" algn="ctr">
                      <a:solidFill>
                        <a:srgbClr val="E3ECF0"/>
                      </a:solidFill>
                      <a:prstDash val="solid"/>
                      <a:round/>
                      <a:headEnd type="none" w="med" len="med"/>
                      <a:tailEnd type="none" w="med" len="med"/>
                    </a:lnL>
                    <a:lnR w="6350" cap="flat" cmpd="sng" algn="ctr">
                      <a:solidFill>
                        <a:srgbClr val="E3ECF0"/>
                      </a:solidFill>
                      <a:prstDash val="solid"/>
                      <a:round/>
                      <a:headEnd type="none" w="med" len="med"/>
                      <a:tailEnd type="none" w="med" len="med"/>
                    </a:lnR>
                    <a:lnT w="6350" cap="flat" cmpd="sng" algn="ctr">
                      <a:solidFill>
                        <a:srgbClr val="E3ECF0"/>
                      </a:solidFill>
                      <a:prstDash val="solid"/>
                      <a:round/>
                      <a:headEnd type="none" w="med" len="med"/>
                      <a:tailEnd type="none" w="med" len="med"/>
                    </a:lnT>
                    <a:lnB w="6350" cap="flat" cmpd="sng" algn="ctr">
                      <a:solidFill>
                        <a:srgbClr val="E3EC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29768">
                <a:tc>
                  <a:txBody>
                    <a:bodyPr/>
                    <a:lstStyle/>
                    <a:p>
                      <a:pPr marL="0" indent="0" algn="l">
                        <a:buNone/>
                      </a:pPr>
                      <a:r>
                        <a:rPr lang="en-US" sz="1000" b="1" dirty="0">
                          <a:solidFill>
                            <a:srgbClr val="173F63"/>
                          </a:solidFill>
                          <a:latin typeface="Arial" pitchFamily="34" charset="0"/>
                          <a:ea typeface="Arial" pitchFamily="34" charset="-122"/>
                          <a:cs typeface="Arial" pitchFamily="34" charset="-120"/>
                        </a:rPr>
                        <a:t>Billing &amp; Subscription Engine</a:t>
                      </a:r>
                      <a:endParaRPr lang="en-US" sz="1000" dirty="0">
                        <a:latin typeface="Arial" charset="0"/>
                        <a:ea typeface="Arial" charset="0"/>
                        <a:cs typeface="Arial" charset="0"/>
                      </a:endParaRPr>
                    </a:p>
                  </a:txBody>
                  <a:tcPr anchor="ctr">
                    <a:lnL w="6350" cap="flat" cmpd="sng" algn="ctr">
                      <a:solidFill>
                        <a:srgbClr val="E3ECF0"/>
                      </a:solidFill>
                      <a:prstDash val="solid"/>
                      <a:round/>
                      <a:headEnd type="none" w="med" len="med"/>
                      <a:tailEnd type="none" w="med" len="med"/>
                    </a:lnL>
                    <a:lnR w="6350" cap="flat" cmpd="sng" algn="ctr">
                      <a:solidFill>
                        <a:srgbClr val="E3ECF0"/>
                      </a:solidFill>
                      <a:prstDash val="solid"/>
                      <a:round/>
                      <a:headEnd type="none" w="med" len="med"/>
                      <a:tailEnd type="none" w="med" len="med"/>
                    </a:lnR>
                    <a:lnT w="6350" cap="flat" cmpd="sng" algn="ctr">
                      <a:solidFill>
                        <a:srgbClr val="E3ECF0"/>
                      </a:solidFill>
                      <a:prstDash val="solid"/>
                      <a:round/>
                      <a:headEnd type="none" w="med" len="med"/>
                      <a:tailEnd type="none" w="med" len="med"/>
                    </a:lnT>
                    <a:lnB w="6350" cap="flat" cmpd="sng" algn="ctr">
                      <a:solidFill>
                        <a:srgbClr val="E3ECF0"/>
                      </a:solidFill>
                      <a:prstDash val="solid"/>
                      <a:round/>
                      <a:headEnd type="none" w="med" len="med"/>
                      <a:tailEnd type="none" w="med" len="med"/>
                    </a:lnB>
                    <a:solidFill>
                      <a:srgbClr val="F4F8FA"/>
                    </a:solidFill>
                  </a:tcPr>
                </a:tc>
                <a:tc>
                  <a:txBody>
                    <a:bodyPr/>
                    <a:lstStyle/>
                    <a:p>
                      <a:pPr marL="0" indent="0" algn="l">
                        <a:buNone/>
                      </a:pPr>
                      <a:r>
                        <a:rPr lang="en-US" sz="1000" dirty="0">
                          <a:solidFill>
                            <a:srgbClr val="1A2E40"/>
                          </a:solidFill>
                          <a:latin typeface="Arial" pitchFamily="34" charset="0"/>
                          <a:ea typeface="Arial" pitchFamily="34" charset="-122"/>
                          <a:cs typeface="Arial" pitchFamily="34" charset="-120"/>
                        </a:rPr>
                        <a:t>Support the annual subscription model — Year 1 setup fee + ongoing renewal billing</a:t>
                      </a:r>
                      <a:endParaRPr lang="en-US" sz="1000" dirty="0">
                        <a:latin typeface="Arial" charset="0"/>
                        <a:ea typeface="Arial" charset="0"/>
                        <a:cs typeface="Arial" charset="0"/>
                      </a:endParaRPr>
                    </a:p>
                  </a:txBody>
                  <a:tcPr anchor="ctr">
                    <a:lnL w="6350" cap="flat" cmpd="sng" algn="ctr">
                      <a:solidFill>
                        <a:srgbClr val="E3ECF0"/>
                      </a:solidFill>
                      <a:prstDash val="solid"/>
                      <a:round/>
                      <a:headEnd type="none" w="med" len="med"/>
                      <a:tailEnd type="none" w="med" len="med"/>
                    </a:lnL>
                    <a:lnR w="6350" cap="flat" cmpd="sng" algn="ctr">
                      <a:solidFill>
                        <a:srgbClr val="E3ECF0"/>
                      </a:solidFill>
                      <a:prstDash val="solid"/>
                      <a:round/>
                      <a:headEnd type="none" w="med" len="med"/>
                      <a:tailEnd type="none" w="med" len="med"/>
                    </a:lnR>
                    <a:lnT w="6350" cap="flat" cmpd="sng" algn="ctr">
                      <a:solidFill>
                        <a:srgbClr val="E3ECF0"/>
                      </a:solidFill>
                      <a:prstDash val="solid"/>
                      <a:round/>
                      <a:headEnd type="none" w="med" len="med"/>
                      <a:tailEnd type="none" w="med" len="med"/>
                    </a:lnT>
                    <a:lnB w="6350" cap="flat" cmpd="sng" algn="ctr">
                      <a:solidFill>
                        <a:srgbClr val="E3ECF0"/>
                      </a:solidFill>
                      <a:prstDash val="solid"/>
                      <a:round/>
                      <a:headEnd type="none" w="med" len="med"/>
                      <a:tailEnd type="none" w="med" len="med"/>
                    </a:lnB>
                    <a:solidFill>
                      <a:srgbClr val="F4F8FA"/>
                    </a:solidFill>
                  </a:tcPr>
                </a:tc>
                <a:extLst>
                  <a:ext uri="{0D108BD9-81ED-4DB2-BD59-A6C34878D82A}">
                    <a16:rowId xmlns:a16="http://schemas.microsoft.com/office/drawing/2014/main" val="10007"/>
                  </a:ext>
                </a:extLst>
              </a:tr>
              <a:tr h="429768">
                <a:tc>
                  <a:txBody>
                    <a:bodyPr/>
                    <a:lstStyle/>
                    <a:p>
                      <a:pPr marL="0" indent="0" algn="l">
                        <a:buNone/>
                      </a:pPr>
                      <a:r>
                        <a:rPr lang="en-US" sz="1000" b="1" dirty="0">
                          <a:solidFill>
                            <a:srgbClr val="173F63"/>
                          </a:solidFill>
                          <a:latin typeface="Arial" pitchFamily="34" charset="0"/>
                          <a:ea typeface="Arial" pitchFamily="34" charset="-122"/>
                          <a:cs typeface="Arial" pitchFamily="34" charset="-120"/>
                        </a:rPr>
                        <a:t>Data Security &amp; Privacy</a:t>
                      </a:r>
                      <a:endParaRPr lang="en-US" sz="1000" dirty="0">
                        <a:latin typeface="Arial" charset="0"/>
                        <a:ea typeface="Arial" charset="0"/>
                        <a:cs typeface="Arial" charset="0"/>
                      </a:endParaRPr>
                    </a:p>
                  </a:txBody>
                  <a:tcPr anchor="ctr">
                    <a:lnL w="6350" cap="flat" cmpd="sng" algn="ctr">
                      <a:solidFill>
                        <a:srgbClr val="E3ECF0"/>
                      </a:solidFill>
                      <a:prstDash val="solid"/>
                      <a:round/>
                      <a:headEnd type="none" w="med" len="med"/>
                      <a:tailEnd type="none" w="med" len="med"/>
                    </a:lnL>
                    <a:lnR w="6350" cap="flat" cmpd="sng" algn="ctr">
                      <a:solidFill>
                        <a:srgbClr val="E3ECF0"/>
                      </a:solidFill>
                      <a:prstDash val="solid"/>
                      <a:round/>
                      <a:headEnd type="none" w="med" len="med"/>
                      <a:tailEnd type="none" w="med" len="med"/>
                    </a:lnR>
                    <a:lnT w="6350" cap="flat" cmpd="sng" algn="ctr">
                      <a:solidFill>
                        <a:srgbClr val="E3ECF0"/>
                      </a:solidFill>
                      <a:prstDash val="solid"/>
                      <a:round/>
                      <a:headEnd type="none" w="med" len="med"/>
                      <a:tailEnd type="none" w="med" len="med"/>
                    </a:lnT>
                    <a:lnB w="6350" cap="flat" cmpd="sng" algn="ctr">
                      <a:solidFill>
                        <a:srgbClr val="E3EC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2E40"/>
                          </a:solidFill>
                          <a:latin typeface="Arial" pitchFamily="34" charset="0"/>
                          <a:ea typeface="Arial" pitchFamily="34" charset="-122"/>
                          <a:cs typeface="Arial" pitchFamily="34" charset="-120"/>
                        </a:rPr>
                        <a:t>Protect sensitive student data, especially special-needs records, to regional/international standards</a:t>
                      </a:r>
                      <a:endParaRPr lang="en-US" sz="1000" dirty="0">
                        <a:latin typeface="Arial" charset="0"/>
                        <a:ea typeface="Arial" charset="0"/>
                        <a:cs typeface="Arial" charset="0"/>
                      </a:endParaRPr>
                    </a:p>
                  </a:txBody>
                  <a:tcPr anchor="ctr">
                    <a:lnL w="6350" cap="flat" cmpd="sng" algn="ctr">
                      <a:solidFill>
                        <a:srgbClr val="E3ECF0"/>
                      </a:solidFill>
                      <a:prstDash val="solid"/>
                      <a:round/>
                      <a:headEnd type="none" w="med" len="med"/>
                      <a:tailEnd type="none" w="med" len="med"/>
                    </a:lnL>
                    <a:lnR w="6350" cap="flat" cmpd="sng" algn="ctr">
                      <a:solidFill>
                        <a:srgbClr val="E3ECF0"/>
                      </a:solidFill>
                      <a:prstDash val="solid"/>
                      <a:round/>
                      <a:headEnd type="none" w="med" len="med"/>
                      <a:tailEnd type="none" w="med" len="med"/>
                    </a:lnR>
                    <a:lnT w="6350" cap="flat" cmpd="sng" algn="ctr">
                      <a:solidFill>
                        <a:srgbClr val="E3ECF0"/>
                      </a:solidFill>
                      <a:prstDash val="solid"/>
                      <a:round/>
                      <a:headEnd type="none" w="med" len="med"/>
                      <a:tailEnd type="none" w="med" len="med"/>
                    </a:lnT>
                    <a:lnB w="6350" cap="flat" cmpd="sng" algn="ctr">
                      <a:solidFill>
                        <a:srgbClr val="E3EC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29768">
                <a:tc>
                  <a:txBody>
                    <a:bodyPr/>
                    <a:lstStyle/>
                    <a:p>
                      <a:pPr marL="0" indent="0" algn="l">
                        <a:buNone/>
                      </a:pPr>
                      <a:r>
                        <a:rPr lang="en-US" sz="1000" b="1" dirty="0">
                          <a:solidFill>
                            <a:srgbClr val="173F63"/>
                          </a:solidFill>
                          <a:latin typeface="Arial" pitchFamily="34" charset="0"/>
                          <a:ea typeface="Arial" pitchFamily="34" charset="-122"/>
                          <a:cs typeface="Arial" pitchFamily="34" charset="-120"/>
                        </a:rPr>
                        <a:t>QA &amp; Ongoing Maintenance</a:t>
                      </a:r>
                      <a:endParaRPr lang="en-US" sz="1000" dirty="0">
                        <a:latin typeface="Arial" charset="0"/>
                        <a:ea typeface="Arial" charset="0"/>
                        <a:cs typeface="Arial" charset="0"/>
                      </a:endParaRPr>
                    </a:p>
                  </a:txBody>
                  <a:tcPr anchor="ctr">
                    <a:lnL w="6350" cap="flat" cmpd="sng" algn="ctr">
                      <a:solidFill>
                        <a:srgbClr val="E3ECF0"/>
                      </a:solidFill>
                      <a:prstDash val="solid"/>
                      <a:round/>
                      <a:headEnd type="none" w="med" len="med"/>
                      <a:tailEnd type="none" w="med" len="med"/>
                    </a:lnL>
                    <a:lnR w="6350" cap="flat" cmpd="sng" algn="ctr">
                      <a:solidFill>
                        <a:srgbClr val="E3ECF0"/>
                      </a:solidFill>
                      <a:prstDash val="solid"/>
                      <a:round/>
                      <a:headEnd type="none" w="med" len="med"/>
                      <a:tailEnd type="none" w="med" len="med"/>
                    </a:lnR>
                    <a:lnT w="6350" cap="flat" cmpd="sng" algn="ctr">
                      <a:solidFill>
                        <a:srgbClr val="E3ECF0"/>
                      </a:solidFill>
                      <a:prstDash val="solid"/>
                      <a:round/>
                      <a:headEnd type="none" w="med" len="med"/>
                      <a:tailEnd type="none" w="med" len="med"/>
                    </a:lnT>
                    <a:lnB w="6350" cap="flat" cmpd="sng" algn="ctr">
                      <a:solidFill>
                        <a:srgbClr val="E3ECF0"/>
                      </a:solidFill>
                      <a:prstDash val="solid"/>
                      <a:round/>
                      <a:headEnd type="none" w="med" len="med"/>
                      <a:tailEnd type="none" w="med" len="med"/>
                    </a:lnB>
                    <a:solidFill>
                      <a:srgbClr val="F4F8FA"/>
                    </a:solidFill>
                  </a:tcPr>
                </a:tc>
                <a:tc>
                  <a:txBody>
                    <a:bodyPr/>
                    <a:lstStyle/>
                    <a:p>
                      <a:pPr marL="0" indent="0" algn="l">
                        <a:buNone/>
                      </a:pPr>
                      <a:r>
                        <a:rPr lang="en-US" sz="1000" dirty="0">
                          <a:solidFill>
                            <a:srgbClr val="1A2E40"/>
                          </a:solidFill>
                          <a:latin typeface="Arial" pitchFamily="34" charset="0"/>
                          <a:ea typeface="Arial" pitchFamily="34" charset="-122"/>
                          <a:cs typeface="Arial" pitchFamily="34" charset="-120"/>
                        </a:rPr>
                        <a:t>Continuous testing and support as the number of schools grows</a:t>
                      </a:r>
                      <a:endParaRPr lang="en-US" sz="1000" dirty="0">
                        <a:latin typeface="Arial" charset="0"/>
                        <a:ea typeface="Arial" charset="0"/>
                        <a:cs typeface="Arial" charset="0"/>
                      </a:endParaRPr>
                    </a:p>
                  </a:txBody>
                  <a:tcPr anchor="ctr">
                    <a:lnL w="6350" cap="flat" cmpd="sng" algn="ctr">
                      <a:solidFill>
                        <a:srgbClr val="E3ECF0"/>
                      </a:solidFill>
                      <a:prstDash val="solid"/>
                      <a:round/>
                      <a:headEnd type="none" w="med" len="med"/>
                      <a:tailEnd type="none" w="med" len="med"/>
                    </a:lnL>
                    <a:lnR w="6350" cap="flat" cmpd="sng" algn="ctr">
                      <a:solidFill>
                        <a:srgbClr val="E3ECF0"/>
                      </a:solidFill>
                      <a:prstDash val="solid"/>
                      <a:round/>
                      <a:headEnd type="none" w="med" len="med"/>
                      <a:tailEnd type="none" w="med" len="med"/>
                    </a:lnR>
                    <a:lnT w="6350" cap="flat" cmpd="sng" algn="ctr">
                      <a:solidFill>
                        <a:srgbClr val="E3ECF0"/>
                      </a:solidFill>
                      <a:prstDash val="solid"/>
                      <a:round/>
                      <a:headEnd type="none" w="med" len="med"/>
                      <a:tailEnd type="none" w="med" len="med"/>
                    </a:lnT>
                    <a:lnB w="6350" cap="flat" cmpd="sng" algn="ctr">
                      <a:solidFill>
                        <a:srgbClr val="E3ECF0"/>
                      </a:solidFill>
                      <a:prstDash val="solid"/>
                      <a:round/>
                      <a:headEnd type="none" w="med" len="med"/>
                      <a:tailEnd type="none" w="med" len="med"/>
                    </a:lnB>
                    <a:solidFill>
                      <a:srgbClr val="F4F8FA"/>
                    </a:solidFill>
                  </a:tcPr>
                </a:tc>
                <a:extLst>
                  <a:ext uri="{0D108BD9-81ED-4DB2-BD59-A6C34878D82A}">
                    <a16:rowId xmlns:a16="http://schemas.microsoft.com/office/drawing/2014/main" val="10009"/>
                  </a:ext>
                </a:extLst>
              </a:tr>
              <a:tr h="429768">
                <a:tc>
                  <a:txBody>
                    <a:bodyPr/>
                    <a:lstStyle/>
                    <a:p>
                      <a:pPr marL="0" indent="0" algn="l">
                        <a:buNone/>
                      </a:pPr>
                      <a:r>
                        <a:rPr lang="en-US" sz="1000" b="1" dirty="0">
                          <a:solidFill>
                            <a:srgbClr val="173F63"/>
                          </a:solidFill>
                          <a:latin typeface="Arial" pitchFamily="34" charset="0"/>
                          <a:ea typeface="Arial" pitchFamily="34" charset="-122"/>
                          <a:cs typeface="Arial" pitchFamily="34" charset="-120"/>
                        </a:rPr>
                        <a:t>Content Production Pipeline</a:t>
                      </a:r>
                      <a:endParaRPr lang="en-US" sz="1000" dirty="0">
                        <a:latin typeface="Arial" charset="0"/>
                        <a:ea typeface="Arial" charset="0"/>
                        <a:cs typeface="Arial" charset="0"/>
                      </a:endParaRPr>
                    </a:p>
                  </a:txBody>
                  <a:tcPr anchor="ctr">
                    <a:lnL w="6350" cap="flat" cmpd="sng" algn="ctr">
                      <a:solidFill>
                        <a:srgbClr val="E3ECF0"/>
                      </a:solidFill>
                      <a:prstDash val="solid"/>
                      <a:round/>
                      <a:headEnd type="none" w="med" len="med"/>
                      <a:tailEnd type="none" w="med" len="med"/>
                    </a:lnL>
                    <a:lnR w="6350" cap="flat" cmpd="sng" algn="ctr">
                      <a:solidFill>
                        <a:srgbClr val="E3ECF0"/>
                      </a:solidFill>
                      <a:prstDash val="solid"/>
                      <a:round/>
                      <a:headEnd type="none" w="med" len="med"/>
                      <a:tailEnd type="none" w="med" len="med"/>
                    </a:lnR>
                    <a:lnT w="6350" cap="flat" cmpd="sng" algn="ctr">
                      <a:solidFill>
                        <a:srgbClr val="E3ECF0"/>
                      </a:solidFill>
                      <a:prstDash val="solid"/>
                      <a:round/>
                      <a:headEnd type="none" w="med" len="med"/>
                      <a:tailEnd type="none" w="med" len="med"/>
                    </a:lnT>
                    <a:lnB w="6350" cap="flat" cmpd="sng" algn="ctr">
                      <a:solidFill>
                        <a:srgbClr val="E3EC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2E40"/>
                          </a:solidFill>
                          <a:latin typeface="Arial" pitchFamily="34" charset="0"/>
                          <a:ea typeface="Arial" pitchFamily="34" charset="-122"/>
                          <a:cs typeface="Arial" pitchFamily="34" charset="-120"/>
                        </a:rPr>
                        <a:t>Technical/production support for adjacent product lines: video content and hosting, standalone apps, and digital/print book publishing for platforms like Amazon and Zazzle</a:t>
                      </a:r>
                      <a:endParaRPr lang="en-US" sz="1000" dirty="0">
                        <a:latin typeface="Arial" charset="0"/>
                        <a:ea typeface="Arial" charset="0"/>
                        <a:cs typeface="Arial" charset="0"/>
                      </a:endParaRPr>
                    </a:p>
                  </a:txBody>
                  <a:tcPr anchor="ctr">
                    <a:lnL w="6350" cap="flat" cmpd="sng" algn="ctr">
                      <a:solidFill>
                        <a:srgbClr val="E3ECF0"/>
                      </a:solidFill>
                      <a:prstDash val="solid"/>
                      <a:round/>
                      <a:headEnd type="none" w="med" len="med"/>
                      <a:tailEnd type="none" w="med" len="med"/>
                    </a:lnL>
                    <a:lnR w="6350" cap="flat" cmpd="sng" algn="ctr">
                      <a:solidFill>
                        <a:srgbClr val="E3ECF0"/>
                      </a:solidFill>
                      <a:prstDash val="solid"/>
                      <a:round/>
                      <a:headEnd type="none" w="med" len="med"/>
                      <a:tailEnd type="none" w="med" len="med"/>
                    </a:lnR>
                    <a:lnT w="6350" cap="flat" cmpd="sng" algn="ctr">
                      <a:solidFill>
                        <a:srgbClr val="E3ECF0"/>
                      </a:solidFill>
                      <a:prstDash val="solid"/>
                      <a:round/>
                      <a:headEnd type="none" w="med" len="med"/>
                      <a:tailEnd type="none" w="med" len="med"/>
                    </a:lnT>
                    <a:lnB w="6350" cap="flat" cmpd="sng" algn="ctr">
                      <a:solidFill>
                        <a:srgbClr val="E3ECF0"/>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5" name="Text 2"/>
          <p:cNvSpPr txBox="1"/>
          <p:nvPr/>
        </p:nvSpPr>
        <p:spPr>
          <a:xfrm>
            <a:off x="365760" y="6355080"/>
            <a:ext cx="914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50606C"/>
                </a:solidFill>
                <a:effectLst/>
                <a:uLnTx/>
                <a:uFillTx/>
                <a:latin typeface="Arial" pitchFamily="34" charset="0"/>
                <a:ea typeface="Arial" pitchFamily="34" charset="-122"/>
                <a:cs typeface="Arial" pitchFamily="34" charset="-120"/>
              </a:rPr>
              <a:t>06</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3"/>
          <p:cNvSpPr txBox="1"/>
          <p:nvPr/>
        </p:nvSpPr>
        <p:spPr>
          <a:xfrm>
            <a:off x="9082735" y="6355080"/>
            <a:ext cx="274320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50606C"/>
                </a:solidFill>
                <a:effectLst/>
                <a:uLnTx/>
                <a:uFillTx/>
                <a:latin typeface="Arial" pitchFamily="34" charset="0"/>
                <a:ea typeface="Arial" pitchFamily="34" charset="-122"/>
                <a:cs typeface="Arial" pitchFamily="34" charset="-120"/>
              </a:rPr>
              <a:t>MASAR  |  مسار</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156758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457200"/>
            <a:ext cx="11094415"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3F63"/>
                </a:solidFill>
                <a:effectLst/>
                <a:uLnTx/>
                <a:uFillTx/>
                <a:latin typeface="Arial" pitchFamily="34" charset="0"/>
                <a:ea typeface="Arial" pitchFamily="34" charset="-122"/>
                <a:cs typeface="Arial" pitchFamily="34" charset="-120"/>
              </a:rPr>
              <a:t>The Marketing Gap Alongside It</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txBox="1"/>
          <p:nvPr/>
        </p:nvSpPr>
        <p:spPr>
          <a:xfrm>
            <a:off x="548640" y="1097280"/>
            <a:ext cx="11094415"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1" u="none" strike="noStrike" kern="1200" cap="none" spc="0" normalizeH="0" baseline="0" noProof="0" dirty="0">
                <a:ln>
                  <a:noFill/>
                </a:ln>
                <a:solidFill>
                  <a:srgbClr val="0E6E67"/>
                </a:solidFill>
                <a:effectLst/>
                <a:uLnTx/>
                <a:uFillTx/>
                <a:latin typeface="Arial" pitchFamily="34" charset="0"/>
                <a:ea typeface="Arial" pitchFamily="34" charset="-122"/>
                <a:cs typeface="Arial" pitchFamily="34" charset="-120"/>
              </a:rPr>
              <a:t>Technical capability needs a matching growth engine</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48640" y="2011680"/>
            <a:ext cx="3515258" cy="1874520"/>
          </a:xfrm>
          <a:prstGeom prst="roundRect">
            <a:avLst>
              <a:gd name="adj" fmla="val 3902"/>
            </a:avLst>
          </a:prstGeom>
          <a:solidFill>
            <a:srgbClr val="F4F8FA"/>
          </a:solidFill>
          <a:ln w="12700">
            <a:solidFill>
              <a:srgbClr val="E3ECF0"/>
            </a:solidFill>
            <a:prstDash val="solid"/>
          </a:ln>
        </p:spPr>
      </p:sp>
      <p:sp>
        <p:nvSpPr>
          <p:cNvPr id="5" name="Shape 3"/>
          <p:cNvSpPr/>
          <p:nvPr/>
        </p:nvSpPr>
        <p:spPr>
          <a:xfrm>
            <a:off x="1986229" y="2194560"/>
            <a:ext cx="640080" cy="640080"/>
          </a:xfrm>
          <a:prstGeom prst="ellipse">
            <a:avLst/>
          </a:prstGeom>
          <a:solidFill>
            <a:srgbClr val="1A9E96"/>
          </a:solidFill>
          <a:ln/>
        </p:spPr>
      </p:sp>
      <p:sp>
        <p:nvSpPr>
          <p:cNvPr id="6" name="Text 4"/>
          <p:cNvSpPr txBox="1"/>
          <p:nvPr/>
        </p:nvSpPr>
        <p:spPr>
          <a:xfrm>
            <a:off x="1986229" y="2194560"/>
            <a:ext cx="640080" cy="6400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38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a:t>
            </a:r>
            <a:endParaRPr kumimoji="0" lang="en-US" sz="2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txBox="1"/>
          <p:nvPr/>
        </p:nvSpPr>
        <p:spPr>
          <a:xfrm>
            <a:off x="685800" y="2926080"/>
            <a:ext cx="3240938"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73F63"/>
                </a:solidFill>
                <a:effectLst/>
                <a:uLnTx/>
                <a:uFillTx/>
                <a:latin typeface="Arial" pitchFamily="34" charset="0"/>
                <a:ea typeface="Arial" pitchFamily="34" charset="-122"/>
                <a:cs typeface="Arial" pitchFamily="34" charset="-120"/>
              </a:rPr>
              <a:t>Professional Online Presence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txBox="1"/>
          <p:nvPr/>
        </p:nvSpPr>
        <p:spPr>
          <a:xfrm>
            <a:off x="685800" y="3337560"/>
            <a:ext cx="3240938"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0606C"/>
                </a:solidFill>
                <a:effectLst/>
                <a:uLnTx/>
                <a:uFillTx/>
                <a:latin typeface="Arial" pitchFamily="34" charset="0"/>
                <a:ea typeface="Arial" pitchFamily="34" charset="-122"/>
                <a:cs typeface="Arial" pitchFamily="34" charset="-120"/>
              </a:rPr>
              <a:t>A real website beyond the current GitHub demo page, optimized for search and business visitors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4338218" y="2011680"/>
            <a:ext cx="3515258" cy="1874520"/>
          </a:xfrm>
          <a:prstGeom prst="roundRect">
            <a:avLst>
              <a:gd name="adj" fmla="val 3902"/>
            </a:avLst>
          </a:prstGeom>
          <a:solidFill>
            <a:srgbClr val="F4F8FA"/>
          </a:solidFill>
          <a:ln w="12700">
            <a:solidFill>
              <a:srgbClr val="E3ECF0"/>
            </a:solidFill>
            <a:prstDash val="solid"/>
          </a:ln>
        </p:spPr>
      </p:sp>
      <p:sp>
        <p:nvSpPr>
          <p:cNvPr id="10" name="Shape 8"/>
          <p:cNvSpPr/>
          <p:nvPr/>
        </p:nvSpPr>
        <p:spPr>
          <a:xfrm>
            <a:off x="5775808" y="2194560"/>
            <a:ext cx="640080" cy="640080"/>
          </a:xfrm>
          <a:prstGeom prst="ellipse">
            <a:avLst/>
          </a:prstGeom>
          <a:solidFill>
            <a:srgbClr val="1A9E96"/>
          </a:solidFill>
          <a:ln/>
        </p:spPr>
      </p:sp>
      <p:sp>
        <p:nvSpPr>
          <p:cNvPr id="11" name="Text 9"/>
          <p:cNvSpPr txBox="1"/>
          <p:nvPr/>
        </p:nvSpPr>
        <p:spPr>
          <a:xfrm>
            <a:off x="5775808" y="2194560"/>
            <a:ext cx="640080" cy="6400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38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a:t>
            </a:r>
            <a:endParaRPr kumimoji="0" lang="en-US" sz="2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txBox="1"/>
          <p:nvPr/>
        </p:nvSpPr>
        <p:spPr>
          <a:xfrm>
            <a:off x="4475378" y="2926080"/>
            <a:ext cx="3240938"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73F63"/>
                </a:solidFill>
                <a:effectLst/>
                <a:uLnTx/>
                <a:uFillTx/>
                <a:latin typeface="Arial" pitchFamily="34" charset="0"/>
                <a:ea typeface="Arial" pitchFamily="34" charset="-122"/>
                <a:cs typeface="Arial" pitchFamily="34" charset="-120"/>
              </a:rPr>
              <a:t>Ongoing Digital Presence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txBox="1"/>
          <p:nvPr/>
        </p:nvSpPr>
        <p:spPr>
          <a:xfrm>
            <a:off x="4475378" y="3337560"/>
            <a:ext cx="3240938"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0606C"/>
                </a:solidFill>
                <a:effectLst/>
                <a:uLnTx/>
                <a:uFillTx/>
                <a:latin typeface="Arial" pitchFamily="34" charset="0"/>
                <a:ea typeface="Arial" pitchFamily="34" charset="-122"/>
                <a:cs typeface="Arial" pitchFamily="34" charset="-120"/>
              </a:rPr>
              <a:t>Structured content and activity across channels reaching schools, parents, and educators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8127797" y="2011680"/>
            <a:ext cx="3515258" cy="1874520"/>
          </a:xfrm>
          <a:prstGeom prst="roundRect">
            <a:avLst>
              <a:gd name="adj" fmla="val 3902"/>
            </a:avLst>
          </a:prstGeom>
          <a:solidFill>
            <a:srgbClr val="F4F8FA"/>
          </a:solidFill>
          <a:ln w="12700">
            <a:solidFill>
              <a:srgbClr val="E3ECF0"/>
            </a:solidFill>
            <a:prstDash val="solid"/>
          </a:ln>
        </p:spPr>
      </p:sp>
      <p:sp>
        <p:nvSpPr>
          <p:cNvPr id="15" name="Shape 13"/>
          <p:cNvSpPr/>
          <p:nvPr/>
        </p:nvSpPr>
        <p:spPr>
          <a:xfrm>
            <a:off x="9565386" y="2194560"/>
            <a:ext cx="640080" cy="640080"/>
          </a:xfrm>
          <a:prstGeom prst="ellipse">
            <a:avLst/>
          </a:prstGeom>
          <a:solidFill>
            <a:srgbClr val="1A9E96"/>
          </a:solidFill>
          <a:ln/>
        </p:spPr>
      </p:sp>
      <p:sp>
        <p:nvSpPr>
          <p:cNvPr id="16" name="Text 14"/>
          <p:cNvSpPr txBox="1"/>
          <p:nvPr/>
        </p:nvSpPr>
        <p:spPr>
          <a:xfrm>
            <a:off x="9565386" y="2194560"/>
            <a:ext cx="640080" cy="6400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38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a:t>
            </a:r>
            <a:endParaRPr kumimoji="0" lang="en-US" sz="2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txBox="1"/>
          <p:nvPr/>
        </p:nvSpPr>
        <p:spPr>
          <a:xfrm>
            <a:off x="8264957" y="2926080"/>
            <a:ext cx="3240938"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73F63"/>
                </a:solidFill>
                <a:effectLst/>
                <a:uLnTx/>
                <a:uFillTx/>
                <a:latin typeface="Arial" pitchFamily="34" charset="0"/>
                <a:ea typeface="Arial" pitchFamily="34" charset="-122"/>
                <a:cs typeface="Arial" pitchFamily="34" charset="-120"/>
              </a:rPr>
              <a:t>B2B School Outreach</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txBox="1"/>
          <p:nvPr/>
        </p:nvSpPr>
        <p:spPr>
          <a:xfrm>
            <a:off x="8264957" y="3337560"/>
            <a:ext cx="3240938"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0606C"/>
                </a:solidFill>
                <a:effectLst/>
                <a:uLnTx/>
                <a:uFillTx/>
                <a:latin typeface="Arial" pitchFamily="34" charset="0"/>
                <a:ea typeface="Arial" pitchFamily="34" charset="-122"/>
                <a:cs typeface="Arial" pitchFamily="34" charset="-120"/>
              </a:rPr>
              <a:t>Organized outreach channels to school administrations, ministries, and private institutions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548640" y="4114800"/>
            <a:ext cx="3515258" cy="1874520"/>
          </a:xfrm>
          <a:prstGeom prst="roundRect">
            <a:avLst>
              <a:gd name="adj" fmla="val 3902"/>
            </a:avLst>
          </a:prstGeom>
          <a:solidFill>
            <a:srgbClr val="F4F8FA"/>
          </a:solidFill>
          <a:ln w="12700">
            <a:solidFill>
              <a:srgbClr val="E3ECF0"/>
            </a:solidFill>
            <a:prstDash val="solid"/>
          </a:ln>
        </p:spPr>
      </p:sp>
      <p:sp>
        <p:nvSpPr>
          <p:cNvPr id="20" name="Shape 18"/>
          <p:cNvSpPr/>
          <p:nvPr/>
        </p:nvSpPr>
        <p:spPr>
          <a:xfrm>
            <a:off x="1986229" y="4297680"/>
            <a:ext cx="640080" cy="640080"/>
          </a:xfrm>
          <a:prstGeom prst="ellipse">
            <a:avLst/>
          </a:prstGeom>
          <a:solidFill>
            <a:srgbClr val="1A9E96"/>
          </a:solidFill>
          <a:ln/>
        </p:spPr>
      </p:sp>
      <p:sp>
        <p:nvSpPr>
          <p:cNvPr id="21" name="Text 19"/>
          <p:cNvSpPr txBox="1"/>
          <p:nvPr/>
        </p:nvSpPr>
        <p:spPr>
          <a:xfrm>
            <a:off x="1986229" y="4297680"/>
            <a:ext cx="640080" cy="6400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38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a:t>
            </a:r>
            <a:endParaRPr kumimoji="0" lang="en-US" sz="2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txBox="1"/>
          <p:nvPr/>
        </p:nvSpPr>
        <p:spPr>
          <a:xfrm>
            <a:off x="685800" y="5029200"/>
            <a:ext cx="3240938"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73F63"/>
                </a:solidFill>
                <a:effectLst/>
                <a:uLnTx/>
                <a:uFillTx/>
                <a:latin typeface="Arial" pitchFamily="34" charset="0"/>
                <a:ea typeface="Arial" pitchFamily="34" charset="-122"/>
                <a:cs typeface="Arial" pitchFamily="34" charset="-120"/>
              </a:rPr>
              <a:t>B2C E-Commerce Presence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txBox="1"/>
          <p:nvPr/>
        </p:nvSpPr>
        <p:spPr>
          <a:xfrm>
            <a:off x="685800" y="5440680"/>
            <a:ext cx="3240938"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0606C"/>
                </a:solidFill>
                <a:effectLst/>
                <a:uLnTx/>
                <a:uFillTx/>
                <a:latin typeface="Arial" pitchFamily="34" charset="0"/>
                <a:ea typeface="Arial" pitchFamily="34" charset="-122"/>
                <a:cs typeface="Arial" pitchFamily="34" charset="-120"/>
              </a:rPr>
              <a:t>Setting up and managing MASAR's presence on global platforms like Amazon and Zazzle for children's products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4338218" y="4114800"/>
            <a:ext cx="3515258" cy="1874520"/>
          </a:xfrm>
          <a:prstGeom prst="roundRect">
            <a:avLst>
              <a:gd name="adj" fmla="val 3902"/>
            </a:avLst>
          </a:prstGeom>
          <a:solidFill>
            <a:srgbClr val="F4F8FA"/>
          </a:solidFill>
          <a:ln w="12700">
            <a:solidFill>
              <a:srgbClr val="E3ECF0"/>
            </a:solidFill>
            <a:prstDash val="solid"/>
          </a:ln>
        </p:spPr>
      </p:sp>
      <p:sp>
        <p:nvSpPr>
          <p:cNvPr id="25" name="Shape 23"/>
          <p:cNvSpPr/>
          <p:nvPr/>
        </p:nvSpPr>
        <p:spPr>
          <a:xfrm>
            <a:off x="5775808" y="4297680"/>
            <a:ext cx="640080" cy="640080"/>
          </a:xfrm>
          <a:prstGeom prst="ellipse">
            <a:avLst/>
          </a:prstGeom>
          <a:solidFill>
            <a:srgbClr val="1A9E96"/>
          </a:solidFill>
          <a:ln/>
        </p:spPr>
      </p:sp>
      <p:sp>
        <p:nvSpPr>
          <p:cNvPr id="26" name="Text 24"/>
          <p:cNvSpPr txBox="1"/>
          <p:nvPr/>
        </p:nvSpPr>
        <p:spPr>
          <a:xfrm>
            <a:off x="5775808" y="4297680"/>
            <a:ext cx="640080" cy="6400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38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a:t>
            </a:r>
            <a:endParaRPr kumimoji="0" lang="en-US" sz="23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txBox="1"/>
          <p:nvPr/>
        </p:nvSpPr>
        <p:spPr>
          <a:xfrm>
            <a:off x="4475378" y="5029200"/>
            <a:ext cx="3240938"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73F63"/>
                </a:solidFill>
                <a:effectLst/>
                <a:uLnTx/>
                <a:uFillTx/>
                <a:latin typeface="Arial" pitchFamily="34" charset="0"/>
                <a:ea typeface="Arial" pitchFamily="34" charset="-122"/>
                <a:cs typeface="Arial" pitchFamily="34" charset="-120"/>
              </a:rPr>
              <a:t>English-Market Entry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txBox="1"/>
          <p:nvPr/>
        </p:nvSpPr>
        <p:spPr>
          <a:xfrm>
            <a:off x="4475378" y="5440680"/>
            <a:ext cx="3240938"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0606C"/>
                </a:solidFill>
                <a:effectLst/>
                <a:uLnTx/>
                <a:uFillTx/>
                <a:latin typeface="Arial" pitchFamily="34" charset="0"/>
                <a:ea typeface="Arial" pitchFamily="34" charset="-122"/>
                <a:cs typeface="Arial" pitchFamily="34" charset="-120"/>
              </a:rPr>
              <a:t>Marketing support for MASAR's English-translated products in international markets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7"/>
          <p:cNvSpPr txBox="1"/>
          <p:nvPr/>
        </p:nvSpPr>
        <p:spPr>
          <a:xfrm>
            <a:off x="365760" y="6355080"/>
            <a:ext cx="914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50606C"/>
                </a:solidFill>
                <a:effectLst/>
                <a:uLnTx/>
                <a:uFillTx/>
                <a:latin typeface="Arial" pitchFamily="34" charset="0"/>
                <a:ea typeface="Arial" pitchFamily="34" charset="-122"/>
                <a:cs typeface="Arial" pitchFamily="34" charset="-120"/>
              </a:rPr>
              <a:t>07</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8"/>
          <p:cNvSpPr txBox="1"/>
          <p:nvPr/>
        </p:nvSpPr>
        <p:spPr>
          <a:xfrm>
            <a:off x="9082735" y="6355080"/>
            <a:ext cx="274320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50606C"/>
                </a:solidFill>
                <a:effectLst/>
                <a:uLnTx/>
                <a:uFillTx/>
                <a:latin typeface="Arial" pitchFamily="34" charset="0"/>
                <a:ea typeface="Arial" pitchFamily="34" charset="-122"/>
                <a:cs typeface="Arial" pitchFamily="34" charset="-120"/>
              </a:rPr>
              <a:t>MASAR  |  مسار</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269040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46888"/>
            <a:ext cx="3200400" cy="228600"/>
          </a:xfrm>
          <a:prstGeom prst="rect">
            <a:avLst/>
          </a:prstGeom>
          <a:noFill/>
        </p:spPr>
        <p:txBody>
          <a:bodyPr wrap="square" anchor="t">
            <a:spAutoFit/>
          </a:bodyPr>
          <a:lstStyle/>
          <a:p>
            <a:pPr algn="l">
              <a:spcBef>
                <a:spcPts val="0"/>
              </a:spcBef>
              <a:spcAft>
                <a:spcPts val="0"/>
              </a:spcAft>
            </a:pPr>
            <a:r>
              <a:rPr sz="900" b="1">
                <a:solidFill>
                  <a:srgbClr val="CAA143"/>
                </a:solidFill>
                <a:latin typeface="Aptos"/>
              </a:rPr>
              <a:t>MASAR | مسار   •   05</a:t>
            </a:r>
          </a:p>
        </p:txBody>
      </p:sp>
      <p:sp>
        <p:nvSpPr>
          <p:cNvPr id="4" name="TextBox 3"/>
          <p:cNvSpPr txBox="1"/>
          <p:nvPr/>
        </p:nvSpPr>
        <p:spPr>
          <a:xfrm>
            <a:off x="594360" y="621792"/>
            <a:ext cx="10972800" cy="594360"/>
          </a:xfrm>
          <a:prstGeom prst="rect">
            <a:avLst/>
          </a:prstGeom>
          <a:noFill/>
        </p:spPr>
        <p:txBody>
          <a:bodyPr wrap="square" anchor="t">
            <a:spAutoFit/>
          </a:bodyPr>
          <a:lstStyle/>
          <a:p>
            <a:pPr algn="l">
              <a:spcBef>
                <a:spcPts val="0"/>
              </a:spcBef>
              <a:spcAft>
                <a:spcPts val="0"/>
              </a:spcAft>
            </a:pPr>
            <a:r>
              <a:rPr sz="2800" b="1">
                <a:solidFill>
                  <a:srgbClr val="183A5B"/>
                </a:solidFill>
                <a:latin typeface="Aptos"/>
              </a:rPr>
              <a:t>What MASAR Already Brings</a:t>
            </a:r>
          </a:p>
        </p:txBody>
      </p:sp>
      <p:sp>
        <p:nvSpPr>
          <p:cNvPr id="5" name="TextBox 4"/>
          <p:cNvSpPr txBox="1"/>
          <p:nvPr/>
        </p:nvSpPr>
        <p:spPr>
          <a:xfrm>
            <a:off x="612648" y="1261872"/>
            <a:ext cx="10789920" cy="384048"/>
          </a:xfrm>
          <a:prstGeom prst="rect">
            <a:avLst/>
          </a:prstGeom>
          <a:noFill/>
        </p:spPr>
        <p:txBody>
          <a:bodyPr wrap="square" anchor="t">
            <a:spAutoFit/>
          </a:bodyPr>
          <a:lstStyle/>
          <a:p>
            <a:pPr algn="l">
              <a:spcBef>
                <a:spcPts val="0"/>
              </a:spcBef>
              <a:spcAft>
                <a:spcPts val="0"/>
              </a:spcAft>
            </a:pPr>
            <a:r>
              <a:rPr sz="1150" b="0">
                <a:solidFill>
                  <a:srgbClr val="5C6A78"/>
                </a:solidFill>
                <a:latin typeface="Aptos"/>
              </a:rPr>
              <a:t>The partnership would begin with an educational asset base — not an empty product brief.</a:t>
            </a:r>
          </a:p>
        </p:txBody>
      </p:sp>
      <p:sp>
        <p:nvSpPr>
          <p:cNvPr id="6" name="Rounded Rectangle 5"/>
          <p:cNvSpPr/>
          <p:nvPr/>
        </p:nvSpPr>
        <p:spPr>
          <a:xfrm>
            <a:off x="502920" y="1828800"/>
            <a:ext cx="2578608" cy="3246120"/>
          </a:xfrm>
          <a:prstGeom prst="roundRect">
            <a:avLst/>
          </a:prstGeom>
          <a:solidFill>
            <a:srgbClr val="F6F9FB"/>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2920" y="1828800"/>
            <a:ext cx="50292" cy="3246120"/>
          </a:xfrm>
          <a:prstGeom prst="rect">
            <a:avLst/>
          </a:prstGeom>
          <a:solidFill>
            <a:srgbClr val="1D9D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04088" y="1993392"/>
            <a:ext cx="2194560" cy="347472"/>
          </a:xfrm>
          <a:prstGeom prst="rect">
            <a:avLst/>
          </a:prstGeom>
          <a:noFill/>
        </p:spPr>
        <p:txBody>
          <a:bodyPr wrap="square" anchor="t">
            <a:spAutoFit/>
          </a:bodyPr>
          <a:lstStyle/>
          <a:p>
            <a:pPr algn="l">
              <a:spcBef>
                <a:spcPts val="0"/>
              </a:spcBef>
              <a:spcAft>
                <a:spcPts val="0"/>
              </a:spcAft>
            </a:pPr>
            <a:r>
              <a:rPr sz="1400" b="1">
                <a:solidFill>
                  <a:srgbClr val="183A5B"/>
                </a:solidFill>
                <a:latin typeface="Aptos"/>
              </a:rPr>
              <a:t>Intellectual Property</a:t>
            </a:r>
          </a:p>
        </p:txBody>
      </p:sp>
      <p:sp>
        <p:nvSpPr>
          <p:cNvPr id="9" name="TextBox 8"/>
          <p:cNvSpPr txBox="1"/>
          <p:nvPr/>
        </p:nvSpPr>
        <p:spPr>
          <a:xfrm>
            <a:off x="704088" y="2468880"/>
            <a:ext cx="2194560" cy="2478024"/>
          </a:xfrm>
          <a:prstGeom prst="rect">
            <a:avLst/>
          </a:prstGeom>
          <a:noFill/>
        </p:spPr>
        <p:txBody>
          <a:bodyPr wrap="square" anchor="t">
            <a:spAutoFit/>
          </a:bodyPr>
          <a:lstStyle/>
          <a:p>
            <a:pPr algn="l">
              <a:spcBef>
                <a:spcPts val="0"/>
              </a:spcBef>
              <a:spcAft>
                <a:spcPts val="0"/>
              </a:spcAft>
            </a:pPr>
            <a:r>
              <a:rPr sz="1050" b="0">
                <a:solidFill>
                  <a:srgbClr val="5C6A78"/>
                </a:solidFill>
                <a:latin typeface="Aptos"/>
              </a:rPr>
              <a:t>Frameworks</a:t>
            </a:r>
            <a:br/>
            <a:r>
              <a:rPr sz="1050" b="0">
                <a:solidFill>
                  <a:srgbClr val="5C6A78"/>
                </a:solidFill>
                <a:latin typeface="Aptos"/>
              </a:rPr>
              <a:t>Skills Banks</a:t>
            </a:r>
            <a:br/>
            <a:r>
              <a:rPr sz="1050" b="0">
                <a:solidFill>
                  <a:srgbClr val="5C6A78"/>
                </a:solidFill>
                <a:latin typeface="Aptos"/>
              </a:rPr>
              <a:t>Diagnostic logic</a:t>
            </a:r>
            <a:br/>
            <a:r>
              <a:rPr sz="1050" b="0">
                <a:solidFill>
                  <a:srgbClr val="5C6A78"/>
                </a:solidFill>
                <a:latin typeface="Aptos"/>
              </a:rPr>
              <a:t>IEP methodology</a:t>
            </a:r>
            <a:br/>
            <a:r>
              <a:rPr sz="1050" b="0">
                <a:solidFill>
                  <a:srgbClr val="5C6A78"/>
                </a:solidFill>
                <a:latin typeface="Aptos"/>
              </a:rPr>
              <a:t>Educational models</a:t>
            </a:r>
          </a:p>
        </p:txBody>
      </p:sp>
      <p:sp>
        <p:nvSpPr>
          <p:cNvPr id="10" name="Rounded Rectangle 9"/>
          <p:cNvSpPr/>
          <p:nvPr/>
        </p:nvSpPr>
        <p:spPr>
          <a:xfrm>
            <a:off x="3410712" y="1828800"/>
            <a:ext cx="2578608" cy="3246120"/>
          </a:xfrm>
          <a:prstGeom prst="roundRect">
            <a:avLst/>
          </a:prstGeom>
          <a:solidFill>
            <a:srgbClr val="F6F9FB"/>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410712" y="1828800"/>
            <a:ext cx="50292" cy="3246120"/>
          </a:xfrm>
          <a:prstGeom prst="rect">
            <a:avLst/>
          </a:prstGeom>
          <a:solidFill>
            <a:srgbClr val="4C7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11880" y="1993392"/>
            <a:ext cx="2194560" cy="347472"/>
          </a:xfrm>
          <a:prstGeom prst="rect">
            <a:avLst/>
          </a:prstGeom>
          <a:noFill/>
        </p:spPr>
        <p:txBody>
          <a:bodyPr wrap="square" anchor="t">
            <a:spAutoFit/>
          </a:bodyPr>
          <a:lstStyle/>
          <a:p>
            <a:pPr algn="l">
              <a:spcBef>
                <a:spcPts val="0"/>
              </a:spcBef>
              <a:spcAft>
                <a:spcPts val="0"/>
              </a:spcAft>
            </a:pPr>
            <a:r>
              <a:rPr sz="1400" b="1">
                <a:solidFill>
                  <a:srgbClr val="183A5B"/>
                </a:solidFill>
                <a:latin typeface="Aptos"/>
              </a:rPr>
              <a:t>Products &amp; Tools</a:t>
            </a:r>
          </a:p>
        </p:txBody>
      </p:sp>
      <p:sp>
        <p:nvSpPr>
          <p:cNvPr id="13" name="TextBox 12"/>
          <p:cNvSpPr txBox="1"/>
          <p:nvPr/>
        </p:nvSpPr>
        <p:spPr>
          <a:xfrm>
            <a:off x="3611880" y="2468880"/>
            <a:ext cx="2194560" cy="2478024"/>
          </a:xfrm>
          <a:prstGeom prst="rect">
            <a:avLst/>
          </a:prstGeom>
          <a:noFill/>
        </p:spPr>
        <p:txBody>
          <a:bodyPr wrap="square" anchor="t">
            <a:spAutoFit/>
          </a:bodyPr>
          <a:lstStyle/>
          <a:p>
            <a:pPr algn="l">
              <a:spcBef>
                <a:spcPts val="0"/>
              </a:spcBef>
              <a:spcAft>
                <a:spcPts val="0"/>
              </a:spcAft>
            </a:pPr>
            <a:r>
              <a:rPr sz="1050" b="0">
                <a:solidFill>
                  <a:srgbClr val="5C6A78"/>
                </a:solidFill>
                <a:latin typeface="Aptos"/>
              </a:rPr>
              <a:t>Teacher tools</a:t>
            </a:r>
            <a:br/>
            <a:r>
              <a:rPr sz="1050" b="0">
                <a:solidFill>
                  <a:srgbClr val="5C6A78"/>
                </a:solidFill>
                <a:latin typeface="Aptos"/>
              </a:rPr>
              <a:t>Parent tools</a:t>
            </a:r>
            <a:br/>
            <a:r>
              <a:rPr sz="1050" b="0">
                <a:solidFill>
                  <a:srgbClr val="5C6A78"/>
                </a:solidFill>
                <a:latin typeface="Aptos"/>
              </a:rPr>
              <a:t>Student resources</a:t>
            </a:r>
            <a:br/>
            <a:r>
              <a:rPr sz="1050" b="0">
                <a:solidFill>
                  <a:srgbClr val="5C6A78"/>
                </a:solidFill>
                <a:latin typeface="Aptos"/>
              </a:rPr>
              <a:t>School solutions</a:t>
            </a:r>
            <a:br/>
            <a:r>
              <a:rPr sz="1050" b="0">
                <a:solidFill>
                  <a:srgbClr val="5C6A78"/>
                </a:solidFill>
                <a:latin typeface="Aptos"/>
              </a:rPr>
              <a:t>Professional learning</a:t>
            </a:r>
          </a:p>
        </p:txBody>
      </p:sp>
      <p:sp>
        <p:nvSpPr>
          <p:cNvPr id="14" name="Rounded Rectangle 13"/>
          <p:cNvSpPr/>
          <p:nvPr/>
        </p:nvSpPr>
        <p:spPr>
          <a:xfrm>
            <a:off x="6318504" y="1828800"/>
            <a:ext cx="2578608" cy="3246120"/>
          </a:xfrm>
          <a:prstGeom prst="roundRect">
            <a:avLst/>
          </a:prstGeom>
          <a:solidFill>
            <a:srgbClr val="F6F9FB"/>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318504" y="1828800"/>
            <a:ext cx="50292" cy="3246120"/>
          </a:xfrm>
          <a:prstGeom prst="rect">
            <a:avLst/>
          </a:prstGeom>
          <a:solidFill>
            <a:srgbClr val="CAA1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19672" y="1993392"/>
            <a:ext cx="2194560" cy="347472"/>
          </a:xfrm>
          <a:prstGeom prst="rect">
            <a:avLst/>
          </a:prstGeom>
          <a:noFill/>
        </p:spPr>
        <p:txBody>
          <a:bodyPr wrap="square" anchor="t">
            <a:spAutoFit/>
          </a:bodyPr>
          <a:lstStyle/>
          <a:p>
            <a:pPr algn="l">
              <a:spcBef>
                <a:spcPts val="0"/>
              </a:spcBef>
              <a:spcAft>
                <a:spcPts val="0"/>
              </a:spcAft>
            </a:pPr>
            <a:r>
              <a:rPr sz="1400" b="1">
                <a:solidFill>
                  <a:srgbClr val="183A5B"/>
                </a:solidFill>
                <a:latin typeface="Aptos"/>
              </a:rPr>
              <a:t>Domain Expertise</a:t>
            </a:r>
          </a:p>
        </p:txBody>
      </p:sp>
      <p:sp>
        <p:nvSpPr>
          <p:cNvPr id="17" name="TextBox 16"/>
          <p:cNvSpPr txBox="1"/>
          <p:nvPr/>
        </p:nvSpPr>
        <p:spPr>
          <a:xfrm>
            <a:off x="6519672" y="2468880"/>
            <a:ext cx="2194560" cy="2478024"/>
          </a:xfrm>
          <a:prstGeom prst="rect">
            <a:avLst/>
          </a:prstGeom>
          <a:noFill/>
        </p:spPr>
        <p:txBody>
          <a:bodyPr wrap="square" anchor="t">
            <a:spAutoFit/>
          </a:bodyPr>
          <a:lstStyle/>
          <a:p>
            <a:pPr algn="l">
              <a:spcBef>
                <a:spcPts val="0"/>
              </a:spcBef>
              <a:spcAft>
                <a:spcPts val="0"/>
              </a:spcAft>
            </a:pPr>
            <a:r>
              <a:rPr sz="1050" b="0">
                <a:solidFill>
                  <a:srgbClr val="5C6A78"/>
                </a:solidFill>
                <a:latin typeface="Aptos"/>
              </a:rPr>
              <a:t>Special education</a:t>
            </a:r>
            <a:br/>
            <a:r>
              <a:rPr sz="1050" b="0">
                <a:solidFill>
                  <a:srgbClr val="5C6A78"/>
                </a:solidFill>
                <a:latin typeface="Aptos"/>
              </a:rPr>
              <a:t>Educational leadership</a:t>
            </a:r>
            <a:br/>
            <a:r>
              <a:rPr sz="1050" b="0">
                <a:solidFill>
                  <a:srgbClr val="5C6A78"/>
                </a:solidFill>
                <a:latin typeface="Aptos"/>
              </a:rPr>
              <a:t>Curriculum &amp; skills</a:t>
            </a:r>
            <a:br/>
            <a:r>
              <a:rPr sz="1050" b="0">
                <a:solidFill>
                  <a:srgbClr val="5C6A78"/>
                </a:solidFill>
                <a:latin typeface="Aptos"/>
              </a:rPr>
              <a:t>Teacher development</a:t>
            </a:r>
            <a:br/>
            <a:r>
              <a:rPr sz="1050" b="0">
                <a:solidFill>
                  <a:srgbClr val="5C6A78"/>
                </a:solidFill>
                <a:latin typeface="Aptos"/>
              </a:rPr>
              <a:t>Inclusive education</a:t>
            </a:r>
          </a:p>
        </p:txBody>
      </p:sp>
      <p:sp>
        <p:nvSpPr>
          <p:cNvPr id="18" name="Rounded Rectangle 17"/>
          <p:cNvSpPr/>
          <p:nvPr/>
        </p:nvSpPr>
        <p:spPr>
          <a:xfrm>
            <a:off x="9226296" y="1828800"/>
            <a:ext cx="2578608" cy="3246120"/>
          </a:xfrm>
          <a:prstGeom prst="roundRect">
            <a:avLst/>
          </a:prstGeom>
          <a:solidFill>
            <a:srgbClr val="F6F9FB"/>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226296" y="1828800"/>
            <a:ext cx="50292" cy="3246120"/>
          </a:xfrm>
          <a:prstGeom prst="rect">
            <a:avLst/>
          </a:prstGeom>
          <a:solidFill>
            <a:srgbClr val="1D9D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427464" y="1993392"/>
            <a:ext cx="2194560" cy="347472"/>
          </a:xfrm>
          <a:prstGeom prst="rect">
            <a:avLst/>
          </a:prstGeom>
          <a:noFill/>
        </p:spPr>
        <p:txBody>
          <a:bodyPr wrap="square" anchor="t">
            <a:spAutoFit/>
          </a:bodyPr>
          <a:lstStyle/>
          <a:p>
            <a:pPr algn="l">
              <a:spcBef>
                <a:spcPts val="0"/>
              </a:spcBef>
              <a:spcAft>
                <a:spcPts val="0"/>
              </a:spcAft>
            </a:pPr>
            <a:r>
              <a:rPr sz="1400" b="1">
                <a:solidFill>
                  <a:srgbClr val="183A5B"/>
                </a:solidFill>
                <a:latin typeface="Aptos"/>
              </a:rPr>
              <a:t>Market Direction</a:t>
            </a:r>
          </a:p>
        </p:txBody>
      </p:sp>
      <p:sp>
        <p:nvSpPr>
          <p:cNvPr id="21" name="TextBox 20"/>
          <p:cNvSpPr txBox="1"/>
          <p:nvPr/>
        </p:nvSpPr>
        <p:spPr>
          <a:xfrm>
            <a:off x="9427464" y="2468880"/>
            <a:ext cx="2194560" cy="2478024"/>
          </a:xfrm>
          <a:prstGeom prst="rect">
            <a:avLst/>
          </a:prstGeom>
          <a:noFill/>
        </p:spPr>
        <p:txBody>
          <a:bodyPr wrap="square" anchor="t">
            <a:spAutoFit/>
          </a:bodyPr>
          <a:lstStyle/>
          <a:p>
            <a:pPr algn="l">
              <a:spcBef>
                <a:spcPts val="0"/>
              </a:spcBef>
              <a:spcAft>
                <a:spcPts val="0"/>
              </a:spcAft>
            </a:pPr>
            <a:r>
              <a:rPr sz="1050" b="0">
                <a:solidFill>
                  <a:srgbClr val="5C6A78"/>
                </a:solidFill>
                <a:latin typeface="Aptos"/>
              </a:rPr>
              <a:t>Schools</a:t>
            </a:r>
            <a:br/>
            <a:r>
              <a:rPr sz="1050" b="0">
                <a:solidFill>
                  <a:srgbClr val="5C6A78"/>
                </a:solidFill>
                <a:latin typeface="Aptos"/>
              </a:rPr>
              <a:t>Educators &amp; specialists</a:t>
            </a:r>
            <a:br/>
            <a:r>
              <a:rPr sz="1050" b="0">
                <a:solidFill>
                  <a:srgbClr val="5C6A78"/>
                </a:solidFill>
                <a:latin typeface="Aptos"/>
              </a:rPr>
              <a:t>Families</a:t>
            </a:r>
            <a:br/>
            <a:r>
              <a:rPr sz="1050" b="0">
                <a:solidFill>
                  <a:srgbClr val="5C6A78"/>
                </a:solidFill>
                <a:latin typeface="Aptos"/>
              </a:rPr>
              <a:t>Institutions</a:t>
            </a:r>
            <a:br/>
            <a:r>
              <a:rPr sz="1050" b="0">
                <a:solidFill>
                  <a:srgbClr val="5C6A78"/>
                </a:solidFill>
                <a:latin typeface="Aptos"/>
              </a:rPr>
              <a:t>Arabic &amp; future English markets</a:t>
            </a:r>
          </a:p>
        </p:txBody>
      </p:sp>
      <p:sp>
        <p:nvSpPr>
          <p:cNvPr id="22" name="TextBox 21"/>
          <p:cNvSpPr txBox="1"/>
          <p:nvPr/>
        </p:nvSpPr>
        <p:spPr>
          <a:xfrm>
            <a:off x="1005840" y="5623560"/>
            <a:ext cx="10149840" cy="384048"/>
          </a:xfrm>
          <a:prstGeom prst="rect">
            <a:avLst/>
          </a:prstGeom>
          <a:noFill/>
        </p:spPr>
        <p:txBody>
          <a:bodyPr wrap="square" anchor="t">
            <a:spAutoFit/>
          </a:bodyPr>
          <a:lstStyle/>
          <a:p>
            <a:pPr algn="ctr">
              <a:spcBef>
                <a:spcPts val="0"/>
              </a:spcBef>
              <a:spcAft>
                <a:spcPts val="0"/>
              </a:spcAft>
            </a:pPr>
            <a:r>
              <a:rPr sz="1500" b="1">
                <a:solidFill>
                  <a:srgbClr val="183A5B"/>
                </a:solidFill>
                <a:latin typeface="Aptos"/>
              </a:rPr>
              <a:t>Technology is the enabling layer we are now exploring how to build well.</a:t>
            </a:r>
          </a:p>
        </p:txBody>
      </p:sp>
      <p:sp>
        <p:nvSpPr>
          <p:cNvPr id="23" name="TextBox 22"/>
          <p:cNvSpPr txBox="1"/>
          <p:nvPr/>
        </p:nvSpPr>
        <p:spPr>
          <a:xfrm>
            <a:off x="566928" y="6473952"/>
            <a:ext cx="1828800" cy="182880"/>
          </a:xfrm>
          <a:prstGeom prst="rect">
            <a:avLst/>
          </a:prstGeom>
          <a:noFill/>
        </p:spPr>
        <p:txBody>
          <a:bodyPr wrap="square" anchor="t">
            <a:spAutoFit/>
          </a:bodyPr>
          <a:lstStyle/>
          <a:p>
            <a:pPr algn="l">
              <a:spcBef>
                <a:spcPts val="0"/>
              </a:spcBef>
              <a:spcAft>
                <a:spcPts val="0"/>
              </a:spcAft>
            </a:pPr>
            <a:r>
              <a:rPr sz="800" b="1">
                <a:solidFill>
                  <a:srgbClr val="183A5B"/>
                </a:solidFill>
                <a:latin typeface="Aptos"/>
              </a:rPr>
              <a:t>MASAR | مسار</a:t>
            </a:r>
          </a:p>
        </p:txBody>
      </p:sp>
      <p:sp>
        <p:nvSpPr>
          <p:cNvPr id="24" name="TextBox 23"/>
          <p:cNvSpPr txBox="1"/>
          <p:nvPr/>
        </p:nvSpPr>
        <p:spPr>
          <a:xfrm>
            <a:off x="11109960" y="6473952"/>
            <a:ext cx="502920" cy="182880"/>
          </a:xfrm>
          <a:prstGeom prst="rect">
            <a:avLst/>
          </a:prstGeom>
          <a:noFill/>
        </p:spPr>
        <p:txBody>
          <a:bodyPr wrap="square" anchor="t">
            <a:spAutoFit/>
          </a:bodyPr>
          <a:lstStyle/>
          <a:p>
            <a:pPr algn="r">
              <a:spcBef>
                <a:spcPts val="0"/>
              </a:spcBef>
              <a:spcAft>
                <a:spcPts val="0"/>
              </a:spcAft>
            </a:pPr>
            <a:r>
              <a:rPr sz="800" b="1">
                <a:solidFill>
                  <a:srgbClr val="5C6A78"/>
                </a:solidFill>
                <a:latin typeface="Aptos"/>
              </a:rPr>
              <a:t>05</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46888"/>
            <a:ext cx="3200400" cy="228600"/>
          </a:xfrm>
          <a:prstGeom prst="rect">
            <a:avLst/>
          </a:prstGeom>
          <a:noFill/>
        </p:spPr>
        <p:txBody>
          <a:bodyPr wrap="square" anchor="t">
            <a:spAutoFit/>
          </a:bodyPr>
          <a:lstStyle/>
          <a:p>
            <a:pPr algn="l">
              <a:spcBef>
                <a:spcPts val="0"/>
              </a:spcBef>
              <a:spcAft>
                <a:spcPts val="0"/>
              </a:spcAft>
            </a:pPr>
            <a:r>
              <a:rPr sz="900" b="1">
                <a:solidFill>
                  <a:srgbClr val="CAA143"/>
                </a:solidFill>
                <a:latin typeface="Aptos"/>
              </a:rPr>
              <a:t>MASAR | مسار   •   06</a:t>
            </a:r>
          </a:p>
        </p:txBody>
      </p:sp>
      <p:sp>
        <p:nvSpPr>
          <p:cNvPr id="4" name="TextBox 3"/>
          <p:cNvSpPr txBox="1"/>
          <p:nvPr/>
        </p:nvSpPr>
        <p:spPr>
          <a:xfrm>
            <a:off x="594360" y="621792"/>
            <a:ext cx="10972800" cy="594360"/>
          </a:xfrm>
          <a:prstGeom prst="rect">
            <a:avLst/>
          </a:prstGeom>
          <a:noFill/>
        </p:spPr>
        <p:txBody>
          <a:bodyPr wrap="square" anchor="t">
            <a:spAutoFit/>
          </a:bodyPr>
          <a:lstStyle/>
          <a:p>
            <a:pPr algn="l">
              <a:spcBef>
                <a:spcPts val="0"/>
              </a:spcBef>
              <a:spcAft>
                <a:spcPts val="0"/>
              </a:spcAft>
            </a:pPr>
            <a:r>
              <a:rPr sz="2800" b="1">
                <a:solidFill>
                  <a:srgbClr val="183A5B"/>
                </a:solidFill>
                <a:latin typeface="Aptos"/>
              </a:rPr>
              <a:t>What Could Make the Combination Different</a:t>
            </a:r>
          </a:p>
        </p:txBody>
      </p:sp>
      <p:sp>
        <p:nvSpPr>
          <p:cNvPr id="5" name="TextBox 4"/>
          <p:cNvSpPr txBox="1"/>
          <p:nvPr/>
        </p:nvSpPr>
        <p:spPr>
          <a:xfrm>
            <a:off x="612648" y="1261872"/>
            <a:ext cx="10789920" cy="384048"/>
          </a:xfrm>
          <a:prstGeom prst="rect">
            <a:avLst/>
          </a:prstGeom>
          <a:noFill/>
        </p:spPr>
        <p:txBody>
          <a:bodyPr wrap="square" anchor="t">
            <a:spAutoFit/>
          </a:bodyPr>
          <a:lstStyle/>
          <a:p>
            <a:pPr algn="l">
              <a:spcBef>
                <a:spcPts val="0"/>
              </a:spcBef>
              <a:spcAft>
                <a:spcPts val="0"/>
              </a:spcAft>
            </a:pPr>
            <a:r>
              <a:rPr sz="1150" b="0">
                <a:solidFill>
                  <a:srgbClr val="5C6A78"/>
                </a:solidFill>
                <a:latin typeface="Aptos"/>
              </a:rPr>
              <a:t>A potential fit between MASAR's educational depth and GritWrx's product-execution capability.</a:t>
            </a:r>
          </a:p>
        </p:txBody>
      </p:sp>
      <p:sp>
        <p:nvSpPr>
          <p:cNvPr id="6" name="Rounded Rectangle 5"/>
          <p:cNvSpPr/>
          <p:nvPr/>
        </p:nvSpPr>
        <p:spPr>
          <a:xfrm>
            <a:off x="685800" y="1874519"/>
            <a:ext cx="3401568" cy="2560320"/>
          </a:xfrm>
          <a:prstGeom prst="roundRect">
            <a:avLst/>
          </a:prstGeom>
          <a:solidFill>
            <a:srgbClr val="FFFFFF"/>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874519"/>
            <a:ext cx="50292" cy="2560320"/>
          </a:xfrm>
          <a:prstGeom prst="rect">
            <a:avLst/>
          </a:prstGeom>
          <a:solidFill>
            <a:srgbClr val="1D9D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6968" y="2039112"/>
            <a:ext cx="3017520" cy="347472"/>
          </a:xfrm>
          <a:prstGeom prst="rect">
            <a:avLst/>
          </a:prstGeom>
          <a:noFill/>
        </p:spPr>
        <p:txBody>
          <a:bodyPr wrap="square" anchor="t">
            <a:spAutoFit/>
          </a:bodyPr>
          <a:lstStyle/>
          <a:p>
            <a:pPr algn="l">
              <a:spcBef>
                <a:spcPts val="0"/>
              </a:spcBef>
              <a:spcAft>
                <a:spcPts val="0"/>
              </a:spcAft>
            </a:pPr>
            <a:r>
              <a:rPr sz="1400" b="1">
                <a:solidFill>
                  <a:srgbClr val="183A5B"/>
                </a:solidFill>
                <a:latin typeface="Aptos"/>
              </a:rPr>
              <a:t>MASAR</a:t>
            </a:r>
          </a:p>
        </p:txBody>
      </p:sp>
      <p:sp>
        <p:nvSpPr>
          <p:cNvPr id="9" name="TextBox 8"/>
          <p:cNvSpPr txBox="1"/>
          <p:nvPr/>
        </p:nvSpPr>
        <p:spPr>
          <a:xfrm>
            <a:off x="886968" y="2514600"/>
            <a:ext cx="3017520" cy="1792224"/>
          </a:xfrm>
          <a:prstGeom prst="rect">
            <a:avLst/>
          </a:prstGeom>
          <a:noFill/>
        </p:spPr>
        <p:txBody>
          <a:bodyPr wrap="square" anchor="t">
            <a:spAutoFit/>
          </a:bodyPr>
          <a:lstStyle/>
          <a:p>
            <a:pPr algn="l">
              <a:spcBef>
                <a:spcPts val="0"/>
              </a:spcBef>
              <a:spcAft>
                <a:spcPts val="0"/>
              </a:spcAft>
            </a:pPr>
            <a:r>
              <a:rPr sz="1019" b="0">
                <a:solidFill>
                  <a:srgbClr val="5C6A78"/>
                </a:solidFill>
                <a:latin typeface="Aptos"/>
              </a:rPr>
              <a:t>Educational IP, domain expertise, methodology, product ideas, real-world educational context</a:t>
            </a:r>
          </a:p>
        </p:txBody>
      </p:sp>
      <p:sp>
        <p:nvSpPr>
          <p:cNvPr id="10" name="Rounded Rectangle 9"/>
          <p:cNvSpPr/>
          <p:nvPr/>
        </p:nvSpPr>
        <p:spPr>
          <a:xfrm>
            <a:off x="4480560" y="1874519"/>
            <a:ext cx="3401568" cy="2560320"/>
          </a:xfrm>
          <a:prstGeom prst="roundRect">
            <a:avLst/>
          </a:prstGeom>
          <a:solidFill>
            <a:srgbClr val="FFFFFF"/>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480560" y="1874519"/>
            <a:ext cx="50292" cy="2560320"/>
          </a:xfrm>
          <a:prstGeom prst="rect">
            <a:avLst/>
          </a:prstGeom>
          <a:solidFill>
            <a:srgbClr val="4C7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81728" y="2039112"/>
            <a:ext cx="3017520" cy="347472"/>
          </a:xfrm>
          <a:prstGeom prst="rect">
            <a:avLst/>
          </a:prstGeom>
          <a:noFill/>
        </p:spPr>
        <p:txBody>
          <a:bodyPr wrap="square" anchor="t">
            <a:spAutoFit/>
          </a:bodyPr>
          <a:lstStyle/>
          <a:p>
            <a:pPr algn="l">
              <a:spcBef>
                <a:spcPts val="0"/>
              </a:spcBef>
              <a:spcAft>
                <a:spcPts val="0"/>
              </a:spcAft>
            </a:pPr>
            <a:r>
              <a:rPr sz="1400" b="1">
                <a:solidFill>
                  <a:srgbClr val="183A5B"/>
                </a:solidFill>
                <a:latin typeface="Aptos"/>
              </a:rPr>
              <a:t>GritWrx</a:t>
            </a:r>
          </a:p>
        </p:txBody>
      </p:sp>
      <p:sp>
        <p:nvSpPr>
          <p:cNvPr id="13" name="TextBox 12"/>
          <p:cNvSpPr txBox="1"/>
          <p:nvPr/>
        </p:nvSpPr>
        <p:spPr>
          <a:xfrm>
            <a:off x="4681728" y="2514600"/>
            <a:ext cx="3017520" cy="1792224"/>
          </a:xfrm>
          <a:prstGeom prst="rect">
            <a:avLst/>
          </a:prstGeom>
          <a:noFill/>
        </p:spPr>
        <p:txBody>
          <a:bodyPr wrap="square" anchor="t">
            <a:spAutoFit/>
          </a:bodyPr>
          <a:lstStyle/>
          <a:p>
            <a:pPr algn="l">
              <a:spcBef>
                <a:spcPts val="0"/>
              </a:spcBef>
              <a:spcAft>
                <a:spcPts val="0"/>
              </a:spcAft>
            </a:pPr>
            <a:r>
              <a:rPr sz="1019" b="0">
                <a:solidFill>
                  <a:srgbClr val="5C6A78"/>
                </a:solidFill>
                <a:latin typeface="Aptos"/>
              </a:rPr>
              <a:t>Product thinking, UX/build capability, automation, digital execution, go-to-market experience</a:t>
            </a:r>
          </a:p>
        </p:txBody>
      </p:sp>
      <p:sp>
        <p:nvSpPr>
          <p:cNvPr id="14" name="Rounded Rectangle 13"/>
          <p:cNvSpPr/>
          <p:nvPr/>
        </p:nvSpPr>
        <p:spPr>
          <a:xfrm>
            <a:off x="8275320" y="1874519"/>
            <a:ext cx="3401568" cy="2560320"/>
          </a:xfrm>
          <a:prstGeom prst="roundRect">
            <a:avLst/>
          </a:prstGeom>
          <a:solidFill>
            <a:srgbClr val="FFFFFF"/>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275320" y="1874519"/>
            <a:ext cx="50292" cy="2560320"/>
          </a:xfrm>
          <a:prstGeom prst="rect">
            <a:avLst/>
          </a:prstGeom>
          <a:solidFill>
            <a:srgbClr val="CAA1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76488" y="2039112"/>
            <a:ext cx="3017520" cy="347472"/>
          </a:xfrm>
          <a:prstGeom prst="rect">
            <a:avLst/>
          </a:prstGeom>
          <a:noFill/>
        </p:spPr>
        <p:txBody>
          <a:bodyPr wrap="square" anchor="t">
            <a:spAutoFit/>
          </a:bodyPr>
          <a:lstStyle/>
          <a:p>
            <a:pPr algn="l">
              <a:spcBef>
                <a:spcPts val="0"/>
              </a:spcBef>
              <a:spcAft>
                <a:spcPts val="0"/>
              </a:spcAft>
            </a:pPr>
            <a:r>
              <a:rPr sz="1400" b="1">
                <a:solidFill>
                  <a:srgbClr val="183A5B"/>
                </a:solidFill>
                <a:latin typeface="Aptos"/>
              </a:rPr>
              <a:t>Together</a:t>
            </a:r>
          </a:p>
        </p:txBody>
      </p:sp>
      <p:sp>
        <p:nvSpPr>
          <p:cNvPr id="17" name="TextBox 16"/>
          <p:cNvSpPr txBox="1"/>
          <p:nvPr/>
        </p:nvSpPr>
        <p:spPr>
          <a:xfrm>
            <a:off x="8476488" y="2514600"/>
            <a:ext cx="3017520" cy="1792224"/>
          </a:xfrm>
          <a:prstGeom prst="rect">
            <a:avLst/>
          </a:prstGeom>
          <a:noFill/>
        </p:spPr>
        <p:txBody>
          <a:bodyPr wrap="square" anchor="t">
            <a:spAutoFit/>
          </a:bodyPr>
          <a:lstStyle/>
          <a:p>
            <a:pPr algn="l">
              <a:spcBef>
                <a:spcPts val="0"/>
              </a:spcBef>
              <a:spcAft>
                <a:spcPts val="0"/>
              </a:spcAft>
            </a:pPr>
            <a:r>
              <a:rPr sz="1019" b="0">
                <a:solidFill>
                  <a:srgbClr val="5C6A78"/>
                </a:solidFill>
                <a:latin typeface="Aptos"/>
              </a:rPr>
              <a:t>A pathway from educational asset → usable product → real buyer → evidence → improvement</a:t>
            </a:r>
          </a:p>
        </p:txBody>
      </p:sp>
      <p:cxnSp>
        <p:nvCxnSpPr>
          <p:cNvPr id="18" name="Connector 17"/>
          <p:cNvCxnSpPr/>
          <p:nvPr/>
        </p:nvCxnSpPr>
        <p:spPr>
          <a:xfrm>
            <a:off x="4087368" y="3154680"/>
            <a:ext cx="393192" cy="0"/>
          </a:xfrm>
          <a:prstGeom prst="line">
            <a:avLst/>
          </a:prstGeom>
          <a:ln w="25400">
            <a:solidFill>
              <a:srgbClr val="CAA143"/>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882127" y="3154680"/>
            <a:ext cx="393193" cy="0"/>
          </a:xfrm>
          <a:prstGeom prst="line">
            <a:avLst/>
          </a:prstGeom>
          <a:ln w="25400">
            <a:solidFill>
              <a:srgbClr val="CAA143"/>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005840" y="5166360"/>
            <a:ext cx="10149840" cy="475488"/>
          </a:xfrm>
          <a:prstGeom prst="rect">
            <a:avLst/>
          </a:prstGeom>
          <a:noFill/>
        </p:spPr>
        <p:txBody>
          <a:bodyPr wrap="square" anchor="t">
            <a:spAutoFit/>
          </a:bodyPr>
          <a:lstStyle/>
          <a:p>
            <a:pPr algn="ctr">
              <a:spcBef>
                <a:spcPts val="0"/>
              </a:spcBef>
              <a:spcAft>
                <a:spcPts val="0"/>
              </a:spcAft>
            </a:pPr>
            <a:r>
              <a:rPr sz="1700" b="1">
                <a:solidFill>
                  <a:srgbClr val="183A5B"/>
                </a:solidFill>
                <a:latin typeface="Aptos"/>
              </a:rPr>
              <a:t>The opportunity is complementary capability — not simply outsourced development.</a:t>
            </a:r>
          </a:p>
        </p:txBody>
      </p:sp>
      <p:sp>
        <p:nvSpPr>
          <p:cNvPr id="21" name="TextBox 20"/>
          <p:cNvSpPr txBox="1"/>
          <p:nvPr/>
        </p:nvSpPr>
        <p:spPr>
          <a:xfrm>
            <a:off x="566928" y="6473952"/>
            <a:ext cx="1828800" cy="182880"/>
          </a:xfrm>
          <a:prstGeom prst="rect">
            <a:avLst/>
          </a:prstGeom>
          <a:noFill/>
        </p:spPr>
        <p:txBody>
          <a:bodyPr wrap="square" anchor="t">
            <a:spAutoFit/>
          </a:bodyPr>
          <a:lstStyle/>
          <a:p>
            <a:pPr algn="l">
              <a:spcBef>
                <a:spcPts val="0"/>
              </a:spcBef>
              <a:spcAft>
                <a:spcPts val="0"/>
              </a:spcAft>
            </a:pPr>
            <a:r>
              <a:rPr sz="800" b="1">
                <a:solidFill>
                  <a:srgbClr val="183A5B"/>
                </a:solidFill>
                <a:latin typeface="Aptos"/>
              </a:rPr>
              <a:t>MASAR | مسار</a:t>
            </a:r>
          </a:p>
        </p:txBody>
      </p:sp>
      <p:sp>
        <p:nvSpPr>
          <p:cNvPr id="22" name="TextBox 21"/>
          <p:cNvSpPr txBox="1"/>
          <p:nvPr/>
        </p:nvSpPr>
        <p:spPr>
          <a:xfrm>
            <a:off x="11109960" y="6473952"/>
            <a:ext cx="502920" cy="182880"/>
          </a:xfrm>
          <a:prstGeom prst="rect">
            <a:avLst/>
          </a:prstGeom>
          <a:noFill/>
        </p:spPr>
        <p:txBody>
          <a:bodyPr wrap="square" anchor="t">
            <a:spAutoFit/>
          </a:bodyPr>
          <a:lstStyle/>
          <a:p>
            <a:pPr algn="r">
              <a:spcBef>
                <a:spcPts val="0"/>
              </a:spcBef>
              <a:spcAft>
                <a:spcPts val="0"/>
              </a:spcAft>
            </a:pPr>
            <a:r>
              <a:rPr sz="800" b="1">
                <a:solidFill>
                  <a:srgbClr val="5C6A78"/>
                </a:solidFill>
                <a:latin typeface="Aptos"/>
              </a:rPr>
              <a:t>06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46888"/>
            <a:ext cx="3200400" cy="228600"/>
          </a:xfrm>
          <a:prstGeom prst="rect">
            <a:avLst/>
          </a:prstGeom>
          <a:noFill/>
        </p:spPr>
        <p:txBody>
          <a:bodyPr wrap="square" anchor="t">
            <a:spAutoFit/>
          </a:bodyPr>
          <a:lstStyle/>
          <a:p>
            <a:pPr algn="l">
              <a:spcBef>
                <a:spcPts val="0"/>
              </a:spcBef>
              <a:spcAft>
                <a:spcPts val="0"/>
              </a:spcAft>
            </a:pPr>
            <a:r>
              <a:rPr sz="900" b="1">
                <a:solidFill>
                  <a:srgbClr val="CAA143"/>
                </a:solidFill>
                <a:latin typeface="Aptos"/>
              </a:rPr>
              <a:t>MASAR | مسار   •   07</a:t>
            </a:r>
          </a:p>
        </p:txBody>
      </p:sp>
      <p:sp>
        <p:nvSpPr>
          <p:cNvPr id="4" name="TextBox 3"/>
          <p:cNvSpPr txBox="1"/>
          <p:nvPr/>
        </p:nvSpPr>
        <p:spPr>
          <a:xfrm>
            <a:off x="594360" y="621792"/>
            <a:ext cx="10972800" cy="594360"/>
          </a:xfrm>
          <a:prstGeom prst="rect">
            <a:avLst/>
          </a:prstGeom>
          <a:noFill/>
        </p:spPr>
        <p:txBody>
          <a:bodyPr wrap="square" anchor="t">
            <a:spAutoFit/>
          </a:bodyPr>
          <a:lstStyle/>
          <a:p>
            <a:pPr algn="l">
              <a:spcBef>
                <a:spcPts val="0"/>
              </a:spcBef>
              <a:spcAft>
                <a:spcPts val="0"/>
              </a:spcAft>
            </a:pPr>
            <a:r>
              <a:rPr sz="2800" b="1">
                <a:solidFill>
                  <a:srgbClr val="183A5B"/>
                </a:solidFill>
                <a:latin typeface="Aptos"/>
              </a:rPr>
              <a:t>The MASAR System We Are Exploring</a:t>
            </a:r>
          </a:p>
        </p:txBody>
      </p:sp>
      <p:sp>
        <p:nvSpPr>
          <p:cNvPr id="5" name="TextBox 4"/>
          <p:cNvSpPr txBox="1"/>
          <p:nvPr/>
        </p:nvSpPr>
        <p:spPr>
          <a:xfrm>
            <a:off x="612648" y="1261872"/>
            <a:ext cx="10789920" cy="384048"/>
          </a:xfrm>
          <a:prstGeom prst="rect">
            <a:avLst/>
          </a:prstGeom>
          <a:noFill/>
        </p:spPr>
        <p:txBody>
          <a:bodyPr wrap="square" anchor="t">
            <a:spAutoFit/>
          </a:bodyPr>
          <a:lstStyle/>
          <a:p>
            <a:pPr algn="l">
              <a:spcBef>
                <a:spcPts val="0"/>
              </a:spcBef>
              <a:spcAft>
                <a:spcPts val="0"/>
              </a:spcAft>
            </a:pPr>
            <a:r>
              <a:rPr sz="1150" b="0">
                <a:solidFill>
                  <a:srgbClr val="5C6A78"/>
                </a:solidFill>
                <a:latin typeface="Aptos"/>
              </a:rPr>
              <a:t>A connected cycle rather than a collection of disconnected tools.</a:t>
            </a:r>
          </a:p>
        </p:txBody>
      </p:sp>
      <p:sp>
        <p:nvSpPr>
          <p:cNvPr id="6" name="Oval 5"/>
          <p:cNvSpPr/>
          <p:nvPr/>
        </p:nvSpPr>
        <p:spPr>
          <a:xfrm>
            <a:off x="1161288" y="1828800"/>
            <a:ext cx="621792" cy="621792"/>
          </a:xfrm>
          <a:prstGeom prst="ellipse">
            <a:avLst/>
          </a:prstGeom>
          <a:solidFill>
            <a:srgbClr val="1D9D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07008" y="1911095"/>
            <a:ext cx="530352" cy="457200"/>
          </a:xfrm>
          <a:prstGeom prst="rect">
            <a:avLst/>
          </a:prstGeom>
          <a:noFill/>
        </p:spPr>
        <p:txBody>
          <a:bodyPr wrap="square" anchor="ctr">
            <a:spAutoFit/>
          </a:bodyPr>
          <a:lstStyle/>
          <a:p>
            <a:pPr algn="ctr">
              <a:spcBef>
                <a:spcPts val="0"/>
              </a:spcBef>
              <a:spcAft>
                <a:spcPts val="0"/>
              </a:spcAft>
            </a:pPr>
            <a:r>
              <a:rPr sz="850" b="1">
                <a:solidFill>
                  <a:srgbClr val="FFFFFF"/>
                </a:solidFill>
                <a:latin typeface="Aptos"/>
              </a:rPr>
              <a:t>1</a:t>
            </a:r>
          </a:p>
        </p:txBody>
      </p:sp>
      <p:sp>
        <p:nvSpPr>
          <p:cNvPr id="8" name="TextBox 7"/>
          <p:cNvSpPr txBox="1"/>
          <p:nvPr/>
        </p:nvSpPr>
        <p:spPr>
          <a:xfrm>
            <a:off x="502920" y="2651760"/>
            <a:ext cx="1920240" cy="274320"/>
          </a:xfrm>
          <a:prstGeom prst="rect">
            <a:avLst/>
          </a:prstGeom>
          <a:noFill/>
        </p:spPr>
        <p:txBody>
          <a:bodyPr wrap="square" anchor="t">
            <a:spAutoFit/>
          </a:bodyPr>
          <a:lstStyle/>
          <a:p>
            <a:pPr algn="ctr">
              <a:spcBef>
                <a:spcPts val="0"/>
              </a:spcBef>
              <a:spcAft>
                <a:spcPts val="0"/>
              </a:spcAft>
            </a:pPr>
            <a:r>
              <a:rPr sz="1200" b="1">
                <a:solidFill>
                  <a:srgbClr val="183A5B"/>
                </a:solidFill>
                <a:latin typeface="Aptos"/>
              </a:rPr>
              <a:t>Understand</a:t>
            </a:r>
          </a:p>
        </p:txBody>
      </p:sp>
      <p:sp>
        <p:nvSpPr>
          <p:cNvPr id="9" name="TextBox 8"/>
          <p:cNvSpPr txBox="1"/>
          <p:nvPr/>
        </p:nvSpPr>
        <p:spPr>
          <a:xfrm>
            <a:off x="594360" y="3063240"/>
            <a:ext cx="1737360" cy="502920"/>
          </a:xfrm>
          <a:prstGeom prst="rect">
            <a:avLst/>
          </a:prstGeom>
          <a:noFill/>
        </p:spPr>
        <p:txBody>
          <a:bodyPr wrap="square" anchor="t">
            <a:spAutoFit/>
          </a:bodyPr>
          <a:lstStyle/>
          <a:p>
            <a:pPr algn="ctr">
              <a:spcBef>
                <a:spcPts val="0"/>
              </a:spcBef>
              <a:spcAft>
                <a:spcPts val="0"/>
              </a:spcAft>
            </a:pPr>
            <a:r>
              <a:rPr sz="900" b="0">
                <a:solidFill>
                  <a:srgbClr val="5C6A78"/>
                </a:solidFill>
                <a:latin typeface="Aptos"/>
              </a:rPr>
              <a:t>School / learner needs</a:t>
            </a:r>
          </a:p>
        </p:txBody>
      </p:sp>
      <p:cxnSp>
        <p:nvCxnSpPr>
          <p:cNvPr id="10" name="Connector 9"/>
          <p:cNvCxnSpPr/>
          <p:nvPr/>
        </p:nvCxnSpPr>
        <p:spPr>
          <a:xfrm>
            <a:off x="1828800" y="2139696"/>
            <a:ext cx="502920" cy="0"/>
          </a:xfrm>
          <a:prstGeom prst="line">
            <a:avLst/>
          </a:prstGeom>
          <a:ln w="22860">
            <a:solidFill>
              <a:srgbClr val="D5DEE6"/>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3108959" y="1828800"/>
            <a:ext cx="621792" cy="621792"/>
          </a:xfrm>
          <a:prstGeom prst="ellipse">
            <a:avLst/>
          </a:prstGeom>
          <a:solidFill>
            <a:srgbClr val="4C7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154679" y="1911095"/>
            <a:ext cx="530352" cy="457200"/>
          </a:xfrm>
          <a:prstGeom prst="rect">
            <a:avLst/>
          </a:prstGeom>
          <a:noFill/>
        </p:spPr>
        <p:txBody>
          <a:bodyPr wrap="square" anchor="ctr">
            <a:spAutoFit/>
          </a:bodyPr>
          <a:lstStyle/>
          <a:p>
            <a:pPr algn="ctr">
              <a:spcBef>
                <a:spcPts val="0"/>
              </a:spcBef>
              <a:spcAft>
                <a:spcPts val="0"/>
              </a:spcAft>
            </a:pPr>
            <a:r>
              <a:rPr sz="850" b="1">
                <a:solidFill>
                  <a:srgbClr val="FFFFFF"/>
                </a:solidFill>
                <a:latin typeface="Aptos"/>
              </a:rPr>
              <a:t>2</a:t>
            </a:r>
          </a:p>
        </p:txBody>
      </p:sp>
      <p:sp>
        <p:nvSpPr>
          <p:cNvPr id="13" name="TextBox 12"/>
          <p:cNvSpPr txBox="1"/>
          <p:nvPr/>
        </p:nvSpPr>
        <p:spPr>
          <a:xfrm>
            <a:off x="2450591" y="2651760"/>
            <a:ext cx="1920240" cy="274320"/>
          </a:xfrm>
          <a:prstGeom prst="rect">
            <a:avLst/>
          </a:prstGeom>
          <a:noFill/>
        </p:spPr>
        <p:txBody>
          <a:bodyPr wrap="square" anchor="t">
            <a:spAutoFit/>
          </a:bodyPr>
          <a:lstStyle/>
          <a:p>
            <a:pPr algn="ctr">
              <a:spcBef>
                <a:spcPts val="0"/>
              </a:spcBef>
              <a:spcAft>
                <a:spcPts val="0"/>
              </a:spcAft>
            </a:pPr>
            <a:r>
              <a:rPr sz="1200" b="1">
                <a:solidFill>
                  <a:srgbClr val="183A5B"/>
                </a:solidFill>
                <a:latin typeface="Aptos"/>
              </a:rPr>
              <a:t>Diagnose</a:t>
            </a:r>
          </a:p>
        </p:txBody>
      </p:sp>
      <p:sp>
        <p:nvSpPr>
          <p:cNvPr id="14" name="TextBox 13"/>
          <p:cNvSpPr txBox="1"/>
          <p:nvPr/>
        </p:nvSpPr>
        <p:spPr>
          <a:xfrm>
            <a:off x="2542032" y="3063240"/>
            <a:ext cx="1737360" cy="502920"/>
          </a:xfrm>
          <a:prstGeom prst="rect">
            <a:avLst/>
          </a:prstGeom>
          <a:noFill/>
        </p:spPr>
        <p:txBody>
          <a:bodyPr wrap="square" anchor="t">
            <a:spAutoFit/>
          </a:bodyPr>
          <a:lstStyle/>
          <a:p>
            <a:pPr algn="ctr">
              <a:spcBef>
                <a:spcPts val="0"/>
              </a:spcBef>
              <a:spcAft>
                <a:spcPts val="0"/>
              </a:spcAft>
            </a:pPr>
            <a:r>
              <a:rPr sz="900" b="0">
                <a:solidFill>
                  <a:srgbClr val="5C6A78"/>
                </a:solidFill>
                <a:latin typeface="Aptos"/>
              </a:rPr>
              <a:t>Skills, gaps, priorities</a:t>
            </a:r>
          </a:p>
        </p:txBody>
      </p:sp>
      <p:cxnSp>
        <p:nvCxnSpPr>
          <p:cNvPr id="15" name="Connector 14"/>
          <p:cNvCxnSpPr/>
          <p:nvPr/>
        </p:nvCxnSpPr>
        <p:spPr>
          <a:xfrm>
            <a:off x="3776472" y="2139696"/>
            <a:ext cx="502920" cy="0"/>
          </a:xfrm>
          <a:prstGeom prst="line">
            <a:avLst/>
          </a:prstGeom>
          <a:ln w="22860">
            <a:solidFill>
              <a:srgbClr val="D5DEE6"/>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5056631" y="1828800"/>
            <a:ext cx="621792" cy="621792"/>
          </a:xfrm>
          <a:prstGeom prst="ellipse">
            <a:avLst/>
          </a:prstGeom>
          <a:solidFill>
            <a:srgbClr val="CAA1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102351" y="1911095"/>
            <a:ext cx="530352" cy="457200"/>
          </a:xfrm>
          <a:prstGeom prst="rect">
            <a:avLst/>
          </a:prstGeom>
          <a:noFill/>
        </p:spPr>
        <p:txBody>
          <a:bodyPr wrap="square" anchor="ctr">
            <a:spAutoFit/>
          </a:bodyPr>
          <a:lstStyle/>
          <a:p>
            <a:pPr algn="ctr">
              <a:spcBef>
                <a:spcPts val="0"/>
              </a:spcBef>
              <a:spcAft>
                <a:spcPts val="0"/>
              </a:spcAft>
            </a:pPr>
            <a:r>
              <a:rPr sz="850" b="1">
                <a:solidFill>
                  <a:srgbClr val="FFFFFF"/>
                </a:solidFill>
                <a:latin typeface="Aptos"/>
              </a:rPr>
              <a:t>3</a:t>
            </a:r>
          </a:p>
        </p:txBody>
      </p:sp>
      <p:sp>
        <p:nvSpPr>
          <p:cNvPr id="18" name="TextBox 17"/>
          <p:cNvSpPr txBox="1"/>
          <p:nvPr/>
        </p:nvSpPr>
        <p:spPr>
          <a:xfrm>
            <a:off x="4398264" y="2651760"/>
            <a:ext cx="1920240" cy="274320"/>
          </a:xfrm>
          <a:prstGeom prst="rect">
            <a:avLst/>
          </a:prstGeom>
          <a:noFill/>
        </p:spPr>
        <p:txBody>
          <a:bodyPr wrap="square" anchor="t">
            <a:spAutoFit/>
          </a:bodyPr>
          <a:lstStyle/>
          <a:p>
            <a:pPr algn="ctr">
              <a:spcBef>
                <a:spcPts val="0"/>
              </a:spcBef>
              <a:spcAft>
                <a:spcPts val="0"/>
              </a:spcAft>
            </a:pPr>
            <a:r>
              <a:rPr sz="1200" b="1">
                <a:solidFill>
                  <a:srgbClr val="183A5B"/>
                </a:solidFill>
                <a:latin typeface="Aptos"/>
              </a:rPr>
              <a:t>Plan</a:t>
            </a:r>
          </a:p>
        </p:txBody>
      </p:sp>
      <p:sp>
        <p:nvSpPr>
          <p:cNvPr id="19" name="TextBox 18"/>
          <p:cNvSpPr txBox="1"/>
          <p:nvPr/>
        </p:nvSpPr>
        <p:spPr>
          <a:xfrm>
            <a:off x="4489703" y="3063240"/>
            <a:ext cx="1737360" cy="502920"/>
          </a:xfrm>
          <a:prstGeom prst="rect">
            <a:avLst/>
          </a:prstGeom>
          <a:noFill/>
        </p:spPr>
        <p:txBody>
          <a:bodyPr wrap="square" anchor="t">
            <a:spAutoFit/>
          </a:bodyPr>
          <a:lstStyle/>
          <a:p>
            <a:pPr algn="ctr">
              <a:spcBef>
                <a:spcPts val="0"/>
              </a:spcBef>
              <a:spcAft>
                <a:spcPts val="0"/>
              </a:spcAft>
            </a:pPr>
            <a:r>
              <a:rPr sz="900" b="0">
                <a:solidFill>
                  <a:srgbClr val="5C6A78"/>
                </a:solidFill>
                <a:latin typeface="Aptos"/>
              </a:rPr>
              <a:t>IEP / intervention / goals</a:t>
            </a:r>
          </a:p>
        </p:txBody>
      </p:sp>
      <p:cxnSp>
        <p:nvCxnSpPr>
          <p:cNvPr id="20" name="Connector 19"/>
          <p:cNvCxnSpPr/>
          <p:nvPr/>
        </p:nvCxnSpPr>
        <p:spPr>
          <a:xfrm>
            <a:off x="5724144" y="2139696"/>
            <a:ext cx="502920" cy="0"/>
          </a:xfrm>
          <a:prstGeom prst="line">
            <a:avLst/>
          </a:prstGeom>
          <a:ln w="22860">
            <a:solidFill>
              <a:srgbClr val="D5DEE6"/>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7004303" y="1828800"/>
            <a:ext cx="621792" cy="621792"/>
          </a:xfrm>
          <a:prstGeom prst="ellipse">
            <a:avLst/>
          </a:prstGeom>
          <a:solidFill>
            <a:srgbClr val="1D9D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050023" y="1911095"/>
            <a:ext cx="530352" cy="457200"/>
          </a:xfrm>
          <a:prstGeom prst="rect">
            <a:avLst/>
          </a:prstGeom>
          <a:noFill/>
        </p:spPr>
        <p:txBody>
          <a:bodyPr wrap="square" anchor="ctr">
            <a:spAutoFit/>
          </a:bodyPr>
          <a:lstStyle/>
          <a:p>
            <a:pPr algn="ctr">
              <a:spcBef>
                <a:spcPts val="0"/>
              </a:spcBef>
              <a:spcAft>
                <a:spcPts val="0"/>
              </a:spcAft>
            </a:pPr>
            <a:r>
              <a:rPr sz="850" b="1">
                <a:solidFill>
                  <a:srgbClr val="FFFFFF"/>
                </a:solidFill>
                <a:latin typeface="Aptos"/>
              </a:rPr>
              <a:t>4</a:t>
            </a:r>
          </a:p>
        </p:txBody>
      </p:sp>
      <p:sp>
        <p:nvSpPr>
          <p:cNvPr id="23" name="TextBox 22"/>
          <p:cNvSpPr txBox="1"/>
          <p:nvPr/>
        </p:nvSpPr>
        <p:spPr>
          <a:xfrm>
            <a:off x="6345936" y="2651760"/>
            <a:ext cx="1920240" cy="274320"/>
          </a:xfrm>
          <a:prstGeom prst="rect">
            <a:avLst/>
          </a:prstGeom>
          <a:noFill/>
        </p:spPr>
        <p:txBody>
          <a:bodyPr wrap="square" anchor="t">
            <a:spAutoFit/>
          </a:bodyPr>
          <a:lstStyle/>
          <a:p>
            <a:pPr algn="ctr">
              <a:spcBef>
                <a:spcPts val="0"/>
              </a:spcBef>
              <a:spcAft>
                <a:spcPts val="0"/>
              </a:spcAft>
            </a:pPr>
            <a:r>
              <a:rPr sz="1200" b="1">
                <a:solidFill>
                  <a:srgbClr val="183A5B"/>
                </a:solidFill>
                <a:latin typeface="Aptos"/>
              </a:rPr>
              <a:t>Act</a:t>
            </a:r>
          </a:p>
        </p:txBody>
      </p:sp>
      <p:sp>
        <p:nvSpPr>
          <p:cNvPr id="24" name="TextBox 23"/>
          <p:cNvSpPr txBox="1"/>
          <p:nvPr/>
        </p:nvSpPr>
        <p:spPr>
          <a:xfrm>
            <a:off x="6437375" y="3063240"/>
            <a:ext cx="1737360" cy="502920"/>
          </a:xfrm>
          <a:prstGeom prst="rect">
            <a:avLst/>
          </a:prstGeom>
          <a:noFill/>
        </p:spPr>
        <p:txBody>
          <a:bodyPr wrap="square" anchor="t">
            <a:spAutoFit/>
          </a:bodyPr>
          <a:lstStyle/>
          <a:p>
            <a:pPr algn="ctr">
              <a:spcBef>
                <a:spcPts val="0"/>
              </a:spcBef>
              <a:spcAft>
                <a:spcPts val="0"/>
              </a:spcAft>
            </a:pPr>
            <a:r>
              <a:rPr sz="900" b="0">
                <a:solidFill>
                  <a:srgbClr val="5C6A78"/>
                </a:solidFill>
                <a:latin typeface="Aptos"/>
              </a:rPr>
              <a:t>Instruction, resources, support</a:t>
            </a:r>
          </a:p>
        </p:txBody>
      </p:sp>
      <p:cxnSp>
        <p:nvCxnSpPr>
          <p:cNvPr id="25" name="Connector 24"/>
          <p:cNvCxnSpPr/>
          <p:nvPr/>
        </p:nvCxnSpPr>
        <p:spPr>
          <a:xfrm>
            <a:off x="7671815" y="2139696"/>
            <a:ext cx="502921" cy="0"/>
          </a:xfrm>
          <a:prstGeom prst="line">
            <a:avLst/>
          </a:prstGeom>
          <a:ln w="22860">
            <a:solidFill>
              <a:srgbClr val="D5DEE6"/>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8951976" y="1828800"/>
            <a:ext cx="621792" cy="621792"/>
          </a:xfrm>
          <a:prstGeom prst="ellipse">
            <a:avLst/>
          </a:prstGeom>
          <a:solidFill>
            <a:srgbClr val="4C7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997696" y="1911095"/>
            <a:ext cx="530352" cy="457200"/>
          </a:xfrm>
          <a:prstGeom prst="rect">
            <a:avLst/>
          </a:prstGeom>
          <a:noFill/>
        </p:spPr>
        <p:txBody>
          <a:bodyPr wrap="square" anchor="ctr">
            <a:spAutoFit/>
          </a:bodyPr>
          <a:lstStyle/>
          <a:p>
            <a:pPr algn="ctr">
              <a:spcBef>
                <a:spcPts val="0"/>
              </a:spcBef>
              <a:spcAft>
                <a:spcPts val="0"/>
              </a:spcAft>
            </a:pPr>
            <a:r>
              <a:rPr sz="850" b="1">
                <a:solidFill>
                  <a:srgbClr val="FFFFFF"/>
                </a:solidFill>
                <a:latin typeface="Aptos"/>
              </a:rPr>
              <a:t>5</a:t>
            </a:r>
          </a:p>
        </p:txBody>
      </p:sp>
      <p:sp>
        <p:nvSpPr>
          <p:cNvPr id="28" name="TextBox 27"/>
          <p:cNvSpPr txBox="1"/>
          <p:nvPr/>
        </p:nvSpPr>
        <p:spPr>
          <a:xfrm>
            <a:off x="8293608" y="2651760"/>
            <a:ext cx="1920240" cy="274320"/>
          </a:xfrm>
          <a:prstGeom prst="rect">
            <a:avLst/>
          </a:prstGeom>
          <a:noFill/>
        </p:spPr>
        <p:txBody>
          <a:bodyPr wrap="square" anchor="t">
            <a:spAutoFit/>
          </a:bodyPr>
          <a:lstStyle/>
          <a:p>
            <a:pPr algn="ctr">
              <a:spcBef>
                <a:spcPts val="0"/>
              </a:spcBef>
              <a:spcAft>
                <a:spcPts val="0"/>
              </a:spcAft>
            </a:pPr>
            <a:r>
              <a:rPr sz="1200" b="1">
                <a:solidFill>
                  <a:srgbClr val="183A5B"/>
                </a:solidFill>
                <a:latin typeface="Aptos"/>
              </a:rPr>
              <a:t>Monitor</a:t>
            </a:r>
          </a:p>
        </p:txBody>
      </p:sp>
      <p:sp>
        <p:nvSpPr>
          <p:cNvPr id="29" name="TextBox 28"/>
          <p:cNvSpPr txBox="1"/>
          <p:nvPr/>
        </p:nvSpPr>
        <p:spPr>
          <a:xfrm>
            <a:off x="8385048" y="3063240"/>
            <a:ext cx="1737360" cy="502920"/>
          </a:xfrm>
          <a:prstGeom prst="rect">
            <a:avLst/>
          </a:prstGeom>
          <a:noFill/>
        </p:spPr>
        <p:txBody>
          <a:bodyPr wrap="square" anchor="t">
            <a:spAutoFit/>
          </a:bodyPr>
          <a:lstStyle/>
          <a:p>
            <a:pPr algn="ctr">
              <a:spcBef>
                <a:spcPts val="0"/>
              </a:spcBef>
              <a:spcAft>
                <a:spcPts val="0"/>
              </a:spcAft>
            </a:pPr>
            <a:r>
              <a:rPr sz="900" b="0">
                <a:solidFill>
                  <a:srgbClr val="5C6A78"/>
                </a:solidFill>
                <a:latin typeface="Aptos"/>
              </a:rPr>
              <a:t>Progress and implementation</a:t>
            </a:r>
          </a:p>
        </p:txBody>
      </p:sp>
      <p:cxnSp>
        <p:nvCxnSpPr>
          <p:cNvPr id="30" name="Connector 29"/>
          <p:cNvCxnSpPr/>
          <p:nvPr/>
        </p:nvCxnSpPr>
        <p:spPr>
          <a:xfrm>
            <a:off x="9619488" y="2139696"/>
            <a:ext cx="502920" cy="0"/>
          </a:xfrm>
          <a:prstGeom prst="line">
            <a:avLst/>
          </a:prstGeom>
          <a:ln w="22860">
            <a:solidFill>
              <a:srgbClr val="D5DEE6"/>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10899648" y="1828800"/>
            <a:ext cx="621792" cy="621792"/>
          </a:xfrm>
          <a:prstGeom prst="ellipse">
            <a:avLst/>
          </a:prstGeom>
          <a:solidFill>
            <a:srgbClr val="CAA1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945368" y="1911095"/>
            <a:ext cx="530352" cy="457200"/>
          </a:xfrm>
          <a:prstGeom prst="rect">
            <a:avLst/>
          </a:prstGeom>
          <a:noFill/>
        </p:spPr>
        <p:txBody>
          <a:bodyPr wrap="square" anchor="ctr">
            <a:spAutoFit/>
          </a:bodyPr>
          <a:lstStyle/>
          <a:p>
            <a:pPr algn="ctr">
              <a:spcBef>
                <a:spcPts val="0"/>
              </a:spcBef>
              <a:spcAft>
                <a:spcPts val="0"/>
              </a:spcAft>
            </a:pPr>
            <a:r>
              <a:rPr sz="850" b="1">
                <a:solidFill>
                  <a:srgbClr val="FFFFFF"/>
                </a:solidFill>
                <a:latin typeface="Aptos"/>
              </a:rPr>
              <a:t>6</a:t>
            </a:r>
          </a:p>
        </p:txBody>
      </p:sp>
      <p:sp>
        <p:nvSpPr>
          <p:cNvPr id="33" name="TextBox 32"/>
          <p:cNvSpPr txBox="1"/>
          <p:nvPr/>
        </p:nvSpPr>
        <p:spPr>
          <a:xfrm>
            <a:off x="10241280" y="2651760"/>
            <a:ext cx="1920240" cy="274320"/>
          </a:xfrm>
          <a:prstGeom prst="rect">
            <a:avLst/>
          </a:prstGeom>
          <a:noFill/>
        </p:spPr>
        <p:txBody>
          <a:bodyPr wrap="square" anchor="t">
            <a:spAutoFit/>
          </a:bodyPr>
          <a:lstStyle/>
          <a:p>
            <a:pPr algn="ctr">
              <a:spcBef>
                <a:spcPts val="0"/>
              </a:spcBef>
              <a:spcAft>
                <a:spcPts val="0"/>
              </a:spcAft>
            </a:pPr>
            <a:r>
              <a:rPr sz="1200" b="1">
                <a:solidFill>
                  <a:srgbClr val="183A5B"/>
                </a:solidFill>
                <a:latin typeface="Aptos"/>
              </a:rPr>
              <a:t>Adapt</a:t>
            </a:r>
          </a:p>
        </p:txBody>
      </p:sp>
      <p:sp>
        <p:nvSpPr>
          <p:cNvPr id="34" name="TextBox 33"/>
          <p:cNvSpPr txBox="1"/>
          <p:nvPr/>
        </p:nvSpPr>
        <p:spPr>
          <a:xfrm>
            <a:off x="10332719" y="3063240"/>
            <a:ext cx="1737360" cy="502920"/>
          </a:xfrm>
          <a:prstGeom prst="rect">
            <a:avLst/>
          </a:prstGeom>
          <a:noFill/>
        </p:spPr>
        <p:txBody>
          <a:bodyPr wrap="square" anchor="t">
            <a:spAutoFit/>
          </a:bodyPr>
          <a:lstStyle/>
          <a:p>
            <a:pPr algn="ctr">
              <a:spcBef>
                <a:spcPts val="0"/>
              </a:spcBef>
              <a:spcAft>
                <a:spcPts val="0"/>
              </a:spcAft>
            </a:pPr>
            <a:r>
              <a:rPr sz="900" b="0">
                <a:solidFill>
                  <a:srgbClr val="5C6A78"/>
                </a:solidFill>
                <a:latin typeface="Aptos"/>
              </a:rPr>
              <a:t>Review, refine, expand</a:t>
            </a:r>
          </a:p>
        </p:txBody>
      </p:sp>
      <p:sp>
        <p:nvSpPr>
          <p:cNvPr id="35" name="Rounded Rectangle 34"/>
          <p:cNvSpPr/>
          <p:nvPr/>
        </p:nvSpPr>
        <p:spPr>
          <a:xfrm>
            <a:off x="1828800" y="4160520"/>
            <a:ext cx="8503920" cy="713232"/>
          </a:xfrm>
          <a:prstGeom prst="roundRect">
            <a:avLst/>
          </a:prstGeom>
          <a:solidFill>
            <a:srgbClr val="E8F7F5"/>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057400" y="4370832"/>
            <a:ext cx="8046720" cy="256032"/>
          </a:xfrm>
          <a:prstGeom prst="rect">
            <a:avLst/>
          </a:prstGeom>
          <a:noFill/>
        </p:spPr>
        <p:txBody>
          <a:bodyPr wrap="square" anchor="t">
            <a:spAutoFit/>
          </a:bodyPr>
          <a:lstStyle/>
          <a:p>
            <a:pPr algn="ctr">
              <a:spcBef>
                <a:spcPts val="0"/>
              </a:spcBef>
              <a:spcAft>
                <a:spcPts val="0"/>
              </a:spcAft>
            </a:pPr>
            <a:r>
              <a:rPr sz="1300" b="1">
                <a:solidFill>
                  <a:srgbClr val="183A5B"/>
                </a:solidFill>
                <a:latin typeface="Aptos"/>
              </a:rPr>
              <a:t>The technology should support the cycle — not become the purpose of the cycle.</a:t>
            </a:r>
          </a:p>
        </p:txBody>
      </p:sp>
      <p:sp>
        <p:nvSpPr>
          <p:cNvPr id="37" name="TextBox 36"/>
          <p:cNvSpPr txBox="1"/>
          <p:nvPr/>
        </p:nvSpPr>
        <p:spPr>
          <a:xfrm>
            <a:off x="1097280" y="5486400"/>
            <a:ext cx="9966960" cy="320040"/>
          </a:xfrm>
          <a:prstGeom prst="rect">
            <a:avLst/>
          </a:prstGeom>
          <a:noFill/>
        </p:spPr>
        <p:txBody>
          <a:bodyPr wrap="square" anchor="t">
            <a:spAutoFit/>
          </a:bodyPr>
          <a:lstStyle/>
          <a:p>
            <a:pPr algn="ctr">
              <a:spcBef>
                <a:spcPts val="0"/>
              </a:spcBef>
              <a:spcAft>
                <a:spcPts val="0"/>
              </a:spcAft>
            </a:pPr>
            <a:r>
              <a:rPr sz="1200" b="0">
                <a:solidFill>
                  <a:srgbClr val="5C6A78"/>
                </a:solidFill>
                <a:latin typeface="Aptos"/>
              </a:rPr>
              <a:t>And the cycle can be implemented differently for different products and schools.</a:t>
            </a:r>
          </a:p>
        </p:txBody>
      </p:sp>
      <p:sp>
        <p:nvSpPr>
          <p:cNvPr id="38" name="TextBox 37"/>
          <p:cNvSpPr txBox="1"/>
          <p:nvPr/>
        </p:nvSpPr>
        <p:spPr>
          <a:xfrm>
            <a:off x="566928" y="6473952"/>
            <a:ext cx="1828800" cy="182880"/>
          </a:xfrm>
          <a:prstGeom prst="rect">
            <a:avLst/>
          </a:prstGeom>
          <a:noFill/>
        </p:spPr>
        <p:txBody>
          <a:bodyPr wrap="square" anchor="t">
            <a:spAutoFit/>
          </a:bodyPr>
          <a:lstStyle/>
          <a:p>
            <a:pPr algn="l">
              <a:spcBef>
                <a:spcPts val="0"/>
              </a:spcBef>
              <a:spcAft>
                <a:spcPts val="0"/>
              </a:spcAft>
            </a:pPr>
            <a:r>
              <a:rPr sz="800" b="1">
                <a:solidFill>
                  <a:srgbClr val="183A5B"/>
                </a:solidFill>
                <a:latin typeface="Aptos"/>
              </a:rPr>
              <a:t>MASAR | مسار</a:t>
            </a:r>
          </a:p>
        </p:txBody>
      </p:sp>
      <p:sp>
        <p:nvSpPr>
          <p:cNvPr id="39" name="TextBox 38"/>
          <p:cNvSpPr txBox="1"/>
          <p:nvPr/>
        </p:nvSpPr>
        <p:spPr>
          <a:xfrm>
            <a:off x="11109960" y="6473952"/>
            <a:ext cx="502920" cy="182880"/>
          </a:xfrm>
          <a:prstGeom prst="rect">
            <a:avLst/>
          </a:prstGeom>
          <a:noFill/>
        </p:spPr>
        <p:txBody>
          <a:bodyPr wrap="square" anchor="t">
            <a:spAutoFit/>
          </a:bodyPr>
          <a:lstStyle/>
          <a:p>
            <a:pPr algn="r">
              <a:spcBef>
                <a:spcPts val="0"/>
              </a:spcBef>
              <a:spcAft>
                <a:spcPts val="0"/>
              </a:spcAft>
            </a:pPr>
            <a:r>
              <a:rPr sz="800" b="1">
                <a:solidFill>
                  <a:srgbClr val="5C6A78"/>
                </a:solidFill>
                <a:latin typeface="Aptos"/>
              </a:rPr>
              <a:t>07</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46888"/>
            <a:ext cx="3200400" cy="228600"/>
          </a:xfrm>
          <a:prstGeom prst="rect">
            <a:avLst/>
          </a:prstGeom>
          <a:noFill/>
        </p:spPr>
        <p:txBody>
          <a:bodyPr wrap="square" anchor="t">
            <a:spAutoFit/>
          </a:bodyPr>
          <a:lstStyle/>
          <a:p>
            <a:pPr algn="l">
              <a:spcBef>
                <a:spcPts val="0"/>
              </a:spcBef>
              <a:spcAft>
                <a:spcPts val="0"/>
              </a:spcAft>
            </a:pPr>
            <a:r>
              <a:rPr sz="900" b="1">
                <a:solidFill>
                  <a:srgbClr val="CAA143"/>
                </a:solidFill>
                <a:latin typeface="Aptos"/>
              </a:rPr>
              <a:t>MASAR | مسار   •   08</a:t>
            </a:r>
          </a:p>
        </p:txBody>
      </p:sp>
      <p:sp>
        <p:nvSpPr>
          <p:cNvPr id="4" name="TextBox 3"/>
          <p:cNvSpPr txBox="1"/>
          <p:nvPr/>
        </p:nvSpPr>
        <p:spPr>
          <a:xfrm>
            <a:off x="594360" y="621792"/>
            <a:ext cx="10972800" cy="594360"/>
          </a:xfrm>
          <a:prstGeom prst="rect">
            <a:avLst/>
          </a:prstGeom>
          <a:noFill/>
        </p:spPr>
        <p:txBody>
          <a:bodyPr wrap="square" anchor="t">
            <a:spAutoFit/>
          </a:bodyPr>
          <a:lstStyle/>
          <a:p>
            <a:pPr algn="l">
              <a:spcBef>
                <a:spcPts val="0"/>
              </a:spcBef>
              <a:spcAft>
                <a:spcPts val="0"/>
              </a:spcAft>
            </a:pPr>
            <a:r>
              <a:rPr sz="2800" b="1">
                <a:solidFill>
                  <a:srgbClr val="183A5B"/>
                </a:solidFill>
                <a:latin typeface="Aptos"/>
              </a:rPr>
              <a:t>Potential Joint Build</a:t>
            </a:r>
          </a:p>
        </p:txBody>
      </p:sp>
      <p:sp>
        <p:nvSpPr>
          <p:cNvPr id="5" name="TextBox 4"/>
          <p:cNvSpPr txBox="1"/>
          <p:nvPr/>
        </p:nvSpPr>
        <p:spPr>
          <a:xfrm>
            <a:off x="612648" y="1261872"/>
            <a:ext cx="10789920" cy="384048"/>
          </a:xfrm>
          <a:prstGeom prst="rect">
            <a:avLst/>
          </a:prstGeom>
          <a:noFill/>
        </p:spPr>
        <p:txBody>
          <a:bodyPr wrap="square" anchor="t">
            <a:spAutoFit/>
          </a:bodyPr>
          <a:lstStyle/>
          <a:p>
            <a:pPr algn="l">
              <a:spcBef>
                <a:spcPts val="0"/>
              </a:spcBef>
              <a:spcAft>
                <a:spcPts val="0"/>
              </a:spcAft>
            </a:pPr>
            <a:r>
              <a:rPr sz="1150" b="0">
                <a:solidFill>
                  <a:srgbClr val="5C6A78"/>
                </a:solidFill>
                <a:latin typeface="Aptos"/>
              </a:rPr>
              <a:t>A discussion framework — not a fixed technical specification.</a:t>
            </a:r>
          </a:p>
        </p:txBody>
      </p:sp>
      <p:sp>
        <p:nvSpPr>
          <p:cNvPr id="6" name="Rounded Rectangle 5"/>
          <p:cNvSpPr/>
          <p:nvPr/>
        </p:nvSpPr>
        <p:spPr>
          <a:xfrm>
            <a:off x="1097280" y="1572768"/>
            <a:ext cx="9966960" cy="530352"/>
          </a:xfrm>
          <a:prstGeom prst="roundRect">
            <a:avLst/>
          </a:prstGeom>
          <a:solidFill>
            <a:srgbClr val="FFFFFF"/>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097280" y="1572768"/>
            <a:ext cx="109728" cy="530352"/>
          </a:xfrm>
          <a:prstGeom prst="rect">
            <a:avLst/>
          </a:prstGeom>
          <a:solidFill>
            <a:srgbClr val="183A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417320" y="1682495"/>
            <a:ext cx="2148840" cy="228600"/>
          </a:xfrm>
          <a:prstGeom prst="rect">
            <a:avLst/>
          </a:prstGeom>
          <a:noFill/>
        </p:spPr>
        <p:txBody>
          <a:bodyPr wrap="square" anchor="t">
            <a:spAutoFit/>
          </a:bodyPr>
          <a:lstStyle/>
          <a:p>
            <a:pPr algn="l">
              <a:spcBef>
                <a:spcPts val="0"/>
              </a:spcBef>
              <a:spcAft>
                <a:spcPts val="0"/>
              </a:spcAft>
            </a:pPr>
            <a:r>
              <a:rPr sz="1150" b="1">
                <a:solidFill>
                  <a:srgbClr val="183A5B"/>
                </a:solidFill>
                <a:latin typeface="Aptos"/>
              </a:rPr>
              <a:t>Foundation</a:t>
            </a:r>
          </a:p>
        </p:txBody>
      </p:sp>
      <p:sp>
        <p:nvSpPr>
          <p:cNvPr id="9" name="TextBox 8"/>
          <p:cNvSpPr txBox="1"/>
          <p:nvPr/>
        </p:nvSpPr>
        <p:spPr>
          <a:xfrm>
            <a:off x="3703320" y="1682495"/>
            <a:ext cx="6903720" cy="246888"/>
          </a:xfrm>
          <a:prstGeom prst="rect">
            <a:avLst/>
          </a:prstGeom>
          <a:noFill/>
        </p:spPr>
        <p:txBody>
          <a:bodyPr wrap="square" anchor="t">
            <a:spAutoFit/>
          </a:bodyPr>
          <a:lstStyle/>
          <a:p>
            <a:pPr algn="l">
              <a:spcBef>
                <a:spcPts val="0"/>
              </a:spcBef>
              <a:spcAft>
                <a:spcPts val="0"/>
              </a:spcAft>
            </a:pPr>
            <a:r>
              <a:rPr sz="950" b="0">
                <a:solidFill>
                  <a:srgbClr val="5C6A78"/>
                </a:solidFill>
                <a:latin typeface="Aptos"/>
              </a:rPr>
              <a:t>Central database • accounts • roles • security</a:t>
            </a:r>
          </a:p>
        </p:txBody>
      </p:sp>
      <p:sp>
        <p:nvSpPr>
          <p:cNvPr id="10" name="Rounded Rectangle 9"/>
          <p:cNvSpPr/>
          <p:nvPr/>
        </p:nvSpPr>
        <p:spPr>
          <a:xfrm>
            <a:off x="1097280" y="2340864"/>
            <a:ext cx="9966960" cy="530352"/>
          </a:xfrm>
          <a:prstGeom prst="roundRect">
            <a:avLst/>
          </a:prstGeom>
          <a:solidFill>
            <a:srgbClr val="FFFFFF"/>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097280" y="2340864"/>
            <a:ext cx="109728" cy="530352"/>
          </a:xfrm>
          <a:prstGeom prst="rect">
            <a:avLst/>
          </a:prstGeom>
          <a:solidFill>
            <a:srgbClr val="1D9D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417320" y="2450592"/>
            <a:ext cx="2148840" cy="228600"/>
          </a:xfrm>
          <a:prstGeom prst="rect">
            <a:avLst/>
          </a:prstGeom>
          <a:noFill/>
        </p:spPr>
        <p:txBody>
          <a:bodyPr wrap="square" anchor="t">
            <a:spAutoFit/>
          </a:bodyPr>
          <a:lstStyle/>
          <a:p>
            <a:pPr algn="l">
              <a:spcBef>
                <a:spcPts val="0"/>
              </a:spcBef>
              <a:spcAft>
                <a:spcPts val="0"/>
              </a:spcAft>
            </a:pPr>
            <a:r>
              <a:rPr sz="1150" b="1">
                <a:solidFill>
                  <a:srgbClr val="183A5B"/>
                </a:solidFill>
                <a:latin typeface="Aptos"/>
              </a:rPr>
              <a:t>MASAR Engine</a:t>
            </a:r>
          </a:p>
        </p:txBody>
      </p:sp>
      <p:sp>
        <p:nvSpPr>
          <p:cNvPr id="13" name="TextBox 12"/>
          <p:cNvSpPr txBox="1"/>
          <p:nvPr/>
        </p:nvSpPr>
        <p:spPr>
          <a:xfrm>
            <a:off x="3703320" y="2450592"/>
            <a:ext cx="6903720" cy="246888"/>
          </a:xfrm>
          <a:prstGeom prst="rect">
            <a:avLst/>
          </a:prstGeom>
          <a:noFill/>
        </p:spPr>
        <p:txBody>
          <a:bodyPr wrap="square" anchor="t">
            <a:spAutoFit/>
          </a:bodyPr>
          <a:lstStyle/>
          <a:p>
            <a:pPr algn="l">
              <a:spcBef>
                <a:spcPts val="0"/>
              </a:spcBef>
              <a:spcAft>
                <a:spcPts val="0"/>
              </a:spcAft>
            </a:pPr>
            <a:r>
              <a:rPr sz="950" b="0">
                <a:solidFill>
                  <a:srgbClr val="5C6A78"/>
                </a:solidFill>
                <a:latin typeface="Aptos"/>
              </a:rPr>
              <a:t>Skills • profiles • diagnostics • plans • recommendations</a:t>
            </a:r>
          </a:p>
        </p:txBody>
      </p:sp>
      <p:sp>
        <p:nvSpPr>
          <p:cNvPr id="14" name="Rounded Rectangle 13"/>
          <p:cNvSpPr/>
          <p:nvPr/>
        </p:nvSpPr>
        <p:spPr>
          <a:xfrm>
            <a:off x="1097280" y="3108960"/>
            <a:ext cx="9966960" cy="530352"/>
          </a:xfrm>
          <a:prstGeom prst="roundRect">
            <a:avLst/>
          </a:prstGeom>
          <a:solidFill>
            <a:srgbClr val="FFFFFF"/>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097280" y="3108960"/>
            <a:ext cx="109728" cy="530352"/>
          </a:xfrm>
          <a:prstGeom prst="rect">
            <a:avLst/>
          </a:prstGeom>
          <a:solidFill>
            <a:srgbClr val="4C7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417320" y="3218688"/>
            <a:ext cx="2148840" cy="228600"/>
          </a:xfrm>
          <a:prstGeom prst="rect">
            <a:avLst/>
          </a:prstGeom>
          <a:noFill/>
        </p:spPr>
        <p:txBody>
          <a:bodyPr wrap="square" anchor="t">
            <a:spAutoFit/>
          </a:bodyPr>
          <a:lstStyle/>
          <a:p>
            <a:pPr algn="l">
              <a:spcBef>
                <a:spcPts val="0"/>
              </a:spcBef>
              <a:spcAft>
                <a:spcPts val="0"/>
              </a:spcAft>
            </a:pPr>
            <a:r>
              <a:rPr sz="1150" b="1">
                <a:solidFill>
                  <a:srgbClr val="183A5B"/>
                </a:solidFill>
                <a:latin typeface="Aptos"/>
              </a:rPr>
              <a:t>Product Layer</a:t>
            </a:r>
          </a:p>
        </p:txBody>
      </p:sp>
      <p:sp>
        <p:nvSpPr>
          <p:cNvPr id="17" name="TextBox 16"/>
          <p:cNvSpPr txBox="1"/>
          <p:nvPr/>
        </p:nvSpPr>
        <p:spPr>
          <a:xfrm>
            <a:off x="3703320" y="3218688"/>
            <a:ext cx="6903720" cy="246888"/>
          </a:xfrm>
          <a:prstGeom prst="rect">
            <a:avLst/>
          </a:prstGeom>
          <a:noFill/>
        </p:spPr>
        <p:txBody>
          <a:bodyPr wrap="square" anchor="t">
            <a:spAutoFit/>
          </a:bodyPr>
          <a:lstStyle/>
          <a:p>
            <a:pPr algn="l">
              <a:spcBef>
                <a:spcPts val="0"/>
              </a:spcBef>
              <a:spcAft>
                <a:spcPts val="0"/>
              </a:spcAft>
            </a:pPr>
            <a:r>
              <a:rPr sz="950" b="0">
                <a:solidFill>
                  <a:srgbClr val="5C6A78"/>
                </a:solidFill>
                <a:latin typeface="Aptos"/>
              </a:rPr>
              <a:t>Teacher • parent • student • school • professional tools</a:t>
            </a:r>
          </a:p>
        </p:txBody>
      </p:sp>
      <p:sp>
        <p:nvSpPr>
          <p:cNvPr id="18" name="Rounded Rectangle 17"/>
          <p:cNvSpPr/>
          <p:nvPr/>
        </p:nvSpPr>
        <p:spPr>
          <a:xfrm>
            <a:off x="1097280" y="3877056"/>
            <a:ext cx="9966960" cy="530352"/>
          </a:xfrm>
          <a:prstGeom prst="roundRect">
            <a:avLst/>
          </a:prstGeom>
          <a:solidFill>
            <a:srgbClr val="FFFFFF"/>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1097280" y="3877056"/>
            <a:ext cx="109728" cy="530352"/>
          </a:xfrm>
          <a:prstGeom prst="rect">
            <a:avLst/>
          </a:prstGeom>
          <a:solidFill>
            <a:srgbClr val="CAA1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417320" y="3986784"/>
            <a:ext cx="2148840" cy="228600"/>
          </a:xfrm>
          <a:prstGeom prst="rect">
            <a:avLst/>
          </a:prstGeom>
          <a:noFill/>
        </p:spPr>
        <p:txBody>
          <a:bodyPr wrap="square" anchor="t">
            <a:spAutoFit/>
          </a:bodyPr>
          <a:lstStyle/>
          <a:p>
            <a:pPr algn="l">
              <a:spcBef>
                <a:spcPts val="0"/>
              </a:spcBef>
              <a:spcAft>
                <a:spcPts val="0"/>
              </a:spcAft>
            </a:pPr>
            <a:r>
              <a:rPr sz="1150" b="1">
                <a:solidFill>
                  <a:srgbClr val="183A5B"/>
                </a:solidFill>
                <a:latin typeface="Aptos"/>
              </a:rPr>
              <a:t>Business Layer</a:t>
            </a:r>
          </a:p>
        </p:txBody>
      </p:sp>
      <p:sp>
        <p:nvSpPr>
          <p:cNvPr id="21" name="TextBox 20"/>
          <p:cNvSpPr txBox="1"/>
          <p:nvPr/>
        </p:nvSpPr>
        <p:spPr>
          <a:xfrm>
            <a:off x="3703320" y="3986784"/>
            <a:ext cx="6903720" cy="246888"/>
          </a:xfrm>
          <a:prstGeom prst="rect">
            <a:avLst/>
          </a:prstGeom>
          <a:noFill/>
        </p:spPr>
        <p:txBody>
          <a:bodyPr wrap="square" anchor="t">
            <a:spAutoFit/>
          </a:bodyPr>
          <a:lstStyle/>
          <a:p>
            <a:pPr algn="l">
              <a:spcBef>
                <a:spcPts val="0"/>
              </a:spcBef>
              <a:spcAft>
                <a:spcPts val="0"/>
              </a:spcAft>
            </a:pPr>
            <a:r>
              <a:rPr sz="950" b="0">
                <a:solidFill>
                  <a:srgbClr val="5C6A78"/>
                </a:solidFill>
                <a:latin typeface="Aptos"/>
              </a:rPr>
              <a:t>Subscriptions • licensing • reporting • payments</a:t>
            </a:r>
          </a:p>
        </p:txBody>
      </p:sp>
      <p:sp>
        <p:nvSpPr>
          <p:cNvPr id="22" name="Rounded Rectangle 21"/>
          <p:cNvSpPr/>
          <p:nvPr/>
        </p:nvSpPr>
        <p:spPr>
          <a:xfrm>
            <a:off x="1097280" y="4645152"/>
            <a:ext cx="9966960" cy="530352"/>
          </a:xfrm>
          <a:prstGeom prst="roundRect">
            <a:avLst/>
          </a:prstGeom>
          <a:solidFill>
            <a:srgbClr val="FFFFFF"/>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1097280" y="4645152"/>
            <a:ext cx="109728" cy="530352"/>
          </a:xfrm>
          <a:prstGeom prst="rect">
            <a:avLst/>
          </a:prstGeom>
          <a:solidFill>
            <a:srgbClr val="1D9D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417320" y="4754880"/>
            <a:ext cx="2148840" cy="228600"/>
          </a:xfrm>
          <a:prstGeom prst="rect">
            <a:avLst/>
          </a:prstGeom>
          <a:noFill/>
        </p:spPr>
        <p:txBody>
          <a:bodyPr wrap="square" anchor="t">
            <a:spAutoFit/>
          </a:bodyPr>
          <a:lstStyle/>
          <a:p>
            <a:pPr algn="l">
              <a:spcBef>
                <a:spcPts val="0"/>
              </a:spcBef>
              <a:spcAft>
                <a:spcPts val="0"/>
              </a:spcAft>
            </a:pPr>
            <a:r>
              <a:rPr sz="1150" b="1">
                <a:solidFill>
                  <a:srgbClr val="183A5B"/>
                </a:solidFill>
                <a:latin typeface="Aptos"/>
              </a:rPr>
              <a:t>Scale Layer</a:t>
            </a:r>
          </a:p>
        </p:txBody>
      </p:sp>
      <p:sp>
        <p:nvSpPr>
          <p:cNvPr id="25" name="TextBox 24"/>
          <p:cNvSpPr txBox="1"/>
          <p:nvPr/>
        </p:nvSpPr>
        <p:spPr>
          <a:xfrm>
            <a:off x="3703320" y="4754880"/>
            <a:ext cx="6903720" cy="246888"/>
          </a:xfrm>
          <a:prstGeom prst="rect">
            <a:avLst/>
          </a:prstGeom>
          <a:noFill/>
        </p:spPr>
        <p:txBody>
          <a:bodyPr wrap="square" anchor="t">
            <a:spAutoFit/>
          </a:bodyPr>
          <a:lstStyle/>
          <a:p>
            <a:pPr algn="l">
              <a:spcBef>
                <a:spcPts val="0"/>
              </a:spcBef>
              <a:spcAft>
                <a:spcPts val="0"/>
              </a:spcAft>
            </a:pPr>
            <a:r>
              <a:rPr sz="950" b="0">
                <a:solidFill>
                  <a:srgbClr val="5C6A78"/>
                </a:solidFill>
                <a:latin typeface="Aptos"/>
              </a:rPr>
              <a:t>APIs • integrations • analytics • Arabic/English readiness</a:t>
            </a:r>
          </a:p>
        </p:txBody>
      </p:sp>
      <p:sp>
        <p:nvSpPr>
          <p:cNvPr id="26" name="TextBox 25"/>
          <p:cNvSpPr txBox="1"/>
          <p:nvPr/>
        </p:nvSpPr>
        <p:spPr>
          <a:xfrm>
            <a:off x="1097280" y="5806440"/>
            <a:ext cx="9966960" cy="347472"/>
          </a:xfrm>
          <a:prstGeom prst="rect">
            <a:avLst/>
          </a:prstGeom>
          <a:noFill/>
        </p:spPr>
        <p:txBody>
          <a:bodyPr wrap="square" anchor="t">
            <a:spAutoFit/>
          </a:bodyPr>
          <a:lstStyle/>
          <a:p>
            <a:pPr algn="ctr">
              <a:spcBef>
                <a:spcPts val="0"/>
              </a:spcBef>
              <a:spcAft>
                <a:spcPts val="0"/>
              </a:spcAft>
            </a:pPr>
            <a:r>
              <a:rPr sz="1250" b="1">
                <a:solidFill>
                  <a:srgbClr val="183A5B"/>
                </a:solidFill>
                <a:latin typeface="Aptos"/>
              </a:rPr>
              <a:t>The final architecture, sequence and scope should be shaped jointly after discovery.</a:t>
            </a:r>
          </a:p>
        </p:txBody>
      </p:sp>
      <p:sp>
        <p:nvSpPr>
          <p:cNvPr id="27" name="TextBox 26"/>
          <p:cNvSpPr txBox="1"/>
          <p:nvPr/>
        </p:nvSpPr>
        <p:spPr>
          <a:xfrm>
            <a:off x="566928" y="6473952"/>
            <a:ext cx="1828800" cy="182880"/>
          </a:xfrm>
          <a:prstGeom prst="rect">
            <a:avLst/>
          </a:prstGeom>
          <a:noFill/>
        </p:spPr>
        <p:txBody>
          <a:bodyPr wrap="square" anchor="t">
            <a:spAutoFit/>
          </a:bodyPr>
          <a:lstStyle/>
          <a:p>
            <a:pPr algn="l">
              <a:spcBef>
                <a:spcPts val="0"/>
              </a:spcBef>
              <a:spcAft>
                <a:spcPts val="0"/>
              </a:spcAft>
            </a:pPr>
            <a:r>
              <a:rPr sz="800" b="1">
                <a:solidFill>
                  <a:srgbClr val="183A5B"/>
                </a:solidFill>
                <a:latin typeface="Aptos"/>
              </a:rPr>
              <a:t>MASAR | مسار</a:t>
            </a:r>
          </a:p>
        </p:txBody>
      </p:sp>
      <p:sp>
        <p:nvSpPr>
          <p:cNvPr id="28" name="TextBox 27"/>
          <p:cNvSpPr txBox="1"/>
          <p:nvPr/>
        </p:nvSpPr>
        <p:spPr>
          <a:xfrm>
            <a:off x="11109960" y="6473952"/>
            <a:ext cx="502920" cy="182880"/>
          </a:xfrm>
          <a:prstGeom prst="rect">
            <a:avLst/>
          </a:prstGeom>
          <a:noFill/>
        </p:spPr>
        <p:txBody>
          <a:bodyPr wrap="square" anchor="t">
            <a:spAutoFit/>
          </a:bodyPr>
          <a:lstStyle/>
          <a:p>
            <a:pPr algn="r">
              <a:spcBef>
                <a:spcPts val="0"/>
              </a:spcBef>
              <a:spcAft>
                <a:spcPts val="0"/>
              </a:spcAft>
            </a:pPr>
            <a:r>
              <a:rPr sz="800" b="1">
                <a:solidFill>
                  <a:srgbClr val="5C6A78"/>
                </a:solidFill>
                <a:latin typeface="Aptos"/>
              </a:rPr>
              <a:t>08</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46888"/>
            <a:ext cx="3200400" cy="228600"/>
          </a:xfrm>
          <a:prstGeom prst="rect">
            <a:avLst/>
          </a:prstGeom>
          <a:noFill/>
        </p:spPr>
        <p:txBody>
          <a:bodyPr wrap="square" anchor="t">
            <a:spAutoFit/>
          </a:bodyPr>
          <a:lstStyle/>
          <a:p>
            <a:pPr algn="l">
              <a:spcBef>
                <a:spcPts val="0"/>
              </a:spcBef>
              <a:spcAft>
                <a:spcPts val="0"/>
              </a:spcAft>
            </a:pPr>
            <a:r>
              <a:rPr sz="900" b="1">
                <a:solidFill>
                  <a:srgbClr val="CAA143"/>
                </a:solidFill>
                <a:latin typeface="Aptos"/>
              </a:rPr>
              <a:t>MASAR | مسار   •   09</a:t>
            </a:r>
          </a:p>
        </p:txBody>
      </p:sp>
      <p:sp>
        <p:nvSpPr>
          <p:cNvPr id="4" name="TextBox 3"/>
          <p:cNvSpPr txBox="1"/>
          <p:nvPr/>
        </p:nvSpPr>
        <p:spPr>
          <a:xfrm>
            <a:off x="594360" y="621792"/>
            <a:ext cx="10972800" cy="594360"/>
          </a:xfrm>
          <a:prstGeom prst="rect">
            <a:avLst/>
          </a:prstGeom>
          <a:noFill/>
        </p:spPr>
        <p:txBody>
          <a:bodyPr wrap="square" anchor="t">
            <a:spAutoFit/>
          </a:bodyPr>
          <a:lstStyle/>
          <a:p>
            <a:pPr algn="l">
              <a:spcBef>
                <a:spcPts val="0"/>
              </a:spcBef>
              <a:spcAft>
                <a:spcPts val="0"/>
              </a:spcAft>
            </a:pPr>
            <a:r>
              <a:rPr sz="2800" b="1">
                <a:solidFill>
                  <a:srgbClr val="183A5B"/>
                </a:solidFill>
                <a:latin typeface="Aptos"/>
              </a:rPr>
              <a:t>Potential Areas of Collaboration</a:t>
            </a:r>
          </a:p>
        </p:txBody>
      </p:sp>
      <p:sp>
        <p:nvSpPr>
          <p:cNvPr id="5" name="TextBox 4"/>
          <p:cNvSpPr txBox="1"/>
          <p:nvPr/>
        </p:nvSpPr>
        <p:spPr>
          <a:xfrm>
            <a:off x="612648" y="1261872"/>
            <a:ext cx="10789920" cy="384048"/>
          </a:xfrm>
          <a:prstGeom prst="rect">
            <a:avLst/>
          </a:prstGeom>
          <a:noFill/>
        </p:spPr>
        <p:txBody>
          <a:bodyPr wrap="square" anchor="t">
            <a:spAutoFit/>
          </a:bodyPr>
          <a:lstStyle/>
          <a:p>
            <a:pPr algn="l">
              <a:spcBef>
                <a:spcPts val="0"/>
              </a:spcBef>
              <a:spcAft>
                <a:spcPts val="0"/>
              </a:spcAft>
            </a:pPr>
            <a:r>
              <a:rPr sz="1150" b="0">
                <a:solidFill>
                  <a:srgbClr val="5C6A78"/>
                </a:solidFill>
                <a:latin typeface="Aptos"/>
              </a:rPr>
              <a:t>The conversation can be wider than software development.</a:t>
            </a:r>
          </a:p>
        </p:txBody>
      </p:sp>
      <p:sp>
        <p:nvSpPr>
          <p:cNvPr id="6" name="Rounded Rectangle 5"/>
          <p:cNvSpPr/>
          <p:nvPr/>
        </p:nvSpPr>
        <p:spPr>
          <a:xfrm>
            <a:off x="594360" y="1737360"/>
            <a:ext cx="3493008" cy="1481328"/>
          </a:xfrm>
          <a:prstGeom prst="roundRect">
            <a:avLst/>
          </a:prstGeom>
          <a:solidFill>
            <a:srgbClr val="F6F9FB"/>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94360" y="1737360"/>
            <a:ext cx="50292" cy="1481328"/>
          </a:xfrm>
          <a:prstGeom prst="rect">
            <a:avLst/>
          </a:prstGeom>
          <a:solidFill>
            <a:srgbClr val="1D9D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95528" y="1901952"/>
            <a:ext cx="3108960" cy="347472"/>
          </a:xfrm>
          <a:prstGeom prst="rect">
            <a:avLst/>
          </a:prstGeom>
          <a:noFill/>
        </p:spPr>
        <p:txBody>
          <a:bodyPr wrap="square" anchor="t">
            <a:spAutoFit/>
          </a:bodyPr>
          <a:lstStyle/>
          <a:p>
            <a:pPr algn="l">
              <a:spcBef>
                <a:spcPts val="0"/>
              </a:spcBef>
              <a:spcAft>
                <a:spcPts val="0"/>
              </a:spcAft>
            </a:pPr>
            <a:r>
              <a:rPr sz="1300" b="1">
                <a:solidFill>
                  <a:srgbClr val="183A5B"/>
                </a:solidFill>
                <a:latin typeface="Aptos"/>
              </a:rPr>
              <a:t>Product &amp; UX</a:t>
            </a:r>
          </a:p>
        </p:txBody>
      </p:sp>
      <p:sp>
        <p:nvSpPr>
          <p:cNvPr id="9" name="TextBox 8"/>
          <p:cNvSpPr txBox="1"/>
          <p:nvPr/>
        </p:nvSpPr>
        <p:spPr>
          <a:xfrm>
            <a:off x="795528" y="2377439"/>
            <a:ext cx="3108960" cy="713232"/>
          </a:xfrm>
          <a:prstGeom prst="rect">
            <a:avLst/>
          </a:prstGeom>
          <a:noFill/>
        </p:spPr>
        <p:txBody>
          <a:bodyPr wrap="square" anchor="t">
            <a:spAutoFit/>
          </a:bodyPr>
          <a:lstStyle/>
          <a:p>
            <a:pPr algn="l">
              <a:spcBef>
                <a:spcPts val="0"/>
              </a:spcBef>
              <a:spcAft>
                <a:spcPts val="0"/>
              </a:spcAft>
            </a:pPr>
            <a:r>
              <a:rPr sz="969" b="0">
                <a:solidFill>
                  <a:srgbClr val="5C6A78"/>
                </a:solidFill>
                <a:latin typeface="Aptos"/>
              </a:rPr>
              <a:t>Turn selected MASAR assets into clear, buyer-ready products.</a:t>
            </a:r>
          </a:p>
        </p:txBody>
      </p:sp>
      <p:sp>
        <p:nvSpPr>
          <p:cNvPr id="10" name="Rounded Rectangle 9"/>
          <p:cNvSpPr/>
          <p:nvPr/>
        </p:nvSpPr>
        <p:spPr>
          <a:xfrm>
            <a:off x="4434840" y="1737360"/>
            <a:ext cx="3493008" cy="1481328"/>
          </a:xfrm>
          <a:prstGeom prst="roundRect">
            <a:avLst/>
          </a:prstGeom>
          <a:solidFill>
            <a:srgbClr val="F6F9FB"/>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434840" y="1737360"/>
            <a:ext cx="50292" cy="1481328"/>
          </a:xfrm>
          <a:prstGeom prst="rect">
            <a:avLst/>
          </a:prstGeom>
          <a:solidFill>
            <a:srgbClr val="4C7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36008" y="1901952"/>
            <a:ext cx="3108960" cy="347472"/>
          </a:xfrm>
          <a:prstGeom prst="rect">
            <a:avLst/>
          </a:prstGeom>
          <a:noFill/>
        </p:spPr>
        <p:txBody>
          <a:bodyPr wrap="square" anchor="t">
            <a:spAutoFit/>
          </a:bodyPr>
          <a:lstStyle/>
          <a:p>
            <a:pPr algn="l">
              <a:spcBef>
                <a:spcPts val="0"/>
              </a:spcBef>
              <a:spcAft>
                <a:spcPts val="0"/>
              </a:spcAft>
            </a:pPr>
            <a:r>
              <a:rPr sz="1300" b="1">
                <a:solidFill>
                  <a:srgbClr val="183A5B"/>
                </a:solidFill>
                <a:latin typeface="Aptos"/>
              </a:rPr>
              <a:t>Technology</a:t>
            </a:r>
          </a:p>
        </p:txBody>
      </p:sp>
      <p:sp>
        <p:nvSpPr>
          <p:cNvPr id="13" name="TextBox 12"/>
          <p:cNvSpPr txBox="1"/>
          <p:nvPr/>
        </p:nvSpPr>
        <p:spPr>
          <a:xfrm>
            <a:off x="4636008" y="2377439"/>
            <a:ext cx="3108960" cy="713232"/>
          </a:xfrm>
          <a:prstGeom prst="rect">
            <a:avLst/>
          </a:prstGeom>
          <a:noFill/>
        </p:spPr>
        <p:txBody>
          <a:bodyPr wrap="square" anchor="t">
            <a:spAutoFit/>
          </a:bodyPr>
          <a:lstStyle/>
          <a:p>
            <a:pPr algn="l">
              <a:spcBef>
                <a:spcPts val="0"/>
              </a:spcBef>
              <a:spcAft>
                <a:spcPts val="0"/>
              </a:spcAft>
            </a:pPr>
            <a:r>
              <a:rPr sz="969" b="0">
                <a:solidFill>
                  <a:srgbClr val="5C6A78"/>
                </a:solidFill>
                <a:latin typeface="Aptos"/>
              </a:rPr>
              <a:t>Architecture, database, integrations, automation and scalable delivery.</a:t>
            </a:r>
          </a:p>
        </p:txBody>
      </p:sp>
      <p:sp>
        <p:nvSpPr>
          <p:cNvPr id="14" name="Rounded Rectangle 13"/>
          <p:cNvSpPr/>
          <p:nvPr/>
        </p:nvSpPr>
        <p:spPr>
          <a:xfrm>
            <a:off x="8275320" y="1737360"/>
            <a:ext cx="3493008" cy="1481328"/>
          </a:xfrm>
          <a:prstGeom prst="roundRect">
            <a:avLst/>
          </a:prstGeom>
          <a:solidFill>
            <a:srgbClr val="F6F9FB"/>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275320" y="1737360"/>
            <a:ext cx="50292" cy="1481328"/>
          </a:xfrm>
          <a:prstGeom prst="rect">
            <a:avLst/>
          </a:prstGeom>
          <a:solidFill>
            <a:srgbClr val="CAA1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76488" y="1901952"/>
            <a:ext cx="3108960" cy="347472"/>
          </a:xfrm>
          <a:prstGeom prst="rect">
            <a:avLst/>
          </a:prstGeom>
          <a:noFill/>
        </p:spPr>
        <p:txBody>
          <a:bodyPr wrap="square" anchor="t">
            <a:spAutoFit/>
          </a:bodyPr>
          <a:lstStyle/>
          <a:p>
            <a:pPr algn="l">
              <a:spcBef>
                <a:spcPts val="0"/>
              </a:spcBef>
              <a:spcAft>
                <a:spcPts val="0"/>
              </a:spcAft>
            </a:pPr>
            <a:r>
              <a:rPr sz="1300" b="1">
                <a:solidFill>
                  <a:srgbClr val="183A5B"/>
                </a:solidFill>
                <a:latin typeface="Aptos"/>
              </a:rPr>
              <a:t>Digital Presence</a:t>
            </a:r>
          </a:p>
        </p:txBody>
      </p:sp>
      <p:sp>
        <p:nvSpPr>
          <p:cNvPr id="17" name="TextBox 16"/>
          <p:cNvSpPr txBox="1"/>
          <p:nvPr/>
        </p:nvSpPr>
        <p:spPr>
          <a:xfrm>
            <a:off x="8476488" y="2377439"/>
            <a:ext cx="3108960" cy="713232"/>
          </a:xfrm>
          <a:prstGeom prst="rect">
            <a:avLst/>
          </a:prstGeom>
          <a:noFill/>
        </p:spPr>
        <p:txBody>
          <a:bodyPr wrap="square" anchor="t">
            <a:spAutoFit/>
          </a:bodyPr>
          <a:lstStyle/>
          <a:p>
            <a:pPr algn="l">
              <a:spcBef>
                <a:spcPts val="0"/>
              </a:spcBef>
              <a:spcAft>
                <a:spcPts val="0"/>
              </a:spcAft>
            </a:pPr>
            <a:r>
              <a:rPr sz="969" b="0">
                <a:solidFill>
                  <a:srgbClr val="5C6A78"/>
                </a:solidFill>
                <a:latin typeface="Aptos"/>
              </a:rPr>
              <a:t>Website, product pages, conversion paths and analytics.</a:t>
            </a:r>
          </a:p>
        </p:txBody>
      </p:sp>
      <p:sp>
        <p:nvSpPr>
          <p:cNvPr id="18" name="Rounded Rectangle 17"/>
          <p:cNvSpPr/>
          <p:nvPr/>
        </p:nvSpPr>
        <p:spPr>
          <a:xfrm>
            <a:off x="594360" y="3566160"/>
            <a:ext cx="3493008" cy="1481328"/>
          </a:xfrm>
          <a:prstGeom prst="roundRect">
            <a:avLst/>
          </a:prstGeom>
          <a:solidFill>
            <a:srgbClr val="F6F9FB"/>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94360" y="3566160"/>
            <a:ext cx="50292" cy="1481328"/>
          </a:xfrm>
          <a:prstGeom prst="rect">
            <a:avLst/>
          </a:prstGeom>
          <a:solidFill>
            <a:srgbClr val="1D9D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95528" y="3730752"/>
            <a:ext cx="3108960" cy="347472"/>
          </a:xfrm>
          <a:prstGeom prst="rect">
            <a:avLst/>
          </a:prstGeom>
          <a:noFill/>
        </p:spPr>
        <p:txBody>
          <a:bodyPr wrap="square" anchor="t">
            <a:spAutoFit/>
          </a:bodyPr>
          <a:lstStyle/>
          <a:p>
            <a:pPr algn="l">
              <a:spcBef>
                <a:spcPts val="0"/>
              </a:spcBef>
              <a:spcAft>
                <a:spcPts val="0"/>
              </a:spcAft>
            </a:pPr>
            <a:r>
              <a:rPr sz="1300" b="1">
                <a:solidFill>
                  <a:srgbClr val="183A5B"/>
                </a:solidFill>
                <a:latin typeface="Aptos"/>
              </a:rPr>
              <a:t>Go-to-Market</a:t>
            </a:r>
          </a:p>
        </p:txBody>
      </p:sp>
      <p:sp>
        <p:nvSpPr>
          <p:cNvPr id="21" name="TextBox 20"/>
          <p:cNvSpPr txBox="1"/>
          <p:nvPr/>
        </p:nvSpPr>
        <p:spPr>
          <a:xfrm>
            <a:off x="795528" y="4206240"/>
            <a:ext cx="3108960" cy="713232"/>
          </a:xfrm>
          <a:prstGeom prst="rect">
            <a:avLst/>
          </a:prstGeom>
          <a:noFill/>
        </p:spPr>
        <p:txBody>
          <a:bodyPr wrap="square" anchor="t">
            <a:spAutoFit/>
          </a:bodyPr>
          <a:lstStyle/>
          <a:p>
            <a:pPr algn="l">
              <a:spcBef>
                <a:spcPts val="0"/>
              </a:spcBef>
              <a:spcAft>
                <a:spcPts val="0"/>
              </a:spcAft>
            </a:pPr>
            <a:r>
              <a:rPr sz="969" b="0">
                <a:solidFill>
                  <a:srgbClr val="5C6A78"/>
                </a:solidFill>
                <a:latin typeface="Aptos"/>
              </a:rPr>
              <a:t>B2B outreach, digital campaigns, partnerships and market testing.</a:t>
            </a:r>
          </a:p>
        </p:txBody>
      </p:sp>
      <p:sp>
        <p:nvSpPr>
          <p:cNvPr id="22" name="Rounded Rectangle 21"/>
          <p:cNvSpPr/>
          <p:nvPr/>
        </p:nvSpPr>
        <p:spPr>
          <a:xfrm>
            <a:off x="4434840" y="3566160"/>
            <a:ext cx="3493008" cy="1481328"/>
          </a:xfrm>
          <a:prstGeom prst="roundRect">
            <a:avLst/>
          </a:prstGeom>
          <a:solidFill>
            <a:srgbClr val="F6F9FB"/>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434840" y="3566160"/>
            <a:ext cx="50292" cy="1481328"/>
          </a:xfrm>
          <a:prstGeom prst="rect">
            <a:avLst/>
          </a:prstGeom>
          <a:solidFill>
            <a:srgbClr val="4C7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636008" y="3730752"/>
            <a:ext cx="3108960" cy="347472"/>
          </a:xfrm>
          <a:prstGeom prst="rect">
            <a:avLst/>
          </a:prstGeom>
          <a:noFill/>
        </p:spPr>
        <p:txBody>
          <a:bodyPr wrap="square" anchor="t">
            <a:spAutoFit/>
          </a:bodyPr>
          <a:lstStyle/>
          <a:p>
            <a:pPr algn="l">
              <a:spcBef>
                <a:spcPts val="0"/>
              </a:spcBef>
              <a:spcAft>
                <a:spcPts val="0"/>
              </a:spcAft>
            </a:pPr>
            <a:r>
              <a:rPr sz="1300" b="1">
                <a:solidFill>
                  <a:srgbClr val="183A5B"/>
                </a:solidFill>
                <a:latin typeface="Aptos"/>
              </a:rPr>
              <a:t>Content Production</a:t>
            </a:r>
          </a:p>
        </p:txBody>
      </p:sp>
      <p:sp>
        <p:nvSpPr>
          <p:cNvPr id="25" name="TextBox 24"/>
          <p:cNvSpPr txBox="1"/>
          <p:nvPr/>
        </p:nvSpPr>
        <p:spPr>
          <a:xfrm>
            <a:off x="4636008" y="4206240"/>
            <a:ext cx="3108960" cy="713232"/>
          </a:xfrm>
          <a:prstGeom prst="rect">
            <a:avLst/>
          </a:prstGeom>
          <a:noFill/>
        </p:spPr>
        <p:txBody>
          <a:bodyPr wrap="square" anchor="t">
            <a:spAutoFit/>
          </a:bodyPr>
          <a:lstStyle/>
          <a:p>
            <a:pPr algn="l">
              <a:spcBef>
                <a:spcPts val="0"/>
              </a:spcBef>
              <a:spcAft>
                <a:spcPts val="0"/>
              </a:spcAft>
            </a:pPr>
            <a:r>
              <a:rPr sz="969" b="0">
                <a:solidFill>
                  <a:srgbClr val="5C6A78"/>
                </a:solidFill>
                <a:latin typeface="Aptos"/>
              </a:rPr>
              <a:t>Support selected digital/print product lines where relevant.</a:t>
            </a:r>
          </a:p>
        </p:txBody>
      </p:sp>
      <p:sp>
        <p:nvSpPr>
          <p:cNvPr id="26" name="Rounded Rectangle 25"/>
          <p:cNvSpPr/>
          <p:nvPr/>
        </p:nvSpPr>
        <p:spPr>
          <a:xfrm>
            <a:off x="8275320" y="3566160"/>
            <a:ext cx="3493008" cy="1481328"/>
          </a:xfrm>
          <a:prstGeom prst="roundRect">
            <a:avLst/>
          </a:prstGeom>
          <a:solidFill>
            <a:srgbClr val="F6F9FB"/>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275320" y="3566160"/>
            <a:ext cx="50292" cy="1481328"/>
          </a:xfrm>
          <a:prstGeom prst="rect">
            <a:avLst/>
          </a:prstGeom>
          <a:solidFill>
            <a:srgbClr val="CAA1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476488" y="3730752"/>
            <a:ext cx="3108960" cy="347472"/>
          </a:xfrm>
          <a:prstGeom prst="rect">
            <a:avLst/>
          </a:prstGeom>
          <a:noFill/>
        </p:spPr>
        <p:txBody>
          <a:bodyPr wrap="square" anchor="t">
            <a:spAutoFit/>
          </a:bodyPr>
          <a:lstStyle/>
          <a:p>
            <a:pPr algn="l">
              <a:spcBef>
                <a:spcPts val="0"/>
              </a:spcBef>
              <a:spcAft>
                <a:spcPts val="0"/>
              </a:spcAft>
            </a:pPr>
            <a:r>
              <a:rPr sz="1300" b="1">
                <a:solidFill>
                  <a:srgbClr val="183A5B"/>
                </a:solidFill>
                <a:latin typeface="Aptos"/>
              </a:rPr>
              <a:t>International Readiness</a:t>
            </a:r>
          </a:p>
        </p:txBody>
      </p:sp>
      <p:sp>
        <p:nvSpPr>
          <p:cNvPr id="29" name="TextBox 28"/>
          <p:cNvSpPr txBox="1"/>
          <p:nvPr/>
        </p:nvSpPr>
        <p:spPr>
          <a:xfrm>
            <a:off x="8476488" y="4206240"/>
            <a:ext cx="3108960" cy="713232"/>
          </a:xfrm>
          <a:prstGeom prst="rect">
            <a:avLst/>
          </a:prstGeom>
          <a:noFill/>
        </p:spPr>
        <p:txBody>
          <a:bodyPr wrap="square" anchor="t">
            <a:spAutoFit/>
          </a:bodyPr>
          <a:lstStyle/>
          <a:p>
            <a:pPr algn="l">
              <a:spcBef>
                <a:spcPts val="0"/>
              </a:spcBef>
              <a:spcAft>
                <a:spcPts val="0"/>
              </a:spcAft>
            </a:pPr>
            <a:r>
              <a:rPr sz="969" b="0">
                <a:solidFill>
                  <a:srgbClr val="5C6A78"/>
                </a:solidFill>
                <a:latin typeface="Aptos"/>
              </a:rPr>
              <a:t>Prepare selected products for English and wider markets over time.</a:t>
            </a:r>
          </a:p>
        </p:txBody>
      </p:sp>
      <p:sp>
        <p:nvSpPr>
          <p:cNvPr id="30" name="TextBox 29"/>
          <p:cNvSpPr txBox="1"/>
          <p:nvPr/>
        </p:nvSpPr>
        <p:spPr>
          <a:xfrm>
            <a:off x="914400" y="5577840"/>
            <a:ext cx="10332720" cy="347472"/>
          </a:xfrm>
          <a:prstGeom prst="rect">
            <a:avLst/>
          </a:prstGeom>
          <a:noFill/>
        </p:spPr>
        <p:txBody>
          <a:bodyPr wrap="square" anchor="t">
            <a:spAutoFit/>
          </a:bodyPr>
          <a:lstStyle/>
          <a:p>
            <a:pPr algn="ctr">
              <a:spcBef>
                <a:spcPts val="0"/>
              </a:spcBef>
              <a:spcAft>
                <a:spcPts val="0"/>
              </a:spcAft>
            </a:pPr>
            <a:r>
              <a:rPr sz="1200" b="1">
                <a:solidFill>
                  <a:srgbClr val="5C6A78"/>
                </a:solidFill>
                <a:latin typeface="Aptos"/>
              </a:rPr>
              <a:t>Not every area needs to be part of the partnership. Priorities should emerge from the discussion.</a:t>
            </a:r>
          </a:p>
        </p:txBody>
      </p:sp>
      <p:sp>
        <p:nvSpPr>
          <p:cNvPr id="31" name="TextBox 30"/>
          <p:cNvSpPr txBox="1"/>
          <p:nvPr/>
        </p:nvSpPr>
        <p:spPr>
          <a:xfrm>
            <a:off x="566928" y="6473952"/>
            <a:ext cx="1828800" cy="182880"/>
          </a:xfrm>
          <a:prstGeom prst="rect">
            <a:avLst/>
          </a:prstGeom>
          <a:noFill/>
        </p:spPr>
        <p:txBody>
          <a:bodyPr wrap="square" anchor="t">
            <a:spAutoFit/>
          </a:bodyPr>
          <a:lstStyle/>
          <a:p>
            <a:pPr algn="l">
              <a:spcBef>
                <a:spcPts val="0"/>
              </a:spcBef>
              <a:spcAft>
                <a:spcPts val="0"/>
              </a:spcAft>
            </a:pPr>
            <a:r>
              <a:rPr sz="800" b="1">
                <a:solidFill>
                  <a:srgbClr val="183A5B"/>
                </a:solidFill>
                <a:latin typeface="Aptos"/>
              </a:rPr>
              <a:t>MASAR | مسار</a:t>
            </a:r>
          </a:p>
        </p:txBody>
      </p:sp>
      <p:sp>
        <p:nvSpPr>
          <p:cNvPr id="32" name="TextBox 31"/>
          <p:cNvSpPr txBox="1"/>
          <p:nvPr/>
        </p:nvSpPr>
        <p:spPr>
          <a:xfrm>
            <a:off x="11109960" y="6473952"/>
            <a:ext cx="502920" cy="182880"/>
          </a:xfrm>
          <a:prstGeom prst="rect">
            <a:avLst/>
          </a:prstGeom>
          <a:noFill/>
        </p:spPr>
        <p:txBody>
          <a:bodyPr wrap="square" anchor="t">
            <a:spAutoFit/>
          </a:bodyPr>
          <a:lstStyle/>
          <a:p>
            <a:pPr algn="r">
              <a:spcBef>
                <a:spcPts val="0"/>
              </a:spcBef>
              <a:spcAft>
                <a:spcPts val="0"/>
              </a:spcAft>
            </a:pPr>
            <a:r>
              <a:rPr sz="800" b="1">
                <a:solidFill>
                  <a:srgbClr val="5C6A78"/>
                </a:solidFill>
                <a:latin typeface="Aptos"/>
              </a:rPr>
              <a:t>09</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46888"/>
            <a:ext cx="3200400" cy="228600"/>
          </a:xfrm>
          <a:prstGeom prst="rect">
            <a:avLst/>
          </a:prstGeom>
          <a:noFill/>
        </p:spPr>
        <p:txBody>
          <a:bodyPr wrap="square" anchor="t">
            <a:spAutoFit/>
          </a:bodyPr>
          <a:lstStyle/>
          <a:p>
            <a:pPr algn="l">
              <a:spcBef>
                <a:spcPts val="0"/>
              </a:spcBef>
              <a:spcAft>
                <a:spcPts val="0"/>
              </a:spcAft>
            </a:pPr>
            <a:r>
              <a:rPr sz="900" b="1">
                <a:solidFill>
                  <a:srgbClr val="CAA143"/>
                </a:solidFill>
                <a:latin typeface="Aptos"/>
              </a:rPr>
              <a:t>MASAR | مسار   •   10</a:t>
            </a:r>
          </a:p>
        </p:txBody>
      </p:sp>
      <p:sp>
        <p:nvSpPr>
          <p:cNvPr id="4" name="TextBox 3"/>
          <p:cNvSpPr txBox="1"/>
          <p:nvPr/>
        </p:nvSpPr>
        <p:spPr>
          <a:xfrm>
            <a:off x="594360" y="621792"/>
            <a:ext cx="10972800" cy="594360"/>
          </a:xfrm>
          <a:prstGeom prst="rect">
            <a:avLst/>
          </a:prstGeom>
          <a:noFill/>
        </p:spPr>
        <p:txBody>
          <a:bodyPr wrap="square" anchor="t">
            <a:spAutoFit/>
          </a:bodyPr>
          <a:lstStyle/>
          <a:p>
            <a:pPr algn="l">
              <a:spcBef>
                <a:spcPts val="0"/>
              </a:spcBef>
              <a:spcAft>
                <a:spcPts val="0"/>
              </a:spcAft>
            </a:pPr>
            <a:r>
              <a:rPr sz="2800" b="1">
                <a:solidFill>
                  <a:srgbClr val="183A5B"/>
                </a:solidFill>
                <a:latin typeface="Aptos"/>
              </a:rPr>
              <a:t>The Commercial Opportunity</a:t>
            </a:r>
          </a:p>
        </p:txBody>
      </p:sp>
      <p:sp>
        <p:nvSpPr>
          <p:cNvPr id="5" name="TextBox 4"/>
          <p:cNvSpPr txBox="1"/>
          <p:nvPr/>
        </p:nvSpPr>
        <p:spPr>
          <a:xfrm>
            <a:off x="612648" y="1261872"/>
            <a:ext cx="10789920" cy="384048"/>
          </a:xfrm>
          <a:prstGeom prst="rect">
            <a:avLst/>
          </a:prstGeom>
          <a:noFill/>
        </p:spPr>
        <p:txBody>
          <a:bodyPr wrap="square" anchor="t">
            <a:spAutoFit/>
          </a:bodyPr>
          <a:lstStyle/>
          <a:p>
            <a:pPr algn="l">
              <a:spcBef>
                <a:spcPts val="0"/>
              </a:spcBef>
              <a:spcAft>
                <a:spcPts val="0"/>
              </a:spcAft>
            </a:pPr>
            <a:r>
              <a:rPr sz="1150" b="0">
                <a:solidFill>
                  <a:srgbClr val="5C6A78"/>
                </a:solidFill>
                <a:latin typeface="Aptos"/>
              </a:rPr>
              <a:t>Build around real buyers and validated demand — not technology for its own sake.</a:t>
            </a:r>
          </a:p>
        </p:txBody>
      </p:sp>
      <p:sp>
        <p:nvSpPr>
          <p:cNvPr id="6" name="Oval 5"/>
          <p:cNvSpPr/>
          <p:nvPr/>
        </p:nvSpPr>
        <p:spPr>
          <a:xfrm>
            <a:off x="713232" y="1673352"/>
            <a:ext cx="457200" cy="457200"/>
          </a:xfrm>
          <a:prstGeom prst="ellipse">
            <a:avLst/>
          </a:prstGeom>
          <a:solidFill>
            <a:srgbClr val="1D9D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58952" y="1673352"/>
            <a:ext cx="365760" cy="457200"/>
          </a:xfrm>
          <a:prstGeom prst="rect">
            <a:avLst/>
          </a:prstGeom>
          <a:noFill/>
        </p:spPr>
        <p:txBody>
          <a:bodyPr wrap="square" anchor="ctr">
            <a:spAutoFit/>
          </a:bodyPr>
          <a:lstStyle/>
          <a:p>
            <a:pPr algn="ctr">
              <a:spcBef>
                <a:spcPts val="0"/>
              </a:spcBef>
              <a:spcAft>
                <a:spcPts val="0"/>
              </a:spcAft>
            </a:pPr>
            <a:r>
              <a:rPr sz="750" b="1">
                <a:solidFill>
                  <a:srgbClr val="FFFFFF"/>
                </a:solidFill>
                <a:latin typeface="Aptos"/>
              </a:rPr>
              <a:t>1</a:t>
            </a:r>
          </a:p>
        </p:txBody>
      </p:sp>
      <p:sp>
        <p:nvSpPr>
          <p:cNvPr id="8" name="TextBox 7"/>
          <p:cNvSpPr txBox="1"/>
          <p:nvPr/>
        </p:nvSpPr>
        <p:spPr>
          <a:xfrm>
            <a:off x="1389888" y="1627632"/>
            <a:ext cx="2834640" cy="274320"/>
          </a:xfrm>
          <a:prstGeom prst="rect">
            <a:avLst/>
          </a:prstGeom>
          <a:noFill/>
        </p:spPr>
        <p:txBody>
          <a:bodyPr wrap="square" anchor="t">
            <a:spAutoFit/>
          </a:bodyPr>
          <a:lstStyle/>
          <a:p>
            <a:pPr algn="l">
              <a:spcBef>
                <a:spcPts val="0"/>
              </a:spcBef>
              <a:spcAft>
                <a:spcPts val="0"/>
              </a:spcAft>
            </a:pPr>
            <a:r>
              <a:rPr sz="1200" b="1">
                <a:solidFill>
                  <a:srgbClr val="183A5B"/>
                </a:solidFill>
                <a:latin typeface="Aptos"/>
              </a:rPr>
              <a:t>Schools &amp; education groups</a:t>
            </a:r>
          </a:p>
        </p:txBody>
      </p:sp>
      <p:sp>
        <p:nvSpPr>
          <p:cNvPr id="9" name="TextBox 8"/>
          <p:cNvSpPr txBox="1"/>
          <p:nvPr/>
        </p:nvSpPr>
        <p:spPr>
          <a:xfrm>
            <a:off x="4160520" y="1627632"/>
            <a:ext cx="7086600" cy="411480"/>
          </a:xfrm>
          <a:prstGeom prst="rect">
            <a:avLst/>
          </a:prstGeom>
          <a:noFill/>
        </p:spPr>
        <p:txBody>
          <a:bodyPr wrap="square" anchor="t">
            <a:spAutoFit/>
          </a:bodyPr>
          <a:lstStyle/>
          <a:p>
            <a:pPr algn="l">
              <a:spcBef>
                <a:spcPts val="0"/>
              </a:spcBef>
              <a:spcAft>
                <a:spcPts val="0"/>
              </a:spcAft>
            </a:pPr>
            <a:r>
              <a:rPr sz="960" b="0">
                <a:solidFill>
                  <a:srgbClr val="5C6A78"/>
                </a:solidFill>
                <a:latin typeface="Aptos"/>
              </a:rPr>
              <a:t>Integrated or modular solutions around learner needs, teaching, inclusion and professional capacity.</a:t>
            </a:r>
          </a:p>
        </p:txBody>
      </p:sp>
      <p:sp>
        <p:nvSpPr>
          <p:cNvPr id="10" name="Oval 9"/>
          <p:cNvSpPr/>
          <p:nvPr/>
        </p:nvSpPr>
        <p:spPr>
          <a:xfrm>
            <a:off x="713232" y="2450591"/>
            <a:ext cx="457200" cy="457200"/>
          </a:xfrm>
          <a:prstGeom prst="ellipse">
            <a:avLst/>
          </a:prstGeom>
          <a:solidFill>
            <a:srgbClr val="4C7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58952" y="2450591"/>
            <a:ext cx="365760" cy="457200"/>
          </a:xfrm>
          <a:prstGeom prst="rect">
            <a:avLst/>
          </a:prstGeom>
          <a:noFill/>
        </p:spPr>
        <p:txBody>
          <a:bodyPr wrap="square" anchor="ctr">
            <a:spAutoFit/>
          </a:bodyPr>
          <a:lstStyle/>
          <a:p>
            <a:pPr algn="ctr">
              <a:spcBef>
                <a:spcPts val="0"/>
              </a:spcBef>
              <a:spcAft>
                <a:spcPts val="0"/>
              </a:spcAft>
            </a:pPr>
            <a:r>
              <a:rPr sz="750" b="1">
                <a:solidFill>
                  <a:srgbClr val="FFFFFF"/>
                </a:solidFill>
                <a:latin typeface="Aptos"/>
              </a:rPr>
              <a:t>2</a:t>
            </a:r>
          </a:p>
        </p:txBody>
      </p:sp>
      <p:sp>
        <p:nvSpPr>
          <p:cNvPr id="12" name="TextBox 11"/>
          <p:cNvSpPr txBox="1"/>
          <p:nvPr/>
        </p:nvSpPr>
        <p:spPr>
          <a:xfrm>
            <a:off x="1389888" y="2404872"/>
            <a:ext cx="2834640" cy="274320"/>
          </a:xfrm>
          <a:prstGeom prst="rect">
            <a:avLst/>
          </a:prstGeom>
          <a:noFill/>
        </p:spPr>
        <p:txBody>
          <a:bodyPr wrap="square" anchor="t">
            <a:spAutoFit/>
          </a:bodyPr>
          <a:lstStyle/>
          <a:p>
            <a:pPr algn="l">
              <a:spcBef>
                <a:spcPts val="0"/>
              </a:spcBef>
              <a:spcAft>
                <a:spcPts val="0"/>
              </a:spcAft>
            </a:pPr>
            <a:r>
              <a:rPr sz="1200" b="1">
                <a:solidFill>
                  <a:srgbClr val="183A5B"/>
                </a:solidFill>
                <a:latin typeface="Aptos"/>
              </a:rPr>
              <a:t>Educators &amp; specialists</a:t>
            </a:r>
          </a:p>
        </p:txBody>
      </p:sp>
      <p:sp>
        <p:nvSpPr>
          <p:cNvPr id="13" name="TextBox 12"/>
          <p:cNvSpPr txBox="1"/>
          <p:nvPr/>
        </p:nvSpPr>
        <p:spPr>
          <a:xfrm>
            <a:off x="4160520" y="2404872"/>
            <a:ext cx="7086600" cy="411480"/>
          </a:xfrm>
          <a:prstGeom prst="rect">
            <a:avLst/>
          </a:prstGeom>
          <a:noFill/>
        </p:spPr>
        <p:txBody>
          <a:bodyPr wrap="square" anchor="t">
            <a:spAutoFit/>
          </a:bodyPr>
          <a:lstStyle/>
          <a:p>
            <a:pPr algn="l">
              <a:spcBef>
                <a:spcPts val="0"/>
              </a:spcBef>
              <a:spcAft>
                <a:spcPts val="0"/>
              </a:spcAft>
            </a:pPr>
            <a:r>
              <a:rPr sz="960" b="0">
                <a:solidFill>
                  <a:srgbClr val="5C6A78"/>
                </a:solidFill>
                <a:latin typeface="Aptos"/>
              </a:rPr>
              <a:t>Practical tools, professional learning and specialized resources.</a:t>
            </a:r>
          </a:p>
        </p:txBody>
      </p:sp>
      <p:sp>
        <p:nvSpPr>
          <p:cNvPr id="14" name="Oval 13"/>
          <p:cNvSpPr/>
          <p:nvPr/>
        </p:nvSpPr>
        <p:spPr>
          <a:xfrm>
            <a:off x="713232" y="3227832"/>
            <a:ext cx="457200" cy="457200"/>
          </a:xfrm>
          <a:prstGeom prst="ellipse">
            <a:avLst/>
          </a:prstGeom>
          <a:solidFill>
            <a:srgbClr val="CAA1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58952" y="3227832"/>
            <a:ext cx="365760" cy="457200"/>
          </a:xfrm>
          <a:prstGeom prst="rect">
            <a:avLst/>
          </a:prstGeom>
          <a:noFill/>
        </p:spPr>
        <p:txBody>
          <a:bodyPr wrap="square" anchor="ctr">
            <a:spAutoFit/>
          </a:bodyPr>
          <a:lstStyle/>
          <a:p>
            <a:pPr algn="ctr">
              <a:spcBef>
                <a:spcPts val="0"/>
              </a:spcBef>
              <a:spcAft>
                <a:spcPts val="0"/>
              </a:spcAft>
            </a:pPr>
            <a:r>
              <a:rPr sz="750" b="1">
                <a:solidFill>
                  <a:srgbClr val="FFFFFF"/>
                </a:solidFill>
                <a:latin typeface="Aptos"/>
              </a:rPr>
              <a:t>3</a:t>
            </a:r>
          </a:p>
        </p:txBody>
      </p:sp>
      <p:sp>
        <p:nvSpPr>
          <p:cNvPr id="16" name="TextBox 15"/>
          <p:cNvSpPr txBox="1"/>
          <p:nvPr/>
        </p:nvSpPr>
        <p:spPr>
          <a:xfrm>
            <a:off x="1389888" y="3182112"/>
            <a:ext cx="2834640" cy="274320"/>
          </a:xfrm>
          <a:prstGeom prst="rect">
            <a:avLst/>
          </a:prstGeom>
          <a:noFill/>
        </p:spPr>
        <p:txBody>
          <a:bodyPr wrap="square" anchor="t">
            <a:spAutoFit/>
          </a:bodyPr>
          <a:lstStyle/>
          <a:p>
            <a:pPr algn="l">
              <a:spcBef>
                <a:spcPts val="0"/>
              </a:spcBef>
              <a:spcAft>
                <a:spcPts val="0"/>
              </a:spcAft>
            </a:pPr>
            <a:r>
              <a:rPr sz="1200" b="1">
                <a:solidFill>
                  <a:srgbClr val="183A5B"/>
                </a:solidFill>
                <a:latin typeface="Aptos"/>
              </a:rPr>
              <a:t>Families</a:t>
            </a:r>
          </a:p>
        </p:txBody>
      </p:sp>
      <p:sp>
        <p:nvSpPr>
          <p:cNvPr id="17" name="TextBox 16"/>
          <p:cNvSpPr txBox="1"/>
          <p:nvPr/>
        </p:nvSpPr>
        <p:spPr>
          <a:xfrm>
            <a:off x="4160520" y="3182112"/>
            <a:ext cx="7086600" cy="411480"/>
          </a:xfrm>
          <a:prstGeom prst="rect">
            <a:avLst/>
          </a:prstGeom>
          <a:noFill/>
        </p:spPr>
        <p:txBody>
          <a:bodyPr wrap="square" anchor="t">
            <a:spAutoFit/>
          </a:bodyPr>
          <a:lstStyle/>
          <a:p>
            <a:pPr algn="l">
              <a:spcBef>
                <a:spcPts val="0"/>
              </a:spcBef>
              <a:spcAft>
                <a:spcPts val="0"/>
              </a:spcAft>
            </a:pPr>
            <a:r>
              <a:rPr sz="960" b="0">
                <a:solidFill>
                  <a:srgbClr val="5C6A78"/>
                </a:solidFill>
                <a:latin typeface="Aptos"/>
              </a:rPr>
              <a:t>Selected products and support resources connected to real needs.</a:t>
            </a:r>
          </a:p>
        </p:txBody>
      </p:sp>
      <p:sp>
        <p:nvSpPr>
          <p:cNvPr id="18" name="Oval 17"/>
          <p:cNvSpPr/>
          <p:nvPr/>
        </p:nvSpPr>
        <p:spPr>
          <a:xfrm>
            <a:off x="713232" y="4005072"/>
            <a:ext cx="457200" cy="457200"/>
          </a:xfrm>
          <a:prstGeom prst="ellipse">
            <a:avLst/>
          </a:prstGeom>
          <a:solidFill>
            <a:srgbClr val="1D9D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58952" y="4005072"/>
            <a:ext cx="365760" cy="457200"/>
          </a:xfrm>
          <a:prstGeom prst="rect">
            <a:avLst/>
          </a:prstGeom>
          <a:noFill/>
        </p:spPr>
        <p:txBody>
          <a:bodyPr wrap="square" anchor="ctr">
            <a:spAutoFit/>
          </a:bodyPr>
          <a:lstStyle/>
          <a:p>
            <a:pPr algn="ctr">
              <a:spcBef>
                <a:spcPts val="0"/>
              </a:spcBef>
              <a:spcAft>
                <a:spcPts val="0"/>
              </a:spcAft>
            </a:pPr>
            <a:r>
              <a:rPr sz="750" b="1">
                <a:solidFill>
                  <a:srgbClr val="FFFFFF"/>
                </a:solidFill>
                <a:latin typeface="Aptos"/>
              </a:rPr>
              <a:t>4</a:t>
            </a:r>
          </a:p>
        </p:txBody>
      </p:sp>
      <p:sp>
        <p:nvSpPr>
          <p:cNvPr id="20" name="TextBox 19"/>
          <p:cNvSpPr txBox="1"/>
          <p:nvPr/>
        </p:nvSpPr>
        <p:spPr>
          <a:xfrm>
            <a:off x="1389888" y="3959352"/>
            <a:ext cx="2834640" cy="274320"/>
          </a:xfrm>
          <a:prstGeom prst="rect">
            <a:avLst/>
          </a:prstGeom>
          <a:noFill/>
        </p:spPr>
        <p:txBody>
          <a:bodyPr wrap="square" anchor="t">
            <a:spAutoFit/>
          </a:bodyPr>
          <a:lstStyle/>
          <a:p>
            <a:pPr algn="l">
              <a:spcBef>
                <a:spcPts val="0"/>
              </a:spcBef>
              <a:spcAft>
                <a:spcPts val="0"/>
              </a:spcAft>
            </a:pPr>
            <a:r>
              <a:rPr sz="1200" b="1">
                <a:solidFill>
                  <a:srgbClr val="183A5B"/>
                </a:solidFill>
                <a:latin typeface="Aptos"/>
              </a:rPr>
              <a:t>Education organizations</a:t>
            </a:r>
          </a:p>
        </p:txBody>
      </p:sp>
      <p:sp>
        <p:nvSpPr>
          <p:cNvPr id="21" name="TextBox 20"/>
          <p:cNvSpPr txBox="1"/>
          <p:nvPr/>
        </p:nvSpPr>
        <p:spPr>
          <a:xfrm>
            <a:off x="4160520" y="3959352"/>
            <a:ext cx="7086600" cy="411480"/>
          </a:xfrm>
          <a:prstGeom prst="rect">
            <a:avLst/>
          </a:prstGeom>
          <a:noFill/>
        </p:spPr>
        <p:txBody>
          <a:bodyPr wrap="square" anchor="t">
            <a:spAutoFit/>
          </a:bodyPr>
          <a:lstStyle/>
          <a:p>
            <a:pPr algn="l">
              <a:spcBef>
                <a:spcPts val="0"/>
              </a:spcBef>
              <a:spcAft>
                <a:spcPts val="0"/>
              </a:spcAft>
            </a:pPr>
            <a:r>
              <a:rPr sz="960" b="0">
                <a:solidFill>
                  <a:srgbClr val="5C6A78"/>
                </a:solidFill>
                <a:latin typeface="Aptos"/>
              </a:rPr>
              <a:t>Licensing, programmes, content and solution development.</a:t>
            </a:r>
          </a:p>
        </p:txBody>
      </p:sp>
      <p:sp>
        <p:nvSpPr>
          <p:cNvPr id="22" name="Oval 21"/>
          <p:cNvSpPr/>
          <p:nvPr/>
        </p:nvSpPr>
        <p:spPr>
          <a:xfrm>
            <a:off x="713232" y="4782312"/>
            <a:ext cx="457200" cy="457200"/>
          </a:xfrm>
          <a:prstGeom prst="ellipse">
            <a:avLst/>
          </a:prstGeom>
          <a:solidFill>
            <a:srgbClr val="4C7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58952" y="4782312"/>
            <a:ext cx="365760" cy="457200"/>
          </a:xfrm>
          <a:prstGeom prst="rect">
            <a:avLst/>
          </a:prstGeom>
          <a:noFill/>
        </p:spPr>
        <p:txBody>
          <a:bodyPr wrap="square" anchor="ctr">
            <a:spAutoFit/>
          </a:bodyPr>
          <a:lstStyle/>
          <a:p>
            <a:pPr algn="ctr">
              <a:spcBef>
                <a:spcPts val="0"/>
              </a:spcBef>
              <a:spcAft>
                <a:spcPts val="0"/>
              </a:spcAft>
            </a:pPr>
            <a:r>
              <a:rPr sz="750" b="1">
                <a:solidFill>
                  <a:srgbClr val="FFFFFF"/>
                </a:solidFill>
                <a:latin typeface="Aptos"/>
              </a:rPr>
              <a:t>5</a:t>
            </a:r>
          </a:p>
        </p:txBody>
      </p:sp>
      <p:sp>
        <p:nvSpPr>
          <p:cNvPr id="24" name="TextBox 23"/>
          <p:cNvSpPr txBox="1"/>
          <p:nvPr/>
        </p:nvSpPr>
        <p:spPr>
          <a:xfrm>
            <a:off x="1389888" y="4736592"/>
            <a:ext cx="2834640" cy="274320"/>
          </a:xfrm>
          <a:prstGeom prst="rect">
            <a:avLst/>
          </a:prstGeom>
          <a:noFill/>
        </p:spPr>
        <p:txBody>
          <a:bodyPr wrap="square" anchor="t">
            <a:spAutoFit/>
          </a:bodyPr>
          <a:lstStyle/>
          <a:p>
            <a:pPr algn="l">
              <a:spcBef>
                <a:spcPts val="0"/>
              </a:spcBef>
              <a:spcAft>
                <a:spcPts val="0"/>
              </a:spcAft>
            </a:pPr>
            <a:r>
              <a:rPr sz="1200" b="1">
                <a:solidFill>
                  <a:srgbClr val="183A5B"/>
                </a:solidFill>
                <a:latin typeface="Aptos"/>
              </a:rPr>
              <a:t>Partners &amp; distributors</a:t>
            </a:r>
          </a:p>
        </p:txBody>
      </p:sp>
      <p:sp>
        <p:nvSpPr>
          <p:cNvPr id="25" name="TextBox 24"/>
          <p:cNvSpPr txBox="1"/>
          <p:nvPr/>
        </p:nvSpPr>
        <p:spPr>
          <a:xfrm>
            <a:off x="4160520" y="4736592"/>
            <a:ext cx="7086600" cy="411480"/>
          </a:xfrm>
          <a:prstGeom prst="rect">
            <a:avLst/>
          </a:prstGeom>
          <a:noFill/>
        </p:spPr>
        <p:txBody>
          <a:bodyPr wrap="square" anchor="t">
            <a:spAutoFit/>
          </a:bodyPr>
          <a:lstStyle/>
          <a:p>
            <a:pPr algn="l">
              <a:spcBef>
                <a:spcPts val="0"/>
              </a:spcBef>
              <a:spcAft>
                <a:spcPts val="0"/>
              </a:spcAft>
            </a:pPr>
            <a:r>
              <a:rPr sz="960" b="0">
                <a:solidFill>
                  <a:srgbClr val="5C6A78"/>
                </a:solidFill>
                <a:latin typeface="Aptos"/>
              </a:rPr>
              <a:t>Co-development, distribution and market development.</a:t>
            </a:r>
          </a:p>
        </p:txBody>
      </p:sp>
      <p:sp>
        <p:nvSpPr>
          <p:cNvPr id="26" name="TextBox 25"/>
          <p:cNvSpPr txBox="1"/>
          <p:nvPr/>
        </p:nvSpPr>
        <p:spPr>
          <a:xfrm>
            <a:off x="1005840" y="5806440"/>
            <a:ext cx="10149840" cy="320040"/>
          </a:xfrm>
          <a:prstGeom prst="rect">
            <a:avLst/>
          </a:prstGeom>
          <a:noFill/>
        </p:spPr>
        <p:txBody>
          <a:bodyPr wrap="square" anchor="t">
            <a:spAutoFit/>
          </a:bodyPr>
          <a:lstStyle/>
          <a:p>
            <a:pPr algn="ctr">
              <a:spcBef>
                <a:spcPts val="0"/>
              </a:spcBef>
              <a:spcAft>
                <a:spcPts val="0"/>
              </a:spcAft>
            </a:pPr>
            <a:r>
              <a:rPr sz="1400" b="1">
                <a:solidFill>
                  <a:srgbClr val="CAA143"/>
                </a:solidFill>
                <a:latin typeface="Aptos"/>
              </a:rPr>
              <a:t>A useful principle: validate one valuable use case, then extend.</a:t>
            </a:r>
          </a:p>
        </p:txBody>
      </p:sp>
      <p:sp>
        <p:nvSpPr>
          <p:cNvPr id="27" name="TextBox 26"/>
          <p:cNvSpPr txBox="1"/>
          <p:nvPr/>
        </p:nvSpPr>
        <p:spPr>
          <a:xfrm>
            <a:off x="566928" y="6473952"/>
            <a:ext cx="1828800" cy="182880"/>
          </a:xfrm>
          <a:prstGeom prst="rect">
            <a:avLst/>
          </a:prstGeom>
          <a:noFill/>
        </p:spPr>
        <p:txBody>
          <a:bodyPr wrap="square" anchor="t">
            <a:spAutoFit/>
          </a:bodyPr>
          <a:lstStyle/>
          <a:p>
            <a:pPr algn="l">
              <a:spcBef>
                <a:spcPts val="0"/>
              </a:spcBef>
              <a:spcAft>
                <a:spcPts val="0"/>
              </a:spcAft>
            </a:pPr>
            <a:r>
              <a:rPr sz="800" b="1">
                <a:solidFill>
                  <a:srgbClr val="183A5B"/>
                </a:solidFill>
                <a:latin typeface="Aptos"/>
              </a:rPr>
              <a:t>MASAR | مسار</a:t>
            </a:r>
          </a:p>
        </p:txBody>
      </p:sp>
      <p:sp>
        <p:nvSpPr>
          <p:cNvPr id="28" name="TextBox 27"/>
          <p:cNvSpPr txBox="1"/>
          <p:nvPr/>
        </p:nvSpPr>
        <p:spPr>
          <a:xfrm>
            <a:off x="11109960" y="6473952"/>
            <a:ext cx="502920" cy="182880"/>
          </a:xfrm>
          <a:prstGeom prst="rect">
            <a:avLst/>
          </a:prstGeom>
          <a:noFill/>
        </p:spPr>
        <p:txBody>
          <a:bodyPr wrap="square" anchor="t">
            <a:spAutoFit/>
          </a:bodyPr>
          <a:lstStyle/>
          <a:p>
            <a:pPr algn="r">
              <a:spcBef>
                <a:spcPts val="0"/>
              </a:spcBef>
              <a:spcAft>
                <a:spcPts val="0"/>
              </a:spcAft>
            </a:pPr>
            <a:r>
              <a:rPr sz="800" b="1">
                <a:solidFill>
                  <a:srgbClr val="5C6A78"/>
                </a:solidFill>
                <a:latin typeface="Aptos"/>
              </a:rPr>
              <a:t>10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46888"/>
            <a:ext cx="3200400" cy="228600"/>
          </a:xfrm>
          <a:prstGeom prst="rect">
            <a:avLst/>
          </a:prstGeom>
          <a:noFill/>
        </p:spPr>
        <p:txBody>
          <a:bodyPr wrap="square" anchor="t">
            <a:spAutoFit/>
          </a:bodyPr>
          <a:lstStyle/>
          <a:p>
            <a:pPr algn="l">
              <a:spcBef>
                <a:spcPts val="0"/>
              </a:spcBef>
              <a:spcAft>
                <a:spcPts val="0"/>
              </a:spcAft>
            </a:pPr>
            <a:r>
              <a:rPr sz="900" b="1">
                <a:solidFill>
                  <a:srgbClr val="CAA143"/>
                </a:solidFill>
                <a:latin typeface="Aptos"/>
              </a:rPr>
              <a:t>MASAR | مسار   •   11</a:t>
            </a:r>
          </a:p>
        </p:txBody>
      </p:sp>
      <p:sp>
        <p:nvSpPr>
          <p:cNvPr id="4" name="TextBox 3"/>
          <p:cNvSpPr txBox="1"/>
          <p:nvPr/>
        </p:nvSpPr>
        <p:spPr>
          <a:xfrm>
            <a:off x="594360" y="621792"/>
            <a:ext cx="10972800" cy="594360"/>
          </a:xfrm>
          <a:prstGeom prst="rect">
            <a:avLst/>
          </a:prstGeom>
          <a:noFill/>
        </p:spPr>
        <p:txBody>
          <a:bodyPr wrap="square" anchor="t">
            <a:spAutoFit/>
          </a:bodyPr>
          <a:lstStyle/>
          <a:p>
            <a:pPr algn="l">
              <a:spcBef>
                <a:spcPts val="0"/>
              </a:spcBef>
              <a:spcAft>
                <a:spcPts val="0"/>
              </a:spcAft>
            </a:pPr>
            <a:r>
              <a:rPr sz="2800" b="1">
                <a:solidFill>
                  <a:srgbClr val="183A5B"/>
                </a:solidFill>
                <a:latin typeface="Aptos"/>
              </a:rPr>
              <a:t>A Progressive Go-to-Market Logic</a:t>
            </a:r>
          </a:p>
        </p:txBody>
      </p:sp>
      <p:sp>
        <p:nvSpPr>
          <p:cNvPr id="5" name="TextBox 4"/>
          <p:cNvSpPr txBox="1"/>
          <p:nvPr/>
        </p:nvSpPr>
        <p:spPr>
          <a:xfrm>
            <a:off x="612648" y="1261872"/>
            <a:ext cx="10789920" cy="384048"/>
          </a:xfrm>
          <a:prstGeom prst="rect">
            <a:avLst/>
          </a:prstGeom>
          <a:noFill/>
        </p:spPr>
        <p:txBody>
          <a:bodyPr wrap="square" anchor="t">
            <a:spAutoFit/>
          </a:bodyPr>
          <a:lstStyle/>
          <a:p>
            <a:pPr algn="l">
              <a:spcBef>
                <a:spcPts val="0"/>
              </a:spcBef>
              <a:spcAft>
                <a:spcPts val="0"/>
              </a:spcAft>
            </a:pPr>
            <a:r>
              <a:rPr sz="1150" b="0">
                <a:solidFill>
                  <a:srgbClr val="5C6A78"/>
                </a:solidFill>
                <a:latin typeface="Aptos"/>
              </a:rPr>
              <a:t>The commercial engine should learn alongside the product.</a:t>
            </a:r>
          </a:p>
        </p:txBody>
      </p:sp>
      <p:sp>
        <p:nvSpPr>
          <p:cNvPr id="6" name="Oval 5"/>
          <p:cNvSpPr/>
          <p:nvPr/>
        </p:nvSpPr>
        <p:spPr>
          <a:xfrm>
            <a:off x="1307592" y="1828800"/>
            <a:ext cx="658368" cy="658368"/>
          </a:xfrm>
          <a:prstGeom prst="ellipse">
            <a:avLst/>
          </a:prstGeom>
          <a:solidFill>
            <a:srgbClr val="1D9D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353312" y="1929384"/>
            <a:ext cx="566928" cy="457200"/>
          </a:xfrm>
          <a:prstGeom prst="rect">
            <a:avLst/>
          </a:prstGeom>
          <a:noFill/>
        </p:spPr>
        <p:txBody>
          <a:bodyPr wrap="square" anchor="ctr">
            <a:spAutoFit/>
          </a:bodyPr>
          <a:lstStyle/>
          <a:p>
            <a:pPr algn="ctr">
              <a:spcBef>
                <a:spcPts val="0"/>
              </a:spcBef>
              <a:spcAft>
                <a:spcPts val="0"/>
              </a:spcAft>
            </a:pPr>
            <a:r>
              <a:rPr sz="900" b="1">
                <a:solidFill>
                  <a:srgbClr val="FFFFFF"/>
                </a:solidFill>
                <a:latin typeface="Aptos"/>
              </a:rPr>
              <a:t>1</a:t>
            </a:r>
          </a:p>
        </p:txBody>
      </p:sp>
      <p:sp>
        <p:nvSpPr>
          <p:cNvPr id="8" name="TextBox 7"/>
          <p:cNvSpPr txBox="1"/>
          <p:nvPr/>
        </p:nvSpPr>
        <p:spPr>
          <a:xfrm>
            <a:off x="502920" y="2697480"/>
            <a:ext cx="2286000" cy="274320"/>
          </a:xfrm>
          <a:prstGeom prst="rect">
            <a:avLst/>
          </a:prstGeom>
          <a:noFill/>
        </p:spPr>
        <p:txBody>
          <a:bodyPr wrap="square" anchor="t">
            <a:spAutoFit/>
          </a:bodyPr>
          <a:lstStyle/>
          <a:p>
            <a:pPr algn="ctr">
              <a:spcBef>
                <a:spcPts val="0"/>
              </a:spcBef>
              <a:spcAft>
                <a:spcPts val="0"/>
              </a:spcAft>
            </a:pPr>
            <a:r>
              <a:rPr sz="1250" b="1">
                <a:solidFill>
                  <a:srgbClr val="183A5B"/>
                </a:solidFill>
                <a:latin typeface="Aptos"/>
              </a:rPr>
              <a:t>Select</a:t>
            </a:r>
          </a:p>
        </p:txBody>
      </p:sp>
      <p:sp>
        <p:nvSpPr>
          <p:cNvPr id="9" name="TextBox 8"/>
          <p:cNvSpPr txBox="1"/>
          <p:nvPr/>
        </p:nvSpPr>
        <p:spPr>
          <a:xfrm>
            <a:off x="612648" y="3127248"/>
            <a:ext cx="2057400" cy="658368"/>
          </a:xfrm>
          <a:prstGeom prst="rect">
            <a:avLst/>
          </a:prstGeom>
          <a:noFill/>
        </p:spPr>
        <p:txBody>
          <a:bodyPr wrap="square" anchor="t">
            <a:spAutoFit/>
          </a:bodyPr>
          <a:lstStyle/>
          <a:p>
            <a:pPr algn="ctr">
              <a:spcBef>
                <a:spcPts val="0"/>
              </a:spcBef>
              <a:spcAft>
                <a:spcPts val="0"/>
              </a:spcAft>
            </a:pPr>
            <a:r>
              <a:rPr sz="919" b="0">
                <a:solidFill>
                  <a:srgbClr val="5C6A78"/>
                </a:solidFill>
                <a:latin typeface="Aptos"/>
              </a:rPr>
              <a:t>Choose one asset + one buyer + one clear problem.</a:t>
            </a:r>
          </a:p>
        </p:txBody>
      </p:sp>
      <p:cxnSp>
        <p:nvCxnSpPr>
          <p:cNvPr id="10" name="Connector 9"/>
          <p:cNvCxnSpPr/>
          <p:nvPr/>
        </p:nvCxnSpPr>
        <p:spPr>
          <a:xfrm>
            <a:off x="1984248" y="2157984"/>
            <a:ext cx="740664" cy="0"/>
          </a:xfrm>
          <a:prstGeom prst="line">
            <a:avLst/>
          </a:prstGeom>
          <a:ln w="22860">
            <a:solidFill>
              <a:srgbClr val="D5DEE6"/>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3639311" y="1828800"/>
            <a:ext cx="658368" cy="658368"/>
          </a:xfrm>
          <a:prstGeom prst="ellipse">
            <a:avLst/>
          </a:prstGeom>
          <a:solidFill>
            <a:srgbClr val="4C7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85031" y="1929384"/>
            <a:ext cx="566928" cy="457200"/>
          </a:xfrm>
          <a:prstGeom prst="rect">
            <a:avLst/>
          </a:prstGeom>
          <a:noFill/>
        </p:spPr>
        <p:txBody>
          <a:bodyPr wrap="square" anchor="ctr">
            <a:spAutoFit/>
          </a:bodyPr>
          <a:lstStyle/>
          <a:p>
            <a:pPr algn="ctr">
              <a:spcBef>
                <a:spcPts val="0"/>
              </a:spcBef>
              <a:spcAft>
                <a:spcPts val="0"/>
              </a:spcAft>
            </a:pPr>
            <a:r>
              <a:rPr sz="900" b="1">
                <a:solidFill>
                  <a:srgbClr val="FFFFFF"/>
                </a:solidFill>
                <a:latin typeface="Aptos"/>
              </a:rPr>
              <a:t>2</a:t>
            </a:r>
          </a:p>
        </p:txBody>
      </p:sp>
      <p:sp>
        <p:nvSpPr>
          <p:cNvPr id="13" name="TextBox 12"/>
          <p:cNvSpPr txBox="1"/>
          <p:nvPr/>
        </p:nvSpPr>
        <p:spPr>
          <a:xfrm>
            <a:off x="2834639" y="2697480"/>
            <a:ext cx="2286000" cy="274320"/>
          </a:xfrm>
          <a:prstGeom prst="rect">
            <a:avLst/>
          </a:prstGeom>
          <a:noFill/>
        </p:spPr>
        <p:txBody>
          <a:bodyPr wrap="square" anchor="t">
            <a:spAutoFit/>
          </a:bodyPr>
          <a:lstStyle/>
          <a:p>
            <a:pPr algn="ctr">
              <a:spcBef>
                <a:spcPts val="0"/>
              </a:spcBef>
              <a:spcAft>
                <a:spcPts val="0"/>
              </a:spcAft>
            </a:pPr>
            <a:r>
              <a:rPr sz="1250" b="1">
                <a:solidFill>
                  <a:srgbClr val="183A5B"/>
                </a:solidFill>
                <a:latin typeface="Aptos"/>
              </a:rPr>
              <a:t>Package</a:t>
            </a:r>
          </a:p>
        </p:txBody>
      </p:sp>
      <p:sp>
        <p:nvSpPr>
          <p:cNvPr id="14" name="TextBox 13"/>
          <p:cNvSpPr txBox="1"/>
          <p:nvPr/>
        </p:nvSpPr>
        <p:spPr>
          <a:xfrm>
            <a:off x="2944368" y="3127248"/>
            <a:ext cx="2057400" cy="658368"/>
          </a:xfrm>
          <a:prstGeom prst="rect">
            <a:avLst/>
          </a:prstGeom>
          <a:noFill/>
        </p:spPr>
        <p:txBody>
          <a:bodyPr wrap="square" anchor="t">
            <a:spAutoFit/>
          </a:bodyPr>
          <a:lstStyle/>
          <a:p>
            <a:pPr algn="ctr">
              <a:spcBef>
                <a:spcPts val="0"/>
              </a:spcBef>
              <a:spcAft>
                <a:spcPts val="0"/>
              </a:spcAft>
            </a:pPr>
            <a:r>
              <a:rPr sz="919" b="0">
                <a:solidFill>
                  <a:srgbClr val="5C6A78"/>
                </a:solidFill>
                <a:latin typeface="Aptos"/>
              </a:rPr>
              <a:t>Define offer, experience, pricing and minimum viable delivery.</a:t>
            </a:r>
          </a:p>
        </p:txBody>
      </p:sp>
      <p:cxnSp>
        <p:nvCxnSpPr>
          <p:cNvPr id="15" name="Connector 14"/>
          <p:cNvCxnSpPr/>
          <p:nvPr/>
        </p:nvCxnSpPr>
        <p:spPr>
          <a:xfrm>
            <a:off x="4315968" y="2157984"/>
            <a:ext cx="740663" cy="0"/>
          </a:xfrm>
          <a:prstGeom prst="line">
            <a:avLst/>
          </a:prstGeom>
          <a:ln w="22860">
            <a:solidFill>
              <a:srgbClr val="D5DEE6"/>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5971031" y="1828800"/>
            <a:ext cx="658368" cy="658368"/>
          </a:xfrm>
          <a:prstGeom prst="ellipse">
            <a:avLst/>
          </a:prstGeom>
          <a:solidFill>
            <a:srgbClr val="CAA1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016751" y="1929384"/>
            <a:ext cx="566928" cy="457200"/>
          </a:xfrm>
          <a:prstGeom prst="rect">
            <a:avLst/>
          </a:prstGeom>
          <a:noFill/>
        </p:spPr>
        <p:txBody>
          <a:bodyPr wrap="square" anchor="ctr">
            <a:spAutoFit/>
          </a:bodyPr>
          <a:lstStyle/>
          <a:p>
            <a:pPr algn="ctr">
              <a:spcBef>
                <a:spcPts val="0"/>
              </a:spcBef>
              <a:spcAft>
                <a:spcPts val="0"/>
              </a:spcAft>
            </a:pPr>
            <a:r>
              <a:rPr sz="900" b="1">
                <a:solidFill>
                  <a:srgbClr val="FFFFFF"/>
                </a:solidFill>
                <a:latin typeface="Aptos"/>
              </a:rPr>
              <a:t>3</a:t>
            </a:r>
          </a:p>
        </p:txBody>
      </p:sp>
      <p:sp>
        <p:nvSpPr>
          <p:cNvPr id="18" name="TextBox 17"/>
          <p:cNvSpPr txBox="1"/>
          <p:nvPr/>
        </p:nvSpPr>
        <p:spPr>
          <a:xfrm>
            <a:off x="5166359" y="2697480"/>
            <a:ext cx="2286000" cy="274320"/>
          </a:xfrm>
          <a:prstGeom prst="rect">
            <a:avLst/>
          </a:prstGeom>
          <a:noFill/>
        </p:spPr>
        <p:txBody>
          <a:bodyPr wrap="square" anchor="t">
            <a:spAutoFit/>
          </a:bodyPr>
          <a:lstStyle/>
          <a:p>
            <a:pPr algn="ctr">
              <a:spcBef>
                <a:spcPts val="0"/>
              </a:spcBef>
              <a:spcAft>
                <a:spcPts val="0"/>
              </a:spcAft>
            </a:pPr>
            <a:r>
              <a:rPr sz="1250" b="1">
                <a:solidFill>
                  <a:srgbClr val="183A5B"/>
                </a:solidFill>
                <a:latin typeface="Aptos"/>
              </a:rPr>
              <a:t>Test</a:t>
            </a:r>
          </a:p>
        </p:txBody>
      </p:sp>
      <p:sp>
        <p:nvSpPr>
          <p:cNvPr id="19" name="TextBox 18"/>
          <p:cNvSpPr txBox="1"/>
          <p:nvPr/>
        </p:nvSpPr>
        <p:spPr>
          <a:xfrm>
            <a:off x="5276088" y="3127248"/>
            <a:ext cx="2057400" cy="658368"/>
          </a:xfrm>
          <a:prstGeom prst="rect">
            <a:avLst/>
          </a:prstGeom>
          <a:noFill/>
        </p:spPr>
        <p:txBody>
          <a:bodyPr wrap="square" anchor="t">
            <a:spAutoFit/>
          </a:bodyPr>
          <a:lstStyle/>
          <a:p>
            <a:pPr algn="ctr">
              <a:spcBef>
                <a:spcPts val="0"/>
              </a:spcBef>
              <a:spcAft>
                <a:spcPts val="0"/>
              </a:spcAft>
            </a:pPr>
            <a:r>
              <a:rPr sz="919" b="0">
                <a:solidFill>
                  <a:srgbClr val="5C6A78"/>
                </a:solidFill>
                <a:latin typeface="Aptos"/>
              </a:rPr>
              <a:t>Reach real buyers and observe willingness to pay / use.</a:t>
            </a:r>
          </a:p>
        </p:txBody>
      </p:sp>
      <p:cxnSp>
        <p:nvCxnSpPr>
          <p:cNvPr id="20" name="Connector 19"/>
          <p:cNvCxnSpPr/>
          <p:nvPr/>
        </p:nvCxnSpPr>
        <p:spPr>
          <a:xfrm>
            <a:off x="6647688" y="2157984"/>
            <a:ext cx="740664" cy="0"/>
          </a:xfrm>
          <a:prstGeom prst="line">
            <a:avLst/>
          </a:prstGeom>
          <a:ln w="22860">
            <a:solidFill>
              <a:srgbClr val="D5DEE6"/>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8302752" y="1828800"/>
            <a:ext cx="658368" cy="658368"/>
          </a:xfrm>
          <a:prstGeom prst="ellipse">
            <a:avLst/>
          </a:prstGeom>
          <a:solidFill>
            <a:srgbClr val="1D9D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348472" y="1929384"/>
            <a:ext cx="566928" cy="457200"/>
          </a:xfrm>
          <a:prstGeom prst="rect">
            <a:avLst/>
          </a:prstGeom>
          <a:noFill/>
        </p:spPr>
        <p:txBody>
          <a:bodyPr wrap="square" anchor="ctr">
            <a:spAutoFit/>
          </a:bodyPr>
          <a:lstStyle/>
          <a:p>
            <a:pPr algn="ctr">
              <a:spcBef>
                <a:spcPts val="0"/>
              </a:spcBef>
              <a:spcAft>
                <a:spcPts val="0"/>
              </a:spcAft>
            </a:pPr>
            <a:r>
              <a:rPr sz="900" b="1">
                <a:solidFill>
                  <a:srgbClr val="FFFFFF"/>
                </a:solidFill>
                <a:latin typeface="Aptos"/>
              </a:rPr>
              <a:t>4</a:t>
            </a:r>
          </a:p>
        </p:txBody>
      </p:sp>
      <p:sp>
        <p:nvSpPr>
          <p:cNvPr id="23" name="TextBox 22"/>
          <p:cNvSpPr txBox="1"/>
          <p:nvPr/>
        </p:nvSpPr>
        <p:spPr>
          <a:xfrm>
            <a:off x="7498079" y="2697480"/>
            <a:ext cx="2286000" cy="274320"/>
          </a:xfrm>
          <a:prstGeom prst="rect">
            <a:avLst/>
          </a:prstGeom>
          <a:noFill/>
        </p:spPr>
        <p:txBody>
          <a:bodyPr wrap="square" anchor="t">
            <a:spAutoFit/>
          </a:bodyPr>
          <a:lstStyle/>
          <a:p>
            <a:pPr algn="ctr">
              <a:spcBef>
                <a:spcPts val="0"/>
              </a:spcBef>
              <a:spcAft>
                <a:spcPts val="0"/>
              </a:spcAft>
            </a:pPr>
            <a:r>
              <a:rPr sz="1250" b="1">
                <a:solidFill>
                  <a:srgbClr val="183A5B"/>
                </a:solidFill>
                <a:latin typeface="Aptos"/>
              </a:rPr>
              <a:t>Learn</a:t>
            </a:r>
          </a:p>
        </p:txBody>
      </p:sp>
      <p:sp>
        <p:nvSpPr>
          <p:cNvPr id="24" name="TextBox 23"/>
          <p:cNvSpPr txBox="1"/>
          <p:nvPr/>
        </p:nvSpPr>
        <p:spPr>
          <a:xfrm>
            <a:off x="7607807" y="3127248"/>
            <a:ext cx="2057400" cy="658368"/>
          </a:xfrm>
          <a:prstGeom prst="rect">
            <a:avLst/>
          </a:prstGeom>
          <a:noFill/>
        </p:spPr>
        <p:txBody>
          <a:bodyPr wrap="square" anchor="t">
            <a:spAutoFit/>
          </a:bodyPr>
          <a:lstStyle/>
          <a:p>
            <a:pPr algn="ctr">
              <a:spcBef>
                <a:spcPts val="0"/>
              </a:spcBef>
              <a:spcAft>
                <a:spcPts val="0"/>
              </a:spcAft>
            </a:pPr>
            <a:r>
              <a:rPr sz="919" b="0">
                <a:solidFill>
                  <a:srgbClr val="5C6A78"/>
                </a:solidFill>
                <a:latin typeface="Aptos"/>
              </a:rPr>
              <a:t>Use feedback and evidence to improve the product.</a:t>
            </a:r>
          </a:p>
        </p:txBody>
      </p:sp>
      <p:cxnSp>
        <p:nvCxnSpPr>
          <p:cNvPr id="25" name="Connector 24"/>
          <p:cNvCxnSpPr/>
          <p:nvPr/>
        </p:nvCxnSpPr>
        <p:spPr>
          <a:xfrm>
            <a:off x="8979408" y="2157984"/>
            <a:ext cx="740664" cy="0"/>
          </a:xfrm>
          <a:prstGeom prst="line">
            <a:avLst/>
          </a:prstGeom>
          <a:ln w="22860">
            <a:solidFill>
              <a:srgbClr val="D5DEE6"/>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10634472" y="1828800"/>
            <a:ext cx="658368" cy="658368"/>
          </a:xfrm>
          <a:prstGeom prst="ellipse">
            <a:avLst/>
          </a:prstGeom>
          <a:solidFill>
            <a:srgbClr val="4C7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680192" y="1929384"/>
            <a:ext cx="566928" cy="457200"/>
          </a:xfrm>
          <a:prstGeom prst="rect">
            <a:avLst/>
          </a:prstGeom>
          <a:noFill/>
        </p:spPr>
        <p:txBody>
          <a:bodyPr wrap="square" anchor="ctr">
            <a:spAutoFit/>
          </a:bodyPr>
          <a:lstStyle/>
          <a:p>
            <a:pPr algn="ctr">
              <a:spcBef>
                <a:spcPts val="0"/>
              </a:spcBef>
              <a:spcAft>
                <a:spcPts val="0"/>
              </a:spcAft>
            </a:pPr>
            <a:r>
              <a:rPr sz="900" b="1">
                <a:solidFill>
                  <a:srgbClr val="FFFFFF"/>
                </a:solidFill>
                <a:latin typeface="Aptos"/>
              </a:rPr>
              <a:t>5</a:t>
            </a:r>
          </a:p>
        </p:txBody>
      </p:sp>
      <p:sp>
        <p:nvSpPr>
          <p:cNvPr id="28" name="TextBox 27"/>
          <p:cNvSpPr txBox="1"/>
          <p:nvPr/>
        </p:nvSpPr>
        <p:spPr>
          <a:xfrm>
            <a:off x="9829800" y="2697480"/>
            <a:ext cx="2286000" cy="274320"/>
          </a:xfrm>
          <a:prstGeom prst="rect">
            <a:avLst/>
          </a:prstGeom>
          <a:noFill/>
        </p:spPr>
        <p:txBody>
          <a:bodyPr wrap="square" anchor="t">
            <a:spAutoFit/>
          </a:bodyPr>
          <a:lstStyle/>
          <a:p>
            <a:pPr algn="ctr">
              <a:spcBef>
                <a:spcPts val="0"/>
              </a:spcBef>
              <a:spcAft>
                <a:spcPts val="0"/>
              </a:spcAft>
            </a:pPr>
            <a:r>
              <a:rPr sz="1250" b="1">
                <a:solidFill>
                  <a:srgbClr val="183A5B"/>
                </a:solidFill>
                <a:latin typeface="Aptos"/>
              </a:rPr>
              <a:t>Scale</a:t>
            </a:r>
          </a:p>
        </p:txBody>
      </p:sp>
      <p:sp>
        <p:nvSpPr>
          <p:cNvPr id="29" name="TextBox 28"/>
          <p:cNvSpPr txBox="1"/>
          <p:nvPr/>
        </p:nvSpPr>
        <p:spPr>
          <a:xfrm>
            <a:off x="9939528" y="3127248"/>
            <a:ext cx="2057400" cy="658368"/>
          </a:xfrm>
          <a:prstGeom prst="rect">
            <a:avLst/>
          </a:prstGeom>
          <a:noFill/>
        </p:spPr>
        <p:txBody>
          <a:bodyPr wrap="square" anchor="t">
            <a:spAutoFit/>
          </a:bodyPr>
          <a:lstStyle/>
          <a:p>
            <a:pPr algn="ctr">
              <a:spcBef>
                <a:spcPts val="0"/>
              </a:spcBef>
              <a:spcAft>
                <a:spcPts val="0"/>
              </a:spcAft>
            </a:pPr>
            <a:r>
              <a:rPr sz="919" b="0">
                <a:solidFill>
                  <a:srgbClr val="5C6A78"/>
                </a:solidFill>
                <a:latin typeface="Aptos"/>
              </a:rPr>
              <a:t>Expand channels, features, buyers or geographies only when justified.</a:t>
            </a:r>
          </a:p>
        </p:txBody>
      </p:sp>
      <p:sp>
        <p:nvSpPr>
          <p:cNvPr id="30" name="Rounded Rectangle 29"/>
          <p:cNvSpPr/>
          <p:nvPr/>
        </p:nvSpPr>
        <p:spPr>
          <a:xfrm>
            <a:off x="1828800" y="4663440"/>
            <a:ext cx="8458200" cy="713232"/>
          </a:xfrm>
          <a:prstGeom prst="roundRect">
            <a:avLst/>
          </a:prstGeom>
          <a:solidFill>
            <a:srgbClr val="F9F5E9"/>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057400" y="4882896"/>
            <a:ext cx="8001000" cy="256032"/>
          </a:xfrm>
          <a:prstGeom prst="rect">
            <a:avLst/>
          </a:prstGeom>
          <a:noFill/>
        </p:spPr>
        <p:txBody>
          <a:bodyPr wrap="square" anchor="t">
            <a:spAutoFit/>
          </a:bodyPr>
          <a:lstStyle/>
          <a:p>
            <a:pPr algn="ctr">
              <a:spcBef>
                <a:spcPts val="0"/>
              </a:spcBef>
              <a:spcAft>
                <a:spcPts val="0"/>
              </a:spcAft>
            </a:pPr>
            <a:r>
              <a:rPr sz="1300" b="1">
                <a:solidFill>
                  <a:srgbClr val="183A5B"/>
                </a:solidFill>
                <a:latin typeface="Aptos"/>
              </a:rPr>
              <a:t>This keeps investment, build effort and market learning connected.</a:t>
            </a:r>
          </a:p>
        </p:txBody>
      </p:sp>
      <p:sp>
        <p:nvSpPr>
          <p:cNvPr id="32" name="TextBox 31"/>
          <p:cNvSpPr txBox="1"/>
          <p:nvPr/>
        </p:nvSpPr>
        <p:spPr>
          <a:xfrm>
            <a:off x="566928" y="6473952"/>
            <a:ext cx="1828800" cy="182880"/>
          </a:xfrm>
          <a:prstGeom prst="rect">
            <a:avLst/>
          </a:prstGeom>
          <a:noFill/>
        </p:spPr>
        <p:txBody>
          <a:bodyPr wrap="square" anchor="t">
            <a:spAutoFit/>
          </a:bodyPr>
          <a:lstStyle/>
          <a:p>
            <a:pPr algn="l">
              <a:spcBef>
                <a:spcPts val="0"/>
              </a:spcBef>
              <a:spcAft>
                <a:spcPts val="0"/>
              </a:spcAft>
            </a:pPr>
            <a:r>
              <a:rPr sz="800" b="1">
                <a:solidFill>
                  <a:srgbClr val="183A5B"/>
                </a:solidFill>
                <a:latin typeface="Aptos"/>
              </a:rPr>
              <a:t>MASAR | مسار</a:t>
            </a:r>
          </a:p>
        </p:txBody>
      </p:sp>
      <p:sp>
        <p:nvSpPr>
          <p:cNvPr id="33" name="TextBox 32"/>
          <p:cNvSpPr txBox="1"/>
          <p:nvPr/>
        </p:nvSpPr>
        <p:spPr>
          <a:xfrm>
            <a:off x="11109960" y="6473952"/>
            <a:ext cx="502920" cy="182880"/>
          </a:xfrm>
          <a:prstGeom prst="rect">
            <a:avLst/>
          </a:prstGeom>
          <a:noFill/>
        </p:spPr>
        <p:txBody>
          <a:bodyPr wrap="square" anchor="t">
            <a:spAutoFit/>
          </a:bodyPr>
          <a:lstStyle/>
          <a:p>
            <a:pPr algn="r">
              <a:spcBef>
                <a:spcPts val="0"/>
              </a:spcBef>
              <a:spcAft>
                <a:spcPts val="0"/>
              </a:spcAft>
            </a:pPr>
            <a:r>
              <a:rPr sz="800" b="1">
                <a:solidFill>
                  <a:srgbClr val="5C6A78"/>
                </a:solidFill>
                <a:latin typeface="Aptos"/>
              </a:rPr>
              <a:t>11</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46888"/>
            <a:ext cx="3200400" cy="228600"/>
          </a:xfrm>
          <a:prstGeom prst="rect">
            <a:avLst/>
          </a:prstGeom>
          <a:noFill/>
        </p:spPr>
        <p:txBody>
          <a:bodyPr wrap="square" anchor="t">
            <a:spAutoFit/>
          </a:bodyPr>
          <a:lstStyle/>
          <a:p>
            <a:pPr algn="l">
              <a:spcBef>
                <a:spcPts val="0"/>
              </a:spcBef>
              <a:spcAft>
                <a:spcPts val="0"/>
              </a:spcAft>
            </a:pPr>
            <a:r>
              <a:rPr sz="900" b="1">
                <a:solidFill>
                  <a:srgbClr val="CAA143"/>
                </a:solidFill>
                <a:latin typeface="Aptos"/>
              </a:rPr>
              <a:t>MASAR | مسار   •   12</a:t>
            </a:r>
          </a:p>
        </p:txBody>
      </p:sp>
      <p:sp>
        <p:nvSpPr>
          <p:cNvPr id="4" name="TextBox 3"/>
          <p:cNvSpPr txBox="1"/>
          <p:nvPr/>
        </p:nvSpPr>
        <p:spPr>
          <a:xfrm>
            <a:off x="594360" y="621792"/>
            <a:ext cx="10972800" cy="594360"/>
          </a:xfrm>
          <a:prstGeom prst="rect">
            <a:avLst/>
          </a:prstGeom>
          <a:noFill/>
        </p:spPr>
        <p:txBody>
          <a:bodyPr wrap="square" anchor="t">
            <a:spAutoFit/>
          </a:bodyPr>
          <a:lstStyle/>
          <a:p>
            <a:pPr algn="l">
              <a:spcBef>
                <a:spcPts val="0"/>
              </a:spcBef>
              <a:spcAft>
                <a:spcPts val="0"/>
              </a:spcAft>
            </a:pPr>
            <a:r>
              <a:rPr sz="2800" b="1">
                <a:solidFill>
                  <a:srgbClr val="183A5B"/>
                </a:solidFill>
                <a:latin typeface="Aptos"/>
              </a:rPr>
              <a:t>How We Could Explore the Partnership</a:t>
            </a:r>
          </a:p>
        </p:txBody>
      </p:sp>
      <p:sp>
        <p:nvSpPr>
          <p:cNvPr id="5" name="TextBox 4"/>
          <p:cNvSpPr txBox="1"/>
          <p:nvPr/>
        </p:nvSpPr>
        <p:spPr>
          <a:xfrm>
            <a:off x="612648" y="1261872"/>
            <a:ext cx="10789920" cy="384048"/>
          </a:xfrm>
          <a:prstGeom prst="rect">
            <a:avLst/>
          </a:prstGeom>
          <a:noFill/>
        </p:spPr>
        <p:txBody>
          <a:bodyPr wrap="square" anchor="t">
            <a:spAutoFit/>
          </a:bodyPr>
          <a:lstStyle/>
          <a:p>
            <a:pPr algn="l">
              <a:spcBef>
                <a:spcPts val="0"/>
              </a:spcBef>
              <a:spcAft>
                <a:spcPts val="0"/>
              </a:spcAft>
            </a:pPr>
            <a:r>
              <a:rPr sz="1150" b="0">
                <a:solidFill>
                  <a:srgbClr val="5C6A78"/>
                </a:solidFill>
                <a:latin typeface="Aptos"/>
              </a:rPr>
              <a:t>Start with clarity before deciding structure.</a:t>
            </a:r>
          </a:p>
        </p:txBody>
      </p:sp>
      <p:sp>
        <p:nvSpPr>
          <p:cNvPr id="6" name="Rounded Rectangle 5"/>
          <p:cNvSpPr/>
          <p:nvPr/>
        </p:nvSpPr>
        <p:spPr>
          <a:xfrm>
            <a:off x="914400" y="1645920"/>
            <a:ext cx="10332720" cy="530352"/>
          </a:xfrm>
          <a:prstGeom prst="roundRect">
            <a:avLst/>
          </a:prstGeom>
          <a:solidFill>
            <a:srgbClr val="FFFFFF"/>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97280" y="1709928"/>
            <a:ext cx="402336" cy="402336"/>
          </a:xfrm>
          <a:prstGeom prst="ellipse">
            <a:avLst/>
          </a:prstGeom>
          <a:solidFill>
            <a:srgbClr val="1D9D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3000" y="1682496"/>
            <a:ext cx="310896" cy="457200"/>
          </a:xfrm>
          <a:prstGeom prst="rect">
            <a:avLst/>
          </a:prstGeom>
          <a:noFill/>
        </p:spPr>
        <p:txBody>
          <a:bodyPr wrap="square" anchor="ctr">
            <a:spAutoFit/>
          </a:bodyPr>
          <a:lstStyle/>
          <a:p>
            <a:pPr algn="ctr">
              <a:spcBef>
                <a:spcPts val="0"/>
              </a:spcBef>
              <a:spcAft>
                <a:spcPts val="0"/>
              </a:spcAft>
            </a:pPr>
            <a:r>
              <a:rPr sz="700" b="1">
                <a:solidFill>
                  <a:srgbClr val="FFFFFF"/>
                </a:solidFill>
                <a:latin typeface="Aptos"/>
              </a:rPr>
              <a:t>1</a:t>
            </a:r>
          </a:p>
        </p:txBody>
      </p:sp>
      <p:sp>
        <p:nvSpPr>
          <p:cNvPr id="9" name="TextBox 8"/>
          <p:cNvSpPr txBox="1"/>
          <p:nvPr/>
        </p:nvSpPr>
        <p:spPr>
          <a:xfrm>
            <a:off x="1737360" y="1755648"/>
            <a:ext cx="2103120" cy="228600"/>
          </a:xfrm>
          <a:prstGeom prst="rect">
            <a:avLst/>
          </a:prstGeom>
          <a:noFill/>
        </p:spPr>
        <p:txBody>
          <a:bodyPr wrap="square" anchor="t">
            <a:spAutoFit/>
          </a:bodyPr>
          <a:lstStyle/>
          <a:p>
            <a:pPr algn="l">
              <a:spcBef>
                <a:spcPts val="0"/>
              </a:spcBef>
              <a:spcAft>
                <a:spcPts val="0"/>
              </a:spcAft>
            </a:pPr>
            <a:r>
              <a:rPr sz="1150" b="1">
                <a:solidFill>
                  <a:srgbClr val="183A5B"/>
                </a:solidFill>
                <a:latin typeface="Aptos"/>
              </a:rPr>
              <a:t>Discovery</a:t>
            </a:r>
          </a:p>
        </p:txBody>
      </p:sp>
      <p:sp>
        <p:nvSpPr>
          <p:cNvPr id="10" name="TextBox 9"/>
          <p:cNvSpPr txBox="1"/>
          <p:nvPr/>
        </p:nvSpPr>
        <p:spPr>
          <a:xfrm>
            <a:off x="3886200" y="1755648"/>
            <a:ext cx="6903720" cy="274320"/>
          </a:xfrm>
          <a:prstGeom prst="rect">
            <a:avLst/>
          </a:prstGeom>
          <a:noFill/>
        </p:spPr>
        <p:txBody>
          <a:bodyPr wrap="square" anchor="t">
            <a:spAutoFit/>
          </a:bodyPr>
          <a:lstStyle/>
          <a:p>
            <a:pPr algn="l">
              <a:spcBef>
                <a:spcPts val="0"/>
              </a:spcBef>
              <a:spcAft>
                <a:spcPts val="0"/>
              </a:spcAft>
            </a:pPr>
            <a:r>
              <a:rPr sz="950" b="0">
                <a:solidFill>
                  <a:srgbClr val="5C6A78"/>
                </a:solidFill>
                <a:latin typeface="Aptos"/>
              </a:rPr>
              <a:t>Review MASAR assets, priorities, current tools and technical realities.</a:t>
            </a:r>
          </a:p>
        </p:txBody>
      </p:sp>
      <p:sp>
        <p:nvSpPr>
          <p:cNvPr id="11" name="Rounded Rectangle 10"/>
          <p:cNvSpPr/>
          <p:nvPr/>
        </p:nvSpPr>
        <p:spPr>
          <a:xfrm>
            <a:off x="914400" y="2414016"/>
            <a:ext cx="10332720" cy="530352"/>
          </a:xfrm>
          <a:prstGeom prst="roundRect">
            <a:avLst/>
          </a:prstGeom>
          <a:solidFill>
            <a:srgbClr val="FFFFFF"/>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97280" y="2478024"/>
            <a:ext cx="402336" cy="402336"/>
          </a:xfrm>
          <a:prstGeom prst="ellipse">
            <a:avLst/>
          </a:prstGeom>
          <a:solidFill>
            <a:srgbClr val="4C7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43000" y="2450592"/>
            <a:ext cx="310896" cy="457200"/>
          </a:xfrm>
          <a:prstGeom prst="rect">
            <a:avLst/>
          </a:prstGeom>
          <a:noFill/>
        </p:spPr>
        <p:txBody>
          <a:bodyPr wrap="square" anchor="ctr">
            <a:spAutoFit/>
          </a:bodyPr>
          <a:lstStyle/>
          <a:p>
            <a:pPr algn="ctr">
              <a:spcBef>
                <a:spcPts val="0"/>
              </a:spcBef>
              <a:spcAft>
                <a:spcPts val="0"/>
              </a:spcAft>
            </a:pPr>
            <a:r>
              <a:rPr sz="700" b="1">
                <a:solidFill>
                  <a:srgbClr val="FFFFFF"/>
                </a:solidFill>
                <a:latin typeface="Aptos"/>
              </a:rPr>
              <a:t>2</a:t>
            </a:r>
          </a:p>
        </p:txBody>
      </p:sp>
      <p:sp>
        <p:nvSpPr>
          <p:cNvPr id="14" name="TextBox 13"/>
          <p:cNvSpPr txBox="1"/>
          <p:nvPr/>
        </p:nvSpPr>
        <p:spPr>
          <a:xfrm>
            <a:off x="1737360" y="2523744"/>
            <a:ext cx="2103120" cy="228600"/>
          </a:xfrm>
          <a:prstGeom prst="rect">
            <a:avLst/>
          </a:prstGeom>
          <a:noFill/>
        </p:spPr>
        <p:txBody>
          <a:bodyPr wrap="square" anchor="t">
            <a:spAutoFit/>
          </a:bodyPr>
          <a:lstStyle/>
          <a:p>
            <a:pPr algn="l">
              <a:spcBef>
                <a:spcPts val="0"/>
              </a:spcBef>
              <a:spcAft>
                <a:spcPts val="0"/>
              </a:spcAft>
            </a:pPr>
            <a:r>
              <a:rPr sz="1150" b="1">
                <a:solidFill>
                  <a:srgbClr val="183A5B"/>
                </a:solidFill>
                <a:latin typeface="Aptos"/>
              </a:rPr>
              <a:t>Alignment</a:t>
            </a:r>
          </a:p>
        </p:txBody>
      </p:sp>
      <p:sp>
        <p:nvSpPr>
          <p:cNvPr id="15" name="TextBox 14"/>
          <p:cNvSpPr txBox="1"/>
          <p:nvPr/>
        </p:nvSpPr>
        <p:spPr>
          <a:xfrm>
            <a:off x="3886200" y="2523744"/>
            <a:ext cx="6903720" cy="274320"/>
          </a:xfrm>
          <a:prstGeom prst="rect">
            <a:avLst/>
          </a:prstGeom>
          <a:noFill/>
        </p:spPr>
        <p:txBody>
          <a:bodyPr wrap="square" anchor="t">
            <a:spAutoFit/>
          </a:bodyPr>
          <a:lstStyle/>
          <a:p>
            <a:pPr algn="l">
              <a:spcBef>
                <a:spcPts val="0"/>
              </a:spcBef>
              <a:spcAft>
                <a:spcPts val="0"/>
              </a:spcAft>
            </a:pPr>
            <a:r>
              <a:rPr sz="950" b="0">
                <a:solidFill>
                  <a:srgbClr val="5C6A78"/>
                </a:solidFill>
                <a:latin typeface="Aptos"/>
              </a:rPr>
              <a:t>Agree on the opportunity worth exploring together.</a:t>
            </a:r>
          </a:p>
        </p:txBody>
      </p:sp>
      <p:sp>
        <p:nvSpPr>
          <p:cNvPr id="16" name="Rounded Rectangle 15"/>
          <p:cNvSpPr/>
          <p:nvPr/>
        </p:nvSpPr>
        <p:spPr>
          <a:xfrm>
            <a:off x="914400" y="3182112"/>
            <a:ext cx="10332720" cy="530352"/>
          </a:xfrm>
          <a:prstGeom prst="roundRect">
            <a:avLst/>
          </a:prstGeom>
          <a:solidFill>
            <a:srgbClr val="FFFFFF"/>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097280" y="3246120"/>
            <a:ext cx="402336" cy="402336"/>
          </a:xfrm>
          <a:prstGeom prst="ellipse">
            <a:avLst/>
          </a:prstGeom>
          <a:solidFill>
            <a:srgbClr val="CAA1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43000" y="3218688"/>
            <a:ext cx="310896" cy="457200"/>
          </a:xfrm>
          <a:prstGeom prst="rect">
            <a:avLst/>
          </a:prstGeom>
          <a:noFill/>
        </p:spPr>
        <p:txBody>
          <a:bodyPr wrap="square" anchor="ctr">
            <a:spAutoFit/>
          </a:bodyPr>
          <a:lstStyle/>
          <a:p>
            <a:pPr algn="ctr">
              <a:spcBef>
                <a:spcPts val="0"/>
              </a:spcBef>
              <a:spcAft>
                <a:spcPts val="0"/>
              </a:spcAft>
            </a:pPr>
            <a:r>
              <a:rPr sz="700" b="1">
                <a:solidFill>
                  <a:srgbClr val="FFFFFF"/>
                </a:solidFill>
                <a:latin typeface="Aptos"/>
              </a:rPr>
              <a:t>3</a:t>
            </a:r>
          </a:p>
        </p:txBody>
      </p:sp>
      <p:sp>
        <p:nvSpPr>
          <p:cNvPr id="19" name="TextBox 18"/>
          <p:cNvSpPr txBox="1"/>
          <p:nvPr/>
        </p:nvSpPr>
        <p:spPr>
          <a:xfrm>
            <a:off x="1737360" y="3291840"/>
            <a:ext cx="2103120" cy="228600"/>
          </a:xfrm>
          <a:prstGeom prst="rect">
            <a:avLst/>
          </a:prstGeom>
          <a:noFill/>
        </p:spPr>
        <p:txBody>
          <a:bodyPr wrap="square" anchor="t">
            <a:spAutoFit/>
          </a:bodyPr>
          <a:lstStyle/>
          <a:p>
            <a:pPr algn="l">
              <a:spcBef>
                <a:spcPts val="0"/>
              </a:spcBef>
              <a:spcAft>
                <a:spcPts val="0"/>
              </a:spcAft>
            </a:pPr>
            <a:r>
              <a:rPr sz="1150" b="1">
                <a:solidFill>
                  <a:srgbClr val="183A5B"/>
                </a:solidFill>
                <a:latin typeface="Aptos"/>
              </a:rPr>
              <a:t>Prioritization</a:t>
            </a:r>
          </a:p>
        </p:txBody>
      </p:sp>
      <p:sp>
        <p:nvSpPr>
          <p:cNvPr id="20" name="TextBox 19"/>
          <p:cNvSpPr txBox="1"/>
          <p:nvPr/>
        </p:nvSpPr>
        <p:spPr>
          <a:xfrm>
            <a:off x="3886200" y="3291840"/>
            <a:ext cx="6903720" cy="274320"/>
          </a:xfrm>
          <a:prstGeom prst="rect">
            <a:avLst/>
          </a:prstGeom>
          <a:noFill/>
        </p:spPr>
        <p:txBody>
          <a:bodyPr wrap="square" anchor="t">
            <a:spAutoFit/>
          </a:bodyPr>
          <a:lstStyle/>
          <a:p>
            <a:pPr algn="l">
              <a:spcBef>
                <a:spcPts val="0"/>
              </a:spcBef>
              <a:spcAft>
                <a:spcPts val="0"/>
              </a:spcAft>
            </a:pPr>
            <a:r>
              <a:rPr sz="950" b="0">
                <a:solidFill>
                  <a:srgbClr val="5C6A78"/>
                </a:solidFill>
                <a:latin typeface="Aptos"/>
              </a:rPr>
              <a:t>Choose what should be built / tested first.</a:t>
            </a:r>
          </a:p>
        </p:txBody>
      </p:sp>
      <p:sp>
        <p:nvSpPr>
          <p:cNvPr id="21" name="Rounded Rectangle 20"/>
          <p:cNvSpPr/>
          <p:nvPr/>
        </p:nvSpPr>
        <p:spPr>
          <a:xfrm>
            <a:off x="914400" y="3950208"/>
            <a:ext cx="10332720" cy="530352"/>
          </a:xfrm>
          <a:prstGeom prst="roundRect">
            <a:avLst/>
          </a:prstGeom>
          <a:solidFill>
            <a:srgbClr val="FFFFFF"/>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097280" y="4014216"/>
            <a:ext cx="402336" cy="402336"/>
          </a:xfrm>
          <a:prstGeom prst="ellipse">
            <a:avLst/>
          </a:prstGeom>
          <a:solidFill>
            <a:srgbClr val="1D9D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143000" y="3986784"/>
            <a:ext cx="310896" cy="457200"/>
          </a:xfrm>
          <a:prstGeom prst="rect">
            <a:avLst/>
          </a:prstGeom>
          <a:noFill/>
        </p:spPr>
        <p:txBody>
          <a:bodyPr wrap="square" anchor="ctr">
            <a:spAutoFit/>
          </a:bodyPr>
          <a:lstStyle/>
          <a:p>
            <a:pPr algn="ctr">
              <a:spcBef>
                <a:spcPts val="0"/>
              </a:spcBef>
              <a:spcAft>
                <a:spcPts val="0"/>
              </a:spcAft>
            </a:pPr>
            <a:r>
              <a:rPr sz="700" b="1">
                <a:solidFill>
                  <a:srgbClr val="FFFFFF"/>
                </a:solidFill>
                <a:latin typeface="Aptos"/>
              </a:rPr>
              <a:t>4</a:t>
            </a:r>
          </a:p>
        </p:txBody>
      </p:sp>
      <p:sp>
        <p:nvSpPr>
          <p:cNvPr id="24" name="TextBox 23"/>
          <p:cNvSpPr txBox="1"/>
          <p:nvPr/>
        </p:nvSpPr>
        <p:spPr>
          <a:xfrm>
            <a:off x="1737360" y="4059936"/>
            <a:ext cx="2103120" cy="228600"/>
          </a:xfrm>
          <a:prstGeom prst="rect">
            <a:avLst/>
          </a:prstGeom>
          <a:noFill/>
        </p:spPr>
        <p:txBody>
          <a:bodyPr wrap="square" anchor="t">
            <a:spAutoFit/>
          </a:bodyPr>
          <a:lstStyle/>
          <a:p>
            <a:pPr algn="l">
              <a:spcBef>
                <a:spcPts val="0"/>
              </a:spcBef>
              <a:spcAft>
                <a:spcPts val="0"/>
              </a:spcAft>
            </a:pPr>
            <a:r>
              <a:rPr sz="1150" b="1">
                <a:solidFill>
                  <a:srgbClr val="183A5B"/>
                </a:solidFill>
                <a:latin typeface="Aptos"/>
              </a:rPr>
              <a:t>Pilot / Proof</a:t>
            </a:r>
          </a:p>
        </p:txBody>
      </p:sp>
      <p:sp>
        <p:nvSpPr>
          <p:cNvPr id="25" name="TextBox 24"/>
          <p:cNvSpPr txBox="1"/>
          <p:nvPr/>
        </p:nvSpPr>
        <p:spPr>
          <a:xfrm>
            <a:off x="3886200" y="4059936"/>
            <a:ext cx="6903720" cy="274320"/>
          </a:xfrm>
          <a:prstGeom prst="rect">
            <a:avLst/>
          </a:prstGeom>
          <a:noFill/>
        </p:spPr>
        <p:txBody>
          <a:bodyPr wrap="square" anchor="t">
            <a:spAutoFit/>
          </a:bodyPr>
          <a:lstStyle/>
          <a:p>
            <a:pPr algn="l">
              <a:spcBef>
                <a:spcPts val="0"/>
              </a:spcBef>
              <a:spcAft>
                <a:spcPts val="0"/>
              </a:spcAft>
            </a:pPr>
            <a:r>
              <a:rPr sz="950" b="0">
                <a:solidFill>
                  <a:srgbClr val="5C6A78"/>
                </a:solidFill>
                <a:latin typeface="Aptos"/>
              </a:rPr>
              <a:t>Create a bounded test with clear learning objectives.</a:t>
            </a:r>
          </a:p>
        </p:txBody>
      </p:sp>
      <p:sp>
        <p:nvSpPr>
          <p:cNvPr id="26" name="Rounded Rectangle 25"/>
          <p:cNvSpPr/>
          <p:nvPr/>
        </p:nvSpPr>
        <p:spPr>
          <a:xfrm>
            <a:off x="914400" y="4718304"/>
            <a:ext cx="10332720" cy="530352"/>
          </a:xfrm>
          <a:prstGeom prst="roundRect">
            <a:avLst/>
          </a:prstGeom>
          <a:solidFill>
            <a:srgbClr val="FFFFFF"/>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097280" y="4782312"/>
            <a:ext cx="402336" cy="402336"/>
          </a:xfrm>
          <a:prstGeom prst="ellipse">
            <a:avLst/>
          </a:prstGeom>
          <a:solidFill>
            <a:srgbClr val="4C7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143000" y="4754880"/>
            <a:ext cx="310896" cy="457200"/>
          </a:xfrm>
          <a:prstGeom prst="rect">
            <a:avLst/>
          </a:prstGeom>
          <a:noFill/>
        </p:spPr>
        <p:txBody>
          <a:bodyPr wrap="square" anchor="ctr">
            <a:spAutoFit/>
          </a:bodyPr>
          <a:lstStyle/>
          <a:p>
            <a:pPr algn="ctr">
              <a:spcBef>
                <a:spcPts val="0"/>
              </a:spcBef>
              <a:spcAft>
                <a:spcPts val="0"/>
              </a:spcAft>
            </a:pPr>
            <a:r>
              <a:rPr sz="700" b="1">
                <a:solidFill>
                  <a:srgbClr val="FFFFFF"/>
                </a:solidFill>
                <a:latin typeface="Aptos"/>
              </a:rPr>
              <a:t>5</a:t>
            </a:r>
          </a:p>
        </p:txBody>
      </p:sp>
      <p:sp>
        <p:nvSpPr>
          <p:cNvPr id="29" name="TextBox 28"/>
          <p:cNvSpPr txBox="1"/>
          <p:nvPr/>
        </p:nvSpPr>
        <p:spPr>
          <a:xfrm>
            <a:off x="1737360" y="4828032"/>
            <a:ext cx="2103120" cy="228600"/>
          </a:xfrm>
          <a:prstGeom prst="rect">
            <a:avLst/>
          </a:prstGeom>
          <a:noFill/>
        </p:spPr>
        <p:txBody>
          <a:bodyPr wrap="square" anchor="t">
            <a:spAutoFit/>
          </a:bodyPr>
          <a:lstStyle/>
          <a:p>
            <a:pPr algn="l">
              <a:spcBef>
                <a:spcPts val="0"/>
              </a:spcBef>
              <a:spcAft>
                <a:spcPts val="0"/>
              </a:spcAft>
            </a:pPr>
            <a:r>
              <a:rPr sz="1150" b="1">
                <a:solidFill>
                  <a:srgbClr val="183A5B"/>
                </a:solidFill>
                <a:latin typeface="Aptos"/>
              </a:rPr>
              <a:t>Review</a:t>
            </a:r>
          </a:p>
        </p:txBody>
      </p:sp>
      <p:sp>
        <p:nvSpPr>
          <p:cNvPr id="30" name="TextBox 29"/>
          <p:cNvSpPr txBox="1"/>
          <p:nvPr/>
        </p:nvSpPr>
        <p:spPr>
          <a:xfrm>
            <a:off x="3886200" y="4828032"/>
            <a:ext cx="6903720" cy="274320"/>
          </a:xfrm>
          <a:prstGeom prst="rect">
            <a:avLst/>
          </a:prstGeom>
          <a:noFill/>
        </p:spPr>
        <p:txBody>
          <a:bodyPr wrap="square" anchor="t">
            <a:spAutoFit/>
          </a:bodyPr>
          <a:lstStyle/>
          <a:p>
            <a:pPr algn="l">
              <a:spcBef>
                <a:spcPts val="0"/>
              </a:spcBef>
              <a:spcAft>
                <a:spcPts val="0"/>
              </a:spcAft>
            </a:pPr>
            <a:r>
              <a:rPr sz="950" b="0">
                <a:solidFill>
                  <a:srgbClr val="5C6A78"/>
                </a:solidFill>
                <a:latin typeface="Aptos"/>
              </a:rPr>
              <a:t>Assess value, capability, fit and next-step options.</a:t>
            </a:r>
          </a:p>
        </p:txBody>
      </p:sp>
      <p:sp>
        <p:nvSpPr>
          <p:cNvPr id="31" name="TextBox 30"/>
          <p:cNvSpPr txBox="1"/>
          <p:nvPr/>
        </p:nvSpPr>
        <p:spPr>
          <a:xfrm>
            <a:off x="960120" y="5806440"/>
            <a:ext cx="10241280" cy="347472"/>
          </a:xfrm>
          <a:prstGeom prst="rect">
            <a:avLst/>
          </a:prstGeom>
          <a:noFill/>
        </p:spPr>
        <p:txBody>
          <a:bodyPr wrap="square" anchor="t">
            <a:spAutoFit/>
          </a:bodyPr>
          <a:lstStyle/>
          <a:p>
            <a:pPr algn="ctr">
              <a:spcBef>
                <a:spcPts val="0"/>
              </a:spcBef>
              <a:spcAft>
                <a:spcPts val="0"/>
              </a:spcAft>
            </a:pPr>
            <a:r>
              <a:rPr sz="1350" b="1">
                <a:solidFill>
                  <a:srgbClr val="183A5B"/>
                </a:solidFill>
                <a:latin typeface="Aptos"/>
              </a:rPr>
              <a:t>Only after this process should we decide what a longer-term collaboration could look like.</a:t>
            </a:r>
          </a:p>
        </p:txBody>
      </p:sp>
      <p:sp>
        <p:nvSpPr>
          <p:cNvPr id="32" name="TextBox 31"/>
          <p:cNvSpPr txBox="1"/>
          <p:nvPr/>
        </p:nvSpPr>
        <p:spPr>
          <a:xfrm>
            <a:off x="566928" y="6473952"/>
            <a:ext cx="1828800" cy="182880"/>
          </a:xfrm>
          <a:prstGeom prst="rect">
            <a:avLst/>
          </a:prstGeom>
          <a:noFill/>
        </p:spPr>
        <p:txBody>
          <a:bodyPr wrap="square" anchor="t">
            <a:spAutoFit/>
          </a:bodyPr>
          <a:lstStyle/>
          <a:p>
            <a:pPr algn="l">
              <a:spcBef>
                <a:spcPts val="0"/>
              </a:spcBef>
              <a:spcAft>
                <a:spcPts val="0"/>
              </a:spcAft>
            </a:pPr>
            <a:r>
              <a:rPr sz="800" b="1">
                <a:solidFill>
                  <a:srgbClr val="183A5B"/>
                </a:solidFill>
                <a:latin typeface="Aptos"/>
              </a:rPr>
              <a:t>MASAR | مسار</a:t>
            </a:r>
          </a:p>
        </p:txBody>
      </p:sp>
      <p:sp>
        <p:nvSpPr>
          <p:cNvPr id="33" name="TextBox 32"/>
          <p:cNvSpPr txBox="1"/>
          <p:nvPr/>
        </p:nvSpPr>
        <p:spPr>
          <a:xfrm>
            <a:off x="11109960" y="6473952"/>
            <a:ext cx="502920" cy="182880"/>
          </a:xfrm>
          <a:prstGeom prst="rect">
            <a:avLst/>
          </a:prstGeom>
          <a:noFill/>
        </p:spPr>
        <p:txBody>
          <a:bodyPr wrap="square" anchor="t">
            <a:spAutoFit/>
          </a:bodyPr>
          <a:lstStyle/>
          <a:p>
            <a:pPr algn="r">
              <a:spcBef>
                <a:spcPts val="0"/>
              </a:spcBef>
              <a:spcAft>
                <a:spcPts val="0"/>
              </a:spcAft>
            </a:pPr>
            <a:r>
              <a:rPr sz="800" b="1">
                <a:solidFill>
                  <a:srgbClr val="5C6A78"/>
                </a:solidFill>
                <a:latin typeface="Aptos"/>
              </a:rPr>
              <a:t>12</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46888"/>
            <a:ext cx="3200400" cy="228600"/>
          </a:xfrm>
          <a:prstGeom prst="rect">
            <a:avLst/>
          </a:prstGeom>
          <a:noFill/>
        </p:spPr>
        <p:txBody>
          <a:bodyPr wrap="square" anchor="t">
            <a:spAutoFit/>
          </a:bodyPr>
          <a:lstStyle/>
          <a:p>
            <a:pPr algn="l">
              <a:spcBef>
                <a:spcPts val="0"/>
              </a:spcBef>
              <a:spcAft>
                <a:spcPts val="0"/>
              </a:spcAft>
            </a:pPr>
            <a:r>
              <a:rPr sz="900" b="1">
                <a:solidFill>
                  <a:srgbClr val="CAA143"/>
                </a:solidFill>
                <a:latin typeface="Aptos"/>
              </a:rPr>
              <a:t>MASAR | مسار   •   13</a:t>
            </a:r>
          </a:p>
        </p:txBody>
      </p:sp>
      <p:sp>
        <p:nvSpPr>
          <p:cNvPr id="4" name="TextBox 3"/>
          <p:cNvSpPr txBox="1"/>
          <p:nvPr/>
        </p:nvSpPr>
        <p:spPr>
          <a:xfrm>
            <a:off x="594360" y="621792"/>
            <a:ext cx="10972800" cy="594360"/>
          </a:xfrm>
          <a:prstGeom prst="rect">
            <a:avLst/>
          </a:prstGeom>
          <a:noFill/>
        </p:spPr>
        <p:txBody>
          <a:bodyPr wrap="square" anchor="t">
            <a:spAutoFit/>
          </a:bodyPr>
          <a:lstStyle/>
          <a:p>
            <a:pPr algn="l">
              <a:spcBef>
                <a:spcPts val="0"/>
              </a:spcBef>
              <a:spcAft>
                <a:spcPts val="0"/>
              </a:spcAft>
            </a:pPr>
            <a:r>
              <a:rPr sz="2800" b="1">
                <a:solidFill>
                  <a:srgbClr val="183A5B"/>
                </a:solidFill>
                <a:latin typeface="Aptos"/>
              </a:rPr>
              <a:t>Possible Collaboration Structures</a:t>
            </a:r>
          </a:p>
        </p:txBody>
      </p:sp>
      <p:sp>
        <p:nvSpPr>
          <p:cNvPr id="5" name="TextBox 4"/>
          <p:cNvSpPr txBox="1"/>
          <p:nvPr/>
        </p:nvSpPr>
        <p:spPr>
          <a:xfrm>
            <a:off x="612648" y="1261872"/>
            <a:ext cx="10789920" cy="384048"/>
          </a:xfrm>
          <a:prstGeom prst="rect">
            <a:avLst/>
          </a:prstGeom>
          <a:noFill/>
        </p:spPr>
        <p:txBody>
          <a:bodyPr wrap="square" anchor="t">
            <a:spAutoFit/>
          </a:bodyPr>
          <a:lstStyle/>
          <a:p>
            <a:pPr algn="l">
              <a:spcBef>
                <a:spcPts val="0"/>
              </a:spcBef>
              <a:spcAft>
                <a:spcPts val="0"/>
              </a:spcAft>
            </a:pPr>
            <a:r>
              <a:rPr sz="1150" b="0">
                <a:solidFill>
                  <a:srgbClr val="5C6A78"/>
                </a:solidFill>
                <a:latin typeface="Aptos"/>
              </a:rPr>
              <a:t>Ideas for discussion — not proposed terms.</a:t>
            </a:r>
          </a:p>
        </p:txBody>
      </p:sp>
      <p:sp>
        <p:nvSpPr>
          <p:cNvPr id="6" name="Rounded Rectangle 5"/>
          <p:cNvSpPr/>
          <p:nvPr/>
        </p:nvSpPr>
        <p:spPr>
          <a:xfrm>
            <a:off x="594360" y="1719072"/>
            <a:ext cx="3493008" cy="1481328"/>
          </a:xfrm>
          <a:prstGeom prst="roundRect">
            <a:avLst/>
          </a:prstGeom>
          <a:solidFill>
            <a:srgbClr val="F6F9FB"/>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94360" y="1719072"/>
            <a:ext cx="50292" cy="1481328"/>
          </a:xfrm>
          <a:prstGeom prst="rect">
            <a:avLst/>
          </a:prstGeom>
          <a:solidFill>
            <a:srgbClr val="1D9D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95528" y="1883664"/>
            <a:ext cx="3108960" cy="347472"/>
          </a:xfrm>
          <a:prstGeom prst="rect">
            <a:avLst/>
          </a:prstGeom>
          <a:noFill/>
        </p:spPr>
        <p:txBody>
          <a:bodyPr wrap="square" anchor="t">
            <a:spAutoFit/>
          </a:bodyPr>
          <a:lstStyle/>
          <a:p>
            <a:pPr algn="l">
              <a:spcBef>
                <a:spcPts val="0"/>
              </a:spcBef>
              <a:spcAft>
                <a:spcPts val="0"/>
              </a:spcAft>
            </a:pPr>
            <a:r>
              <a:rPr sz="1300" b="1">
                <a:solidFill>
                  <a:srgbClr val="183A5B"/>
                </a:solidFill>
                <a:latin typeface="Aptos"/>
              </a:rPr>
              <a:t>Project-based</a:t>
            </a:r>
          </a:p>
        </p:txBody>
      </p:sp>
      <p:sp>
        <p:nvSpPr>
          <p:cNvPr id="9" name="TextBox 8"/>
          <p:cNvSpPr txBox="1"/>
          <p:nvPr/>
        </p:nvSpPr>
        <p:spPr>
          <a:xfrm>
            <a:off x="795528" y="2359152"/>
            <a:ext cx="3108960" cy="713232"/>
          </a:xfrm>
          <a:prstGeom prst="rect">
            <a:avLst/>
          </a:prstGeom>
          <a:noFill/>
        </p:spPr>
        <p:txBody>
          <a:bodyPr wrap="square" anchor="t">
            <a:spAutoFit/>
          </a:bodyPr>
          <a:lstStyle/>
          <a:p>
            <a:pPr algn="l">
              <a:spcBef>
                <a:spcPts val="0"/>
              </a:spcBef>
              <a:spcAft>
                <a:spcPts val="0"/>
              </a:spcAft>
            </a:pPr>
            <a:r>
              <a:rPr sz="969" b="0">
                <a:solidFill>
                  <a:srgbClr val="5C6A78"/>
                </a:solidFill>
                <a:latin typeface="Aptos"/>
              </a:rPr>
              <a:t>A defined build or product engagement with a clear scope.</a:t>
            </a:r>
          </a:p>
        </p:txBody>
      </p:sp>
      <p:sp>
        <p:nvSpPr>
          <p:cNvPr id="10" name="Rounded Rectangle 9"/>
          <p:cNvSpPr/>
          <p:nvPr/>
        </p:nvSpPr>
        <p:spPr>
          <a:xfrm>
            <a:off x="4434840" y="1719072"/>
            <a:ext cx="3493008" cy="1481328"/>
          </a:xfrm>
          <a:prstGeom prst="roundRect">
            <a:avLst/>
          </a:prstGeom>
          <a:solidFill>
            <a:srgbClr val="F6F9FB"/>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434840" y="1719072"/>
            <a:ext cx="50292" cy="1481328"/>
          </a:xfrm>
          <a:prstGeom prst="rect">
            <a:avLst/>
          </a:prstGeom>
          <a:solidFill>
            <a:srgbClr val="4C7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36008" y="1883664"/>
            <a:ext cx="3108960" cy="347472"/>
          </a:xfrm>
          <a:prstGeom prst="rect">
            <a:avLst/>
          </a:prstGeom>
          <a:noFill/>
        </p:spPr>
        <p:txBody>
          <a:bodyPr wrap="square" anchor="t">
            <a:spAutoFit/>
          </a:bodyPr>
          <a:lstStyle/>
          <a:p>
            <a:pPr algn="l">
              <a:spcBef>
                <a:spcPts val="0"/>
              </a:spcBef>
              <a:spcAft>
                <a:spcPts val="0"/>
              </a:spcAft>
            </a:pPr>
            <a:r>
              <a:rPr sz="1300" b="1">
                <a:solidFill>
                  <a:srgbClr val="183A5B"/>
                </a:solidFill>
                <a:latin typeface="Aptos"/>
              </a:rPr>
              <a:t>Strategic service partnership</a:t>
            </a:r>
          </a:p>
        </p:txBody>
      </p:sp>
      <p:sp>
        <p:nvSpPr>
          <p:cNvPr id="13" name="TextBox 12"/>
          <p:cNvSpPr txBox="1"/>
          <p:nvPr/>
        </p:nvSpPr>
        <p:spPr>
          <a:xfrm>
            <a:off x="4636008" y="2359152"/>
            <a:ext cx="3108960" cy="713232"/>
          </a:xfrm>
          <a:prstGeom prst="rect">
            <a:avLst/>
          </a:prstGeom>
          <a:noFill/>
        </p:spPr>
        <p:txBody>
          <a:bodyPr wrap="square" anchor="t">
            <a:spAutoFit/>
          </a:bodyPr>
          <a:lstStyle/>
          <a:p>
            <a:pPr algn="l">
              <a:spcBef>
                <a:spcPts val="0"/>
              </a:spcBef>
              <a:spcAft>
                <a:spcPts val="0"/>
              </a:spcAft>
            </a:pPr>
            <a:r>
              <a:rPr sz="969" b="0">
                <a:solidFill>
                  <a:srgbClr val="5C6A78"/>
                </a:solidFill>
                <a:latin typeface="Aptos"/>
              </a:rPr>
              <a:t>An ongoing relationship across selected technology, product or growth activities.</a:t>
            </a:r>
          </a:p>
        </p:txBody>
      </p:sp>
      <p:sp>
        <p:nvSpPr>
          <p:cNvPr id="14" name="Rounded Rectangle 13"/>
          <p:cNvSpPr/>
          <p:nvPr/>
        </p:nvSpPr>
        <p:spPr>
          <a:xfrm>
            <a:off x="8275320" y="1719072"/>
            <a:ext cx="3493008" cy="1481328"/>
          </a:xfrm>
          <a:prstGeom prst="roundRect">
            <a:avLst/>
          </a:prstGeom>
          <a:solidFill>
            <a:srgbClr val="F6F9FB"/>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275320" y="1719072"/>
            <a:ext cx="50292" cy="1481328"/>
          </a:xfrm>
          <a:prstGeom prst="rect">
            <a:avLst/>
          </a:prstGeom>
          <a:solidFill>
            <a:srgbClr val="CAA1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76488" y="1883664"/>
            <a:ext cx="3108960" cy="347472"/>
          </a:xfrm>
          <a:prstGeom prst="rect">
            <a:avLst/>
          </a:prstGeom>
          <a:noFill/>
        </p:spPr>
        <p:txBody>
          <a:bodyPr wrap="square" anchor="t">
            <a:spAutoFit/>
          </a:bodyPr>
          <a:lstStyle/>
          <a:p>
            <a:pPr algn="l">
              <a:spcBef>
                <a:spcPts val="0"/>
              </a:spcBef>
              <a:spcAft>
                <a:spcPts val="0"/>
              </a:spcAft>
            </a:pPr>
            <a:r>
              <a:rPr sz="1300" b="1">
                <a:solidFill>
                  <a:srgbClr val="183A5B"/>
                </a:solidFill>
                <a:latin typeface="Aptos"/>
              </a:rPr>
              <a:t>Performance / revenue-linked</a:t>
            </a:r>
          </a:p>
        </p:txBody>
      </p:sp>
      <p:sp>
        <p:nvSpPr>
          <p:cNvPr id="17" name="TextBox 16"/>
          <p:cNvSpPr txBox="1"/>
          <p:nvPr/>
        </p:nvSpPr>
        <p:spPr>
          <a:xfrm>
            <a:off x="8476488" y="2359152"/>
            <a:ext cx="3108960" cy="713232"/>
          </a:xfrm>
          <a:prstGeom prst="rect">
            <a:avLst/>
          </a:prstGeom>
          <a:noFill/>
        </p:spPr>
        <p:txBody>
          <a:bodyPr wrap="square" anchor="t">
            <a:spAutoFit/>
          </a:bodyPr>
          <a:lstStyle/>
          <a:p>
            <a:pPr algn="l">
              <a:spcBef>
                <a:spcPts val="0"/>
              </a:spcBef>
              <a:spcAft>
                <a:spcPts val="0"/>
              </a:spcAft>
            </a:pPr>
            <a:r>
              <a:rPr sz="969" b="0">
                <a:solidFill>
                  <a:srgbClr val="5C6A78"/>
                </a:solidFill>
                <a:latin typeface="Aptos"/>
              </a:rPr>
              <a:t>A model where part of the commercial return is connected to agreed outcomes.</a:t>
            </a:r>
          </a:p>
        </p:txBody>
      </p:sp>
      <p:sp>
        <p:nvSpPr>
          <p:cNvPr id="18" name="Rounded Rectangle 17"/>
          <p:cNvSpPr/>
          <p:nvPr/>
        </p:nvSpPr>
        <p:spPr>
          <a:xfrm>
            <a:off x="594360" y="3547872"/>
            <a:ext cx="3493008" cy="1481328"/>
          </a:xfrm>
          <a:prstGeom prst="roundRect">
            <a:avLst/>
          </a:prstGeom>
          <a:solidFill>
            <a:srgbClr val="F6F9FB"/>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94360" y="3547872"/>
            <a:ext cx="50292" cy="1481328"/>
          </a:xfrm>
          <a:prstGeom prst="rect">
            <a:avLst/>
          </a:prstGeom>
          <a:solidFill>
            <a:srgbClr val="1D9D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95528" y="3712463"/>
            <a:ext cx="3108960" cy="347472"/>
          </a:xfrm>
          <a:prstGeom prst="rect">
            <a:avLst/>
          </a:prstGeom>
          <a:noFill/>
        </p:spPr>
        <p:txBody>
          <a:bodyPr wrap="square" anchor="t">
            <a:spAutoFit/>
          </a:bodyPr>
          <a:lstStyle/>
          <a:p>
            <a:pPr algn="l">
              <a:spcBef>
                <a:spcPts val="0"/>
              </a:spcBef>
              <a:spcAft>
                <a:spcPts val="0"/>
              </a:spcAft>
            </a:pPr>
            <a:r>
              <a:rPr sz="1300" b="1">
                <a:solidFill>
                  <a:srgbClr val="183A5B"/>
                </a:solidFill>
                <a:latin typeface="Aptos"/>
              </a:rPr>
              <a:t>Co-development</a:t>
            </a:r>
          </a:p>
        </p:txBody>
      </p:sp>
      <p:sp>
        <p:nvSpPr>
          <p:cNvPr id="21" name="TextBox 20"/>
          <p:cNvSpPr txBox="1"/>
          <p:nvPr/>
        </p:nvSpPr>
        <p:spPr>
          <a:xfrm>
            <a:off x="795528" y="4187952"/>
            <a:ext cx="3108960" cy="713232"/>
          </a:xfrm>
          <a:prstGeom prst="rect">
            <a:avLst/>
          </a:prstGeom>
          <a:noFill/>
        </p:spPr>
        <p:txBody>
          <a:bodyPr wrap="square" anchor="t">
            <a:spAutoFit/>
          </a:bodyPr>
          <a:lstStyle/>
          <a:p>
            <a:pPr algn="l">
              <a:spcBef>
                <a:spcPts val="0"/>
              </a:spcBef>
              <a:spcAft>
                <a:spcPts val="0"/>
              </a:spcAft>
            </a:pPr>
            <a:r>
              <a:rPr sz="969" b="0">
                <a:solidFill>
                  <a:srgbClr val="5C6A78"/>
                </a:solidFill>
                <a:latin typeface="Aptos"/>
              </a:rPr>
              <a:t>Both parties contribute capability and jointly develop selected products.</a:t>
            </a:r>
          </a:p>
        </p:txBody>
      </p:sp>
      <p:sp>
        <p:nvSpPr>
          <p:cNvPr id="22" name="Rounded Rectangle 21"/>
          <p:cNvSpPr/>
          <p:nvPr/>
        </p:nvSpPr>
        <p:spPr>
          <a:xfrm>
            <a:off x="4434840" y="3547872"/>
            <a:ext cx="3493008" cy="1481328"/>
          </a:xfrm>
          <a:prstGeom prst="roundRect">
            <a:avLst/>
          </a:prstGeom>
          <a:solidFill>
            <a:srgbClr val="F6F9FB"/>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434840" y="3547872"/>
            <a:ext cx="50292" cy="1481328"/>
          </a:xfrm>
          <a:prstGeom prst="rect">
            <a:avLst/>
          </a:prstGeom>
          <a:solidFill>
            <a:srgbClr val="4C7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636008" y="3712463"/>
            <a:ext cx="3108960" cy="347472"/>
          </a:xfrm>
          <a:prstGeom prst="rect">
            <a:avLst/>
          </a:prstGeom>
          <a:noFill/>
        </p:spPr>
        <p:txBody>
          <a:bodyPr wrap="square" anchor="t">
            <a:spAutoFit/>
          </a:bodyPr>
          <a:lstStyle/>
          <a:p>
            <a:pPr algn="l">
              <a:spcBef>
                <a:spcPts val="0"/>
              </a:spcBef>
              <a:spcAft>
                <a:spcPts val="0"/>
              </a:spcAft>
            </a:pPr>
            <a:r>
              <a:rPr sz="1300" b="1">
                <a:solidFill>
                  <a:srgbClr val="183A5B"/>
                </a:solidFill>
                <a:latin typeface="Aptos"/>
              </a:rPr>
              <a:t>Future strategic vehicle</a:t>
            </a:r>
          </a:p>
        </p:txBody>
      </p:sp>
      <p:sp>
        <p:nvSpPr>
          <p:cNvPr id="25" name="TextBox 24"/>
          <p:cNvSpPr txBox="1"/>
          <p:nvPr/>
        </p:nvSpPr>
        <p:spPr>
          <a:xfrm>
            <a:off x="4636008" y="4187952"/>
            <a:ext cx="3108960" cy="713232"/>
          </a:xfrm>
          <a:prstGeom prst="rect">
            <a:avLst/>
          </a:prstGeom>
          <a:noFill/>
        </p:spPr>
        <p:txBody>
          <a:bodyPr wrap="square" anchor="t">
            <a:spAutoFit/>
          </a:bodyPr>
          <a:lstStyle/>
          <a:p>
            <a:pPr algn="l">
              <a:spcBef>
                <a:spcPts val="0"/>
              </a:spcBef>
              <a:spcAft>
                <a:spcPts val="0"/>
              </a:spcAft>
            </a:pPr>
            <a:r>
              <a:rPr sz="969" b="0">
                <a:solidFill>
                  <a:srgbClr val="5C6A78"/>
                </a:solidFill>
                <a:latin typeface="Aptos"/>
              </a:rPr>
              <a:t>If the relationship grows substantially, a dedicated structure could be explored later.</a:t>
            </a:r>
          </a:p>
        </p:txBody>
      </p:sp>
      <p:sp>
        <p:nvSpPr>
          <p:cNvPr id="26" name="TextBox 25"/>
          <p:cNvSpPr txBox="1"/>
          <p:nvPr/>
        </p:nvSpPr>
        <p:spPr>
          <a:xfrm>
            <a:off x="914400" y="5440680"/>
            <a:ext cx="10332720" cy="384048"/>
          </a:xfrm>
          <a:prstGeom prst="rect">
            <a:avLst/>
          </a:prstGeom>
          <a:noFill/>
        </p:spPr>
        <p:txBody>
          <a:bodyPr wrap="square" anchor="t">
            <a:spAutoFit/>
          </a:bodyPr>
          <a:lstStyle/>
          <a:p>
            <a:pPr algn="ctr">
              <a:spcBef>
                <a:spcPts val="0"/>
              </a:spcBef>
              <a:spcAft>
                <a:spcPts val="0"/>
              </a:spcAft>
            </a:pPr>
            <a:r>
              <a:rPr sz="1500" b="1">
                <a:solidFill>
                  <a:srgbClr val="CAA143"/>
                </a:solidFill>
                <a:latin typeface="Aptos"/>
              </a:rPr>
              <a:t>No percentages, ownership split or legal structure is proposed at this stage.</a:t>
            </a:r>
          </a:p>
        </p:txBody>
      </p:sp>
      <p:sp>
        <p:nvSpPr>
          <p:cNvPr id="27" name="TextBox 26"/>
          <p:cNvSpPr txBox="1"/>
          <p:nvPr/>
        </p:nvSpPr>
        <p:spPr>
          <a:xfrm>
            <a:off x="1005840" y="5852160"/>
            <a:ext cx="10149840" cy="320040"/>
          </a:xfrm>
          <a:prstGeom prst="rect">
            <a:avLst/>
          </a:prstGeom>
          <a:noFill/>
        </p:spPr>
        <p:txBody>
          <a:bodyPr wrap="square" anchor="t">
            <a:spAutoFit/>
          </a:bodyPr>
          <a:lstStyle/>
          <a:p>
            <a:pPr algn="ctr">
              <a:spcBef>
                <a:spcPts val="0"/>
              </a:spcBef>
              <a:spcAft>
                <a:spcPts val="0"/>
              </a:spcAft>
            </a:pPr>
            <a:r>
              <a:rPr sz="1100" b="0">
                <a:solidFill>
                  <a:srgbClr val="5C6A78"/>
                </a:solidFill>
                <a:latin typeface="Aptos"/>
              </a:rPr>
              <a:t>The right model should follow actual contribution, responsibility, risk, value created and long-term fit.</a:t>
            </a:r>
          </a:p>
        </p:txBody>
      </p:sp>
      <p:sp>
        <p:nvSpPr>
          <p:cNvPr id="28" name="TextBox 27"/>
          <p:cNvSpPr txBox="1"/>
          <p:nvPr/>
        </p:nvSpPr>
        <p:spPr>
          <a:xfrm>
            <a:off x="566928" y="6473952"/>
            <a:ext cx="1828800" cy="182880"/>
          </a:xfrm>
          <a:prstGeom prst="rect">
            <a:avLst/>
          </a:prstGeom>
          <a:noFill/>
        </p:spPr>
        <p:txBody>
          <a:bodyPr wrap="square" anchor="t">
            <a:spAutoFit/>
          </a:bodyPr>
          <a:lstStyle/>
          <a:p>
            <a:pPr algn="l">
              <a:spcBef>
                <a:spcPts val="0"/>
              </a:spcBef>
              <a:spcAft>
                <a:spcPts val="0"/>
              </a:spcAft>
            </a:pPr>
            <a:r>
              <a:rPr sz="800" b="1">
                <a:solidFill>
                  <a:srgbClr val="183A5B"/>
                </a:solidFill>
                <a:latin typeface="Aptos"/>
              </a:rPr>
              <a:t>MASAR | مسار</a:t>
            </a:r>
          </a:p>
        </p:txBody>
      </p:sp>
      <p:sp>
        <p:nvSpPr>
          <p:cNvPr id="29" name="TextBox 28"/>
          <p:cNvSpPr txBox="1"/>
          <p:nvPr/>
        </p:nvSpPr>
        <p:spPr>
          <a:xfrm>
            <a:off x="11109960" y="6473952"/>
            <a:ext cx="502920" cy="182880"/>
          </a:xfrm>
          <a:prstGeom prst="rect">
            <a:avLst/>
          </a:prstGeom>
          <a:noFill/>
        </p:spPr>
        <p:txBody>
          <a:bodyPr wrap="square" anchor="t">
            <a:spAutoFit/>
          </a:bodyPr>
          <a:lstStyle/>
          <a:p>
            <a:pPr algn="r">
              <a:spcBef>
                <a:spcPts val="0"/>
              </a:spcBef>
              <a:spcAft>
                <a:spcPts val="0"/>
              </a:spcAft>
            </a:pPr>
            <a:r>
              <a:rPr sz="800" b="1">
                <a:solidFill>
                  <a:srgbClr val="5C6A78"/>
                </a:solidFill>
                <a:latin typeface="Aptos"/>
              </a:rPr>
              <a:t>13</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246888"/>
            <a:ext cx="3200400" cy="228600"/>
          </a:xfrm>
          <a:prstGeom prst="rect">
            <a:avLst/>
          </a:prstGeom>
          <a:noFill/>
        </p:spPr>
        <p:txBody>
          <a:bodyPr wrap="square" anchor="t">
            <a:spAutoFit/>
          </a:bodyPr>
          <a:lstStyle/>
          <a:p>
            <a:pPr algn="l">
              <a:spcBef>
                <a:spcPts val="0"/>
              </a:spcBef>
              <a:spcAft>
                <a:spcPts val="0"/>
              </a:spcAft>
            </a:pPr>
            <a:r>
              <a:rPr sz="900" b="1">
                <a:solidFill>
                  <a:srgbClr val="CAA143"/>
                </a:solidFill>
                <a:latin typeface="Aptos"/>
              </a:rPr>
              <a:t>MASAR | مسار   •   14</a:t>
            </a:r>
          </a:p>
        </p:txBody>
      </p:sp>
      <p:sp>
        <p:nvSpPr>
          <p:cNvPr id="4" name="TextBox 3"/>
          <p:cNvSpPr txBox="1"/>
          <p:nvPr/>
        </p:nvSpPr>
        <p:spPr>
          <a:xfrm>
            <a:off x="594360" y="621792"/>
            <a:ext cx="10972800" cy="594360"/>
          </a:xfrm>
          <a:prstGeom prst="rect">
            <a:avLst/>
          </a:prstGeom>
          <a:noFill/>
        </p:spPr>
        <p:txBody>
          <a:bodyPr wrap="square" anchor="t">
            <a:spAutoFit/>
          </a:bodyPr>
          <a:lstStyle/>
          <a:p>
            <a:pPr algn="l">
              <a:spcBef>
                <a:spcPts val="0"/>
              </a:spcBef>
              <a:spcAft>
                <a:spcPts val="0"/>
              </a:spcAft>
            </a:pPr>
            <a:r>
              <a:rPr sz="2800" b="1">
                <a:solidFill>
                  <a:srgbClr val="183A5B"/>
                </a:solidFill>
                <a:latin typeface="Aptos"/>
              </a:rPr>
              <a:t>Principles for a Healthy Partnership</a:t>
            </a:r>
          </a:p>
        </p:txBody>
      </p:sp>
      <p:sp>
        <p:nvSpPr>
          <p:cNvPr id="5" name="TextBox 4"/>
          <p:cNvSpPr txBox="1"/>
          <p:nvPr/>
        </p:nvSpPr>
        <p:spPr>
          <a:xfrm>
            <a:off x="612648" y="1261872"/>
            <a:ext cx="10789920" cy="384048"/>
          </a:xfrm>
          <a:prstGeom prst="rect">
            <a:avLst/>
          </a:prstGeom>
          <a:noFill/>
        </p:spPr>
        <p:txBody>
          <a:bodyPr wrap="square" anchor="t">
            <a:spAutoFit/>
          </a:bodyPr>
          <a:lstStyle/>
          <a:p>
            <a:pPr algn="l">
              <a:spcBef>
                <a:spcPts val="0"/>
              </a:spcBef>
              <a:spcAft>
                <a:spcPts val="0"/>
              </a:spcAft>
            </a:pPr>
            <a:r>
              <a:rPr sz="1150" b="0">
                <a:solidFill>
                  <a:srgbClr val="5C6A78"/>
                </a:solidFill>
                <a:latin typeface="Aptos"/>
              </a:rPr>
              <a:t>Keep the relationship flexible, transparent and useful to both sides.</a:t>
            </a:r>
          </a:p>
        </p:txBody>
      </p:sp>
      <p:sp>
        <p:nvSpPr>
          <p:cNvPr id="6" name="Rounded Rectangle 5"/>
          <p:cNvSpPr/>
          <p:nvPr/>
        </p:nvSpPr>
        <p:spPr>
          <a:xfrm>
            <a:off x="594360" y="1691640"/>
            <a:ext cx="3493008" cy="1517904"/>
          </a:xfrm>
          <a:prstGeom prst="roundRect">
            <a:avLst/>
          </a:prstGeom>
          <a:solidFill>
            <a:srgbClr val="FFFFFF"/>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94360" y="1691640"/>
            <a:ext cx="50292" cy="1517904"/>
          </a:xfrm>
          <a:prstGeom prst="rect">
            <a:avLst/>
          </a:prstGeom>
          <a:solidFill>
            <a:srgbClr val="1D9D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95528" y="1856232"/>
            <a:ext cx="3108960" cy="347472"/>
          </a:xfrm>
          <a:prstGeom prst="rect">
            <a:avLst/>
          </a:prstGeom>
          <a:noFill/>
        </p:spPr>
        <p:txBody>
          <a:bodyPr wrap="square" anchor="t">
            <a:spAutoFit/>
          </a:bodyPr>
          <a:lstStyle/>
          <a:p>
            <a:pPr algn="l">
              <a:spcBef>
                <a:spcPts val="0"/>
              </a:spcBef>
              <a:spcAft>
                <a:spcPts val="0"/>
              </a:spcAft>
            </a:pPr>
            <a:r>
              <a:rPr sz="1300" b="1">
                <a:solidFill>
                  <a:srgbClr val="183A5B"/>
                </a:solidFill>
                <a:latin typeface="Aptos"/>
              </a:rPr>
              <a:t>Protect the core</a:t>
            </a:r>
          </a:p>
        </p:txBody>
      </p:sp>
      <p:sp>
        <p:nvSpPr>
          <p:cNvPr id="9" name="TextBox 8"/>
          <p:cNvSpPr txBox="1"/>
          <p:nvPr/>
        </p:nvSpPr>
        <p:spPr>
          <a:xfrm>
            <a:off x="795528" y="2331720"/>
            <a:ext cx="3108960" cy="749808"/>
          </a:xfrm>
          <a:prstGeom prst="rect">
            <a:avLst/>
          </a:prstGeom>
          <a:noFill/>
        </p:spPr>
        <p:txBody>
          <a:bodyPr wrap="square" anchor="t">
            <a:spAutoFit/>
          </a:bodyPr>
          <a:lstStyle/>
          <a:p>
            <a:pPr algn="l">
              <a:spcBef>
                <a:spcPts val="0"/>
              </a:spcBef>
              <a:spcAft>
                <a:spcPts val="0"/>
              </a:spcAft>
            </a:pPr>
            <a:r>
              <a:rPr sz="969" b="0">
                <a:solidFill>
                  <a:srgbClr val="5C6A78"/>
                </a:solidFill>
                <a:latin typeface="Aptos"/>
              </a:rPr>
              <a:t>MASAR's educational IP, methodology and brand remain clearly defined and protected.</a:t>
            </a:r>
          </a:p>
        </p:txBody>
      </p:sp>
      <p:sp>
        <p:nvSpPr>
          <p:cNvPr id="10" name="Rounded Rectangle 9"/>
          <p:cNvSpPr/>
          <p:nvPr/>
        </p:nvSpPr>
        <p:spPr>
          <a:xfrm>
            <a:off x="4434840" y="1691640"/>
            <a:ext cx="3493008" cy="1517904"/>
          </a:xfrm>
          <a:prstGeom prst="roundRect">
            <a:avLst/>
          </a:prstGeom>
          <a:solidFill>
            <a:srgbClr val="FFFFFF"/>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434840" y="1691640"/>
            <a:ext cx="50292" cy="1517904"/>
          </a:xfrm>
          <a:prstGeom prst="rect">
            <a:avLst/>
          </a:prstGeom>
          <a:solidFill>
            <a:srgbClr val="4C7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36008" y="1856232"/>
            <a:ext cx="3108960" cy="347472"/>
          </a:xfrm>
          <a:prstGeom prst="rect">
            <a:avLst/>
          </a:prstGeom>
          <a:noFill/>
        </p:spPr>
        <p:txBody>
          <a:bodyPr wrap="square" anchor="t">
            <a:spAutoFit/>
          </a:bodyPr>
          <a:lstStyle/>
          <a:p>
            <a:pPr algn="l">
              <a:spcBef>
                <a:spcPts val="0"/>
              </a:spcBef>
              <a:spcAft>
                <a:spcPts val="0"/>
              </a:spcAft>
            </a:pPr>
            <a:r>
              <a:rPr sz="1300" b="1">
                <a:solidFill>
                  <a:srgbClr val="183A5B"/>
                </a:solidFill>
                <a:latin typeface="Aptos"/>
              </a:rPr>
              <a:t>Build progressively</a:t>
            </a:r>
          </a:p>
        </p:txBody>
      </p:sp>
      <p:sp>
        <p:nvSpPr>
          <p:cNvPr id="13" name="TextBox 12"/>
          <p:cNvSpPr txBox="1"/>
          <p:nvPr/>
        </p:nvSpPr>
        <p:spPr>
          <a:xfrm>
            <a:off x="4636008" y="2331720"/>
            <a:ext cx="3108960" cy="749808"/>
          </a:xfrm>
          <a:prstGeom prst="rect">
            <a:avLst/>
          </a:prstGeom>
          <a:noFill/>
        </p:spPr>
        <p:txBody>
          <a:bodyPr wrap="square" anchor="t">
            <a:spAutoFit/>
          </a:bodyPr>
          <a:lstStyle/>
          <a:p>
            <a:pPr algn="l">
              <a:spcBef>
                <a:spcPts val="0"/>
              </a:spcBef>
              <a:spcAft>
                <a:spcPts val="0"/>
              </a:spcAft>
            </a:pPr>
            <a:r>
              <a:rPr sz="969" b="0">
                <a:solidFill>
                  <a:srgbClr val="5C6A78"/>
                </a:solidFill>
                <a:latin typeface="Aptos"/>
              </a:rPr>
              <a:t>Avoid large commitments before the product and market assumptions are tested.</a:t>
            </a:r>
          </a:p>
        </p:txBody>
      </p:sp>
      <p:sp>
        <p:nvSpPr>
          <p:cNvPr id="14" name="Rounded Rectangle 13"/>
          <p:cNvSpPr/>
          <p:nvPr/>
        </p:nvSpPr>
        <p:spPr>
          <a:xfrm>
            <a:off x="8275320" y="1691640"/>
            <a:ext cx="3493008" cy="1517904"/>
          </a:xfrm>
          <a:prstGeom prst="roundRect">
            <a:avLst/>
          </a:prstGeom>
          <a:solidFill>
            <a:srgbClr val="FFFFFF"/>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275320" y="1691640"/>
            <a:ext cx="50292" cy="1517904"/>
          </a:xfrm>
          <a:prstGeom prst="rect">
            <a:avLst/>
          </a:prstGeom>
          <a:solidFill>
            <a:srgbClr val="CAA1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76488" y="1856232"/>
            <a:ext cx="3108960" cy="347472"/>
          </a:xfrm>
          <a:prstGeom prst="rect">
            <a:avLst/>
          </a:prstGeom>
          <a:noFill/>
        </p:spPr>
        <p:txBody>
          <a:bodyPr wrap="square" anchor="t">
            <a:spAutoFit/>
          </a:bodyPr>
          <a:lstStyle/>
          <a:p>
            <a:pPr algn="l">
              <a:spcBef>
                <a:spcPts val="0"/>
              </a:spcBef>
              <a:spcAft>
                <a:spcPts val="0"/>
              </a:spcAft>
            </a:pPr>
            <a:r>
              <a:rPr sz="1300" b="1">
                <a:solidFill>
                  <a:srgbClr val="183A5B"/>
                </a:solidFill>
                <a:latin typeface="Aptos"/>
              </a:rPr>
              <a:t>Keep roles clear</a:t>
            </a:r>
          </a:p>
        </p:txBody>
      </p:sp>
      <p:sp>
        <p:nvSpPr>
          <p:cNvPr id="17" name="TextBox 16"/>
          <p:cNvSpPr txBox="1"/>
          <p:nvPr/>
        </p:nvSpPr>
        <p:spPr>
          <a:xfrm>
            <a:off x="8476488" y="2331720"/>
            <a:ext cx="3108960" cy="749808"/>
          </a:xfrm>
          <a:prstGeom prst="rect">
            <a:avLst/>
          </a:prstGeom>
          <a:noFill/>
        </p:spPr>
        <p:txBody>
          <a:bodyPr wrap="square" anchor="t">
            <a:spAutoFit/>
          </a:bodyPr>
          <a:lstStyle/>
          <a:p>
            <a:pPr algn="l">
              <a:spcBef>
                <a:spcPts val="0"/>
              </a:spcBef>
              <a:spcAft>
                <a:spcPts val="0"/>
              </a:spcAft>
            </a:pPr>
            <a:r>
              <a:rPr sz="969" b="0">
                <a:solidFill>
                  <a:srgbClr val="5C6A78"/>
                </a:solidFill>
                <a:latin typeface="Aptos"/>
              </a:rPr>
              <a:t>Separate educational ownership, technical contribution and commercial responsibilities.</a:t>
            </a:r>
          </a:p>
        </p:txBody>
      </p:sp>
      <p:sp>
        <p:nvSpPr>
          <p:cNvPr id="18" name="Rounded Rectangle 17"/>
          <p:cNvSpPr/>
          <p:nvPr/>
        </p:nvSpPr>
        <p:spPr>
          <a:xfrm>
            <a:off x="594360" y="3566160"/>
            <a:ext cx="3493008" cy="1517904"/>
          </a:xfrm>
          <a:prstGeom prst="roundRect">
            <a:avLst/>
          </a:prstGeom>
          <a:solidFill>
            <a:srgbClr val="FFFFFF"/>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94360" y="3566160"/>
            <a:ext cx="50292" cy="1517904"/>
          </a:xfrm>
          <a:prstGeom prst="rect">
            <a:avLst/>
          </a:prstGeom>
          <a:solidFill>
            <a:srgbClr val="1D9D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95528" y="3730752"/>
            <a:ext cx="3108960" cy="347472"/>
          </a:xfrm>
          <a:prstGeom prst="rect">
            <a:avLst/>
          </a:prstGeom>
          <a:noFill/>
        </p:spPr>
        <p:txBody>
          <a:bodyPr wrap="square" anchor="t">
            <a:spAutoFit/>
          </a:bodyPr>
          <a:lstStyle/>
          <a:p>
            <a:pPr algn="l">
              <a:spcBef>
                <a:spcPts val="0"/>
              </a:spcBef>
              <a:spcAft>
                <a:spcPts val="0"/>
              </a:spcAft>
            </a:pPr>
            <a:r>
              <a:rPr sz="1300" b="1">
                <a:solidFill>
                  <a:srgbClr val="183A5B"/>
                </a:solidFill>
                <a:latin typeface="Aptos"/>
              </a:rPr>
              <a:t>Measure learning</a:t>
            </a:r>
          </a:p>
        </p:txBody>
      </p:sp>
      <p:sp>
        <p:nvSpPr>
          <p:cNvPr id="21" name="TextBox 20"/>
          <p:cNvSpPr txBox="1"/>
          <p:nvPr/>
        </p:nvSpPr>
        <p:spPr>
          <a:xfrm>
            <a:off x="795528" y="4206240"/>
            <a:ext cx="3108960" cy="749808"/>
          </a:xfrm>
          <a:prstGeom prst="rect">
            <a:avLst/>
          </a:prstGeom>
          <a:noFill/>
        </p:spPr>
        <p:txBody>
          <a:bodyPr wrap="square" anchor="t">
            <a:spAutoFit/>
          </a:bodyPr>
          <a:lstStyle/>
          <a:p>
            <a:pPr algn="l">
              <a:spcBef>
                <a:spcPts val="0"/>
              </a:spcBef>
              <a:spcAft>
                <a:spcPts val="0"/>
              </a:spcAft>
            </a:pPr>
            <a:r>
              <a:rPr sz="969" b="0">
                <a:solidFill>
                  <a:srgbClr val="5C6A78"/>
                </a:solidFill>
                <a:latin typeface="Aptos"/>
              </a:rPr>
              <a:t>Use real usage, buyer feedback and evidence to guide the next decision.</a:t>
            </a:r>
          </a:p>
        </p:txBody>
      </p:sp>
      <p:sp>
        <p:nvSpPr>
          <p:cNvPr id="22" name="Rounded Rectangle 21"/>
          <p:cNvSpPr/>
          <p:nvPr/>
        </p:nvSpPr>
        <p:spPr>
          <a:xfrm>
            <a:off x="4434840" y="3566160"/>
            <a:ext cx="3493008" cy="1517904"/>
          </a:xfrm>
          <a:prstGeom prst="roundRect">
            <a:avLst/>
          </a:prstGeom>
          <a:solidFill>
            <a:srgbClr val="FFFFFF"/>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434840" y="3566160"/>
            <a:ext cx="50292" cy="1517904"/>
          </a:xfrm>
          <a:prstGeom prst="rect">
            <a:avLst/>
          </a:prstGeom>
          <a:solidFill>
            <a:srgbClr val="4C7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636008" y="3730752"/>
            <a:ext cx="3108960" cy="347472"/>
          </a:xfrm>
          <a:prstGeom prst="rect">
            <a:avLst/>
          </a:prstGeom>
          <a:noFill/>
        </p:spPr>
        <p:txBody>
          <a:bodyPr wrap="square" anchor="t">
            <a:spAutoFit/>
          </a:bodyPr>
          <a:lstStyle/>
          <a:p>
            <a:pPr algn="l">
              <a:spcBef>
                <a:spcPts val="0"/>
              </a:spcBef>
              <a:spcAft>
                <a:spcPts val="0"/>
              </a:spcAft>
            </a:pPr>
            <a:r>
              <a:rPr sz="1300" b="1">
                <a:solidFill>
                  <a:srgbClr val="183A5B"/>
                </a:solidFill>
                <a:latin typeface="Aptos"/>
              </a:rPr>
              <a:t>Create mutual value</a:t>
            </a:r>
          </a:p>
        </p:txBody>
      </p:sp>
      <p:sp>
        <p:nvSpPr>
          <p:cNvPr id="25" name="TextBox 24"/>
          <p:cNvSpPr txBox="1"/>
          <p:nvPr/>
        </p:nvSpPr>
        <p:spPr>
          <a:xfrm>
            <a:off x="4636008" y="4206240"/>
            <a:ext cx="3108960" cy="749808"/>
          </a:xfrm>
          <a:prstGeom prst="rect">
            <a:avLst/>
          </a:prstGeom>
          <a:noFill/>
        </p:spPr>
        <p:txBody>
          <a:bodyPr wrap="square" anchor="t">
            <a:spAutoFit/>
          </a:bodyPr>
          <a:lstStyle/>
          <a:p>
            <a:pPr algn="l">
              <a:spcBef>
                <a:spcPts val="0"/>
              </a:spcBef>
              <a:spcAft>
                <a:spcPts val="0"/>
              </a:spcAft>
            </a:pPr>
            <a:r>
              <a:rPr sz="969" b="0">
                <a:solidFill>
                  <a:srgbClr val="5C6A78"/>
                </a:solidFill>
                <a:latin typeface="Aptos"/>
              </a:rPr>
              <a:t>The partnership should make strategic sense for both MASAR and GritWrx.</a:t>
            </a:r>
          </a:p>
        </p:txBody>
      </p:sp>
      <p:sp>
        <p:nvSpPr>
          <p:cNvPr id="26" name="Rounded Rectangle 25"/>
          <p:cNvSpPr/>
          <p:nvPr/>
        </p:nvSpPr>
        <p:spPr>
          <a:xfrm>
            <a:off x="8275320" y="3566160"/>
            <a:ext cx="3493008" cy="1517904"/>
          </a:xfrm>
          <a:prstGeom prst="roundRect">
            <a:avLst/>
          </a:prstGeom>
          <a:solidFill>
            <a:srgbClr val="FFFFFF"/>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275320" y="3566160"/>
            <a:ext cx="50292" cy="1517904"/>
          </a:xfrm>
          <a:prstGeom prst="rect">
            <a:avLst/>
          </a:prstGeom>
          <a:solidFill>
            <a:srgbClr val="CAA1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476488" y="3730752"/>
            <a:ext cx="3108960" cy="347472"/>
          </a:xfrm>
          <a:prstGeom prst="rect">
            <a:avLst/>
          </a:prstGeom>
          <a:noFill/>
        </p:spPr>
        <p:txBody>
          <a:bodyPr wrap="square" anchor="t">
            <a:spAutoFit/>
          </a:bodyPr>
          <a:lstStyle/>
          <a:p>
            <a:pPr algn="l">
              <a:spcBef>
                <a:spcPts val="0"/>
              </a:spcBef>
              <a:spcAft>
                <a:spcPts val="0"/>
              </a:spcAft>
            </a:pPr>
            <a:r>
              <a:rPr sz="1300" b="1">
                <a:solidFill>
                  <a:srgbClr val="183A5B"/>
                </a:solidFill>
                <a:latin typeface="Aptos"/>
              </a:rPr>
              <a:t>Keep options open</a:t>
            </a:r>
          </a:p>
        </p:txBody>
      </p:sp>
      <p:sp>
        <p:nvSpPr>
          <p:cNvPr id="29" name="TextBox 28"/>
          <p:cNvSpPr txBox="1"/>
          <p:nvPr/>
        </p:nvSpPr>
        <p:spPr>
          <a:xfrm>
            <a:off x="8476488" y="4206240"/>
            <a:ext cx="3108960" cy="749808"/>
          </a:xfrm>
          <a:prstGeom prst="rect">
            <a:avLst/>
          </a:prstGeom>
          <a:noFill/>
        </p:spPr>
        <p:txBody>
          <a:bodyPr wrap="square" anchor="t">
            <a:spAutoFit/>
          </a:bodyPr>
          <a:lstStyle/>
          <a:p>
            <a:pPr algn="l">
              <a:spcBef>
                <a:spcPts val="0"/>
              </a:spcBef>
              <a:spcAft>
                <a:spcPts val="0"/>
              </a:spcAft>
            </a:pPr>
            <a:r>
              <a:rPr sz="969" b="0">
                <a:solidFill>
                  <a:srgbClr val="5C6A78"/>
                </a:solidFill>
                <a:latin typeface="Aptos"/>
              </a:rPr>
              <a:t>The structure can evolve as the relationship and opportunity become clearer.</a:t>
            </a:r>
          </a:p>
        </p:txBody>
      </p:sp>
      <p:sp>
        <p:nvSpPr>
          <p:cNvPr id="30" name="TextBox 29"/>
          <p:cNvSpPr txBox="1"/>
          <p:nvPr/>
        </p:nvSpPr>
        <p:spPr>
          <a:xfrm>
            <a:off x="566928" y="6473952"/>
            <a:ext cx="1828800" cy="182880"/>
          </a:xfrm>
          <a:prstGeom prst="rect">
            <a:avLst/>
          </a:prstGeom>
          <a:noFill/>
        </p:spPr>
        <p:txBody>
          <a:bodyPr wrap="square" anchor="t">
            <a:spAutoFit/>
          </a:bodyPr>
          <a:lstStyle/>
          <a:p>
            <a:pPr algn="l">
              <a:spcBef>
                <a:spcPts val="0"/>
              </a:spcBef>
              <a:spcAft>
                <a:spcPts val="0"/>
              </a:spcAft>
            </a:pPr>
            <a:r>
              <a:rPr sz="800" b="1">
                <a:solidFill>
                  <a:srgbClr val="183A5B"/>
                </a:solidFill>
                <a:latin typeface="Aptos"/>
              </a:rPr>
              <a:t>MASAR | مسار</a:t>
            </a:r>
          </a:p>
        </p:txBody>
      </p:sp>
      <p:sp>
        <p:nvSpPr>
          <p:cNvPr id="31" name="TextBox 30"/>
          <p:cNvSpPr txBox="1"/>
          <p:nvPr/>
        </p:nvSpPr>
        <p:spPr>
          <a:xfrm>
            <a:off x="11109960" y="6473952"/>
            <a:ext cx="502920" cy="182880"/>
          </a:xfrm>
          <a:prstGeom prst="rect">
            <a:avLst/>
          </a:prstGeom>
          <a:noFill/>
        </p:spPr>
        <p:txBody>
          <a:bodyPr wrap="square" anchor="t">
            <a:spAutoFit/>
          </a:bodyPr>
          <a:lstStyle/>
          <a:p>
            <a:pPr algn="r">
              <a:spcBef>
                <a:spcPts val="0"/>
              </a:spcBef>
              <a:spcAft>
                <a:spcPts val="0"/>
              </a:spcAft>
            </a:pPr>
            <a:r>
              <a:rPr sz="800" b="1">
                <a:solidFill>
                  <a:srgbClr val="5C6A78"/>
                </a:solidFill>
                <a:latin typeface="Aptos"/>
              </a:rPr>
              <a:t>14</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80136"/>
          </a:xfrm>
          <a:prstGeom prst="rect">
            <a:avLst/>
          </a:prstGeom>
          <a:solidFill>
            <a:srgbClr val="173F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5577840" cy="475488"/>
          </a:xfrm>
          <a:prstGeom prst="rect">
            <a:avLst/>
          </a:prstGeom>
          <a:noFill/>
        </p:spPr>
        <p:txBody>
          <a:bodyPr wrap="square" anchor="t">
            <a:spAutoFit/>
          </a:bodyPr>
          <a:lstStyle/>
          <a:p>
            <a:pPr algn="r">
              <a:spcBef>
                <a:spcPts val="0"/>
              </a:spcBef>
              <a:spcAft>
                <a:spcPts val="0"/>
              </a:spcAft>
            </a:pPr>
            <a:r>
              <a:rPr sz="2500" b="1">
                <a:solidFill>
                  <a:srgbClr val="183A5B"/>
                </a:solidFill>
                <a:latin typeface="Aptos"/>
              </a:rPr>
              <a:t>نقاط للنقاش مع الشريك</a:t>
            </a:r>
          </a:p>
        </p:txBody>
      </p:sp>
      <p:sp>
        <p:nvSpPr>
          <p:cNvPr id="4" name="TextBox 3"/>
          <p:cNvSpPr txBox="1"/>
          <p:nvPr/>
        </p:nvSpPr>
        <p:spPr>
          <a:xfrm>
            <a:off x="6199632" y="420624"/>
            <a:ext cx="5349240" cy="384048"/>
          </a:xfrm>
          <a:prstGeom prst="rect">
            <a:avLst/>
          </a:prstGeom>
          <a:noFill/>
        </p:spPr>
        <p:txBody>
          <a:bodyPr wrap="square" anchor="t">
            <a:spAutoFit/>
          </a:bodyPr>
          <a:lstStyle/>
          <a:p>
            <a:pPr algn="l">
              <a:spcBef>
                <a:spcPts val="0"/>
              </a:spcBef>
              <a:spcAft>
                <a:spcPts val="0"/>
              </a:spcAft>
            </a:pPr>
            <a:r>
              <a:rPr sz="1800" b="1">
                <a:solidFill>
                  <a:srgbClr val="173F63"/>
                </a:solidFill>
                <a:latin typeface="Aptos"/>
              </a:rPr>
              <a:t>Points for Discussion with GritWrx</a:t>
            </a:r>
          </a:p>
        </p:txBody>
      </p:sp>
      <p:sp>
        <p:nvSpPr>
          <p:cNvPr id="5" name="Rounded Rectangle 4"/>
          <p:cNvSpPr/>
          <p:nvPr/>
        </p:nvSpPr>
        <p:spPr>
          <a:xfrm>
            <a:off x="594360" y="1234440"/>
            <a:ext cx="5449824" cy="896112"/>
          </a:xfrm>
          <a:prstGeom prst="roundRect">
            <a:avLst/>
          </a:prstGeom>
          <a:solidFill>
            <a:srgbClr val="F6F9FB"/>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380744"/>
            <a:ext cx="566928" cy="566928"/>
          </a:xfrm>
          <a:prstGeom prst="roundRect">
            <a:avLst/>
          </a:prstGeom>
          <a:solidFill>
            <a:srgbClr val="173F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49808" y="1417320"/>
            <a:ext cx="530352" cy="438912"/>
          </a:xfrm>
          <a:prstGeom prst="rect">
            <a:avLst/>
          </a:prstGeom>
          <a:noFill/>
        </p:spPr>
        <p:txBody>
          <a:bodyPr wrap="square" anchor="ctr">
            <a:spAutoFit/>
          </a:bodyPr>
          <a:lstStyle/>
          <a:p>
            <a:pPr algn="ctr">
              <a:spcBef>
                <a:spcPts val="0"/>
              </a:spcBef>
              <a:spcAft>
                <a:spcPts val="0"/>
              </a:spcAft>
            </a:pPr>
            <a:r>
              <a:rPr sz="1800" b="0">
                <a:solidFill>
                  <a:srgbClr val="FFFFFF"/>
                </a:solidFill>
                <a:latin typeface="Aptos"/>
              </a:rPr>
              <a:t>📅</a:t>
            </a:r>
          </a:p>
        </p:txBody>
      </p:sp>
      <p:sp>
        <p:nvSpPr>
          <p:cNvPr id="8" name="TextBox 7"/>
          <p:cNvSpPr txBox="1"/>
          <p:nvPr/>
        </p:nvSpPr>
        <p:spPr>
          <a:xfrm>
            <a:off x="1417320" y="1344168"/>
            <a:ext cx="4462272" cy="256032"/>
          </a:xfrm>
          <a:prstGeom prst="rect">
            <a:avLst/>
          </a:prstGeom>
          <a:noFill/>
        </p:spPr>
        <p:txBody>
          <a:bodyPr wrap="square" anchor="t">
            <a:spAutoFit/>
          </a:bodyPr>
          <a:lstStyle/>
          <a:p>
            <a:pPr algn="r">
              <a:spcBef>
                <a:spcPts val="0"/>
              </a:spcBef>
              <a:spcAft>
                <a:spcPts val="0"/>
              </a:spcAft>
            </a:pPr>
            <a:r>
              <a:rPr sz="1050" b="1">
                <a:solidFill>
                  <a:srgbClr val="183A5B"/>
                </a:solidFill>
                <a:latin typeface="Aptos"/>
              </a:rPr>
              <a:t>خريطة طريق زمنية تقديرية | Indicative Timeline</a:t>
            </a:r>
          </a:p>
        </p:txBody>
      </p:sp>
      <p:sp>
        <p:nvSpPr>
          <p:cNvPr id="9" name="TextBox 8"/>
          <p:cNvSpPr txBox="1"/>
          <p:nvPr/>
        </p:nvSpPr>
        <p:spPr>
          <a:xfrm>
            <a:off x="1417320" y="1664208"/>
            <a:ext cx="4462272" cy="338328"/>
          </a:xfrm>
          <a:prstGeom prst="rect">
            <a:avLst/>
          </a:prstGeom>
          <a:noFill/>
        </p:spPr>
        <p:txBody>
          <a:bodyPr wrap="square" anchor="t">
            <a:spAutoFit/>
          </a:bodyPr>
          <a:lstStyle/>
          <a:p>
            <a:pPr algn="r">
              <a:spcBef>
                <a:spcPts val="0"/>
              </a:spcBef>
              <a:spcAft>
                <a:spcPts val="0"/>
              </a:spcAft>
            </a:pPr>
            <a:r>
              <a:rPr sz="850" b="0">
                <a:solidFill>
                  <a:srgbClr val="5C6A78"/>
                </a:solidFill>
                <a:latin typeface="Aptos"/>
              </a:rPr>
              <a:t>وضع أطر زمنية أولية للمراحل الرئيسية: الاستكشاف، التصميم، البناء، الاختبار التجريبي، والتقييم.</a:t>
            </a:r>
          </a:p>
        </p:txBody>
      </p:sp>
      <p:sp>
        <p:nvSpPr>
          <p:cNvPr id="10" name="Rounded Rectangle 9"/>
          <p:cNvSpPr/>
          <p:nvPr/>
        </p:nvSpPr>
        <p:spPr>
          <a:xfrm>
            <a:off x="594360" y="2258568"/>
            <a:ext cx="5449824" cy="896112"/>
          </a:xfrm>
          <a:prstGeom prst="roundRect">
            <a:avLst/>
          </a:prstGeom>
          <a:solidFill>
            <a:srgbClr val="F6F9FB"/>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31520" y="2404872"/>
            <a:ext cx="566928" cy="566928"/>
          </a:xfrm>
          <a:prstGeom prst="roundRect">
            <a:avLst/>
          </a:prstGeom>
          <a:solidFill>
            <a:srgbClr val="173F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2441448"/>
            <a:ext cx="530352" cy="438912"/>
          </a:xfrm>
          <a:prstGeom prst="rect">
            <a:avLst/>
          </a:prstGeom>
          <a:noFill/>
        </p:spPr>
        <p:txBody>
          <a:bodyPr wrap="square" anchor="ctr">
            <a:spAutoFit/>
          </a:bodyPr>
          <a:lstStyle/>
          <a:p>
            <a:pPr algn="ctr">
              <a:spcBef>
                <a:spcPts val="0"/>
              </a:spcBef>
              <a:spcAft>
                <a:spcPts val="0"/>
              </a:spcAft>
            </a:pPr>
            <a:r>
              <a:rPr sz="1800" b="0">
                <a:solidFill>
                  <a:srgbClr val="FFFFFF"/>
                </a:solidFill>
                <a:latin typeface="Aptos"/>
              </a:rPr>
              <a:t>🎯</a:t>
            </a:r>
          </a:p>
        </p:txBody>
      </p:sp>
      <p:sp>
        <p:nvSpPr>
          <p:cNvPr id="13" name="TextBox 12"/>
          <p:cNvSpPr txBox="1"/>
          <p:nvPr/>
        </p:nvSpPr>
        <p:spPr>
          <a:xfrm>
            <a:off x="1417320" y="2368296"/>
            <a:ext cx="4462272" cy="256032"/>
          </a:xfrm>
          <a:prstGeom prst="rect">
            <a:avLst/>
          </a:prstGeom>
          <a:noFill/>
        </p:spPr>
        <p:txBody>
          <a:bodyPr wrap="square" anchor="t">
            <a:spAutoFit/>
          </a:bodyPr>
          <a:lstStyle/>
          <a:p>
            <a:pPr algn="r">
              <a:spcBef>
                <a:spcPts val="0"/>
              </a:spcBef>
              <a:spcAft>
                <a:spcPts val="0"/>
              </a:spcAft>
            </a:pPr>
            <a:r>
              <a:rPr sz="1050" b="1">
                <a:solidFill>
                  <a:srgbClr val="183A5B"/>
                </a:solidFill>
                <a:latin typeface="Aptos"/>
              </a:rPr>
              <a:t>تحديد حالة استخدام أولى | First Use Case</a:t>
            </a:r>
          </a:p>
        </p:txBody>
      </p:sp>
      <p:sp>
        <p:nvSpPr>
          <p:cNvPr id="14" name="TextBox 13"/>
          <p:cNvSpPr txBox="1"/>
          <p:nvPr/>
        </p:nvSpPr>
        <p:spPr>
          <a:xfrm>
            <a:off x="1417320" y="2688336"/>
            <a:ext cx="4462272" cy="338328"/>
          </a:xfrm>
          <a:prstGeom prst="rect">
            <a:avLst/>
          </a:prstGeom>
          <a:noFill/>
        </p:spPr>
        <p:txBody>
          <a:bodyPr wrap="square" anchor="t">
            <a:spAutoFit/>
          </a:bodyPr>
          <a:lstStyle/>
          <a:p>
            <a:pPr algn="r">
              <a:spcBef>
                <a:spcPts val="0"/>
              </a:spcBef>
              <a:spcAft>
                <a:spcPts val="0"/>
              </a:spcAft>
            </a:pPr>
            <a:r>
              <a:rPr sz="850" b="0">
                <a:solidFill>
                  <a:srgbClr val="5C6A78"/>
                </a:solidFill>
                <a:latin typeface="Aptos"/>
              </a:rPr>
              <a:t>اختيار منتج أو أداة محددة كنقطة بداية، مع تحديد عميل مستهدف أولي ونطاق عمل واضح.</a:t>
            </a:r>
          </a:p>
        </p:txBody>
      </p:sp>
      <p:sp>
        <p:nvSpPr>
          <p:cNvPr id="15" name="Rounded Rectangle 14"/>
          <p:cNvSpPr/>
          <p:nvPr/>
        </p:nvSpPr>
        <p:spPr>
          <a:xfrm>
            <a:off x="594360" y="3282696"/>
            <a:ext cx="5449824" cy="896112"/>
          </a:xfrm>
          <a:prstGeom prst="roundRect">
            <a:avLst/>
          </a:prstGeom>
          <a:solidFill>
            <a:srgbClr val="F6F9FB"/>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31520" y="3429000"/>
            <a:ext cx="566928" cy="566928"/>
          </a:xfrm>
          <a:prstGeom prst="roundRect">
            <a:avLst/>
          </a:prstGeom>
          <a:solidFill>
            <a:srgbClr val="173F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49808" y="3465576"/>
            <a:ext cx="530352" cy="438912"/>
          </a:xfrm>
          <a:prstGeom prst="rect">
            <a:avLst/>
          </a:prstGeom>
          <a:noFill/>
        </p:spPr>
        <p:txBody>
          <a:bodyPr wrap="square" anchor="ctr">
            <a:spAutoFit/>
          </a:bodyPr>
          <a:lstStyle/>
          <a:p>
            <a:pPr algn="ctr">
              <a:spcBef>
                <a:spcPts val="0"/>
              </a:spcBef>
              <a:spcAft>
                <a:spcPts val="0"/>
              </a:spcAft>
            </a:pPr>
            <a:r>
              <a:rPr sz="1800" b="0">
                <a:solidFill>
                  <a:srgbClr val="FFFFFF"/>
                </a:solidFill>
                <a:latin typeface="Aptos"/>
              </a:rPr>
              <a:t>💰</a:t>
            </a:r>
          </a:p>
        </p:txBody>
      </p:sp>
      <p:sp>
        <p:nvSpPr>
          <p:cNvPr id="18" name="TextBox 17"/>
          <p:cNvSpPr txBox="1"/>
          <p:nvPr/>
        </p:nvSpPr>
        <p:spPr>
          <a:xfrm>
            <a:off x="1417320" y="3392424"/>
            <a:ext cx="4462272" cy="256032"/>
          </a:xfrm>
          <a:prstGeom prst="rect">
            <a:avLst/>
          </a:prstGeom>
          <a:noFill/>
        </p:spPr>
        <p:txBody>
          <a:bodyPr wrap="square" anchor="t">
            <a:spAutoFit/>
          </a:bodyPr>
          <a:lstStyle/>
          <a:p>
            <a:pPr algn="r">
              <a:spcBef>
                <a:spcPts val="0"/>
              </a:spcBef>
              <a:spcAft>
                <a:spcPts val="0"/>
              </a:spcAft>
            </a:pPr>
            <a:r>
              <a:rPr sz="1050" b="1">
                <a:solidFill>
                  <a:srgbClr val="183A5B"/>
                </a:solidFill>
                <a:latin typeface="Aptos"/>
              </a:rPr>
              <a:t>تقديرات مالية أولية | Financial Estimates</a:t>
            </a:r>
          </a:p>
        </p:txBody>
      </p:sp>
      <p:sp>
        <p:nvSpPr>
          <p:cNvPr id="19" name="TextBox 18"/>
          <p:cNvSpPr txBox="1"/>
          <p:nvPr/>
        </p:nvSpPr>
        <p:spPr>
          <a:xfrm>
            <a:off x="1417320" y="3712464"/>
            <a:ext cx="4462272" cy="338328"/>
          </a:xfrm>
          <a:prstGeom prst="rect">
            <a:avLst/>
          </a:prstGeom>
          <a:noFill/>
        </p:spPr>
        <p:txBody>
          <a:bodyPr wrap="square" anchor="t">
            <a:spAutoFit/>
          </a:bodyPr>
          <a:lstStyle/>
          <a:p>
            <a:pPr algn="r">
              <a:spcBef>
                <a:spcPts val="0"/>
              </a:spcBef>
              <a:spcAft>
                <a:spcPts val="0"/>
              </a:spcAft>
            </a:pPr>
            <a:r>
              <a:rPr sz="850" b="0">
                <a:solidFill>
                  <a:srgbClr val="5C6A78"/>
                </a:solidFill>
                <a:latin typeface="Aptos"/>
              </a:rPr>
              <a:t>مناقشة تقديرات أولية للاستثمار، توقعات الإيرادات، نموذج تقاسم العوائد، ونقطة التعادل المتوقعة.</a:t>
            </a:r>
          </a:p>
        </p:txBody>
      </p:sp>
      <p:sp>
        <p:nvSpPr>
          <p:cNvPr id="20" name="Rounded Rectangle 19"/>
          <p:cNvSpPr/>
          <p:nvPr/>
        </p:nvSpPr>
        <p:spPr>
          <a:xfrm>
            <a:off x="594360" y="4306824"/>
            <a:ext cx="5449824" cy="896112"/>
          </a:xfrm>
          <a:prstGeom prst="roundRect">
            <a:avLst/>
          </a:prstGeom>
          <a:solidFill>
            <a:srgbClr val="F6F9FB"/>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731520" y="4453128"/>
            <a:ext cx="566928" cy="566928"/>
          </a:xfrm>
          <a:prstGeom prst="roundRect">
            <a:avLst/>
          </a:prstGeom>
          <a:solidFill>
            <a:srgbClr val="173F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49808" y="4489704"/>
            <a:ext cx="530352" cy="438912"/>
          </a:xfrm>
          <a:prstGeom prst="rect">
            <a:avLst/>
          </a:prstGeom>
          <a:noFill/>
        </p:spPr>
        <p:txBody>
          <a:bodyPr wrap="square" anchor="ctr">
            <a:spAutoFit/>
          </a:bodyPr>
          <a:lstStyle/>
          <a:p>
            <a:pPr algn="ctr">
              <a:spcBef>
                <a:spcPts val="0"/>
              </a:spcBef>
              <a:spcAft>
                <a:spcPts val="0"/>
              </a:spcAft>
            </a:pPr>
            <a:r>
              <a:rPr sz="1800" b="0">
                <a:solidFill>
                  <a:srgbClr val="FFFFFF"/>
                </a:solidFill>
                <a:latin typeface="Aptos"/>
              </a:rPr>
              <a:t>👥</a:t>
            </a:r>
          </a:p>
        </p:txBody>
      </p:sp>
      <p:sp>
        <p:nvSpPr>
          <p:cNvPr id="23" name="TextBox 22"/>
          <p:cNvSpPr txBox="1"/>
          <p:nvPr/>
        </p:nvSpPr>
        <p:spPr>
          <a:xfrm>
            <a:off x="1417320" y="4416552"/>
            <a:ext cx="4462272" cy="256032"/>
          </a:xfrm>
          <a:prstGeom prst="rect">
            <a:avLst/>
          </a:prstGeom>
          <a:noFill/>
        </p:spPr>
        <p:txBody>
          <a:bodyPr wrap="square" anchor="t">
            <a:spAutoFit/>
          </a:bodyPr>
          <a:lstStyle/>
          <a:p>
            <a:pPr algn="r">
              <a:spcBef>
                <a:spcPts val="0"/>
              </a:spcBef>
              <a:spcAft>
                <a:spcPts val="0"/>
              </a:spcAft>
            </a:pPr>
            <a:r>
              <a:rPr sz="1050" b="1">
                <a:solidFill>
                  <a:srgbClr val="183A5B"/>
                </a:solidFill>
                <a:latin typeface="Aptos"/>
              </a:rPr>
              <a:t>تعريف بالفريق وخبراته | Team &amp; Expertise</a:t>
            </a:r>
          </a:p>
        </p:txBody>
      </p:sp>
      <p:sp>
        <p:nvSpPr>
          <p:cNvPr id="24" name="TextBox 23"/>
          <p:cNvSpPr txBox="1"/>
          <p:nvPr/>
        </p:nvSpPr>
        <p:spPr>
          <a:xfrm>
            <a:off x="1417320" y="4736592"/>
            <a:ext cx="4462272" cy="338328"/>
          </a:xfrm>
          <a:prstGeom prst="rect">
            <a:avLst/>
          </a:prstGeom>
          <a:noFill/>
        </p:spPr>
        <p:txBody>
          <a:bodyPr wrap="square" anchor="t">
            <a:spAutoFit/>
          </a:bodyPr>
          <a:lstStyle/>
          <a:p>
            <a:pPr algn="r">
              <a:spcBef>
                <a:spcPts val="0"/>
              </a:spcBef>
              <a:spcAft>
                <a:spcPts val="0"/>
              </a:spcAft>
            </a:pPr>
            <a:r>
              <a:rPr sz="850" b="0">
                <a:solidFill>
                  <a:srgbClr val="5C6A78"/>
                </a:solidFill>
                <a:latin typeface="Aptos"/>
              </a:rPr>
              <a:t>تبادل المعلومات حول الفريق الحالي والخبرات التربوية والتقنية المتوفرة لدى كل طرف.</a:t>
            </a:r>
          </a:p>
        </p:txBody>
      </p:sp>
      <p:sp>
        <p:nvSpPr>
          <p:cNvPr id="25" name="Rounded Rectangle 24"/>
          <p:cNvSpPr/>
          <p:nvPr/>
        </p:nvSpPr>
        <p:spPr>
          <a:xfrm>
            <a:off x="6144768" y="1234440"/>
            <a:ext cx="5449824" cy="896112"/>
          </a:xfrm>
          <a:prstGeom prst="roundRect">
            <a:avLst/>
          </a:prstGeom>
          <a:solidFill>
            <a:srgbClr val="F6F9FB"/>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6281928" y="1380744"/>
            <a:ext cx="566928" cy="566928"/>
          </a:xfrm>
          <a:prstGeom prst="roundRect">
            <a:avLst/>
          </a:prstGeom>
          <a:solidFill>
            <a:srgbClr val="173F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300216" y="1417320"/>
            <a:ext cx="530352" cy="438912"/>
          </a:xfrm>
          <a:prstGeom prst="rect">
            <a:avLst/>
          </a:prstGeom>
          <a:noFill/>
        </p:spPr>
        <p:txBody>
          <a:bodyPr wrap="square" anchor="ctr">
            <a:spAutoFit/>
          </a:bodyPr>
          <a:lstStyle/>
          <a:p>
            <a:pPr algn="ctr">
              <a:spcBef>
                <a:spcPts val="0"/>
              </a:spcBef>
              <a:spcAft>
                <a:spcPts val="0"/>
              </a:spcAft>
            </a:pPr>
            <a:r>
              <a:rPr sz="1800" b="0">
                <a:solidFill>
                  <a:srgbClr val="FFFFFF"/>
                </a:solidFill>
                <a:latin typeface="Aptos"/>
              </a:rPr>
              <a:t>🌐</a:t>
            </a:r>
          </a:p>
        </p:txBody>
      </p:sp>
      <p:sp>
        <p:nvSpPr>
          <p:cNvPr id="28" name="TextBox 27"/>
          <p:cNvSpPr txBox="1"/>
          <p:nvPr/>
        </p:nvSpPr>
        <p:spPr>
          <a:xfrm>
            <a:off x="6967728" y="1344168"/>
            <a:ext cx="4462272" cy="256032"/>
          </a:xfrm>
          <a:prstGeom prst="rect">
            <a:avLst/>
          </a:prstGeom>
          <a:noFill/>
        </p:spPr>
        <p:txBody>
          <a:bodyPr wrap="square" anchor="t">
            <a:spAutoFit/>
          </a:bodyPr>
          <a:lstStyle/>
          <a:p>
            <a:pPr algn="r">
              <a:spcBef>
                <a:spcPts val="0"/>
              </a:spcBef>
              <a:spcAft>
                <a:spcPts val="0"/>
              </a:spcAft>
            </a:pPr>
            <a:r>
              <a:rPr sz="1050" b="1">
                <a:solidFill>
                  <a:srgbClr val="183A5B"/>
                </a:solidFill>
                <a:latin typeface="Aptos"/>
              </a:rPr>
              <a:t>إضافة ملخص بالعربية | Arabic Summary</a:t>
            </a:r>
          </a:p>
        </p:txBody>
      </p:sp>
      <p:sp>
        <p:nvSpPr>
          <p:cNvPr id="29" name="TextBox 28"/>
          <p:cNvSpPr txBox="1"/>
          <p:nvPr/>
        </p:nvSpPr>
        <p:spPr>
          <a:xfrm>
            <a:off x="6967728" y="1664208"/>
            <a:ext cx="4462272" cy="338328"/>
          </a:xfrm>
          <a:prstGeom prst="rect">
            <a:avLst/>
          </a:prstGeom>
          <a:noFill/>
        </p:spPr>
        <p:txBody>
          <a:bodyPr wrap="square" anchor="t">
            <a:spAutoFit/>
          </a:bodyPr>
          <a:lstStyle/>
          <a:p>
            <a:pPr algn="r">
              <a:spcBef>
                <a:spcPts val="0"/>
              </a:spcBef>
              <a:spcAft>
                <a:spcPts val="0"/>
              </a:spcAft>
            </a:pPr>
            <a:r>
              <a:rPr sz="850" b="0">
                <a:solidFill>
                  <a:srgbClr val="5C6A78"/>
                </a:solidFill>
                <a:latin typeface="Aptos"/>
              </a:rPr>
              <a:t>إدراج ملخص تنفيذي بالعربية في بداية أو نهاية العرض، مع بقاء المحتوى التقني بالإنجليزية.</a:t>
            </a:r>
          </a:p>
        </p:txBody>
      </p:sp>
      <p:sp>
        <p:nvSpPr>
          <p:cNvPr id="30" name="Rounded Rectangle 29"/>
          <p:cNvSpPr/>
          <p:nvPr/>
        </p:nvSpPr>
        <p:spPr>
          <a:xfrm>
            <a:off x="6144768" y="2258568"/>
            <a:ext cx="5449824" cy="896112"/>
          </a:xfrm>
          <a:prstGeom prst="roundRect">
            <a:avLst/>
          </a:prstGeom>
          <a:solidFill>
            <a:srgbClr val="F6F9FB"/>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6281928" y="2404872"/>
            <a:ext cx="566928" cy="566928"/>
          </a:xfrm>
          <a:prstGeom prst="roundRect">
            <a:avLst/>
          </a:prstGeom>
          <a:solidFill>
            <a:srgbClr val="173F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00216" y="2441448"/>
            <a:ext cx="530352" cy="438912"/>
          </a:xfrm>
          <a:prstGeom prst="rect">
            <a:avLst/>
          </a:prstGeom>
          <a:noFill/>
        </p:spPr>
        <p:txBody>
          <a:bodyPr wrap="square" anchor="ctr">
            <a:spAutoFit/>
          </a:bodyPr>
          <a:lstStyle/>
          <a:p>
            <a:pPr algn="ctr">
              <a:spcBef>
                <a:spcPts val="0"/>
              </a:spcBef>
              <a:spcAft>
                <a:spcPts val="0"/>
              </a:spcAft>
            </a:pPr>
            <a:r>
              <a:rPr sz="1800" b="0">
                <a:solidFill>
                  <a:srgbClr val="FFFFFF"/>
                </a:solidFill>
                <a:latin typeface="Aptos"/>
              </a:rPr>
              <a:t>📊</a:t>
            </a:r>
          </a:p>
        </p:txBody>
      </p:sp>
      <p:sp>
        <p:nvSpPr>
          <p:cNvPr id="33" name="TextBox 32"/>
          <p:cNvSpPr txBox="1"/>
          <p:nvPr/>
        </p:nvSpPr>
        <p:spPr>
          <a:xfrm>
            <a:off x="6967728" y="2368296"/>
            <a:ext cx="4462272" cy="256032"/>
          </a:xfrm>
          <a:prstGeom prst="rect">
            <a:avLst/>
          </a:prstGeom>
          <a:noFill/>
        </p:spPr>
        <p:txBody>
          <a:bodyPr wrap="square" anchor="t">
            <a:spAutoFit/>
          </a:bodyPr>
          <a:lstStyle/>
          <a:p>
            <a:pPr algn="r">
              <a:spcBef>
                <a:spcPts val="0"/>
              </a:spcBef>
              <a:spcAft>
                <a:spcPts val="0"/>
              </a:spcAft>
            </a:pPr>
            <a:r>
              <a:rPr sz="1050" b="1">
                <a:solidFill>
                  <a:srgbClr val="183A5B"/>
                </a:solidFill>
                <a:latin typeface="Aptos"/>
              </a:rPr>
              <a:t>آليات القياس والتقييم | Measurement &amp; Evaluation</a:t>
            </a:r>
          </a:p>
        </p:txBody>
      </p:sp>
      <p:sp>
        <p:nvSpPr>
          <p:cNvPr id="34" name="TextBox 33"/>
          <p:cNvSpPr txBox="1"/>
          <p:nvPr/>
        </p:nvSpPr>
        <p:spPr>
          <a:xfrm>
            <a:off x="6967728" y="2688336"/>
            <a:ext cx="4462272" cy="338328"/>
          </a:xfrm>
          <a:prstGeom prst="rect">
            <a:avLst/>
          </a:prstGeom>
          <a:noFill/>
        </p:spPr>
        <p:txBody>
          <a:bodyPr wrap="square" anchor="t">
            <a:spAutoFit/>
          </a:bodyPr>
          <a:lstStyle/>
          <a:p>
            <a:pPr algn="r">
              <a:spcBef>
                <a:spcPts val="0"/>
              </a:spcBef>
              <a:spcAft>
                <a:spcPts val="0"/>
              </a:spcAft>
            </a:pPr>
            <a:r>
              <a:rPr sz="850" b="0">
                <a:solidFill>
                  <a:srgbClr val="5C6A78"/>
                </a:solidFill>
                <a:latin typeface="Aptos"/>
              </a:rPr>
              <a:t>تحديد مؤشرات نجاح واضحة لكل مرحلة، وكيفية قياس الأثر واتخاذ القرارات بناءً على الأدلة.</a:t>
            </a:r>
          </a:p>
        </p:txBody>
      </p:sp>
      <p:sp>
        <p:nvSpPr>
          <p:cNvPr id="35" name="Rounded Rectangle 34"/>
          <p:cNvSpPr/>
          <p:nvPr/>
        </p:nvSpPr>
        <p:spPr>
          <a:xfrm>
            <a:off x="6144768" y="3282696"/>
            <a:ext cx="5449824" cy="896112"/>
          </a:xfrm>
          <a:prstGeom prst="roundRect">
            <a:avLst/>
          </a:prstGeom>
          <a:solidFill>
            <a:srgbClr val="F6F9FB"/>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6281928" y="3429000"/>
            <a:ext cx="566928" cy="566928"/>
          </a:xfrm>
          <a:prstGeom prst="roundRect">
            <a:avLst/>
          </a:prstGeom>
          <a:solidFill>
            <a:srgbClr val="173F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300216" y="3465576"/>
            <a:ext cx="530352" cy="438912"/>
          </a:xfrm>
          <a:prstGeom prst="rect">
            <a:avLst/>
          </a:prstGeom>
          <a:noFill/>
        </p:spPr>
        <p:txBody>
          <a:bodyPr wrap="square" anchor="ctr">
            <a:spAutoFit/>
          </a:bodyPr>
          <a:lstStyle/>
          <a:p>
            <a:pPr algn="ctr">
              <a:spcBef>
                <a:spcPts val="0"/>
              </a:spcBef>
              <a:spcAft>
                <a:spcPts val="0"/>
              </a:spcAft>
            </a:pPr>
            <a:r>
              <a:rPr sz="1800" b="0">
                <a:solidFill>
                  <a:srgbClr val="FFFFFF"/>
                </a:solidFill>
                <a:latin typeface="Aptos"/>
              </a:rPr>
              <a:t>⚙️</a:t>
            </a:r>
          </a:p>
        </p:txBody>
      </p:sp>
      <p:sp>
        <p:nvSpPr>
          <p:cNvPr id="38" name="TextBox 37"/>
          <p:cNvSpPr txBox="1"/>
          <p:nvPr/>
        </p:nvSpPr>
        <p:spPr>
          <a:xfrm>
            <a:off x="6967728" y="3392424"/>
            <a:ext cx="4462272" cy="256032"/>
          </a:xfrm>
          <a:prstGeom prst="rect">
            <a:avLst/>
          </a:prstGeom>
          <a:noFill/>
        </p:spPr>
        <p:txBody>
          <a:bodyPr wrap="square" anchor="t">
            <a:spAutoFit/>
          </a:bodyPr>
          <a:lstStyle/>
          <a:p>
            <a:pPr algn="r">
              <a:spcBef>
                <a:spcPts val="0"/>
              </a:spcBef>
              <a:spcAft>
                <a:spcPts val="0"/>
              </a:spcAft>
            </a:pPr>
            <a:r>
              <a:rPr sz="1050" b="1">
                <a:solidFill>
                  <a:srgbClr val="183A5B"/>
                </a:solidFill>
                <a:latin typeface="Aptos"/>
              </a:rPr>
              <a:t>هيكل الحوكمة والتواصل | Governance &amp; Communication</a:t>
            </a:r>
          </a:p>
        </p:txBody>
      </p:sp>
      <p:sp>
        <p:nvSpPr>
          <p:cNvPr id="39" name="TextBox 38"/>
          <p:cNvSpPr txBox="1"/>
          <p:nvPr/>
        </p:nvSpPr>
        <p:spPr>
          <a:xfrm>
            <a:off x="6967728" y="3712464"/>
            <a:ext cx="4462272" cy="338328"/>
          </a:xfrm>
          <a:prstGeom prst="rect">
            <a:avLst/>
          </a:prstGeom>
          <a:noFill/>
        </p:spPr>
        <p:txBody>
          <a:bodyPr wrap="square" anchor="t">
            <a:spAutoFit/>
          </a:bodyPr>
          <a:lstStyle/>
          <a:p>
            <a:pPr algn="r">
              <a:spcBef>
                <a:spcPts val="0"/>
              </a:spcBef>
              <a:spcAft>
                <a:spcPts val="0"/>
              </a:spcAft>
            </a:pPr>
            <a:r>
              <a:rPr sz="850" b="0">
                <a:solidFill>
                  <a:srgbClr val="5C6A78"/>
                </a:solidFill>
                <a:latin typeface="Aptos"/>
              </a:rPr>
              <a:t>تحديد وتيرة الاجتماعات، قنوات التواصل، آليات اتخاذ القرار، وهيكل إدارة الشراكة.</a:t>
            </a:r>
          </a:p>
        </p:txBody>
      </p:sp>
      <p:sp>
        <p:nvSpPr>
          <p:cNvPr id="40" name="Rounded Rectangle 39"/>
          <p:cNvSpPr/>
          <p:nvPr/>
        </p:nvSpPr>
        <p:spPr>
          <a:xfrm>
            <a:off x="6144768" y="4306824"/>
            <a:ext cx="5449824" cy="896112"/>
          </a:xfrm>
          <a:prstGeom prst="roundRect">
            <a:avLst/>
          </a:prstGeom>
          <a:solidFill>
            <a:srgbClr val="F6F9FB"/>
          </a:solidFill>
          <a:ln>
            <a:solidFill>
              <a:srgbClr val="D5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6281928" y="4453128"/>
            <a:ext cx="566928" cy="566928"/>
          </a:xfrm>
          <a:prstGeom prst="roundRect">
            <a:avLst/>
          </a:prstGeom>
          <a:solidFill>
            <a:srgbClr val="173F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300216" y="4489704"/>
            <a:ext cx="530352" cy="438912"/>
          </a:xfrm>
          <a:prstGeom prst="rect">
            <a:avLst/>
          </a:prstGeom>
          <a:noFill/>
        </p:spPr>
        <p:txBody>
          <a:bodyPr wrap="square" anchor="ctr">
            <a:spAutoFit/>
          </a:bodyPr>
          <a:lstStyle/>
          <a:p>
            <a:pPr algn="ctr">
              <a:spcBef>
                <a:spcPts val="0"/>
              </a:spcBef>
              <a:spcAft>
                <a:spcPts val="0"/>
              </a:spcAft>
            </a:pPr>
            <a:r>
              <a:rPr sz="1800" b="0">
                <a:solidFill>
                  <a:srgbClr val="FFFFFF"/>
                </a:solidFill>
                <a:latin typeface="Aptos"/>
              </a:rPr>
              <a:t>🚀</a:t>
            </a:r>
          </a:p>
        </p:txBody>
      </p:sp>
      <p:sp>
        <p:nvSpPr>
          <p:cNvPr id="43" name="TextBox 42"/>
          <p:cNvSpPr txBox="1"/>
          <p:nvPr/>
        </p:nvSpPr>
        <p:spPr>
          <a:xfrm>
            <a:off x="6967728" y="4416552"/>
            <a:ext cx="4462272" cy="256032"/>
          </a:xfrm>
          <a:prstGeom prst="rect">
            <a:avLst/>
          </a:prstGeom>
          <a:noFill/>
        </p:spPr>
        <p:txBody>
          <a:bodyPr wrap="square" anchor="t">
            <a:spAutoFit/>
          </a:bodyPr>
          <a:lstStyle/>
          <a:p>
            <a:pPr algn="r">
              <a:spcBef>
                <a:spcPts val="0"/>
              </a:spcBef>
              <a:spcAft>
                <a:spcPts val="0"/>
              </a:spcAft>
            </a:pPr>
            <a:r>
              <a:rPr sz="1050" b="1">
                <a:solidFill>
                  <a:srgbClr val="183A5B"/>
                </a:solidFill>
                <a:latin typeface="Aptos"/>
              </a:rPr>
              <a:t>خطة التوسع المستقبلي | Future Expansion</a:t>
            </a:r>
          </a:p>
        </p:txBody>
      </p:sp>
      <p:sp>
        <p:nvSpPr>
          <p:cNvPr id="44" name="TextBox 43"/>
          <p:cNvSpPr txBox="1"/>
          <p:nvPr/>
        </p:nvSpPr>
        <p:spPr>
          <a:xfrm>
            <a:off x="6967728" y="4736592"/>
            <a:ext cx="4462272" cy="338328"/>
          </a:xfrm>
          <a:prstGeom prst="rect">
            <a:avLst/>
          </a:prstGeom>
          <a:noFill/>
        </p:spPr>
        <p:txBody>
          <a:bodyPr wrap="square" anchor="t">
            <a:spAutoFit/>
          </a:bodyPr>
          <a:lstStyle/>
          <a:p>
            <a:pPr algn="r">
              <a:spcBef>
                <a:spcPts val="0"/>
              </a:spcBef>
              <a:spcAft>
                <a:spcPts val="0"/>
              </a:spcAft>
            </a:pPr>
            <a:r>
              <a:rPr sz="850" b="0">
                <a:solidFill>
                  <a:srgbClr val="5C6A78"/>
                </a:solidFill>
                <a:latin typeface="Aptos"/>
              </a:rPr>
              <a:t>مناقشة كيفية التوسع إلى منتجات وأسواق إضافية بعد نجاح الحالة الأولية، مع الحفاظ على الجودة.</a:t>
            </a:r>
          </a:p>
        </p:txBody>
      </p:sp>
      <p:sp>
        <p:nvSpPr>
          <p:cNvPr id="45" name="TextBox 44"/>
          <p:cNvSpPr txBox="1"/>
          <p:nvPr/>
        </p:nvSpPr>
        <p:spPr>
          <a:xfrm>
            <a:off x="685800" y="5897880"/>
            <a:ext cx="10835640" cy="246888"/>
          </a:xfrm>
          <a:prstGeom prst="rect">
            <a:avLst/>
          </a:prstGeom>
          <a:noFill/>
        </p:spPr>
        <p:txBody>
          <a:bodyPr wrap="square" anchor="t">
            <a:spAutoFit/>
          </a:bodyPr>
          <a:lstStyle/>
          <a:p>
            <a:pPr algn="ctr">
              <a:spcBef>
                <a:spcPts val="0"/>
              </a:spcBef>
              <a:spcAft>
                <a:spcPts val="0"/>
              </a:spcAft>
            </a:pPr>
            <a:r>
              <a:rPr sz="1120" b="1">
                <a:solidFill>
                  <a:srgbClr val="CAA143"/>
                </a:solidFill>
                <a:latin typeface="Aptos"/>
              </a:rPr>
              <a:t>جميع النقاط أعلاه مفتوحة للنقاش والتعديل خلال جلسات العمل المشتركة.</a:t>
            </a:r>
          </a:p>
        </p:txBody>
      </p:sp>
      <p:sp>
        <p:nvSpPr>
          <p:cNvPr id="46" name="TextBox 45"/>
          <p:cNvSpPr txBox="1"/>
          <p:nvPr/>
        </p:nvSpPr>
        <p:spPr>
          <a:xfrm>
            <a:off x="685800" y="6190488"/>
            <a:ext cx="10835640" cy="228600"/>
          </a:xfrm>
          <a:prstGeom prst="rect">
            <a:avLst/>
          </a:prstGeom>
          <a:noFill/>
        </p:spPr>
        <p:txBody>
          <a:bodyPr wrap="square" anchor="t">
            <a:spAutoFit/>
          </a:bodyPr>
          <a:lstStyle/>
          <a:p>
            <a:pPr algn="ctr">
              <a:spcBef>
                <a:spcPts val="0"/>
              </a:spcBef>
              <a:spcAft>
                <a:spcPts val="0"/>
              </a:spcAft>
            </a:pPr>
            <a:r>
              <a:rPr sz="919" b="0">
                <a:solidFill>
                  <a:srgbClr val="5C6A78"/>
                </a:solidFill>
                <a:latin typeface="Aptos"/>
              </a:rPr>
              <a:t>All points above are open for discussion and refinement during joint working sessions.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3A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502920"/>
            <a:ext cx="4572000" cy="365760"/>
          </a:xfrm>
          <a:prstGeom prst="rect">
            <a:avLst/>
          </a:prstGeom>
          <a:noFill/>
        </p:spPr>
        <p:txBody>
          <a:bodyPr wrap="square" anchor="t">
            <a:spAutoFit/>
          </a:bodyPr>
          <a:lstStyle/>
          <a:p>
            <a:pPr algn="l">
              <a:spcBef>
                <a:spcPts val="0"/>
              </a:spcBef>
              <a:spcAft>
                <a:spcPts val="0"/>
              </a:spcAft>
            </a:pPr>
            <a:r>
              <a:rPr sz="2000" b="1">
                <a:solidFill>
                  <a:srgbClr val="FFFFFF"/>
                </a:solidFill>
                <a:latin typeface="Aptos"/>
              </a:rPr>
              <a:t>MASAR  ×  GritWrx</a:t>
            </a:r>
          </a:p>
        </p:txBody>
      </p:sp>
      <p:sp>
        <p:nvSpPr>
          <p:cNvPr id="4" name="TextBox 3"/>
          <p:cNvSpPr txBox="1"/>
          <p:nvPr/>
        </p:nvSpPr>
        <p:spPr>
          <a:xfrm>
            <a:off x="658368" y="1261872"/>
            <a:ext cx="10881360" cy="640080"/>
          </a:xfrm>
          <a:prstGeom prst="rect">
            <a:avLst/>
          </a:prstGeom>
          <a:noFill/>
        </p:spPr>
        <p:txBody>
          <a:bodyPr wrap="square" anchor="t">
            <a:spAutoFit/>
          </a:bodyPr>
          <a:lstStyle/>
          <a:p>
            <a:pPr algn="ctr">
              <a:spcBef>
                <a:spcPts val="0"/>
              </a:spcBef>
              <a:spcAft>
                <a:spcPts val="0"/>
              </a:spcAft>
            </a:pPr>
            <a:r>
              <a:rPr sz="3200" b="1">
                <a:solidFill>
                  <a:srgbClr val="FFFFFF"/>
                </a:solidFill>
                <a:latin typeface="Aptos"/>
              </a:rPr>
              <a:t>Let's explore what we could build together.</a:t>
            </a:r>
          </a:p>
        </p:txBody>
      </p:sp>
      <p:sp>
        <p:nvSpPr>
          <p:cNvPr id="5" name="TextBox 4"/>
          <p:cNvSpPr txBox="1"/>
          <p:nvPr/>
        </p:nvSpPr>
        <p:spPr>
          <a:xfrm>
            <a:off x="2011680" y="2176272"/>
            <a:ext cx="8138160" cy="777240"/>
          </a:xfrm>
          <a:prstGeom prst="rect">
            <a:avLst/>
          </a:prstGeom>
          <a:noFill/>
        </p:spPr>
        <p:txBody>
          <a:bodyPr wrap="square" anchor="t">
            <a:spAutoFit/>
          </a:bodyPr>
          <a:lstStyle/>
          <a:p>
            <a:pPr algn="ctr">
              <a:spcBef>
                <a:spcPts val="0"/>
              </a:spcBef>
              <a:spcAft>
                <a:spcPts val="0"/>
              </a:spcAft>
            </a:pPr>
            <a:r>
              <a:rPr sz="1800" b="0">
                <a:solidFill>
                  <a:srgbClr val="DCE7F1"/>
                </a:solidFill>
                <a:latin typeface="Aptos"/>
              </a:rPr>
              <a:t>Not a commitment to a structure.</a:t>
            </a:r>
            <a:br/>
            <a:r>
              <a:rPr sz="1800" b="0">
                <a:solidFill>
                  <a:srgbClr val="DCE7F1"/>
                </a:solidFill>
                <a:latin typeface="Aptos"/>
              </a:rPr>
              <a:t>A starting point for a serious conversation.</a:t>
            </a:r>
          </a:p>
        </p:txBody>
      </p:sp>
      <p:sp>
        <p:nvSpPr>
          <p:cNvPr id="6" name="Rounded Rectangle 5"/>
          <p:cNvSpPr/>
          <p:nvPr/>
        </p:nvSpPr>
        <p:spPr>
          <a:xfrm>
            <a:off x="1874519" y="3429000"/>
            <a:ext cx="8458200" cy="1051560"/>
          </a:xfrm>
          <a:prstGeom prst="roundRect">
            <a:avLst/>
          </a:prstGeom>
          <a:solidFill>
            <a:srgbClr val="264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148840" y="3639312"/>
            <a:ext cx="2057400" cy="256032"/>
          </a:xfrm>
          <a:prstGeom prst="rect">
            <a:avLst/>
          </a:prstGeom>
          <a:noFill/>
        </p:spPr>
        <p:txBody>
          <a:bodyPr wrap="square" anchor="t">
            <a:spAutoFit/>
          </a:bodyPr>
          <a:lstStyle/>
          <a:p>
            <a:pPr algn="l">
              <a:spcBef>
                <a:spcPts val="0"/>
              </a:spcBef>
              <a:spcAft>
                <a:spcPts val="0"/>
              </a:spcAft>
            </a:pPr>
            <a:r>
              <a:rPr sz="1100" b="1">
                <a:solidFill>
                  <a:srgbClr val="CAA143"/>
                </a:solidFill>
                <a:latin typeface="Aptos"/>
              </a:rPr>
              <a:t>Next conversation</a:t>
            </a:r>
          </a:p>
        </p:txBody>
      </p:sp>
      <p:sp>
        <p:nvSpPr>
          <p:cNvPr id="8" name="TextBox 7"/>
          <p:cNvSpPr txBox="1"/>
          <p:nvPr/>
        </p:nvSpPr>
        <p:spPr>
          <a:xfrm>
            <a:off x="3886200" y="3575304"/>
            <a:ext cx="6080760" cy="502920"/>
          </a:xfrm>
          <a:prstGeom prst="rect">
            <a:avLst/>
          </a:prstGeom>
          <a:noFill/>
        </p:spPr>
        <p:txBody>
          <a:bodyPr wrap="square" anchor="t">
            <a:spAutoFit/>
          </a:bodyPr>
          <a:lstStyle/>
          <a:p>
            <a:pPr algn="ctr">
              <a:spcBef>
                <a:spcPts val="0"/>
              </a:spcBef>
              <a:spcAft>
                <a:spcPts val="0"/>
              </a:spcAft>
            </a:pPr>
            <a:r>
              <a:rPr sz="1300" b="1">
                <a:solidFill>
                  <a:srgbClr val="FFFFFF"/>
                </a:solidFill>
                <a:latin typeface="Aptos"/>
              </a:rPr>
              <a:t>Review the opportunity → choose a first priority → define a practical next step</a:t>
            </a:r>
          </a:p>
        </p:txBody>
      </p:sp>
      <p:sp>
        <p:nvSpPr>
          <p:cNvPr id="9" name="TextBox 8"/>
          <p:cNvSpPr txBox="1"/>
          <p:nvPr/>
        </p:nvSpPr>
        <p:spPr>
          <a:xfrm>
            <a:off x="914400" y="5166360"/>
            <a:ext cx="10332720" cy="320040"/>
          </a:xfrm>
          <a:prstGeom prst="rect">
            <a:avLst/>
          </a:prstGeom>
          <a:noFill/>
        </p:spPr>
        <p:txBody>
          <a:bodyPr wrap="square" anchor="t">
            <a:spAutoFit/>
          </a:bodyPr>
          <a:lstStyle/>
          <a:p>
            <a:pPr algn="ctr">
              <a:spcBef>
                <a:spcPts val="0"/>
              </a:spcBef>
              <a:spcAft>
                <a:spcPts val="0"/>
              </a:spcAft>
            </a:pPr>
            <a:r>
              <a:rPr sz="1050" b="1">
                <a:solidFill>
                  <a:srgbClr val="BECFE0"/>
                </a:solidFill>
                <a:latin typeface="Aptos"/>
              </a:rPr>
              <a:t>MASAR | مسار   •   Evidence-informed • Flexible by design • Built around real educational needs</a:t>
            </a:r>
          </a:p>
        </p:txBody>
      </p:sp>
      <p:sp>
        <p:nvSpPr>
          <p:cNvPr id="10" name="TextBox 9"/>
          <p:cNvSpPr txBox="1"/>
          <p:nvPr/>
        </p:nvSpPr>
        <p:spPr>
          <a:xfrm>
            <a:off x="914400" y="5650992"/>
            <a:ext cx="10332720" cy="274320"/>
          </a:xfrm>
          <a:prstGeom prst="rect">
            <a:avLst/>
          </a:prstGeom>
          <a:noFill/>
        </p:spPr>
        <p:txBody>
          <a:bodyPr wrap="square" anchor="t">
            <a:spAutoFit/>
          </a:bodyPr>
          <a:lstStyle/>
          <a:p>
            <a:pPr algn="ctr">
              <a:spcBef>
                <a:spcPts val="0"/>
              </a:spcBef>
              <a:spcAft>
                <a:spcPts val="0"/>
              </a:spcAft>
            </a:pPr>
            <a:r>
              <a:rPr sz="1000" b="0">
                <a:solidFill>
                  <a:srgbClr val="BECFE0"/>
                </a:solidFill>
                <a:latin typeface="Aptos"/>
              </a:rPr>
              <a:t>Dr. Abeer Jaffal — Founder &amp; Executive Director</a:t>
            </a:r>
          </a:p>
        </p:txBody>
      </p:sp>
      <p:sp>
        <p:nvSpPr>
          <p:cNvPr id="11" name="TextBox 10"/>
          <p:cNvSpPr txBox="1"/>
          <p:nvPr/>
        </p:nvSpPr>
        <p:spPr>
          <a:xfrm>
            <a:off x="566928" y="6473952"/>
            <a:ext cx="1828800" cy="182880"/>
          </a:xfrm>
          <a:prstGeom prst="rect">
            <a:avLst/>
          </a:prstGeom>
          <a:noFill/>
        </p:spPr>
        <p:txBody>
          <a:bodyPr wrap="square" anchor="t">
            <a:spAutoFit/>
          </a:bodyPr>
          <a:lstStyle/>
          <a:p>
            <a:pPr algn="l">
              <a:spcBef>
                <a:spcPts val="0"/>
              </a:spcBef>
              <a:spcAft>
                <a:spcPts val="0"/>
              </a:spcAft>
            </a:pPr>
            <a:r>
              <a:rPr sz="800" b="1">
                <a:solidFill>
                  <a:srgbClr val="FFFFFF"/>
                </a:solidFill>
                <a:latin typeface="Aptos"/>
              </a:rPr>
              <a:t>MASAR | مسار</a:t>
            </a:r>
          </a:p>
        </p:txBody>
      </p:sp>
      <p:sp>
        <p:nvSpPr>
          <p:cNvPr id="12" name="TextBox 11"/>
          <p:cNvSpPr txBox="1"/>
          <p:nvPr/>
        </p:nvSpPr>
        <p:spPr>
          <a:xfrm>
            <a:off x="11109960" y="6473952"/>
            <a:ext cx="502920" cy="182880"/>
          </a:xfrm>
          <a:prstGeom prst="rect">
            <a:avLst/>
          </a:prstGeom>
          <a:noFill/>
        </p:spPr>
        <p:txBody>
          <a:bodyPr wrap="square" anchor="t">
            <a:spAutoFit/>
          </a:bodyPr>
          <a:lstStyle/>
          <a:p>
            <a:pPr algn="r">
              <a:spcBef>
                <a:spcPts val="0"/>
              </a:spcBef>
              <a:spcAft>
                <a:spcPts val="0"/>
              </a:spcAft>
            </a:pPr>
            <a:r>
              <a:rPr sz="800" b="1">
                <a:solidFill>
                  <a:srgbClr val="B1C4D6"/>
                </a:solidFill>
                <a:latin typeface="Aptos"/>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TotalTime>
  <Words>2845</Words>
  <Application>Microsoft Office PowerPoint</Application>
  <PresentationFormat>Widescreen</PresentationFormat>
  <Paragraphs>412</Paragraphs>
  <Slides>21</Slides>
  <Notes>21</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21</vt:i4>
      </vt:variant>
    </vt:vector>
  </HeadingPairs>
  <TitlesOfParts>
    <vt:vector size="26" baseType="lpstr">
      <vt:lpstr>Aptos</vt:lpstr>
      <vt:lpstr>Arial</vt:lpstr>
      <vt:lpstr>Calibri</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ABEER jaffal</dc:creator>
  <cp:keywords/>
  <dc:description>generated using python-pptx</dc:description>
  <cp:lastModifiedBy>ABEER jaffal</cp:lastModifiedBy>
  <cp:revision>3</cp:revision>
  <dcterms:created xsi:type="dcterms:W3CDTF">2013-01-27T09:14:16Z</dcterms:created>
  <dcterms:modified xsi:type="dcterms:W3CDTF">2026-09-06T03:59:39Z</dcterms:modified>
  <cp:category/>
</cp:coreProperties>
</file>