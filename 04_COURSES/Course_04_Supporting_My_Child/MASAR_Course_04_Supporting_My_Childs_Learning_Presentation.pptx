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شريحة الغلاف — دقيقة واحدة</a:t>
            </a:r>
          </a:p>
          <a:p>
            <a:r>
              <a:rPr sz="1200">
                <a:latin typeface="Segoe UI"/>
              </a:rPr>
              <a:t>الرسالة الأساسية: هذه دورة للأسرة، بلغة الأسرة — لا مصطلحات معقدة ولا نظريات. رحب بدفء.</a:t>
            </a:r>
          </a:p>
          <a:p>
            <a:r>
              <a:rPr sz="1200">
                <a:latin typeface="Segoe UI"/>
              </a:rPr>
              <a:t>إذا كانت جلسة مباشرة: اطلب من كل مشارك ذكر اسم طفله وعمره وشيء واحد يحبه الطفل — يكسر الجليد ويهيئ لفكرة «نبدأ من نقاط القوة».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أهلًا بك — دقيقتان</a:t>
            </a:r>
          </a:p>
          <a:p>
            <a:r>
              <a:rPr sz="1200">
                <a:latin typeface="Segoe UI"/>
              </a:rPr>
              <a:t>الرسالة الأساسية: طمأنة الوالد: لا يحتاج خلفية تربوية، والدورة عملية بالكامل.</a:t>
            </a:r>
          </a:p>
          <a:p>
            <a:r>
              <a:rPr sz="1200">
                <a:latin typeface="Segoe UI"/>
              </a:rPr>
              <a:t>اقرأ الفكرة المركزية مرتين — ستتكرر في كل وحدة.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ماذا ستتعلم — دقيقتان</a:t>
            </a:r>
          </a:p>
          <a:p>
            <a:r>
              <a:rPr sz="1200">
                <a:latin typeface="Segoe UI"/>
              </a:rPr>
              <a:t>اعرض النتائج الثماني سريعًا. أكد أن الدورة تنتهي بخطة أسبوعية جاهزة يطبقها الوالد فورًا.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خريطة الدورة — دقيقتان</a:t>
            </a:r>
          </a:p>
          <a:p>
            <a:r>
              <a:rPr sz="1200">
                <a:latin typeface="Segoe UI"/>
              </a:rPr>
              <a:t>الرسالة الأساسية: مسار واحد بسيط من الفهم إلى القرار. لا داعي لحفظه — سنمشي فيه خطوة خطوة.</a:t>
            </a:r>
          </a:p>
          <a:p>
            <a:r>
              <a:rPr sz="1200">
                <a:latin typeface="Segoe UI"/>
              </a:rPr>
              <a:t>وضح أن الأدوات الثماني ليست أوراقًا إدارية بل أدوات تفكير تساعد الوالد على الفهم والقرار.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1 — 30 ثانية.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معنى الدعم — 3 دقائق</a:t>
            </a:r>
          </a:p>
          <a:p>
            <a:r>
              <a:rPr sz="1200">
                <a:latin typeface="Segoe UI"/>
              </a:rPr>
              <a:t>الرسالة الأساسية: المساعدة الزائدة تأتي دائمًا من الحب — لكنها تحرم الطفل من فرصة التعلم. لا لوم على أحد؛ نتعلم طريقة أفضل.</a:t>
            </a:r>
          </a:p>
          <a:p>
            <a:r>
              <a:rPr sz="1200">
                <a:latin typeface="Segoe UI"/>
              </a:rPr>
              <a:t>سؤال للمشاركين: من منا كتب واجبًا كاملًا بدل طفله يومًا؟ (ارفعوا الأيدي — اضحكوا معًا) — الجميع فعلها؛ المهم ما نفعله من الآن.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الأداة 1 مقدمة — دقيقتان</a:t>
            </a:r>
          </a:p>
          <a:p>
            <a:r>
              <a:rPr sz="1200">
                <a:latin typeface="Segoe UI"/>
              </a:rPr>
              <a:t>الرسالة الأساسية: نبدأ بالوالد لا بالطفل — لأن الدعم الجيد يبدأ من وعي الوالد بنفسه.</a:t>
            </a:r>
          </a:p>
          <a:p>
            <a:r>
              <a:rPr sz="1200">
                <a:latin typeface="Segoe UI"/>
              </a:rPr>
              <a:t>طمأن بوضوح: لا أحد سيرى إجاباتك؛ هي لك وحدك.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الأداة 1 — 4 دقائق استخدام فعلي</a:t>
            </a:r>
          </a:p>
          <a:p>
            <a:r>
              <a:rPr sz="1200">
                <a:latin typeface="Segoe UI"/>
              </a:rPr>
              <a:t>تعليمات: امنح 3 دقائق صمت ليجيب كل والد في كراسته (صفحة 2). لا مشاركة إجبارية للإجابات.</a:t>
            </a:r>
          </a:p>
          <a:p>
            <a:r>
              <a:rPr sz="1200">
                <a:latin typeface="Segoe UI"/>
              </a:rPr>
              <a:t>في الجلسة الذاتية: يتوقف المتعلم عن التشغيل ويجيب قبل المتابعة.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نتيجة الأداة 1 — دقيقتان</a:t>
            </a:r>
          </a:p>
          <a:p>
            <a:r>
              <a:rPr sz="1200">
                <a:latin typeface="Segoe UI"/>
              </a:rPr>
              <a:t>الرسالة الأساسية: النتيجة ليست درجة بل بوصلة — تحدد أين تركز انتباهك خلال الدورة.</a:t>
            </a:r>
          </a:p>
          <a:p>
            <a:r>
              <a:rPr sz="1200">
                <a:latin typeface="Segoe UI"/>
              </a:rPr>
              <a:t>لا تسمح بمقارنة النتائج بين المشاركين في الجلسات المباشرة.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2 — 30 ثانية.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الأداة 2 — 4 دقائق</a:t>
            </a:r>
          </a:p>
          <a:p>
            <a:r>
              <a:rPr sz="1200">
                <a:latin typeface="Segoe UI"/>
              </a:rPr>
              <a:t>تعليمات: امنح وقتًا للإجابة عن الأسئلة الثلاثة الأولى على الأقل الآن؛ البقية تُستكمل في المنزل بملاحظة الطفل يومين أو ثلاثة.</a:t>
            </a:r>
          </a:p>
          <a:p>
            <a:r>
              <a:rPr sz="1200">
                <a:latin typeface="Segoe UI"/>
              </a:rPr>
              <a:t>الرسالة الأساسية: السؤالان 8 و9 (ما الذي يساعد؟ ما الذي جربناه ولم يساعد؟) كنزان — إجاباتهما توفر أسابيع من التجربة والخطأ.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نتيجة الأداة 2 — 3 دقائق</a:t>
            </a:r>
          </a:p>
          <a:p>
            <a:r>
              <a:rPr sz="1200">
                <a:latin typeface="Segoe UI"/>
              </a:rPr>
              <a:t>الرسالة الأساسية: التلخيص في ثلاث جمل يحول عشر إجابات إلى صورة واضحة يبنى عليها كل ما يأتي.</a:t>
            </a:r>
          </a:p>
          <a:p>
            <a:r>
              <a:rPr sz="1200">
                <a:latin typeface="Segoe UI"/>
              </a:rPr>
              <a:t>مثال على الجسر: طفل يحب الرسم ويصعب عليه الحفظ — يرسم ما يريد حفظه.</a:t>
            </a:r>
          </a:p>
          <a:p>
            <a:r>
              <a:rPr sz="1200">
                <a:latin typeface="Segoe UI"/>
              </a:rPr>
              <a:t>راقب لغة «العيب» («طفلي كسول») وحوّلها بلطف إلى لغة الحاجة («يحتاج مهمة أقصر وبداية أوضح»).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3 — 30 ثانية.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الأداة 3 — 4 دقائق</a:t>
            </a:r>
          </a:p>
          <a:p>
            <a:r>
              <a:rPr sz="1200">
                <a:latin typeface="Segoe UI"/>
              </a:rPr>
              <a:t>تعليمات: يضع الوالد علامة ✓ أمام ما هو موجود فعلًا في بيته، ويترك الباقي فارغًا — دون شعور بالذنب.</a:t>
            </a:r>
          </a:p>
          <a:p>
            <a:r>
              <a:rPr sz="1200">
                <a:latin typeface="Segoe UI"/>
              </a:rPr>
              <a:t>الرسالة الأساسية: المجالان الأخيران (النفسي والاستقلالية) أهم من المكان والأدوات — بيت بسيط بجو آمن أفضل من مكتب فاخر بجو متوتر.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اختيار التغيير الواحد — 3 دقائق</a:t>
            </a:r>
          </a:p>
          <a:p>
            <a:r>
              <a:rPr sz="1200">
                <a:latin typeface="Segoe UI"/>
              </a:rPr>
              <a:t>الرسالة الأساسية: قاعدة «تغيير واحد» تحمي الوالد من الحماس الزائد الذي ينطفئ بعد يومين.</a:t>
            </a:r>
          </a:p>
          <a:p>
            <a:r>
              <a:rPr sz="1200">
                <a:latin typeface="Segoe UI"/>
              </a:rPr>
              <a:t>اطلب من كل والد كتابة تغييره في الكراسة (صفحة 4) وتحديد يوم البدء.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التعليمات الواضحة — 4 دقائق</a:t>
            </a:r>
          </a:p>
          <a:p>
            <a:r>
              <a:rPr sz="1200">
                <a:latin typeface="Segoe UI"/>
              </a:rPr>
              <a:t>الرسالة الأساسية: كثير من «العناد» هو في الحقيقة «عدم فهم» — التعليمات الواضحة تذيب نصف المشكلات.</a:t>
            </a:r>
          </a:p>
          <a:p>
            <a:r>
              <a:rPr sz="1200">
                <a:latin typeface="Segoe UI"/>
              </a:rPr>
              <a:t>نشاط سريع: اطلب من كل والد تحويل جملة يقولها يوميًا («رتب غرفتك!») إلى خطوة أولى واحدة واضحة («ضع الألعاب في الصندوق»).</a:t>
            </a:r>
          </a:p>
          <a:p>
            <a:r>
              <a:rPr sz="1200">
                <a:latin typeface="Segoe UI"/>
              </a:rPr>
              <a:t>مفهوم خاطئ محتمل: «طفلي يجب أن يفهم من أول مرة» — الفهم مهارة تنمو، والوضوح مسؤوليتنا نحن أولًا.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5 — 30 ثانية. هذه الوحدة المحورية؛ خذ وقتك فيها.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سلم المساعدة — 5 دقائق (قلب الدورة)</a:t>
            </a:r>
          </a:p>
          <a:p>
            <a:r>
              <a:rPr sz="1200">
                <a:latin typeface="Segoe UI"/>
              </a:rPr>
              <a:t>الرسالة الأساسية: أغلبنا يقفز مباشرة إلى «سأفعلها لك» — السلم يعلمنا الوقوف عند كل درجة قبل النزول للتي بعدها.</a:t>
            </a:r>
          </a:p>
          <a:p>
            <a:r>
              <a:rPr sz="1200">
                <a:latin typeface="Segoe UI"/>
              </a:rPr>
              <a:t>مثال منزلي كامل: ربط الحذاء — (1) جرب، (2) «ماذا نفعل بالرباطين أولًا؟»، (3) «اصنع الأرنبين»، (4) أربط أنا حذائي أمامك ببطء، (5) أمسك العقدة الأولى وهو يكمل، (6) غدًا يبدأ هو من العقدة.</a:t>
            </a:r>
          </a:p>
          <a:p>
            <a:r>
              <a:rPr sz="1200">
                <a:latin typeface="Segoe UI"/>
              </a:rPr>
              <a:t>سؤال للمشاركين: في أي درجة تقف عادة مع طفلك؟ إجابة صادقة لأنفسنا فقط.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القاعدة الذهبية — دقيقتان</a:t>
            </a:r>
          </a:p>
          <a:p>
            <a:r>
              <a:rPr sz="1200">
                <a:latin typeface="Segoe UI"/>
              </a:rPr>
              <a:t>الرسالة الأساسية: المساعدة الناجحة هي التي تتقلص مع الوقت — إن بقيت كما هي شهورًا فهي لم تعد مساعدة بل عادة.</a:t>
            </a:r>
          </a:p>
          <a:p>
            <a:r>
              <a:rPr sz="1200">
                <a:latin typeface="Segoe UI"/>
              </a:rPr>
              <a:t>اربطها بما سيأتي: أداة متابعة التقدم (الأداة 6) ستساعدنا على معرفة متى نقلل.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الأداة 4 — 3 دقائق</a:t>
            </a:r>
          </a:p>
          <a:p>
            <a:r>
              <a:rPr sz="1200">
                <a:latin typeface="Segoe UI"/>
              </a:rPr>
              <a:t>الرسالة الأساسية: هذه الأداة تختصر الوحدة كلها في أربع لحظات: قبل، أثناء، عند الصعوبة، بعد.</a:t>
            </a:r>
          </a:p>
          <a:p>
            <a:r>
              <a:rPr sz="1200">
                <a:latin typeface="Segoe UI"/>
              </a:rPr>
              <a:t>وضح: «راقب دون أن تتدخل فورًا» أصعب بند على الوالدين — والأكثر أثرًا.</a:t>
            </a:r>
          </a:p>
          <a:p>
            <a:r>
              <a:rPr sz="1200">
                <a:latin typeface="Segoe UI"/>
              </a:rPr>
              <a:t>الأسئلة الثلاثة «بعد المهمة» هي بذرة الملاحظة التي ستنمو في الأداة 6 (متابعة التقدم).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تطبيق الأداة 4 — 4 دقائق</a:t>
            </a:r>
          </a:p>
          <a:p>
            <a:r>
              <a:rPr sz="1200">
                <a:latin typeface="Segoe UI"/>
              </a:rPr>
              <a:t>تعليمات: في الجلسات المباشرة: نقاش ثنائي سريع ثم جمع أفكار. ذاتيًا: يكتب الوالد إجاباته في الكراسة (صفحة 5).</a:t>
            </a:r>
          </a:p>
          <a:p>
            <a:r>
              <a:rPr sz="1200">
                <a:latin typeface="Segoe UI"/>
              </a:rPr>
              <a:t>إجابات نموذجية: قبل: «سننسخ خمسة أسطر، سطرًا سطرًا — ابدأ بالأول». عند الصعوبة: «أنجزت ثلاثة! خذ دقيقة راحة، ثم سطر واحد فقط وأنا أجلس بجانبك» — لا نكتب بدله.</a:t>
            </a:r>
          </a:p>
          <a:p>
            <a:r>
              <a:rPr sz="1200">
                <a:latin typeface="Segoe UI"/>
              </a:rPr>
              <a:t>الرسالة الأساسية: «اكتب أنت» طلب سيسمعه كل والد آلاف المرات — الرد الجيد يجزئ ويشجع ولا يستلم القلم.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7 — 30 ثانية.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الاستراتيجيات 1–5 — 3 دقائق</a:t>
            </a:r>
          </a:p>
          <a:p>
            <a:r>
              <a:rPr sz="1200">
                <a:latin typeface="Segoe UI"/>
              </a:rPr>
              <a:t>اعرضها بإيقاع سريع مع التركيز على الأمثلة المنزلية. الاستراتيجية 4 (الوقت) أسهلها وأكثرها إهمالًا — أبرزها.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الاستراتيجيات 6–10 — 3 دقائق</a:t>
            </a:r>
          </a:p>
          <a:p>
            <a:r>
              <a:rPr sz="1200">
                <a:latin typeface="Segoe UI"/>
              </a:rPr>
              <a:t>الاستراتيجية 6 (الاختيار المحدود) سحرية مع الأطفال الرافضين: الخيار يعطي شعورًا بالسيطرة داخل حدودك أنت.</a:t>
            </a:r>
          </a:p>
          <a:p>
            <a:r>
              <a:rPr sz="1200">
                <a:latin typeface="Segoe UI"/>
              </a:rPr>
              <a:t>الاستراتيجية 9 هي الأحب للأسر المشغولة: لا وقت إضافيًا — نفس الأنشطة اليومية تصبح تعلمًا.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اختيار الاستراتيجية — 3 دقائق</a:t>
            </a:r>
          </a:p>
          <a:p>
            <a:r>
              <a:rPr sz="1200">
                <a:latin typeface="Segoe UI"/>
              </a:rPr>
              <a:t>تعليمات: يجيب الوالد عن الأسئلة الأربعة في كراسته. في الجلسات المباشرة: مشاركة سريعة — من اختار ماذا ولماذا؟</a:t>
            </a:r>
          </a:p>
          <a:p>
            <a:r>
              <a:rPr sz="1200">
                <a:latin typeface="Segoe UI"/>
              </a:rPr>
              <a:t>اربط الاختيار بالأداة 2: الاستراتيجية الجيدة تعالج الاحتياج الذي حدده الوالد، وتستفيد من نقطة قوة إن أمكن.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التعامل مع الأخطاء — 3 دقائق</a:t>
            </a:r>
          </a:p>
          <a:p>
            <a:r>
              <a:rPr sz="1200">
                <a:latin typeface="Segoe UI"/>
              </a:rPr>
              <a:t>الرسالة الأساسية: هدفنا أن يبقى الطفل محاوِلًا — وكل رد فعل على الخطأ إما يشجع المحاولة القادمة أو يطفئها.</a:t>
            </a:r>
          </a:p>
          <a:p>
            <a:r>
              <a:rPr sz="1200">
                <a:latin typeface="Segoe UI"/>
              </a:rPr>
              <a:t>سؤال للمشاركين: تذكروا شيئًا تعلمتموه كبارًا (القيادة؟ الطبخ؟) — كم أخطأتم قبل الإتقان؟ وماذا لو وُبختم عند كل خطأ؟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موقف الخطأ في القراءة — 3 دقائق</a:t>
            </a:r>
          </a:p>
          <a:p>
            <a:r>
              <a:rPr sz="1200">
                <a:latin typeface="Segoe UI"/>
              </a:rPr>
              <a:t>تعليمات: اعرض الموقف والخيارات، خذ تصويتًا سريعًا، ثم اكشف الإجابة وناقش.</a:t>
            </a:r>
          </a:p>
          <a:p>
            <a:r>
              <a:rPr sz="1200">
                <a:latin typeface="Segoe UI"/>
              </a:rPr>
              <a:t>نقطة دقيقة: (أ) ليست خطأ دائمًا — أحيانًا نعطي الكلمة لنحافظ على متعة القصة. الخطأ أن تكون هي الرد التلقائي الدائم.</a:t>
            </a:r>
          </a:p>
          <a:p>
            <a:r>
              <a:rPr sz="1200">
                <a:latin typeface="Segoe UI"/>
              </a:rPr>
              <a:t>الرسالة الأساسية: الترتيب الذهبي: وقت ← تلميح ← مساعدة جزئية — نفس سلم المساعدة من الوحدة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9 — 30 ثانية.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القراءة والكتابة والرياضيات — 4 دقائق</a:t>
            </a:r>
          </a:p>
          <a:p>
            <a:r>
              <a:rPr sz="1200">
                <a:latin typeface="Segoe UI"/>
              </a:rPr>
              <a:t>الرسالة الأساسية: لسنا نعلم الوالد تدريس هذه المواد — بل كيف يجعل البيت بيئة تغذيها يوميًا بجهد صغير.</a:t>
            </a:r>
          </a:p>
          <a:p>
            <a:r>
              <a:rPr sz="1200">
                <a:latin typeface="Segoe UI"/>
              </a:rPr>
              <a:t>أكد: الانتظام أهم من الكمية — 10 دقائق قراءة يوميًا تصنع أكثر من ساعتين يوم الجمعة.</a:t>
            </a:r>
          </a:p>
          <a:p>
            <a:r>
              <a:rPr sz="1200">
                <a:latin typeface="Segoe UI"/>
              </a:rPr>
              <a:t>مثال محبب: قائمة التسوق يكتبها الطفل، وفي المتجر هو من «يقرأها» ويعد الأصناف — قراءة وكتابة وحساب في مشوار واحد.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رفض التعلم — 4 دقائق</a:t>
            </a:r>
          </a:p>
          <a:p>
            <a:r>
              <a:rPr sz="1200">
                <a:latin typeface="Segoe UI"/>
              </a:rPr>
              <a:t>الرسالة الأساسية: قبل أن نسأل «لماذا يرفض طفلي؟» نسأل «ما الذي تحاول رسالته أن تقوله؟» — غالبًا: المهمة كبيرة عليّ الآن.</a:t>
            </a:r>
          </a:p>
          <a:p>
            <a:r>
              <a:rPr sz="1200">
                <a:latin typeface="Segoe UI"/>
              </a:rPr>
              <a:t>مثال: طفل يرمي القلم عند الواجب — جرّب: «سنحل سؤالًا واحدًا فقط ثم راحة» — كثير من الرفض يذوب أمام المهمة الصغيرة.</a:t>
            </a:r>
          </a:p>
          <a:p>
            <a:r>
              <a:rPr sz="1200">
                <a:latin typeface="Segoe UI"/>
              </a:rPr>
              <a:t>تنبيه مهم: لا نقدم تشخيصات ولا نفسر الرفض بمصطلحات طبية — نجرب الحلول البسيطة أولًا، وإن استمرت الصعوبة فسنتحدث لاحقًا عن طلب الدعم.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بناء الاستقلالية — 3 دقائق</a:t>
            </a:r>
          </a:p>
          <a:p>
            <a:r>
              <a:rPr sz="1200">
                <a:latin typeface="Segoe UI"/>
              </a:rPr>
              <a:t>الرسالة الأساسية: الاستقلالية لا تحدث فجأة في المراهقة — تُبنى من مهام صغيرة تبدأ الآن.</a:t>
            </a:r>
          </a:p>
          <a:p>
            <a:r>
              <a:rPr sz="1200">
                <a:latin typeface="Segoe UI"/>
              </a:rPr>
              <a:t>تعليمات: يكتب كل والد في كراسته (صفحة 7) مهمة واحدة سيعطي طفله فرصة القيام بها بصورة أكثر استقلالية هذا الأسبوع.</a:t>
            </a:r>
          </a:p>
          <a:p>
            <a:r>
              <a:rPr sz="1200">
                <a:latin typeface="Segoe UI"/>
              </a:rPr>
              <a:t>تنبيه: توقع فوضى وبطئًا في البداية — الطفل الذي يرتب حقيبته بنفسه يرتبها أسوأ منك... وهذا بالضبط هو التعلم.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12 — 30 ثانية.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الأداة 6 — 4 دقائق</a:t>
            </a:r>
          </a:p>
          <a:p>
            <a:r>
              <a:rPr sz="1200">
                <a:latin typeface="Segoe UI"/>
              </a:rPr>
              <a:t>الرسالة الأساسية: بدون هذه الأداة نظل نكرر نفس الدعم شهورًا دون أن نعرف إن كان يعمل.</a:t>
            </a:r>
          </a:p>
          <a:p>
            <a:r>
              <a:rPr sz="1200">
                <a:latin typeface="Segoe UI"/>
              </a:rPr>
              <a:t>وضح «الدليل»: شيء تراه أو تعدّه — لا انطباعًا عامًا. «تحسن» ليست دليلًا؛ «أصبح يقرأ صفحة دون توقف» دليل.</a:t>
            </a:r>
          </a:p>
          <a:p>
            <a:r>
              <a:rPr sz="1200">
                <a:latin typeface="Segoe UI"/>
              </a:rPr>
              <a:t>اربط بسؤال الاستقلالية: هو المؤشر الأصدق — قد تتحسن النتيجة لأن مساعدتك زادت! السؤال: هل يفعل أكثر بنفسه؟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نتيجة المتابعة — 3 دقائق</a:t>
            </a:r>
          </a:p>
          <a:p>
            <a:r>
              <a:rPr sz="1200">
                <a:latin typeface="Segoe UI"/>
              </a:rPr>
              <a:t>الرسالة الأساسية: كل نتيجة لها خطوة تالية واضحة — لا توجد نتيجة «سيئة»، توجد معلومة جديدة عن طفلك.</a:t>
            </a:r>
          </a:p>
          <a:p>
            <a:r>
              <a:rPr sz="1200">
                <a:latin typeface="Segoe UI"/>
              </a:rPr>
              <a:t>أكد على السطر الأخير في البطاقة الثالثة: عدم نجاح الطريقة لا يعني أن الطفل غير قادر.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عندما لا تنجح الطريقة — 3 دقائق</a:t>
            </a:r>
          </a:p>
          <a:p>
            <a:r>
              <a:rPr sz="1200">
                <a:latin typeface="Segoe UI"/>
              </a:rPr>
              <a:t>الرسالة الأساسية: الحلقة «جربت ← لاحظت ← عدلت ← جربت مرة أخرى» هي نفسها التي يستخدمها المعلمون المحترفون — وأنت قادر عليها.</a:t>
            </a:r>
          </a:p>
          <a:p>
            <a:r>
              <a:rPr sz="1200">
                <a:latin typeface="Segoe UI"/>
              </a:rPr>
              <a:t>مثال: القراءة قبل النوم لم تنجح (الطفل منهك) — نفس الاستراتيجية بعد العصر نجحت. لم تكن المشكلة في القراءة ولا في الطفل — بل في الوقت.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طلب الدعم الإضافي — 3 دقائق</a:t>
            </a:r>
          </a:p>
          <a:p>
            <a:r>
              <a:rPr sz="1200">
                <a:latin typeface="Segoe UI"/>
              </a:rPr>
              <a:t>الرسالة الأساسية: الطريق الطبيعي: نجرب في البيت ← نتابع ← نتحدث مع المدرسة ← نطلب دعمًا إضافيًا إن لزم — دون قفز ودون تأخير مفرط.</a:t>
            </a:r>
          </a:p>
          <a:p>
            <a:r>
              <a:rPr sz="1200">
                <a:latin typeface="Segoe UI"/>
              </a:rPr>
              <a:t>تنبيه صارم: لا نقدم هنا أي تشخيصات أو أسماء اضطرابات أو نصائح علاجية — إن سأل أحد الوالدين عن حالة محددة، وجهه بلطف إلى المختصين وإلى المدرسة.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فاصل الوحدة 14 — 30 ثانية.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الأداة 7 — 4 دقائق</a:t>
            </a:r>
          </a:p>
          <a:p>
            <a:r>
              <a:rPr sz="1200">
                <a:latin typeface="Segoe UI"/>
              </a:rPr>
              <a:t>الرسالة الأساسية: الفرق بين لقاء مدرسي عام («طفلي يعاني، ساعدونا») ولقاء مثمر هو التحضير — هذا السجل هو التحضير.</a:t>
            </a:r>
          </a:p>
          <a:p>
            <a:r>
              <a:rPr sz="1200">
                <a:latin typeface="Segoe UI"/>
              </a:rPr>
              <a:t>لاحظ الترتيب داخل السجل: نقاط القوة قبل الصعوبة — نفس قاعدة الدورة، حتى في حديثنا عن الطفل مع الآخرين.</a:t>
            </a:r>
          </a:p>
          <a:p>
            <a:r>
              <a:rPr sz="1200">
                <a:latin typeface="Segoe UI"/>
              </a:rPr>
              <a:t>أبرز بند «ما الذي جربناه وماذا ساعد؟»: هذه أثمن معلومة يمكن أن يقدمها الوالد للمعلم.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الأداة 8 — 3 دقائق</a:t>
            </a:r>
          </a:p>
          <a:p>
            <a:r>
              <a:rPr sz="1200">
                <a:latin typeface="Segoe UI"/>
              </a:rPr>
              <a:t>الرسالة الأساسية: هذه البطاقة هي «خلاصة كل ما تعلمته عن طفلك» في صفحة واحدة — تلخص نتائج الأدوات السابقة كلها.</a:t>
            </a:r>
          </a:p>
          <a:p>
            <a:r>
              <a:rPr sz="1200">
                <a:latin typeface="Segoe UI"/>
              </a:rPr>
              <a:t>البند 11 هو الأهم عاطفيًا: الشيء الذي تريد أن يعرفه الآخرون عن طفلك — شجع الوالدين على كتابته بعناية.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استخدام البطاقة — دقيقتان</a:t>
            </a:r>
          </a:p>
          <a:p>
            <a:r>
              <a:rPr sz="1200">
                <a:latin typeface="Segoe UI"/>
              </a:rPr>
              <a:t>الرسالة الأساسية: قيمة البطاقة في مشاركتها — عندما يتعامل الجميع (البيت والمدرسة) مع الطفل بنفس الفهم، يتسارع التقدم.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حالة سارة — عرض — 3 دقائق</a:t>
            </a:r>
          </a:p>
          <a:p>
            <a:r>
              <a:rPr sz="1200">
                <a:latin typeface="Segoe UI"/>
              </a:rPr>
              <a:t>تعليمات: اقرأ الحالة بتمهل. لا تعلق بعد — الشريحة التالية أسئلة القرار.</a:t>
            </a:r>
          </a:p>
          <a:p>
            <a:r>
              <a:rPr sz="1200">
                <a:latin typeface="Segoe UI"/>
              </a:rPr>
              <a:t>لاحظ أن الحالة خيالية وبلا أي تشخيص — مجرد طفلة تواجه صعوبة شائعة جدًا في الكتابة.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أسئلة حالة سارة — 5 دقائق تفكير + 4 نقاش</a:t>
            </a:r>
          </a:p>
          <a:p>
            <a:r>
              <a:rPr sz="1200">
                <a:latin typeface="Segoe UI"/>
              </a:rPr>
              <a:t>إجابات نموذجية:</a:t>
            </a:r>
          </a:p>
          <a:p>
            <a:r>
              <a:rPr sz="1200">
                <a:latin typeface="Segoe UI"/>
              </a:rPr>
              <a:t>1. القوة: خيال واسع وحكايات شفهية غنية + تحب الرسم. 2. الاحتياج: جسر من الحكي إلى الكتابة + بداية واضحة، لا من يكتب عنها.</a:t>
            </a:r>
          </a:p>
          <a:p>
            <a:r>
              <a:rPr sz="1200">
                <a:latin typeface="Segoe UI"/>
              </a:rPr>
              <a:t>3. البيئة: مكان أهدأ من طاولة المطبخ، إغلاق التلفاز وقت الواجب.</a:t>
            </a:r>
          </a:p>
          <a:p>
            <a:r>
              <a:rPr sz="1200">
                <a:latin typeface="Segoe UI"/>
              </a:rPr>
              <a:t>4. الاستراتيجية: تقسيم المهمة أو الوسائل البصرية — مثلًا: ترسم القصة ثلاث لوحات ثم تكتب جملة تحت كل لوحة، أو تحكي شفهيًا ثم تكتب أول جملة قالتها.</a:t>
            </a:r>
          </a:p>
          <a:p>
            <a:r>
              <a:rPr sz="1200">
                <a:latin typeface="Segoe UI"/>
              </a:rPr>
              <a:t>5. سلم المساعدة: «احكِ لي ماذا ستكتبين» ← «ما أول جملة؟» ← تكتب الأم كلمة البداية فقط إن لزم — القلم يبقى بيد سارة.</a:t>
            </a:r>
          </a:p>
          <a:p>
            <a:r>
              <a:rPr sz="1200">
                <a:latin typeface="Segoe UI"/>
              </a:rPr>
              <a:t>6. الدليل: عدد الجمل التي تكتبها بنفسها، وهل تبدأ دون وجود الأم بجانبها.</a:t>
            </a:r>
          </a:p>
          <a:p>
            <a:r>
              <a:rPr sz="1200">
                <a:latin typeface="Segoe UI"/>
              </a:rPr>
              <a:t>7. تحسنت ← تقليل الدعم (الرسم يصغر، الجمل تزيد). لم تتحسن ← نراجع حجم المهمة، وقد نتحدث مع المعلمة عبر سجل التواصل.</a:t>
            </a:r>
          </a:p>
          <a:p>
            <a:r>
              <a:rPr sz="1200">
                <a:latin typeface="Segoe UI"/>
              </a:rPr>
              <a:t>الرسالة الأساسية: الإملاء كان يسلّم الواجب ويؤجل المشكلة — الحل الحقيقي يبدأ من نقطة قوتها.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النشاط العملي الرئيسي — 8 دقائق</a:t>
            </a:r>
          </a:p>
          <a:p>
            <a:r>
              <a:rPr sz="1200">
                <a:latin typeface="Segoe UI"/>
              </a:rPr>
              <a:t>تعليمات: هذا هو المنتج الأهم في الدورة — امنح وقتًا حقيقيًا صامتًا. كل والد يعمل على طفله الحقيقي.</a:t>
            </a:r>
          </a:p>
          <a:p>
            <a:r>
              <a:rPr sz="1200">
                <a:latin typeface="Segoe UI"/>
              </a:rPr>
              <a:t>في الخطوة 7 ساعدهم بصيغة: تحسن ← أقلل المساعدة خطوة. تحسن قليلًا ← أستمر أسبوعًا آخر بتعديل صغير. لم يتغير ← أجرب استراتيجية أخرى أو أصغّر المهمة.</a:t>
            </a:r>
          </a:p>
          <a:p>
            <a:r>
              <a:rPr sz="1200">
                <a:latin typeface="Segoe UI"/>
              </a:rPr>
              <a:t>من ينتهي مبكرًا: يبدأ نقل خلاصته إلى بطاقة «ما الذي يساعد طفلي؟».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الخطة الأسبوعية — 4 دقائق</a:t>
            </a:r>
          </a:p>
          <a:p>
            <a:r>
              <a:rPr sz="1200">
                <a:latin typeface="Segoe UI"/>
              </a:rPr>
              <a:t>تعليمات: يملأ الوالد النموذج من إجابات النشاط العملي — كل شيء جاهز، فقط يُنقل إلى صيغة خطة.</a:t>
            </a:r>
          </a:p>
          <a:p>
            <a:r>
              <a:rPr sz="1200">
                <a:latin typeface="Segoe UI"/>
              </a:rPr>
              <a:t>أكد: هذه الحلقة الأسبوعية (خطة ← تطبيق ← مراجعة ← قرار) هي ما سيبقى مع الوالد بعد نسيان تفاصيل الدورة.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تعليمات الاختبار — دقيقة</a:t>
            </a:r>
          </a:p>
          <a:p>
            <a:r>
              <a:rPr sz="1200">
                <a:latin typeface="Segoe UI"/>
              </a:rPr>
              <a:t>طريقة التقديم: فرديًا على ورقة الاختبار (ملف منفصل) أو عرضًا جماعيًا بالتصويت ثم النقاش.</a:t>
            </a:r>
          </a:p>
          <a:p>
            <a:r>
              <a:rPr sz="1200">
                <a:latin typeface="Segoe UI"/>
              </a:rPr>
              <a:t>ملاحظة: الشرائح التالية تعرض الأسئلة فقط — مفتاح الإجابات في دليل الميسر وملف الاختبار، وليس في شرائح المتعلم.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أسئلة الاختبار 1–3 — 4 دقائق</a:t>
            </a:r>
          </a:p>
          <a:p>
            <a:r>
              <a:rPr sz="1200">
                <a:latin typeface="Segoe UI"/>
              </a:rPr>
              <a:t>مفتاح هذه الشريحة: 1-ب، 2-ب، 3-ج</a:t>
            </a:r>
          </a:p>
          <a:p>
            <a:r>
              <a:rPr sz="1200">
                <a:latin typeface="Segoe UI"/>
              </a:rPr>
              <a:t>(المفتاح الكامل مع الشروح في دليل الميسر وملف الاختبار — لا يُعرض للمتعلمين قبل الإجابة.)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أسئلة الاختبار 4–6 — 4 دقائق</a:t>
            </a:r>
          </a:p>
          <a:p>
            <a:r>
              <a:rPr sz="1200">
                <a:latin typeface="Segoe UI"/>
              </a:rPr>
              <a:t>مفتاح هذه الشريحة: 4-أ، 5-د، 6-ب</a:t>
            </a:r>
          </a:p>
          <a:p>
            <a:r>
              <a:rPr sz="1200">
                <a:latin typeface="Segoe UI"/>
              </a:rPr>
              <a:t>(المفتاح الكامل مع الشروح في دليل الميسر وملف الاختبار — لا يُعرض للمتعلمين قبل الإجابة.)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أسئلة الاختبار 7–9 — 4 دقائق</a:t>
            </a:r>
          </a:p>
          <a:p>
            <a:r>
              <a:rPr sz="1200">
                <a:latin typeface="Segoe UI"/>
              </a:rPr>
              <a:t>مفتاح هذه الشريحة: 7-ج، 8-أ، 9-ب</a:t>
            </a:r>
          </a:p>
          <a:p>
            <a:r>
              <a:rPr sz="1200">
                <a:latin typeface="Segoe UI"/>
              </a:rPr>
              <a:t>(المفتاح الكامل مع الشروح في دليل الميسر وملف الاختبار — لا يُعرض للمتعلمين قبل الإجابة.)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أسئلة الاختبار 10–12 — 4 دقائق</a:t>
            </a:r>
          </a:p>
          <a:p>
            <a:r>
              <a:rPr sz="1200">
                <a:latin typeface="Segoe UI"/>
              </a:rPr>
              <a:t>مفتاح هذه الشريحة: 10-أ، 11-ب، 12-ج</a:t>
            </a:r>
          </a:p>
          <a:p>
            <a:r>
              <a:rPr sz="1200">
                <a:latin typeface="Segoe UI"/>
              </a:rPr>
              <a:t>(المفتاح الكامل مع الشروح في دليل الميسر وملف الاختبار — لا يُعرض للمتعلمين قبل الإجابة.)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التأمل الختامي — 5 دقائق صمت</a:t>
            </a:r>
          </a:p>
          <a:p>
            <a:r>
              <a:rPr sz="1200">
                <a:latin typeface="Segoe UI"/>
              </a:rPr>
              <a:t>تعليمات: هدوء حقيقي. لا مشاركة إجبارية. في النهاية: من يرغب يشارك إجابة السؤال 3 فقط (المساعدة التي سيقللها) — فهي جوهر الدورة.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التطبيق الأسبوعي — دقيقتان</a:t>
            </a:r>
          </a:p>
          <a:p>
            <a:r>
              <a:rPr sz="1200">
                <a:latin typeface="Segoe UI"/>
              </a:rPr>
              <a:t>الرسالة الأساسية: ثلاث خطوات فقط — اليوم، خلال يومين، نهاية الأسبوع. البساطة هي ما يجعل التطبيق يحدث فعلًا.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الرسالة الختامية — دقيقتان</a:t>
            </a:r>
          </a:p>
          <a:p>
            <a:r>
              <a:rPr sz="1200">
                <a:latin typeface="Segoe UI"/>
              </a:rPr>
              <a:t>اقرأ الرسالة بتمهل ودفء. ثم السلسلة الخمسية — هي الدورة كلها في سطر.</a:t>
            </a:r>
          </a:p>
          <a:p>
            <a:r>
              <a:rPr sz="1200">
                <a:latin typeface="Segoe UI"/>
              </a:rPr>
              <a:t>ذكرهم بالخطوات الثلاث لهذا الأسبوع وبالكراسة التي تبقى معهم.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إتمام الدورة — دقيقة</a:t>
            </a:r>
          </a:p>
          <a:p>
            <a:r>
              <a:rPr sz="1200">
                <a:latin typeface="Segoe UI"/>
              </a:rPr>
              <a:t>اختم بحرارة. وزع/أرسل الاختبار البعدي إن لم يُنفذ، وذكّر بإعادة تقييم الجاهزية بعد شهر — قياس ذاتي جميل للأثر.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56048" y="68580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MASAR | مسار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5912" cy="2651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700" b="1" i="0">
                <a:solidFill>
                  <a:srgbClr val="C9A227"/>
                </a:solidFill>
                <a:latin typeface="Segoe UI"/>
                <a:cs typeface="Segoe UI"/>
              </a:rPr>
              <a:t>الدورة التدريبية الرابعة</a:t>
            </a:r>
          </a:p>
          <a:p>
            <a:pPr algn="ctr" rtl="1">
              <a:spcBef>
                <a:spcPts val="1000"/>
              </a:spcBef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  <a:cs typeface="Segoe UI"/>
              </a:rPr>
              <a:t>دعم تعلم طفلي</a:t>
            </a:r>
          </a:p>
          <a:p>
            <a:pPr algn="ctr" rtl="1">
              <a:spcBef>
                <a:spcPts val="600"/>
              </a:spcBef>
              <a:spcAft>
                <a:spcPts val="400"/>
              </a:spcAft>
            </a:pPr>
            <a:r>
              <a:rPr sz="2200" b="1" i="0">
                <a:solidFill>
                  <a:srgbClr val="E4F6F6"/>
                </a:solidFill>
                <a:latin typeface="Segoe UI"/>
                <a:cs typeface="Segoe UI"/>
              </a:rPr>
              <a:t>كيف أساعد طفلي على التعلم دون أن أقوم بالمهمة بدلًا منه؟</a:t>
            </a:r>
          </a:p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cs typeface="Segoe UI"/>
              </a:rPr>
              <a:t>Supporting My Child’s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4709160"/>
            <a:ext cx="7772400" cy="132588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دورة عملية لأولياء الأمور وأفراد الأسرة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  <a:cs typeface="Segoe UI"/>
              </a:rPr>
              <a:t>المدة: 30–45 دقيقة  •  ذاتية أو بميسر  •  لا تحتاج إلى أي خلفية تربوية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مرحبًا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أهلًا بك — هذه الدورة لك أنت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183112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800"/>
              </a:spcBef>
              <a:spcAft>
                <a:spcPts val="400"/>
              </a:spcAft>
            </a:pP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750" b="0" i="0">
                <a:solidFill>
                  <a:srgbClr val="2B2F38"/>
                </a:solidFill>
                <a:latin typeface="Segoe UI"/>
                <a:cs typeface="Segoe UI"/>
              </a:rPr>
              <a:t>أنت أهم داعم لتعلم طفلك — وهذه الدورة تعطيك طرقًا عملية بسيطة تستخدمها في بيتك من اليوم.</a:t>
            </a:r>
          </a:p>
          <a:p>
            <a:pPr algn="r" rtl="1">
              <a:spcBef>
                <a:spcPts val="800"/>
              </a:spcBef>
              <a:spcAft>
                <a:spcPts val="400"/>
              </a:spcAft>
            </a:pP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750" b="0" i="0">
                <a:solidFill>
                  <a:srgbClr val="2B2F38"/>
                </a:solidFill>
                <a:latin typeface="Segoe UI"/>
                <a:cs typeface="Segoe UI"/>
              </a:rPr>
              <a:t>لا نطلب منك أن تكون معلمًا، ولا أن تعرف مصطلحات تربوية — يكفي أنك تعرف طفلك وتريد مساعدته.</a:t>
            </a:r>
          </a:p>
          <a:p>
            <a:pPr algn="r" rtl="1">
              <a:spcBef>
                <a:spcPts val="800"/>
              </a:spcBef>
              <a:spcAft>
                <a:spcPts val="400"/>
              </a:spcAft>
            </a:pP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750" b="0" i="0">
                <a:solidFill>
                  <a:srgbClr val="2B2F38"/>
                </a:solidFill>
                <a:latin typeface="Segoe UI"/>
                <a:cs typeface="Segoe UI"/>
              </a:rPr>
              <a:t>كل ما ستتعلمه هنا يجيب عن سؤال واحد: ماذا أستطيع أن أفعل عمليًا مع طفلي؟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794760"/>
            <a:ext cx="9601200" cy="13716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3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الفكرة التي تحكم الدورة كلها:</a:t>
            </a:r>
          </a:p>
          <a:p>
            <a:pPr algn="ctr" rtl="1">
              <a:spcBef>
                <a:spcPts val="200"/>
              </a:spcBef>
              <a:spcAft>
                <a:spcPts val="100"/>
              </a:spcAft>
            </a:pPr>
            <a:r>
              <a:rPr sz="1800" b="1" i="0">
                <a:solidFill>
                  <a:srgbClr val="1F3A93"/>
                </a:solidFill>
                <a:latin typeface="Segoe UI"/>
                <a:cs typeface="Segoe UI"/>
              </a:rPr>
              <a:t>دورك ليس أن تقوم بالمهمة بدلًا من طفلك،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2BB3B1"/>
                </a:solidFill>
                <a:latin typeface="Segoe UI"/>
                <a:cs typeface="Segoe UI"/>
              </a:rPr>
              <a:t>بل أن تساعده على أن يصبح قادرًا على القيام بها بصورة أكثر استقلالية.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486400"/>
            <a:ext cx="11183112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6B7280"/>
                </a:solidFill>
                <a:latin typeface="Segoe UI"/>
                <a:cs typeface="Segoe UI"/>
              </a:rPr>
              <a:t>معك في هذه الدورة «كراسة تطبيق ولي الأمر» — ستكتب فيها عن طفلك أنت، خطوة بخطوة.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نتائج الدورة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ماذا ستتعلم في هذه الدورة؟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1130" y="1417320"/>
            <a:ext cx="2644902" cy="243687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أفهم طفلي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أعرف نقاط قوته واحتياجاته، وأبدأ من ما يجيده لا من ما ينقصه.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1417320"/>
            <a:ext cx="2644902" cy="243687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أهيئ البيئة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أرتب مكانًا ووقتًا وأدوات تجعل التعلم في البيت أسهل.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8990" y="1417320"/>
            <a:ext cx="2644902" cy="243687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أعطي تعليمات واضحة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جمل قصيرة، خطوة واحدة، ووقت كافٍ للاستجابة.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417320"/>
            <a:ext cx="2644902" cy="243687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أساعد بالقدر المناسب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أتدرج في المساعدة ولا أقوم بالمهمة بدلًا منه.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1130" y="4055364"/>
            <a:ext cx="2644902" cy="243687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أستخدم استراتيجيات بسيطة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عشر طرق منزلية عملية للدعم اليومي.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4055364"/>
            <a:ext cx="2644902" cy="243687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أتعامل مع الأخطاء والرفض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بهدوء وخطوات عملية، دون توبيخ أو صراع.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8990" y="4055364"/>
            <a:ext cx="2644902" cy="243687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أدعم القراءة والكتابة والحساب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من خلال الحياة اليومية، لا دروسًا إضافية.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55364"/>
            <a:ext cx="2644902" cy="243687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ألاحظ التقدم وأقرر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أتابع بأدلة بسيطة، وأعرف متى أعدّل ومتى أطلب دعمًا.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خريطة الدورة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طريقك في هذه الدورة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1704" y="15544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1. أفهم طفلي</a:t>
            </a:r>
          </a:p>
        </p:txBody>
      </p:sp>
      <p:sp>
        <p:nvSpPr>
          <p:cNvPr id="10" name="Left Arrow 9"/>
          <p:cNvSpPr/>
          <p:nvPr/>
        </p:nvSpPr>
        <p:spPr>
          <a:xfrm>
            <a:off x="8796528" y="1892808"/>
            <a:ext cx="283464" cy="384048"/>
          </a:xfrm>
          <a:prstGeom prst="lef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08776" y="15544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2. أحدد قوته واحتياجه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5943600" y="1892808"/>
            <a:ext cx="283464" cy="384048"/>
          </a:xfrm>
          <a:prstGeom prst="lef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55848" y="15544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3. أهيئ البيئة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3090672" y="1892808"/>
            <a:ext cx="283464" cy="384048"/>
          </a:xfrm>
          <a:prstGeom prst="lef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15544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4. أقدم الدعم المناسب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832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5. أستخدم الاستراتيجية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090672" y="3721608"/>
            <a:ext cx="283464" cy="38404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55848" y="33832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6. أتيح المحاولة والاستقلالية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43600" y="3721608"/>
            <a:ext cx="283464" cy="38404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08776" y="33832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7. ألاحظ التقدم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96528" y="3721608"/>
            <a:ext cx="283464" cy="384048"/>
          </a:xfrm>
          <a:prstGeom prst="right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61704" y="33832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8. أراجع وأقرر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600200" y="2651760"/>
            <a:ext cx="384048" cy="548640"/>
          </a:xfrm>
          <a:prstGeom prst="downArrow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80160" y="4892040"/>
            <a:ext cx="9601200" cy="123444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سترافقك في الطريق ثماني أدوات بسيطة من «حزمة أدوات الوالدين لدعم التعلم الشامل»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(Parent Support Toolkit) — كل أداة تظهر في مكانها الصحيح، وتستخدمها فورًا على طفلك أنت.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1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ماذا يعني أن أدعم تعلم طفلي؟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التعلم لا يحدث فقط أثناء الواجبات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المساعدة الزائدة قد تضر أكثر مما تنفع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الهدف: بناء القدرة والاستقلالية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الدعم الحقيقي يبني القدرة — لا الاعتماد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83112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500"/>
              </a:spcBef>
              <a:spcAft>
                <a:spcPts val="4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550" b="0" i="0">
                <a:solidFill>
                  <a:srgbClr val="2B2F38"/>
                </a:solidFill>
                <a:latin typeface="Segoe UI"/>
                <a:cs typeface="Segoe UI"/>
              </a:rPr>
              <a:t>التعلم لا يحدث فقط أثناء أداء الواجبات — الطبخ والتسوق واللعب والحديث كلها فرص تعلم.</a:t>
            </a:r>
          </a:p>
          <a:p>
            <a:pPr algn="r" rtl="1">
              <a:spcBef>
                <a:spcPts val="500"/>
              </a:spcBef>
              <a:spcAft>
                <a:spcPts val="4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550" b="0" i="0">
                <a:solidFill>
                  <a:srgbClr val="2B2F38"/>
                </a:solidFill>
                <a:latin typeface="Segoe UI"/>
                <a:cs typeface="Segoe UI"/>
              </a:rPr>
              <a:t>دورك هو تهيئة الظروف المناسبة: مكان، وقت، هدوء، تشجيع، وتعليمات واضحة.</a:t>
            </a:r>
          </a:p>
          <a:p>
            <a:pPr algn="r" rtl="1">
              <a:spcBef>
                <a:spcPts val="500"/>
              </a:spcBef>
              <a:spcAft>
                <a:spcPts val="4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550" b="0" i="0">
                <a:solidFill>
                  <a:srgbClr val="2B2F38"/>
                </a:solidFill>
                <a:latin typeface="Segoe UI"/>
                <a:cs typeface="Segoe UI"/>
              </a:rPr>
              <a:t>طفلك يحتاج إلى فرصة للمحاولة والخطأ والتكرار — هكذا يتعلم الجميع.</a:t>
            </a:r>
          </a:p>
          <a:p>
            <a:pPr algn="r" rtl="1">
              <a:spcBef>
                <a:spcPts val="500"/>
              </a:spcBef>
              <a:spcAft>
                <a:spcPts val="4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550" b="0" i="0">
                <a:solidFill>
                  <a:srgbClr val="2B2F38"/>
                </a:solidFill>
                <a:latin typeface="Segoe UI"/>
                <a:cs typeface="Segoe UI"/>
              </a:rPr>
              <a:t>المساعدة الزائدة قد تجعل الطفل يعتمد عليك حتى فيما يستطيع فعله بنفسه.</a:t>
            </a:r>
          </a:p>
          <a:p>
            <a:pPr algn="r" rtl="1">
              <a:spcBef>
                <a:spcPts val="500"/>
              </a:spcBef>
              <a:spcAft>
                <a:spcPts val="4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550" b="0" i="0">
                <a:solidFill>
                  <a:srgbClr val="2B2F38"/>
                </a:solidFill>
                <a:latin typeface="Segoe UI"/>
                <a:cs typeface="Segoe UI"/>
              </a:rPr>
              <a:t>الهدف دائمًا: بناء القدرة والاستقلالية خطوة بخطوة.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977639"/>
            <a:ext cx="5422392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0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400"/>
              </a:spcAft>
            </a:pPr>
            <a:r>
              <a:rPr sz="1550" b="1" i="0">
                <a:solidFill>
                  <a:srgbClr val="B03333"/>
                </a:solidFill>
                <a:latin typeface="Segoe UI"/>
                <a:cs typeface="Segoe UI"/>
              </a:rPr>
              <a:t>✗ بدلًا من: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700" b="1" i="0">
                <a:solidFill>
                  <a:srgbClr val="2B2F38"/>
                </a:solidFill>
                <a:latin typeface="Segoe UI"/>
                <a:cs typeface="Segoe UI"/>
              </a:rPr>
              <a:t>«أعطني القلم، سأكتب لك.»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77639"/>
            <a:ext cx="5577840" cy="173736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400"/>
              </a:spcAft>
            </a:pPr>
            <a:r>
              <a:rPr sz="1550" b="1" i="0">
                <a:solidFill>
                  <a:srgbClr val="2BB3B1"/>
                </a:solidFill>
                <a:latin typeface="Segoe UI"/>
                <a:cs typeface="Segoe UI"/>
              </a:rPr>
              <a:t>✓ نستخدم: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«حاول أولًا، وإذا احتجت مساعدة سأساعدك.»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897880"/>
            <a:ext cx="11183112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جملة واحدة تغيّر كل شيء: من «سأفعلها عنك» إلى «سأساعدك على فعلها».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الأداة 1 — تقييم جاهزية الأسرة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قبل أن ندعم أطفالنا... لنفهم أنفسنا أولًا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371600"/>
            <a:ext cx="10332720" cy="11887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cs typeface="Segoe UI"/>
              </a:rPr>
              <a:t>الأداة الأولى: تقييم جاهزية الأسرة (Family Readiness Self-Assessment)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50" b="0" i="0">
                <a:solidFill>
                  <a:srgbClr val="E4F6F6"/>
                </a:solidFill>
                <a:latin typeface="Segoe UI"/>
                <a:cs typeface="Segoe UI"/>
              </a:rPr>
              <a:t>تسعة أسئلة قصيرة تجيب عنها بنفسك: نعم / أحيانًا / 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11183112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700"/>
              </a:spcBef>
              <a:spcAft>
                <a:spcPts val="400"/>
              </a:spcAft>
            </a:pPr>
            <a:r>
              <a:rPr sz="1650" b="1" i="0">
                <a:solidFill>
                  <a:srgbClr val="1F3A93"/>
                </a:solidFill>
                <a:latin typeface="Segoe UI"/>
                <a:cs typeface="Segoe UI"/>
              </a:rPr>
              <a:t>لماذا أستخدمها؟  </a:t>
            </a:r>
            <a:r>
              <a:rPr sz="1550" b="0" i="0">
                <a:solidFill>
                  <a:srgbClr val="2B2F38"/>
                </a:solidFill>
                <a:latin typeface="Segoe UI"/>
                <a:cs typeface="Segoe UI"/>
              </a:rPr>
              <a:t>لتعرف من أين تبدأ: ما الذي تفعله جيدًا بالفعل، وما الجانب الذي تريد تطويره.</a:t>
            </a:r>
          </a:p>
          <a:p>
            <a:pPr algn="r" rtl="1">
              <a:spcBef>
                <a:spcPts val="700"/>
              </a:spcBef>
              <a:spcAft>
                <a:spcPts val="400"/>
              </a:spcAft>
            </a:pPr>
            <a:r>
              <a:rPr sz="1650" b="1" i="0">
                <a:solidFill>
                  <a:srgbClr val="1F3A93"/>
                </a:solidFill>
                <a:latin typeface="Segoe UI"/>
                <a:cs typeface="Segoe UI"/>
              </a:rPr>
              <a:t>ماذا ستحصل عليه؟  </a:t>
            </a:r>
            <a:r>
              <a:rPr sz="1550" b="0" i="0">
                <a:solidFill>
                  <a:srgbClr val="2B2F38"/>
                </a:solidFill>
                <a:latin typeface="Segoe UI"/>
                <a:cs typeface="Segoe UI"/>
              </a:rPr>
              <a:t>صورة صادقة عن جاهزيتك الحالية لدعم التعلم في المنزل — بعينيك أنت.</a:t>
            </a:r>
          </a:p>
          <a:p>
            <a:pPr algn="r" rtl="1">
              <a:spcBef>
                <a:spcPts val="700"/>
              </a:spcBef>
              <a:spcAft>
                <a:spcPts val="400"/>
              </a:spcAft>
            </a:pPr>
            <a:r>
              <a:rPr sz="1650" b="1" i="0">
                <a:solidFill>
                  <a:srgbClr val="1F3A93"/>
                </a:solidFill>
                <a:latin typeface="Segoe UI"/>
                <a:cs typeface="Segoe UI"/>
              </a:rPr>
              <a:t>متى أستخدمها؟  </a:t>
            </a:r>
            <a:r>
              <a:rPr sz="1550" b="0" i="0">
                <a:solidFill>
                  <a:srgbClr val="2B2F38"/>
                </a:solidFill>
                <a:latin typeface="Segoe UI"/>
                <a:cs typeface="Segoe UI"/>
              </a:rPr>
              <a:t>الآن في بداية الدورة، ثم مرة أخرى بعد شهر لترى كم تغيرت.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5120640"/>
            <a:ext cx="9601200" cy="10515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1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هذه الأداة ليست حكمًا عليك ولا اختبارًا لتقييمك.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2B2F38"/>
                </a:solidFill>
                <a:latin typeface="Segoe UI"/>
                <a:cs typeface="Segoe UI"/>
              </a:rPr>
              <a:t>لا يوجد والد «جاهز في كل شيء» — الأداة فقط تريك نقاط قوتك وما يمكن تطويره.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الأداة 1 — استخدمها الآن (كراسة التطبيق: صفحة 2)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تقييم جاهزية الأسرة — أجب بصدق: نعم / أحيانًا / لا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298448"/>
            <a:ext cx="9555480" cy="47548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1.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أفهم نقاط قوة طفلي واحتياجاته التعليمية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نعم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135331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أحيانًا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135331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لا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1847088"/>
            <a:ext cx="9555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2.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أعرف كيف أهيئ وقتًا مناسبًا للتعلم في المنزل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90195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نعم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190195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أحيانًا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0200" y="190195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لا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2395728"/>
            <a:ext cx="9555480" cy="47548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3.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أستطيع إعطاء طفلي تعليمات واضحة وبسيطة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45059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نعم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245059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أحيانًا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245059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لا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03120" y="2944368"/>
            <a:ext cx="9555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4.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أستطيع مساعدة طفلي دون القيام بالمهمة بدلًا منه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99923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نعم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299923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أحيانًا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00200" y="299923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لا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3493008"/>
            <a:ext cx="9555480" cy="47548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5.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أعرف كيف أشجع طفلي عند مواجهة صعوبة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54787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نعم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354787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أحيانًا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00200" y="3547872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لا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4041648"/>
            <a:ext cx="9555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6.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أتابع ما يستطيع طفلي فعله بصورة مستقلة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96511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نعم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4096511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أحيانًا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00200" y="4096511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لا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3120" y="4590288"/>
            <a:ext cx="9555480" cy="47548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7.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أعرف كيف أتواصل مع المدرسة بشأن تعلم طفلي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645151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نعم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1560" y="4645151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أحيانًا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00200" y="4645151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لا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03120" y="5138927"/>
            <a:ext cx="955548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8.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أستطيع ملاحظة ما إذا كانت طريقة الدعم التي أستخدمها مفيدة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193791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نعم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1560" y="5193791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أحيانًا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00200" y="5193791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لا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03120" y="5687567"/>
            <a:ext cx="9555480" cy="47548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9.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أعرف متى أحتاج إلى طلب دعم إضافي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742431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نعم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1560" y="5742431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أحيانًا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00200" y="5742431"/>
            <a:ext cx="502920" cy="3657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F3A93"/>
                </a:solidFill>
                <a:latin typeface="Segoe UI"/>
                <a:cs typeface="Segoe UI"/>
              </a:rPr>
              <a:t>لا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الأداة 1 — النتيجة والخطوة التالية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ماذا تعني نتيجتك؟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4424" y="146304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700" b="1" i="0">
                <a:solidFill>
                  <a:srgbClr val="2BB3B1"/>
                </a:solidFill>
                <a:latin typeface="Segoe UI"/>
                <a:cs typeface="Segoe UI"/>
              </a:rPr>
              <a:t>جاهزية جيدة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300" b="1" i="0">
                <a:solidFill>
                  <a:srgbClr val="6B7280"/>
                </a:solidFill>
                <a:latin typeface="Segoe UI"/>
                <a:cs typeface="Segoe UI"/>
              </a:rPr>
              <a:t>أغلب إجاباتك «نعم»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لديك أساس قوي — استخدم الدورة لصقل ما تفعله وتقليل المساعدة الزائدة إن وجدت.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46304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جاهزية تحتاج إلى تطوير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300" b="1" i="0">
                <a:solidFill>
                  <a:srgbClr val="6B7280"/>
                </a:solidFill>
                <a:latin typeface="Segoe UI"/>
                <a:cs typeface="Segoe UI"/>
              </a:rPr>
              <a:t>مزيج من «نعم» و«أحيانًا»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أنت في الطريق الصحيح — اختر جانبين أو ثلاثة من بنود «أحيانًا» وركز عليها خلال الدورة.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6304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700" b="1" i="0">
                <a:solidFill>
                  <a:srgbClr val="C9A227"/>
                </a:solidFill>
                <a:latin typeface="Segoe UI"/>
                <a:cs typeface="Segoe UI"/>
              </a:rPr>
              <a:t>أولوية للدعم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300" b="1" i="0">
                <a:solidFill>
                  <a:srgbClr val="6B7280"/>
                </a:solidFill>
                <a:latin typeface="Segoe UI"/>
                <a:cs typeface="Segoe UI"/>
              </a:rPr>
              <a:t>عدة إجابات «لا»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ممتاز أنك هنا! هذه الدورة صُممت لك بالذات — امش فيها خطوة خطوة ولا تحاول تغيير كل شيء دفعة واحدة.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80560"/>
            <a:ext cx="10332720" cy="15544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3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الخطوة التالية — مهما كانت نتيجتك: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ضع دائرة حول بند واحد أجبت عنه بـ«أحيانًا» أو «لا» — هذا هو هدفك الشخصي من الدورة.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وعندما تصل الدورة إلى هذا الموضوع، انتبه له أكثر من غيره.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2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أفهم طفلي أولًا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الدعم الجيد يبدأ من معرفة الطفل — لا من افتراض ما يحتاجه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الأداة 2: تحديد نقاط القوة والاحتياجات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نقاط القوة أولًا → الاحتياج → نوع المساعدة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Child Strengths &amp; Needs Identification — كراسة التطبيق: صفحة 3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الأداة 2: نقاط القوة والاحتياجات لدى طفلي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325880"/>
            <a:ext cx="5477256" cy="7315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1. </a:t>
            </a: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ما الذي يجيده طفلي؟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477256" cy="7315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2. </a:t>
            </a: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ما الأنشطة التي يستمتع بها؟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2167128"/>
            <a:ext cx="5477256" cy="7315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3. </a:t>
            </a: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ما الذي يستطيع القيام به بمفرده؟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67128"/>
            <a:ext cx="5477256" cy="7315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4. </a:t>
            </a: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ما الذي يستطيع القيام به مع مساعدة بسيطة؟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3008376"/>
            <a:ext cx="5477256" cy="7315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5. </a:t>
            </a: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ما الذي ما زال يحتاج فيه إلى دعم؟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08376"/>
            <a:ext cx="5477256" cy="73152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C9A227"/>
                </a:solidFill>
                <a:latin typeface="Segoe UI"/>
                <a:cs typeface="Segoe UI"/>
              </a:rPr>
              <a:t>6. </a:t>
            </a: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متى يبدو أن طفلي يتعلم بصورة أفضل؟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3849624"/>
            <a:ext cx="5477256" cy="73152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C9A227"/>
                </a:solidFill>
                <a:latin typeface="Segoe UI"/>
                <a:cs typeface="Segoe UI"/>
              </a:rPr>
              <a:t>7. </a:t>
            </a: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ما المواقف التي تصبح فيها المهمة أكثر صعوبة؟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9624"/>
            <a:ext cx="5477256" cy="73152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C9A227"/>
                </a:solidFill>
                <a:latin typeface="Segoe UI"/>
                <a:cs typeface="Segoe UI"/>
              </a:rPr>
              <a:t>8. </a:t>
            </a: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ما الذي يساعده عادةً؟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4690872"/>
            <a:ext cx="5477256" cy="73152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C9A227"/>
                </a:solidFill>
                <a:latin typeface="Segoe UI"/>
                <a:cs typeface="Segoe UI"/>
              </a:rPr>
              <a:t>9. </a:t>
            </a: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ما الذي جربناه ولم يساعد كثيرًا؟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90872"/>
            <a:ext cx="5477256" cy="73152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00" b="1" i="0">
                <a:solidFill>
                  <a:srgbClr val="C9A227"/>
                </a:solidFill>
                <a:latin typeface="Segoe UI"/>
                <a:cs typeface="Segoe UI"/>
              </a:rPr>
              <a:t>10. </a:t>
            </a: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ملاحظات إضافية أريد تذكرها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06440"/>
            <a:ext cx="11183112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لاحظ الترتيب: نبدأ بما يجيده طفلك ويستمتع به — قبل أي حديث عن الصعوبات.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الأداة 2 — النتيجة والخطوة التالية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ماذا تعني نتيجتك؟ لخصها في ثلاث جمل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4424" y="1417320"/>
            <a:ext cx="3566160" cy="164592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طفلي يستطيع...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  <a:cs typeface="Segoe UI"/>
              </a:rPr>
              <a:t>اكتب 3 أشياء يفعلها جيدًا أو بمفرده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417320"/>
            <a:ext cx="3566160" cy="16459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طفلي يحتاج إلى...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  <a:cs typeface="Segoe UI"/>
              </a:rPr>
              <a:t>اكتب احتياجًا واحدًا أو اثنين — بصيغة الحاجة لا العيب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3566160" cy="164592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ما يساعد طفلي هو...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  <a:cs typeface="Segoe UI"/>
              </a:rPr>
              <a:t>اكتب ما لاحظت أنه يساعده فعلًا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11183112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لماذا نبدأ من نقاط القوة؟</a:t>
            </a:r>
          </a:p>
          <a:p>
            <a:pPr algn="r" rtl="1">
              <a:spcBef>
                <a:spcPts val="500"/>
              </a:spcBef>
              <a:spcAft>
                <a:spcPts val="4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550" b="0" i="0">
                <a:solidFill>
                  <a:srgbClr val="2B2F38"/>
                </a:solidFill>
                <a:latin typeface="Segoe UI"/>
                <a:cs typeface="Segoe UI"/>
              </a:rPr>
              <a:t>لأن الدعم الجيد يبدأ من معرفة الطفل — لا من افتراض ما يحتاجه.</a:t>
            </a:r>
          </a:p>
          <a:p>
            <a:pPr algn="r" rtl="1">
              <a:spcBef>
                <a:spcPts val="500"/>
              </a:spcBef>
              <a:spcAft>
                <a:spcPts val="4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550" b="0" i="0">
                <a:solidFill>
                  <a:srgbClr val="2B2F38"/>
                </a:solidFill>
                <a:latin typeface="Segoe UI"/>
                <a:cs typeface="Segoe UI"/>
              </a:rPr>
              <a:t>ولأن نقاط القوة هي الجسر: نستخدم ما يجيده الطفل ويحبه للوصول إلى ما يصعب عليه.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983480"/>
            <a:ext cx="8503920" cy="10515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القاعدة التي سنستخدمها في كل الدورة: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1F3A93"/>
                </a:solidFill>
                <a:latin typeface="Segoe UI"/>
                <a:cs typeface="Segoe UI"/>
              </a:rPr>
              <a:t>نقاط القوة أولًا  ←  الاحتياج  ←  نوع المساعدة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3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أهيئ بيئة التعلم في المنزل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البيئة تصنع نصف التعلم: المكان، الوقت، الأدوات، الروتين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الأداة 3: قائمة فحص بيئة التعلم المنزلية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لا نبحث عن منزل مثالي — بل عن تغيير واحد بسيط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الأداة 3 — Home Learning Environment Checklist — كراسة التطبيق: صفحة 4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الأداة 3: افحص بيئة التعلم في بيتك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371600"/>
            <a:ext cx="3593592" cy="24597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المكان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يوجد مكان مناسب نسبيًا للتعلم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يصل الطفل إلى أدواته بسهولة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يمكن تقليل المشتتات عند الحاجة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593592" cy="24597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الوقت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يوجد وقت معروف نسبيًا للتعلم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يعرف الطفل متى تبدأ المهمة ومتى تنتهي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توجد فترات راحة عند الحاجة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71600"/>
            <a:ext cx="3593592" cy="24597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الأدوات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الأدوات الأساسية متاحة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المواد منظمة بطريقة تساعد الطفل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الأدوات مناسبة لعمره وقدرته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4032504"/>
            <a:ext cx="3593592" cy="24597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التعليمات والروتين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يعرف الطفل المطلوب منه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تُقسم المهام الطويلة عند الحاجة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توجد خطوات واضحة للمهام المتكررة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032504"/>
            <a:ext cx="3593592" cy="24597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الجانب النفسي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يشعر الطفل أن الخطأ جزء طبيعي من التعلم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يحصل على تشجيع مناسب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لا يتحول وقت التعلم باستمرار إلى صراع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32504"/>
            <a:ext cx="3593592" cy="24597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الاستقلالية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لدى الطفل فرصة للقيام ببعض المهام بنفسه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لا نقوم بالمهمة تلقائيًا بدلًا منه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نقلل المساعدة عندما يصبح أكثر قدرة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الأداة 3 — النتيجة والخطوة التالية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لا نريد منزلًا مثاليًا — نريد تغييرًا واحدًا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1183112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بعد الفحص، اسأل نفسك سؤالًا واحدًا فقط: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057400"/>
            <a:ext cx="9601200" cy="109728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ما الشيء البسيط الذي يمكنني تغييره ليصبح التعلم أسهل لطفلي؟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3474720"/>
            <a:ext cx="5477256" cy="9144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مثال 1: 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سلة واحدة فيها كل أدوات الواجب — بدل البحث اليومي عن قلم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477256" cy="9144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مثال 2: 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إغلاق التلفاز في وقت المهمة — ربع ساعة هادئة تكفي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4526279"/>
            <a:ext cx="5477256" cy="9144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مثال 3: 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وقت ثابت تقريبًا بعد الغداء — فيعرف الطفل ما المتوقع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26279"/>
            <a:ext cx="5477256" cy="9144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2BB3B1"/>
                </a:solidFill>
                <a:latin typeface="Segoe UI"/>
                <a:cs typeface="Segoe UI"/>
              </a:rPr>
              <a:t>مثال 4: 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لوحة صغيرة بخطوات المهمة المتكررة — صورًا أو كلمات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669280"/>
            <a:ext cx="8503920" cy="68580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اختر تغييرًا واحدًا فقط واكتبه في كراستك — التغيير الواحد الثابت أقوى من عشرة قرارات تُنسى.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4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كيف أعطي طفلي تعليمات تساعده؟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325880"/>
            <a:ext cx="3593592" cy="10972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1. جملة قصيرة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كلمات أقل = فهم أسرع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593592" cy="10972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2. خطوة واحدة أو خطوات قليلة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لا تعطِ ثلاث مهام في جملة واحدة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3593592" cy="10972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3. تأكد أنه فهم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اطلب منه إعادة المطلوب بكلماته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560320"/>
            <a:ext cx="3593592" cy="10972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4. استخدم نموذجًا عند الفائدة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«انظر كيف أفعلها أولًا»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560320"/>
            <a:ext cx="3593592" cy="10972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5. امنحه وقتًا للاستجابة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اصمت وعُد إلى عشرة في سرّك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60320"/>
            <a:ext cx="3593592" cy="10972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6. لا تكرر التعليمات بسرعة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التكرار السريع يشوش أكثر مما يساعد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977639"/>
            <a:ext cx="5422392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0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300"/>
              </a:spcAft>
            </a:pPr>
            <a:r>
              <a:rPr sz="1500" b="1" i="0">
                <a:solidFill>
                  <a:srgbClr val="B03333"/>
                </a:solidFill>
                <a:latin typeface="Segoe UI"/>
                <a:cs typeface="Segoe UI"/>
              </a:rPr>
              <a:t>✗ تعليمات غير واضحة:</a:t>
            </a:r>
          </a:p>
          <a:p>
            <a:pPr algn="ctr" rtl="1">
              <a:spcBef>
                <a:spcPts val="200"/>
              </a:spcBef>
              <a:spcAft>
                <a:spcPts val="300"/>
              </a:spcAft>
            </a:pPr>
            <a:r>
              <a:rPr sz="1550" b="1" i="0">
                <a:solidFill>
                  <a:srgbClr val="2B2F38"/>
                </a:solidFill>
                <a:latin typeface="Segoe UI"/>
                <a:cs typeface="Segoe UI"/>
              </a:rPr>
              <a:t>«رتب كل شيء ثم جهز نفسك للدرس.»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  <a:cs typeface="Segoe UI"/>
              </a:rPr>
              <a:t>ما «كل شيء»؟ ومن أين يبدأ؟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77639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300"/>
              </a:spcAft>
            </a:pP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✓ تعليمات أوضح: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«ضع الكتب في الحقيبة.»</a:t>
            </a:r>
          </a:p>
          <a:p>
            <a:pPr algn="ctr" rtl="1">
              <a:spcBef>
                <a:spcPts val="200"/>
              </a:spcBef>
              <a:spcAft>
                <a:spcPts val="3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ثم بعد أن ينتهي: «الآن ضع قلمك.»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  <a:cs typeface="Segoe UI"/>
              </a:rPr>
              <a:t>خطوة واحدة في كل مرة — والنجاح يبني النجاح.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5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ساعد دون أن تقوم بالمهمة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الوحدة الأهم في الدورة كلها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سلم المساعدة: من المحاولة الحرة إلى المساعدة الجزئية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كلما زادت قدرة الطفل — قلت مساعدتك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5 — التدرج في المساعدة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سلم المساعدة: ست درجات — ابدأ دائمًا من الأولى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98448"/>
            <a:ext cx="10698480" cy="713232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52400"/>
          <a:lstStyle/>
          <a:p>
            <a:pPr algn="r" rtl="1"/>
            <a:r>
              <a:rPr sz="1450" b="1" i="0">
                <a:solidFill>
                  <a:srgbClr val="FFFFFF"/>
                </a:solidFill>
                <a:latin typeface="Segoe UI"/>
                <a:cs typeface="Segoe UI"/>
              </a:rPr>
              <a:t>1. أعط فرصة للمحاولة — </a:t>
            </a:r>
            <a:r>
              <a:rPr sz="1300" b="0" i="0">
                <a:solidFill>
                  <a:srgbClr val="FFFFFF"/>
                </a:solidFill>
                <a:latin typeface="Segoe UI"/>
                <a:cs typeface="Segoe UI"/>
              </a:rPr>
              <a:t>«جرب أولًا» — وانتظر بصمت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21408"/>
            <a:ext cx="9921240" cy="713232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52400"/>
          <a:lstStyle/>
          <a:p>
            <a:pPr algn="r" rtl="1"/>
            <a:r>
              <a:rPr sz="1450" b="1" i="0">
                <a:solidFill>
                  <a:srgbClr val="FFFFFF"/>
                </a:solidFill>
                <a:latin typeface="Segoe UI"/>
                <a:cs typeface="Segoe UI"/>
              </a:rPr>
              <a:t>2. اسأل سؤالًا يساعده على التفكير — </a:t>
            </a:r>
            <a:r>
              <a:rPr sz="1300" b="0" i="0">
                <a:solidFill>
                  <a:srgbClr val="FFFFFF"/>
                </a:solidFill>
                <a:latin typeface="Segoe UI"/>
                <a:cs typeface="Segoe UI"/>
              </a:rPr>
              <a:t>«ما أول شيء نفعله عادة؟»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44368"/>
            <a:ext cx="9144000" cy="713232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52400"/>
          <a:lstStyle/>
          <a:p>
            <a:pPr algn="r" rtl="1"/>
            <a:r>
              <a:rPr sz="1450" b="1" i="0">
                <a:solidFill>
                  <a:srgbClr val="FFFFFF"/>
                </a:solidFill>
                <a:latin typeface="Segoe UI"/>
                <a:cs typeface="Segoe UI"/>
              </a:rPr>
              <a:t>3. أعطِ تلميحًا — </a:t>
            </a:r>
            <a:r>
              <a:rPr sz="1300" b="0" i="0">
                <a:solidFill>
                  <a:srgbClr val="FFFFFF"/>
                </a:solidFill>
                <a:latin typeface="Segoe UI"/>
                <a:cs typeface="Segoe UI"/>
              </a:rPr>
              <a:t>«الكلمة تبدأ بالحرف الذي في اسمك»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67328"/>
            <a:ext cx="8366759" cy="713232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52400"/>
          <a:lstStyle/>
          <a:p>
            <a:pPr algn="r" rtl="1"/>
            <a:r>
              <a:rPr sz="1450" b="1" i="0">
                <a:solidFill>
                  <a:srgbClr val="FFFFFF"/>
                </a:solidFill>
                <a:latin typeface="Segoe UI"/>
                <a:cs typeface="Segoe UI"/>
              </a:rPr>
              <a:t>4. قدم نموذجًا صغيرًا — </a:t>
            </a:r>
            <a:r>
              <a:rPr sz="1300" b="0" i="0">
                <a:solidFill>
                  <a:srgbClr val="FFFFFF"/>
                </a:solidFill>
                <a:latin typeface="Segoe UI"/>
                <a:cs typeface="Segoe UI"/>
              </a:rPr>
              <a:t>«انظر، أحل المثال الأول وأنت تحل الثاني»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90288"/>
            <a:ext cx="7589519" cy="713232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52400"/>
          <a:lstStyle/>
          <a:p>
            <a:pPr algn="r" rtl="1"/>
            <a:r>
              <a:rPr sz="1450" b="1" i="0">
                <a:solidFill>
                  <a:srgbClr val="FFFFFF"/>
                </a:solidFill>
                <a:latin typeface="Segoe UI"/>
                <a:cs typeface="Segoe UI"/>
              </a:rPr>
              <a:t>5. ساعد في الجزء الضروري فقط — </a:t>
            </a:r>
            <a:r>
              <a:rPr sz="1300" b="0" i="0">
                <a:solidFill>
                  <a:srgbClr val="FFFFFF"/>
                </a:solidFill>
                <a:latin typeface="Segoe UI"/>
                <a:cs typeface="Segoe UI"/>
              </a:rPr>
              <a:t>أمسك الورقة له — لكن هو من يقص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13248"/>
            <a:ext cx="6812279" cy="713232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52400"/>
          <a:lstStyle/>
          <a:p>
            <a:pPr algn="r" rtl="1"/>
            <a:r>
              <a:rPr sz="1450" b="1" i="0">
                <a:solidFill>
                  <a:srgbClr val="FFFFFF"/>
                </a:solidFill>
                <a:latin typeface="Segoe UI"/>
                <a:cs typeface="Segoe UI"/>
              </a:rPr>
              <a:t>6. قلل المساعدة تدريجيًا — </a:t>
            </a:r>
            <a:r>
              <a:rPr sz="1300" b="0" i="0">
                <a:solidFill>
                  <a:srgbClr val="FFFFFF"/>
                </a:solidFill>
                <a:latin typeface="Segoe UI"/>
                <a:cs typeface="Segoe UI"/>
              </a:rPr>
              <a:t>ما ساعدته فيه أمس، جرّبه وحده اليوم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83112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لا تقفز إلى الدرجة الخامسة وطفلك لم يجرب الأولى بعد.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5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القاعدة الذهبية للمساعدة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417320"/>
            <a:ext cx="2377440" cy="54864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cs typeface="Segoe UI"/>
              </a:rPr>
              <a:t>احفظ هذه القاعدة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286000"/>
            <a:ext cx="99669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1F3A93"/>
                </a:solidFill>
                <a:latin typeface="Segoe UI"/>
                <a:cs typeface="Segoe UI"/>
              </a:rPr>
              <a:t>كلما أصبح الطفل أكثر قدرة،
يجب أن تصبح المساعدة أقل.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996696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6B7280"/>
                </a:solidFill>
                <a:latin typeface="Segoe UI"/>
                <a:cs typeface="Segoe UI"/>
              </a:rPr>
              <a:t>اسأل نفسك كل أسبوع: ما الشيء الذي كنت أفعله لطفلي... ويستطيع الآن أن يجربه بنفسه؟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How Do I Support My Child’s Learning? — كراسة التطبيق: صفحة 5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الأداة 4: كيف أدعم تعلم طفلي؟ — خطة المواقف الأربعة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1130" y="1371600"/>
            <a:ext cx="2644902" cy="310896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قبل المهمة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ما الهدف من هذه المهمة؟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هل يعرف طفلي ما المطلوب منه؟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1371600"/>
            <a:ext cx="2644902" cy="310896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أثناء المهمة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أعطِ تعليمات واضحة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ابدأ بخطوة صغيرة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أعطه فرصة ليحاول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راقب دون أن تتدخل فورًا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8990" y="1371600"/>
            <a:ext cx="2644902" cy="310896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عند حدوث صعوبة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اسأل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أعطِ تلميحًا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أعطِ نموذجًا صغيرًا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ساعد فقط في الجزء الضروري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371600"/>
            <a:ext cx="2644902" cy="310896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بعد المهمة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ماذا استطاع طفلي أن يفعل؟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ما الذي احتاج إليه؟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هل يحتاج إلى الطريقة نفسها في المرة القادمة؟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6 — استخدم الأداة 4 الآن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تطبيق عملي: واجب النسخ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234440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جرّب بنفسك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85953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طفلك أمامه واجب: نسخ خمسة أسطر. طبّق خطة المواقف الأربعة — ماذا تقول وماذا تفعل في كل لحظة؟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قبل المهمة: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الهدف؟ (كتابة أوضح؟ إتمام الواجب؟) وهل يعرف طفلك المطلوب بالضبط؟ — اكتب جملتك الافتتاحية.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44368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أثناء المهمة: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الخطوة الصغيرة الأولى؟ (سطر واحد فقط؟) ومتى تتدخل ومتى تكتفي بالمراقبة؟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22775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عند الصعوبة: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توقف عند السطر الثالث وقال «تعبت، اكتب أنت» — ما سؤالك؟ ما تلميحك؟ أين حدود مساعدتك؟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01183"/>
            <a:ext cx="11183112" cy="86868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بعد المهمة: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ماذا ستقول له عن محاولته؟ وماذا ستسجل لنفسك عن المرة القادمة؟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7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عشر استراتيجيات للدعم المنزلي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الأداة 5: دليل استراتيجيات الدعم المنزلي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طرق بسيطة لا تحتاج تحضيرًا ولا أدوات خاصة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ستختار واحدة فقط لتجربتها هذا الأسبوع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الأداة 5 — Home Support Strategies Guide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الاستراتيجيات 1–5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10344" y="1417320"/>
            <a:ext cx="2075688" cy="32918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1. تقسيم المهمة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قسم المهمة الكبيرة إلى خطوات أصغر.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مثال: «اكتب الفقرة» تصبح «اكتب الجملة الأولى».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1417320"/>
            <a:ext cx="2075688" cy="32918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2. استخدام نموذج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أظهر للطفل مثالًا لما تريد منه أن يفعله.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مثال: رتب أنت الرف الأول وهو يرتب الثاني.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6632" y="1417320"/>
            <a:ext cx="2075688" cy="32918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3. استخدام التلميحات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قدم تلميحًا يوصله للإجابة بدل إعطائها مباشرة.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مثال: «تبدأ بنفس حرف اسمك...»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9776" y="1417320"/>
            <a:ext cx="2075688" cy="32918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4. إعطاء وقت للاستجابة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لا تجب بدل الطفل بسرعة.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مثال: اصمت عشر ثوانٍ كاملة بعد السؤال.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17320"/>
            <a:ext cx="2075688" cy="32918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5. الوسائل البصرية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استخدم الصور أو الرموز أو الخطوات المكتوبة.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مثال: ثلاث صور لخطوات الاستعداد للمدرسة.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الأداة 5 — تتمة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الاستراتيجيات 6–10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10344" y="1417320"/>
            <a:ext cx="2075688" cy="32918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6. الاختيار المحدود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أعط الطفل خيارين أو خيارات قليلة مناسبة.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مثال: «تبدأ بالقراءة أم بالحساب؟»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1417320"/>
            <a:ext cx="2075688" cy="32918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7. التشجيع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شجع المحاولة والتقدم، وليس النتيجة فقط.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مثال: «حاولت ثلاث مرات دون أن تستسلم!»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6632" y="1417320"/>
            <a:ext cx="2075688" cy="32918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8. تقليل المساعدة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كلما زادت قدرة الطفل، قلل مقدار المساعدة.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مثال: أمس أمليت عليه الحروف — اليوم يجرب وحده.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9776" y="1417320"/>
            <a:ext cx="2075688" cy="32918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9. الحياة اليومية فرصة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الطبخ والتسوق والترتيب واللعب كلها تعلم.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مثال: «ناولني ثلاث ملاعق» عدٌّ حقيقي.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17320"/>
            <a:ext cx="2075688" cy="32918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10. التوقف وإعادة المحاولة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لم تنجح الطريقة؟ توقف، راجع، جرب طريقة أخرى.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2B2F38"/>
                </a:solidFill>
                <a:latin typeface="Segoe UI"/>
                <a:cs typeface="Segoe UI"/>
              </a:rPr>
              <a:t>مثال: الحفظ بالتكرار لم ينفع؟ جرب الحفظ بالتلحين.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الأداة 5 — النتيجة والخطوة التالية (كراسة التطبيق: صفحة 6)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اختر استراتيجية واحدة لهذا الأسبوع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183112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50" b="1" i="0">
                <a:solidFill>
                  <a:srgbClr val="1F3A93"/>
                </a:solidFill>
                <a:latin typeface="Segoe UI"/>
                <a:cs typeface="Segoe UI"/>
              </a:rPr>
              <a:t>من العشر، اختر استراتيجية واحدة فقط — الأنسب لطفلك ولاحتياجه الذي حددته في الأداة 2: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468880"/>
            <a:ext cx="5477256" cy="12344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ما الاستراتيجية التي اخترتها؟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  <a:cs typeface="Segoe UI"/>
              </a:rPr>
              <a:t>رقمها واسمها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68880"/>
            <a:ext cx="5477256" cy="12344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مع أي مهمة ستستخدمها؟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  <a:cs typeface="Segoe UI"/>
              </a:rPr>
              <a:t>مهمة محددة: الواجب؟ الترتيب؟ القراءة؟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3840480"/>
            <a:ext cx="5477256" cy="12344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متى ستجربها أول مرة؟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  <a:cs typeface="Segoe UI"/>
              </a:rPr>
              <a:t>يوم محدد من هذا الأسبوع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5477256" cy="12344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كيف ستعرف أنها ساعدت؟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  <a:cs typeface="Segoe UI"/>
              </a:rPr>
              <a:t>ماذا تتوقع أن ترى من طفلك؟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5440680"/>
            <a:ext cx="9052560" cy="86868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1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لماذا واحدة فقط؟ لأن استراتيجية واحدة مطبقة جيدًا لأسبوع كامل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2BB3B1"/>
                </a:solidFill>
                <a:latin typeface="Segoe UI"/>
                <a:cs typeface="Segoe UI"/>
              </a:rPr>
              <a:t>تعلمك عن طفلك أكثر من عشر استراتيجيات مجربة مرة واحدة.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8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كيف أتعامل مع أخطاء طفلي؟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الخطأ جزء طبيعي من التعلم — </a:t>
            </a:r>
            <a:r>
              <a:rPr sz="1400" b="0" i="0">
                <a:solidFill>
                  <a:srgbClr val="2B2F38"/>
                </a:solidFill>
                <a:latin typeface="Segoe UI"/>
                <a:cs typeface="Segoe UI"/>
              </a:rPr>
              <a:t>كل مهارة يتقنها طفلك اليوم مرّت بعشرات الأخطاء أمس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12848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لا تحول الخطأ إلى توبيخ — </a:t>
            </a:r>
            <a:r>
              <a:rPr sz="1400" b="0" i="0">
                <a:solidFill>
                  <a:srgbClr val="2B2F38"/>
                </a:solidFill>
                <a:latin typeface="Segoe UI"/>
                <a:cs typeface="Segoe UI"/>
              </a:rPr>
              <a:t>التوبيخ يعلم الطفل إخفاء الخطأ — لا تصحيحه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99815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لا تعطِ الإجابة مباشرة — </a:t>
            </a:r>
            <a:r>
              <a:rPr sz="1400" b="0" i="0">
                <a:solidFill>
                  <a:srgbClr val="2B2F38"/>
                </a:solidFill>
                <a:latin typeface="Segoe UI"/>
                <a:cs typeface="Segoe UI"/>
              </a:rPr>
              <a:t>الإجابة الجاهزة تنهي المهمة وتوقف التعلم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استخدم أسئلة وتلميحات — </a:t>
            </a:r>
            <a:r>
              <a:rPr sz="1400" b="0" i="0">
                <a:solidFill>
                  <a:srgbClr val="2B2F38"/>
                </a:solidFill>
                <a:latin typeface="Segoe UI"/>
                <a:cs typeface="Segoe UI"/>
              </a:rPr>
              <a:t>«هل تريد أن تنظر إليها مرة أخرى؟»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73751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اسمح بإعادة المحاولة — </a:t>
            </a:r>
            <a:r>
              <a:rPr sz="1400" b="0" i="0">
                <a:solidFill>
                  <a:srgbClr val="2B2F38"/>
                </a:solidFill>
                <a:latin typeface="Segoe UI"/>
                <a:cs typeface="Segoe UI"/>
              </a:rPr>
              <a:t>المحاولة الثانية هي لحظة التعلم الحقيقية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43600"/>
            <a:ext cx="11183112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بيت يُسمح فيه بالخطأ = طفل يجرؤ على المحاولة.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8 — ماذا تفعل؟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موقف: طفلك أخطأ في قراءة كلمة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234440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فكر ثم قرر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8595360" cy="86868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  <a:cs typeface="Segoe UI"/>
              </a:rPr>
              <a:t>يقرأ طفلك بصوت مسموع، وتوقف عند كلمة وقرأها خطأ. ما الأفضل؟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1072591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0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أ.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إعطاؤه الكلمة الصحيحة مباشرة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60"/>
            <a:ext cx="1072591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0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ب.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توبيخه: «ركز! قرأناها البارحة!»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10725912" cy="6858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ج.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إعطاؤه وقتًا للمحاولة، ثم تقديم تلميح مناسب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725912" cy="91440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100"/>
              </a:spcAft>
            </a:pPr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الإجابة: (ج) — انتظر قليلًا، فإن لم يصل قل مثلًا: «الكلمة تشبه كلمة عرفتها أمس...» أو غطِّ نصفها الثاني.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(أ) تُفقده فرصة التعلم إذا صارت عادة دائمة، و(ب) تجعله يخاف القراءة أمامك أصلًا.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9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القراءة والكتابة والحساب في البيت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دعم يومي بسيط — لا دروس خصوصية إضافية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دقائق قليلة منتظمة أفضل من ساعة متقطعة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الحياة اليومية أفضل كتاب تمارين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9 — من الحياة اليومية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ثلاث مهارات — دعم منزلي بسيط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417320"/>
            <a:ext cx="3593592" cy="50749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القراءة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قراءة قصيرة يومية — عشر دقائق تكفي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اطرح سؤالًا بسيطًا: «ماذا حدث؟»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اطلب توقعًا: «ماذا سيحدث بعد ذلك؟»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اسمح بإعادة المحاولة عند التعثر — دون استعجال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593592" cy="50749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الكتابة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قسم المهمة: جملة واحدة ثم التي بعدها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قدم نموذجًا قصيرًا: اكتب أنت الجملة الأولى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أعطِ وقتًا — الكتابة مجهود حقيقي للصغار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ركز على التقدم: «حروفك اليوم أوضح من أمس»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3593592" cy="50749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الرياضيات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استخدم الأشياء اليومية: ملاعق، أزرار، فواكه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عدّوا أثناء الأنشطة: درجات السلم، السيارات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قارنوا: «أيهما أكثر؟ أيهما أطول؟»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مسائل واقعية: «معنا 6 تفاحات، أكلنا 2...»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10 — لماذا قد يحدث ذلك؟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عندما يرفض طفلي التعلم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83112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50" b="1" i="0">
                <a:solidFill>
                  <a:srgbClr val="1F3A93"/>
                </a:solidFill>
                <a:latin typeface="Segoe UI"/>
                <a:cs typeface="Segoe UI"/>
              </a:rPr>
              <a:t>الرفض غالبًا رسالة — لا عنادًا. أسباب شائعة وبسيطة: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2057400"/>
            <a:ext cx="2688336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المهمة صعبة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57400"/>
            <a:ext cx="2688336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المهمة طويلة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057400"/>
            <a:ext cx="2688336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التعليمات غير واضحة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057400"/>
            <a:ext cx="2688336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الطفل متعب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2971800"/>
            <a:ext cx="2688336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البيئة مليئة بالمشتتات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2688336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يحتاج إلى استراحة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2971800"/>
            <a:ext cx="2688336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اعتاد الحصول على مساعدة كبيرة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77639"/>
            <a:ext cx="11183112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لاحظ: كل الأسباب قابلة للحل — ولا أحد منها يعني أن الطفل «لا يريد أن يتعلم».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10725912" cy="14173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C9A227"/>
                </a:solidFill>
                <a:latin typeface="Segoe UI"/>
                <a:cs typeface="Segoe UI"/>
              </a:rPr>
              <a:t>خطواتك العملية عند الرفض: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Segoe UI"/>
                <a:cs typeface="Segoe UI"/>
              </a:rPr>
              <a:t>توقف  ←  افهم السبب المحتمل  ←  صغّر المهمة  ←  وضّح المطلوب  ←  أعطِ فرصة للمحاولة  ←  عزز التقدم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11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بناء استقلالية طفلي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132588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  <a:cs typeface="Segoe UI"/>
              </a:rPr>
              <a:t>السؤال اليومي: ماذا يستطيع طفلي أن يفعل بنفسه اليوم؟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514600"/>
            <a:ext cx="3593592" cy="11887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تجهيز أدواته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يضع أدوات الواجب على الطاولة بنفسه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14600"/>
            <a:ext cx="3593592" cy="11887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اختيار من خيارين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«القلم الأزرق أم الرصاص؟» — قراره هو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14600"/>
            <a:ext cx="3593592" cy="11887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بدء المهمة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هو من يفتح الكتاب ويبدأ أول خطوة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840480"/>
            <a:ext cx="3593592" cy="11887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متابعة خطوات مصورة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ينجز روتين الصباح من لوحة صور دون تذكير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840480"/>
            <a:ext cx="3593592" cy="118872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الترتيب بعد الانتهاء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إعادة الأدوات لمكانها جزء من المهمة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840480"/>
            <a:ext cx="3593592" cy="118872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ابدأ صغيرًا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50" b="0" i="0">
                <a:solidFill>
                  <a:srgbClr val="2B2F38"/>
                </a:solidFill>
                <a:latin typeface="Segoe UI"/>
                <a:cs typeface="Segoe UI"/>
              </a:rPr>
              <a:t>مهمة واحدة يتولاها الطفل كاملة هذا الأسبوع — تكفي كبداية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49240"/>
            <a:ext cx="11183112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الهدف ليس أن ينجز الطفل كل شيء بمفرده فورًا،</a:t>
            </a:r>
          </a:p>
          <a:p>
            <a:pPr algn="ctr" rtl="1">
              <a:spcBef>
                <a:spcPts val="200"/>
              </a:spcBef>
              <a:spcAft>
                <a:spcPts val="400"/>
              </a:spcAft>
            </a:pPr>
            <a:r>
              <a:rPr sz="1550" b="1" i="0">
                <a:solidFill>
                  <a:srgbClr val="2BB3B1"/>
                </a:solidFill>
                <a:latin typeface="Segoe UI"/>
                <a:cs typeface="Segoe UI"/>
              </a:rPr>
              <a:t>وإنما أن نزيد استقلاليته تدريجيًا — خطوة صغيرة كل فترة.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12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كيف أعرف أن الدعم مفيد؟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الأداة 6: متابعة تقدم الطفل والخطوة التالية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لا نحتاج اختبارات معقدة — بل ملاحظة بسيطة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ما كان يفعله → ما أصبح يفعله الآن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Child Progress Monitoring &amp; Next Step — كراسة التطبيق: صفحة 8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الأداة 6: متابعة تقدم الطفل والخطوة التالية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325880"/>
            <a:ext cx="5742432" cy="105156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البيانات الأساسية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اسم الطفل • المهارة أو الهدف • نوع الدعم المستخدم • فترة التطبيق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514600"/>
            <a:ext cx="5742432" cy="105156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ماذا لاحظنا؟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تحسن واضح / تحسن بسيط / لم يحدث تغيير واضح / أصبح الأمر أكثر صعوبة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703320"/>
            <a:ext cx="5742432" cy="105156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الدليل / الملاحظة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ماذا رأيت فعلًا؟ مثال: «كان يكتب 3 كلمات، أصبح يكتب سطرًا»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4892040"/>
            <a:ext cx="5742432" cy="105156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هل أصبح أكثر استقلالية؟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B2F38"/>
                </a:solidFill>
                <a:latin typeface="Segoe UI"/>
                <a:cs typeface="Segoe UI"/>
              </a:rPr>
              <a:t>نعم / جزئيًا / لا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25880"/>
            <a:ext cx="5257800" cy="352044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الخطوة التالية — اختر: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الاستمرار بالطريقة نفسها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تعديل بسيط في طريقة الدعم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تجربة استراتيجية أخرى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زيادة الدعم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تقليل الدعم تدريجيًا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مناقشة الأمر مع المدرسة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طلب دعم إضافي عند الحاجة</a:t>
            </a:r>
          </a:p>
          <a:p>
            <a:pPr algn="r" rtl="1">
              <a:spcBef>
                <a:spcPts val="400"/>
              </a:spcBef>
              <a:spcAft>
                <a:spcPts val="2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ثم: ماذا سنفعل؟ + موعد المراجعة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3212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cs typeface="Segoe UI"/>
              </a:rPr>
              <a:t>المتابعة لا تحتاج اختبارات معقدة — يكفي سؤالان: ما الذي كان الطفل يفعله؟ ← ما الذي أصبح يفعله الآن؟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الأداة 6 — النتيجة والخطوة التالية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ماذا تعني نتيجة المتابعة؟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072591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50" b="1" i="0">
                <a:solidFill>
                  <a:srgbClr val="2BB3B1"/>
                </a:solidFill>
                <a:latin typeface="Segoe UI"/>
                <a:cs typeface="Segoe UI"/>
              </a:rPr>
              <a:t>تحسن واضح + استقلالية أكثر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استمر بالطريقة نفسها، وابدأ التفكير في تقليل الدعم تدريجيًا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72591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3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تحسن بسيط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الطريقة تعمل ولكن ببطء — عدّل تعديلًا بسيطًا (وقت أنسب؟ خطوات أصغر؟) وتابع أسبوعًا آخر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72591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50" b="1" i="0">
                <a:solidFill>
                  <a:srgbClr val="C9A227"/>
                </a:solidFill>
                <a:latin typeface="Segoe UI"/>
                <a:cs typeface="Segoe UI"/>
              </a:rPr>
              <a:t>لا تغيير واضح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لا تلم نفسك ولا طفلك — جرّب استراتيجية أخرى من العشر، أو راجع حجم المهمة والتعليمات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10725912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0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50" b="1" i="0">
                <a:solidFill>
                  <a:srgbClr val="B03333"/>
                </a:solidFill>
                <a:latin typeface="Segoe UI"/>
                <a:cs typeface="Segoe UI"/>
              </a:rPr>
              <a:t>أصبح الأمر أكثر صعوبة</a:t>
            </a:r>
          </a:p>
          <a:p>
            <a:pPr algn="r" rtl="1">
              <a:spcBef>
                <a:spcPts val="200"/>
              </a:spcBef>
            </a:pP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توقف وراجع: هل المهمة كبرت؟ هل تغير شيء في يوم الطفل؟ وفكر في التحدث مع المدرسة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F3A93"/>
                </a:solidFill>
                <a:latin typeface="Segoe UI"/>
                <a:cs typeface="Segoe UI"/>
              </a:rPr>
              <a:t>حدد دائمًا موعد مراجعة — أسبوع إلى أسبوعين مدة مناسبة لأغلب المهارات المنزلية.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13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عندما لا تنجح الطريقة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82047" y="141732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جربت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239" y="141732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لاحظت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141732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لم يتحسن الأداء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3623" y="141732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راجعت الطريقة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10815" y="141732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عدلت الدعم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8007" y="1417320"/>
            <a:ext cx="1691640" cy="7315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جربت مرة أخرى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2514600"/>
            <a:ext cx="9601200" cy="86868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عدم نجاح الاستراتيجية لا يعني أن طفلك غير قادر — يعني أن شيئًا في الطريقة يحتاج إلى تعديل.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11880"/>
            <a:ext cx="11183112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قبل تغيير كل شيء، راجع ستة أشياء بسيطة — غالبًا المشكلة في أحدها: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29768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1. حجم المهمة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9768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2. طريقة التعليمات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9768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3. البيئة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521208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4. مقدار المساعدة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521208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5. الوقت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12080"/>
            <a:ext cx="3593592" cy="7772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6. نوع الاستراتيجية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15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متى أفكر في طلب دعم إضافي؟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83112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50" b="1" i="0">
                <a:solidFill>
                  <a:srgbClr val="1F3A93"/>
                </a:solidFill>
                <a:latin typeface="Segoe UI"/>
                <a:cs typeface="Segoe UI"/>
              </a:rPr>
              <a:t>يمكنك التفكير في طلب دعم إضافي عندما: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107259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450" b="0" i="0">
                <a:solidFill>
                  <a:srgbClr val="2B2F38"/>
                </a:solidFill>
                <a:latin typeface="Segoe UI"/>
                <a:cs typeface="Segoe UI"/>
              </a:rPr>
              <a:t>تستمر الصعوبة رغم تجربة استراتيجيات مناسبة ولوقت كافٍ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34056"/>
            <a:ext cx="10725912" cy="65836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450" b="0" i="0">
                <a:solidFill>
                  <a:srgbClr val="2B2F38"/>
                </a:solidFill>
                <a:latin typeface="Segoe UI"/>
                <a:cs typeface="Segoe UI"/>
              </a:rPr>
              <a:t>تؤثر الصعوبة بصورة واضحة في تعلم الطفل أو استقلاليته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02151"/>
            <a:ext cx="107259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450" b="0" i="0">
                <a:solidFill>
                  <a:srgbClr val="2B2F38"/>
                </a:solidFill>
                <a:latin typeface="Segoe UI"/>
                <a:cs typeface="Segoe UI"/>
              </a:rPr>
              <a:t>لا تعرف كيف تدعم طفلك رغم المحاولة الصادقة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70248"/>
            <a:ext cx="10725912" cy="65836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450" b="0" i="0">
                <a:solidFill>
                  <a:srgbClr val="2B2F38"/>
                </a:solidFill>
                <a:latin typeface="Segoe UI"/>
                <a:cs typeface="Segoe UI"/>
              </a:rPr>
              <a:t>تلاحظ تغيرًا مستمرًا أو مقلقًا في أداء الطفل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38344"/>
            <a:ext cx="10725912" cy="65836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●  </a:t>
            </a:r>
            <a:r>
              <a:rPr sz="1450" b="0" i="0">
                <a:solidFill>
                  <a:srgbClr val="2B2F38"/>
                </a:solidFill>
                <a:latin typeface="Segoe UI"/>
                <a:cs typeface="Segoe UI"/>
              </a:rPr>
              <a:t>تحتاج الأسرة إلى فهم أفضل لاحتياج الطفل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5760720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طلب المساعدة ليس فشلًا من الوالد ولا حكمًا على الطفل — بل خطوة ذكية في مصلحته.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14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التواصل مع المدرسة عند الحاجة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أنت والمدرسة فريق واحد لمصلحة الطفل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الأداة 7: سجل التواصل والمتابعة مع المدرسة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معلومات أفضل ← تواصل أفضل ← تعاون أفضل ← استمرارية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School Communication &amp; Follow-up Record — كراسة التطبيق: صفحة 9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الأداة 7: سجل التواصل والمتابعة مع المدرسة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325880"/>
            <a:ext cx="5477256" cy="36576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قبل اللقاء — أُحضّر: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اسم الطفل • الصف • التاريخ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ما الذي لاحظته الأسرة؟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ما الذي يستطيع الطفل فعله؟ (نقاط القوة أولًا)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ما الصعوبة التي نلاحظها؟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ما الذي جربناه في المنزل؟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ماذا ساعد؟ وما الذي لم يساعد؟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ما الذي نريد أن نعرفه من المدرسة؟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477256" cy="365760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50800" bIns="50800"/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أثناء اللقاء وبعده — أُسجّل: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ملاحظات المعلم / المدرسة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ما اتفقنا على تجربته؟</a:t>
            </a:r>
          </a:p>
          <a:p>
            <a:pPr algn="r" rtl="1">
              <a:spcBef>
                <a:spcPts val="100"/>
              </a:spcBef>
              <a:spcAft>
                <a:spcPts val="100"/>
              </a:spcAft>
            </a:pPr>
            <a:r>
              <a:rPr sz="1300" b="0" i="0">
                <a:solidFill>
                  <a:srgbClr val="2B2F38"/>
                </a:solidFill>
                <a:latin typeface="Segoe UI"/>
                <a:cs typeface="Segoe UI"/>
              </a:rPr>
              <a:t>• موعد المتابعة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10725912" cy="105156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الهدف من السجل: معلومات أفضل ← تواصل أفضل ← تعاون أفضل ← استمرارية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0" i="0">
                <a:solidFill>
                  <a:srgbClr val="E4F6F6"/>
                </a:solidFill>
                <a:latin typeface="Segoe UI"/>
                <a:cs typeface="Segoe UI"/>
              </a:rPr>
              <a:t>وليس تحميل المدرسة أو المعلم المسؤولية — أنتم فريق واحد حول الطفل نفسه.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What Helps My Child? Profile Card — كراسة التطبيق: صفحة 10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الأداة 8: بطاقة «ما الذي يساعد طفلي؟»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298448"/>
            <a:ext cx="5477256" cy="603504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250" b="1" i="0">
                <a:solidFill>
                  <a:srgbClr val="2BB3B1"/>
                </a:solidFill>
                <a:latin typeface="Segoe UI"/>
                <a:cs typeface="Segoe UI"/>
              </a:rPr>
              <a:t>1. </a:t>
            </a: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اسم الطفل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5477256" cy="603504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250" b="1" i="0">
                <a:solidFill>
                  <a:srgbClr val="2BB3B1"/>
                </a:solidFill>
                <a:latin typeface="Segoe UI"/>
                <a:cs typeface="Segoe UI"/>
              </a:rPr>
              <a:t>2. </a:t>
            </a: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نقاط القوة: طفلي يجيد...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2011680"/>
            <a:ext cx="5477256" cy="603504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250" b="1" i="0">
                <a:solidFill>
                  <a:srgbClr val="2BB3B1"/>
                </a:solidFill>
                <a:latin typeface="Segoe UI"/>
                <a:cs typeface="Segoe UI"/>
              </a:rPr>
              <a:t>3. </a:t>
            </a: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الأشياء التي يستمتع بها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11680"/>
            <a:ext cx="5477256" cy="603504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250" b="1" i="0">
                <a:solidFill>
                  <a:srgbClr val="2BB3B1"/>
                </a:solidFill>
                <a:latin typeface="Segoe UI"/>
                <a:cs typeface="Segoe UI"/>
              </a:rPr>
              <a:t>4. </a:t>
            </a: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ما الذي يساعده على فهم التعليمات؟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724912"/>
            <a:ext cx="5477256" cy="603504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250" b="1" i="0">
                <a:solidFill>
                  <a:srgbClr val="2BB3B1"/>
                </a:solidFill>
                <a:latin typeface="Segoe UI"/>
                <a:cs typeface="Segoe UI"/>
              </a:rPr>
              <a:t>5. </a:t>
            </a: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ما الذي يساعده على بدء المهمة؟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24912"/>
            <a:ext cx="5477256" cy="603504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250" b="1" i="0">
                <a:solidFill>
                  <a:srgbClr val="2BB3B1"/>
                </a:solidFill>
                <a:latin typeface="Segoe UI"/>
                <a:cs typeface="Segoe UI"/>
              </a:rPr>
              <a:t>6. </a:t>
            </a: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ما الذي يساعده عندما يواجه صعوبة؟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3438144"/>
            <a:ext cx="5477256" cy="603504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250" b="1" i="0">
                <a:solidFill>
                  <a:srgbClr val="2BB3B1"/>
                </a:solidFill>
                <a:latin typeface="Segoe UI"/>
                <a:cs typeface="Segoe UI"/>
              </a:rPr>
              <a:t>7. </a:t>
            </a: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ما الذي قد يزيد من صعوبة التعلم؟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38144"/>
            <a:ext cx="5477256" cy="603504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250" b="1" i="0">
                <a:solidFill>
                  <a:srgbClr val="2BB3B1"/>
                </a:solidFill>
                <a:latin typeface="Segoe UI"/>
                <a:cs typeface="Segoe UI"/>
              </a:rPr>
              <a:t>8. </a:t>
            </a: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أفضل طريقة لتشجيعه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4151376"/>
            <a:ext cx="5477256" cy="603504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250" b="1" i="0">
                <a:solidFill>
                  <a:srgbClr val="2BB3B1"/>
                </a:solidFill>
                <a:latin typeface="Segoe UI"/>
                <a:cs typeface="Segoe UI"/>
              </a:rPr>
              <a:t>9. </a:t>
            </a: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ما الذي يستطيع فعله باستقلالية؟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51376"/>
            <a:ext cx="5477256" cy="603504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250" b="1" i="0">
                <a:solidFill>
                  <a:srgbClr val="2BB3B1"/>
                </a:solidFill>
                <a:latin typeface="Segoe UI"/>
                <a:cs typeface="Segoe UI"/>
              </a:rPr>
              <a:t>10. </a:t>
            </a: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ما الذي يحتاج فيه إلى مساعدة؟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4864608"/>
            <a:ext cx="11183112" cy="603504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250" b="1" i="0">
                <a:solidFill>
                  <a:srgbClr val="2BB3B1"/>
                </a:solidFill>
                <a:latin typeface="Segoe UI"/>
                <a:cs typeface="Segoe UI"/>
              </a:rPr>
              <a:t>11. </a:t>
            </a: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شيء مهم أريد أن تعرفه الأسرة أو الجهة التعليمية عن طفلي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الأداة 8 — النتيجة والخطوة التالية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كيف تستخدم بطاقة «ما الذي يساعد طفلي؟»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0725912" cy="10058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لنفسك أولًا — </a:t>
            </a:r>
            <a:r>
              <a:rPr sz="1400" b="0" i="0">
                <a:solidFill>
                  <a:srgbClr val="2B2F38"/>
                </a:solidFill>
                <a:latin typeface="Segoe UI"/>
                <a:cs typeface="Segoe UI"/>
              </a:rPr>
              <a:t>علقها حيث تراها — تذكرك في لحظات التوتر بما يساعد طفلك فعلًا بدلًا من ردود الفعل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725912" cy="100584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لأفراد الأسرة — </a:t>
            </a:r>
            <a:r>
              <a:rPr sz="1400" b="0" i="0">
                <a:solidFill>
                  <a:srgbClr val="2B2F38"/>
                </a:solidFill>
                <a:latin typeface="Segoe UI"/>
                <a:cs typeface="Segoe UI"/>
              </a:rPr>
              <a:t>الجدة، العم، الأخ الأكبر — كل من يجلس مع الطفل للمذاكرة يستفيد منها ويتصرف بنفس الطريقة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03320"/>
            <a:ext cx="10725912" cy="10058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عند التواصل مع المدرسة — </a:t>
            </a:r>
            <a:r>
              <a:rPr sz="1400" b="0" i="0">
                <a:solidFill>
                  <a:srgbClr val="2B2F38"/>
                </a:solidFill>
                <a:latin typeface="Segoe UI"/>
                <a:cs typeface="Segoe UI"/>
              </a:rPr>
              <a:t>خذها معك إلى اللقاءات — تجعل الحديث يبدأ من نقاط القوة وما يساعد، لا من الشكوى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10725912" cy="100584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50" b="1" i="0">
                <a:solidFill>
                  <a:srgbClr val="1F3A93"/>
                </a:solidFill>
                <a:latin typeface="Segoe UI"/>
                <a:cs typeface="Segoe UI"/>
              </a:rPr>
              <a:t>حدّثها كل فترة — </a:t>
            </a:r>
            <a:r>
              <a:rPr sz="1400" b="0" i="0">
                <a:solidFill>
                  <a:srgbClr val="2B2F38"/>
                </a:solidFill>
                <a:latin typeface="Segoe UI"/>
                <a:cs typeface="Segoe UI"/>
              </a:rPr>
              <a:t>طفلك يتغير ويتقدم — راجع البطاقة كل شهر أو شهرين وجدد ما تغيّر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بطاقة واحدة — توحد طريقة تعامل الجميع مع طفلك: هذا هو الاتساق الذي يحتاجه كل طفل.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17 — اقرأ ثم قرر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حالة تطبيقية: سارة وواجب الكتابة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11183112" cy="84124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من هي؟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سارة، 7 سنوات، الصف الثاني — تحب الرسم والقصص المصورة وتحكي حكايات طويلة بخيال واسع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76856"/>
            <a:ext cx="11183112" cy="84124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ما الصعب عليها؟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واجبات الكتابة: تجلس أمام الورقة وتقول «لا أعرف ماذا أكتب»، وتتوقف بعد كلمات قليلة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27832"/>
            <a:ext cx="11183112" cy="84124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كيف تتصرف والدتها حاليًا؟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تُملي عليها الجمل كلمة كلمة حتى ينتهي الواجب — «حتى لا تتأخر عن صفها»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78808"/>
            <a:ext cx="11183112" cy="84124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البيئة المنزلية؟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تكتب على طاولة المطبخ والتلفاز يعمل، وإخوتها يلعبون حولها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129784"/>
            <a:ext cx="11183112" cy="84124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ماذا حدث بعد أسبوع من الإملاء؟ 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الواجبات تُسلَّم كاملة... لكن سارة أصبحت ترفض أن تبدأ أي كتابة دون أمها بجانبها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126480"/>
            <a:ext cx="1118311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B03333"/>
                </a:solidFill>
                <a:latin typeface="Segoe UI"/>
                <a:cs typeface="Segoe UI"/>
              </a:rPr>
              <a:t>لاحظ: المساعدة الكبيرة «حلّت» الواجب... وأنشأت مشكلة أكبر.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17 — قراراتك أنت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حالة سارة: سبعة قرارات عملية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234440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نشاط تفاعلي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85953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أجب في كراسة التطبيق قبل رؤية التحليل — ماذا كنت ستفعل مكان والدة سارة؟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1183112" cy="790041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1–2.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نقطة قوة سارة؟ وما احتياجها الحقيقي؟ (تلميح: هي لا «تكره الكتابة»)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65729"/>
            <a:ext cx="11183112" cy="790041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3.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التغيير المناسب في البيئة المنزلية؟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65499"/>
            <a:ext cx="11183112" cy="790041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4.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الاستراتيجية المناسبة من العشر؟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665268"/>
            <a:ext cx="11183112" cy="790041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5.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كيف تساعدها أمها دون أن تُملي عليها؟ (استخدم سلم المساعدة)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565038"/>
            <a:ext cx="11183112" cy="790041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6–7.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الدليل الذي سنراقبه خلال أسبوع؟ وما الخطوة التالية إذا تحسنت أو لم تتحسن؟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طبّق على طفلك الآن — كراسة التطبيق: صفحة 7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النشاط العملي: خطتك أنت — سبع خطوات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98448"/>
            <a:ext cx="10725912" cy="56692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اكتب 3 نقاط قوة لدى طفلك</a:t>
            </a:r>
          </a:p>
        </p:txBody>
      </p:sp>
      <p:sp>
        <p:nvSpPr>
          <p:cNvPr id="10" name="Oval 9"/>
          <p:cNvSpPr/>
          <p:nvPr/>
        </p:nvSpPr>
        <p:spPr>
          <a:xfrm>
            <a:off x="10881360" y="1353312"/>
            <a:ext cx="457200" cy="457200"/>
          </a:xfrm>
          <a:prstGeom prst="ellipse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56815"/>
            <a:ext cx="10725912" cy="56692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حدد احتياجًا واحدًا تريد دعمه</a:t>
            </a:r>
          </a:p>
        </p:txBody>
      </p:sp>
      <p:sp>
        <p:nvSpPr>
          <p:cNvPr id="12" name="Oval 11"/>
          <p:cNvSpPr/>
          <p:nvPr/>
        </p:nvSpPr>
        <p:spPr>
          <a:xfrm>
            <a:off x="10881360" y="2011679"/>
            <a:ext cx="457200" cy="457200"/>
          </a:xfrm>
          <a:prstGeom prst="ellipse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15183"/>
            <a:ext cx="10725912" cy="56692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اختر تغييرًا واحدًا في بيئة التعلم المنزلية</a:t>
            </a:r>
          </a:p>
        </p:txBody>
      </p:sp>
      <p:sp>
        <p:nvSpPr>
          <p:cNvPr id="14" name="Oval 13"/>
          <p:cNvSpPr/>
          <p:nvPr/>
        </p:nvSpPr>
        <p:spPr>
          <a:xfrm>
            <a:off x="10881360" y="2670047"/>
            <a:ext cx="457200" cy="457200"/>
          </a:xfrm>
          <a:prstGeom prst="ellipse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73551"/>
            <a:ext cx="10725912" cy="56692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حدد مهمة واحدة سيقوم بها طفلك بصورة أكثر استقلالية</a:t>
            </a:r>
          </a:p>
        </p:txBody>
      </p:sp>
      <p:sp>
        <p:nvSpPr>
          <p:cNvPr id="16" name="Oval 15"/>
          <p:cNvSpPr/>
          <p:nvPr/>
        </p:nvSpPr>
        <p:spPr>
          <a:xfrm>
            <a:off x="10881360" y="3328415"/>
            <a:ext cx="457200" cy="457200"/>
          </a:xfrm>
          <a:prstGeom prst="ellipse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19"/>
            <a:ext cx="10725912" cy="56692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اختر استراتيجية دعم واحدة</a:t>
            </a:r>
          </a:p>
        </p:txBody>
      </p:sp>
      <p:sp>
        <p:nvSpPr>
          <p:cNvPr id="18" name="Oval 17"/>
          <p:cNvSpPr/>
          <p:nvPr/>
        </p:nvSpPr>
        <p:spPr>
          <a:xfrm>
            <a:off x="10881360" y="3986783"/>
            <a:ext cx="457200" cy="457200"/>
          </a:xfrm>
          <a:prstGeom prst="ellipse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90287"/>
            <a:ext cx="10725912" cy="566928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حدد دليلًا واحدًا ستراقبه خلال أسبوع</a:t>
            </a:r>
          </a:p>
        </p:txBody>
      </p:sp>
      <p:sp>
        <p:nvSpPr>
          <p:cNvPr id="20" name="Oval 19"/>
          <p:cNvSpPr/>
          <p:nvPr/>
        </p:nvSpPr>
        <p:spPr>
          <a:xfrm>
            <a:off x="10881360" y="4645151"/>
            <a:ext cx="457200" cy="457200"/>
          </a:xfrm>
          <a:prstGeom prst="ellipse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48655"/>
            <a:ext cx="10725912" cy="566928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0"/>
          <a:lstStyle/>
          <a:p>
            <a:pPr algn="r" rtl="1"/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قرر مسبقًا: ماذا ستفعل إذا تحسن؟ تحسن قليلًا؟ لم يتغير؟</a:t>
            </a:r>
          </a:p>
        </p:txBody>
      </p:sp>
      <p:sp>
        <p:nvSpPr>
          <p:cNvPr id="22" name="Oval 21"/>
          <p:cNvSpPr/>
          <p:nvPr/>
        </p:nvSpPr>
        <p:spPr>
          <a:xfrm>
            <a:off x="10881360" y="5303519"/>
            <a:ext cx="457200" cy="457200"/>
          </a:xfrm>
          <a:prstGeom prst="ellipse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6035040"/>
            <a:ext cx="9052560" cy="54864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  <a:cs typeface="Segoe UI"/>
              </a:rPr>
              <a:t>الخطوة 7 هي سر النجاح: قرارك جاهز مسبقًا لكل احتمال — فلا تفاجئك النتيجة.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كراسة التطبيق: صفحة 11 — نموذج جاهز للتعبئة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خطتك الأسرية لأسبوع واحد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المهارة / السلوك الذي سأدعمه:  </a:t>
            </a:r>
            <a:r>
              <a:rPr sz="1250" b="0" i="0">
                <a:solidFill>
                  <a:srgbClr val="6B7280"/>
                </a:solidFill>
                <a:latin typeface="Segoe UI"/>
                <a:cs typeface="Segoe UI"/>
              </a:rPr>
              <a:t>مثال: أن يبدأ الواجب بنفسه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01952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نقطة قوة سأستفيد منها:  </a:t>
            </a:r>
            <a:r>
              <a:rPr sz="1250" b="0" i="0">
                <a:solidFill>
                  <a:srgbClr val="6B7280"/>
                </a:solidFill>
                <a:latin typeface="Segoe UI"/>
                <a:cs typeface="Segoe UI"/>
              </a:rPr>
              <a:t>مثال: يحب الرسم والقصص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05456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التغيير الذي سأجريه في البيئة:  </a:t>
            </a:r>
            <a:r>
              <a:rPr sz="1250" b="0" i="0">
                <a:solidFill>
                  <a:srgbClr val="6B7280"/>
                </a:solidFill>
                <a:latin typeface="Segoe UI"/>
                <a:cs typeface="Segoe UI"/>
              </a:rPr>
              <a:t>مثال: مكان هادئ + سلة أدوات جاهزة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الاستراتيجية التي سأستخدمها:  </a:t>
            </a:r>
            <a:r>
              <a:rPr sz="1250" b="0" i="0">
                <a:solidFill>
                  <a:srgbClr val="6B7280"/>
                </a:solidFill>
                <a:latin typeface="Segoe UI"/>
                <a:cs typeface="Segoe UI"/>
              </a:rPr>
              <a:t>مثال: تقسيم المهمة + الاختيار المحدود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12464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كيف سأقلل المساعدة؟:  </a:t>
            </a:r>
            <a:r>
              <a:rPr sz="1250" b="0" i="0">
                <a:solidFill>
                  <a:srgbClr val="6B7280"/>
                </a:solidFill>
                <a:latin typeface="Segoe UI"/>
                <a:cs typeface="Segoe UI"/>
              </a:rPr>
              <a:t>مثال: أجلس بجانبه دون أن أمسك القلم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15968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ما الدليل الذي سألاحظه؟:  </a:t>
            </a:r>
            <a:r>
              <a:rPr sz="1250" b="0" i="0">
                <a:solidFill>
                  <a:srgbClr val="6B7280"/>
                </a:solidFill>
                <a:latin typeface="Segoe UI"/>
                <a:cs typeface="Segoe UI"/>
              </a:rPr>
              <a:t>مثال: كم مرة بدأ دون تذكير؟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919472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متى سأراجع التقدم؟:  </a:t>
            </a:r>
            <a:r>
              <a:rPr sz="1250" b="0" i="0">
                <a:solidFill>
                  <a:srgbClr val="6B7280"/>
                </a:solidFill>
                <a:latin typeface="Segoe UI"/>
                <a:cs typeface="Segoe UI"/>
              </a:rPr>
              <a:t>مثال: مساء الجمعة القادمة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522976"/>
            <a:ext cx="11183112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BB3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ماذا سأفعل بعد المراجعة؟:  </a:t>
            </a:r>
            <a:r>
              <a:rPr sz="1250" b="0" i="0">
                <a:solidFill>
                  <a:srgbClr val="6B7280"/>
                </a:solidFill>
                <a:latin typeface="Segoe UI"/>
                <a:cs typeface="Segoe UI"/>
              </a:rPr>
              <a:t>قراري الجاهز لكل احتمال من الخطوة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72200"/>
            <a:ext cx="1118311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1F3A93"/>
                </a:solidFill>
                <a:latin typeface="Segoe UI"/>
                <a:cs typeface="Segoe UI"/>
              </a:rPr>
              <a:t>أسبوع واحد، مهارة واحدة، استراتيجية واحدة — ثم نراجع ونقرر. هذه هي الحلقة التي ستكررها دائمًا.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822960"/>
            <a:ext cx="1554480" cy="1554480"/>
          </a:xfrm>
          <a:prstGeom prst="ellipse">
            <a:avLst/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cs typeface="Segoe U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7782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C9A227"/>
                </a:solidFill>
                <a:latin typeface="Segoe UI"/>
                <a:cs typeface="Segoe UI"/>
              </a:rPr>
              <a:t>الوحدة 19</a:t>
            </a:r>
          </a:p>
          <a:p>
            <a:pPr algn="r" rtl="1">
              <a:spcBef>
                <a:spcPts val="6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cs typeface="Segoe UI"/>
              </a:rPr>
              <a:t>الاختبار الختامي</a:t>
            </a:r>
          </a:p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0" i="0">
                <a:solidFill>
                  <a:srgbClr val="E4F6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07040" cy="26517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r" rtl="1"/>
            <a:r>
              <a:rPr sz="1600" b="1" i="0">
                <a:solidFill>
                  <a:srgbClr val="C9A227"/>
                </a:solidFill>
                <a:latin typeface="Segoe UI"/>
                <a:cs typeface="Segoe UI"/>
              </a:rPr>
              <a:t>في هذه الوحدة: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12 موقفًا من الحياة المنزلية اليومية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اختر ما ستفعله فعلًا — لا توجد أسئلة حفظ</a:t>
            </a:r>
          </a:p>
          <a:p>
            <a:pPr algn="r" rtl="1">
              <a:spcBef>
                <a:spcPts val="400"/>
              </a:spcBef>
            </a:pPr>
            <a:r>
              <a:rPr sz="1600" b="0" i="0">
                <a:solidFill>
                  <a:srgbClr val="FFFFFF"/>
                </a:solidFill>
                <a:latin typeface="Segoe UI"/>
                <a:cs typeface="Segoe UI"/>
              </a:rPr>
              <a:t>◂  درجة الاجتياز: 80% (عشر إجابات صحيحة من اثنتي عشرة)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F6F6"/>
                </a:solidFill>
                <a:latin typeface="Segoe UI"/>
                <a:cs typeface="Segoe UI"/>
              </a:rPr>
              <a:t>MASAR | مسار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اختر ما ستفعله فعلًا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الاختبار الختامي — الأسئلة 1–3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FFFFFF"/>
                </a:solidFill>
                <a:latin typeface="Segoe UI"/>
                <a:cs typeface="Segoe UI"/>
              </a:rPr>
              <a:t>1. أعطيت طفلك مهمة ولم يبدأها. أول ما تجربه: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874519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أ.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تنفيذها بدلًا منه لتوفير الوقت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74519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ب.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توضيح المطلوب بجملة قصيرة وتصغير الخطوة الأولى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350008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ج.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معاقبته حتى يبدأ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50008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د.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إلغاء المهمة نهائيًا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53511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FFFFFF"/>
                </a:solidFill>
                <a:latin typeface="Segoe UI"/>
                <a:cs typeface="Segoe UI"/>
              </a:rPr>
              <a:t>2. متى تعطي تلميحًا بدل الإجابة؟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3529583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أ.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فورًا قبل أن يحاول الطفل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9583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ب.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بعد أن تعطيه فرصة حقيقية للمحاولة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4005071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ج.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لا نعطي تلميحات أبدًا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05071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د.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فقط في الرياضيات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08575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FFFFFF"/>
                </a:solidFill>
                <a:latin typeface="Segoe UI"/>
                <a:cs typeface="Segoe UI"/>
              </a:rPr>
              <a:t>3. المهمة طويلة وطفلك يمل في منتصفها. الأفضل: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5184647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أ.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إلغاء الواجبات الطويلة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84647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ب.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إكمالها عنه بعد المنتصف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5660136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ج.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تقسيمها إلى أجزاء صغيرة مع راحة قصيرة بينها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660136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د.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مضاعفة وقت الجلوس تدريبًا للصبر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اختر ما ستفعله فعلًا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الاختبار الختامي — الأسئلة 4–6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FFFFFF"/>
                </a:solidFill>
                <a:latin typeface="Segoe UI"/>
                <a:cs typeface="Segoe UI"/>
              </a:rPr>
              <a:t>4. كيف تعرف أن مساعدتك أصبحت أكثر من اللازم؟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874519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أ.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الطفل ينهي المهام لكنه لا يبدأ شيئًا دون وجودك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74519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ب.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الطفل ينهي المهام بسرعة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350008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ج.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الطفل يطلب المساعدة أحيانًا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50008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د.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الطفل يخطئ من حين لآخر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53511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FFFFFF"/>
                </a:solidFill>
                <a:latin typeface="Segoe UI"/>
                <a:cs typeface="Segoe UI"/>
              </a:rPr>
              <a:t>5. جربت استراتيجية أسبوعًا ولم يتغير شيء. الخطوة الأنسب: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3529583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أ.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الاستنتاج أن الطفل غير قادر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9583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ب.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الاستمرار بها عدة أشهر إضافية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4005071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ج.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التوقف عن الدعم كله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05071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د.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مراجعة حجم المهمة والتعليمات والوقت، ثم تجربة استراتيجية أخرى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08575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FFFFFF"/>
                </a:solidFill>
                <a:latin typeface="Segoe UI"/>
                <a:cs typeface="Segoe UI"/>
              </a:rPr>
              <a:t>6. أفضل دليل على تقدم طفلك: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5184647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أ.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شعورك العام بأنه تحسن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84647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ب.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مقارنة ما كان يفعله بما أصبح يفعله الآن بصورة أكثر استقلالية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5660136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ج.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رأي الجيران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660136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د.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سرعة إنهاء الواجب فقط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اختر ما ستفعله فعلًا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الاختبار الختامي — الأسئلة 7–9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FFFFFF"/>
                </a:solidFill>
                <a:latin typeface="Segoe UI"/>
                <a:cs typeface="Segoe UI"/>
              </a:rPr>
              <a:t>7. طفلك أخطأ في القراءة أمامك. الرد الأفضل: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874519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أ.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تصحيح الكلمة فورًا في كل مرة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74519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ب.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التوقف عن القراءة معه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350008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ج.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إعطاؤه وقتًا ثم تلميحًا مناسبًا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50008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د.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توبيخه ليتذكر في المرة القادمة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53511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FFFFFF"/>
                </a:solidFill>
                <a:latin typeface="Segoe UI"/>
                <a:cs typeface="Segoe UI"/>
              </a:rPr>
              <a:t>8. طفلك يرفض الجلوس للواجب كل يوم. تبدأ بـ: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3529583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أ.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فحص بسيط: هل المهمة كبيرة؟ التعليمات واضحة؟ هو متعب؟ البيئة مشتتة؟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9583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ب.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اعتباره عنادًا يستحق العقاب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4005071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ج.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إعفائه من الواجبات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05071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د.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إحضار مدرس خصوصي فورًا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08575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FFFFFF"/>
                </a:solidFill>
                <a:latin typeface="Segoe UI"/>
                <a:cs typeface="Segoe UI"/>
              </a:rPr>
              <a:t>9. «الاختيار المحدود» يعني: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5184647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أ.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ترك الطفل يقرر كل شيء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84647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ب.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خيارين مناسبين تحددهما أنت ويختار الطفل بينهما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5660136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ج.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حرمان الطفل من أي خيار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660136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د.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تأجيل القرارات كلها للمدرسة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اختر ما ستفعله فعلًا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الاختبار الختامي — الأسئلة 10–12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FFFFFF"/>
                </a:solidFill>
                <a:latin typeface="Segoe UI"/>
                <a:cs typeface="Segoe UI"/>
              </a:rPr>
              <a:t>10. متى يكون التواصل مع المدرسة مفيدًا أكثر؟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874519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أ.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عندما تذهب بملاحظاتك: ما يستطيع الطفل فعله، ما جربته، وما ساعد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74519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ب.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عندما تطلب حلولًا جاهزة دون معلومات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350008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ج.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فقط عند استلام الشهادات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50008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د.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عندما تشتكي من المعلم أمام الطفل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53511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FFFFFF"/>
                </a:solidFill>
                <a:latin typeface="Segoe UI"/>
                <a:cs typeface="Segoe UI"/>
              </a:rPr>
              <a:t>11. هدفك النهائي من دعم طفلك: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3529583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أ.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أن ينهي كل واجباته بدرجات كاملة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9583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ب.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أن يصبح قادرًا على القيام بمهامه بصورة أكثر استقلالية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4005071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ج.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ألا يخطئ أبدًا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05071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د.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أن يعتمد عليك في كل خطوة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08575"/>
            <a:ext cx="11183112" cy="50292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350" b="1" i="0">
                <a:solidFill>
                  <a:srgbClr val="FFFFFF"/>
                </a:solidFill>
                <a:latin typeface="Segoe UI"/>
                <a:cs typeface="Segoe UI"/>
              </a:rPr>
              <a:t>12. لاحظت تحسنًا واضحًا بعد أسبوعين من الدعم. الخطوة التالية: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5184647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أ.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زيادة المساعدة مكافأة له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84647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ب.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إيقاف الدعم كله فجأة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5660136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ج.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الاستمرار مع البدء بتقليل المساعدة تدريجيًا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660136"/>
            <a:ext cx="5477256" cy="402336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r" rtl="1"/>
            <a:r>
              <a:rPr sz="1100" b="1" i="0">
                <a:solidFill>
                  <a:srgbClr val="2BB3B1"/>
                </a:solidFill>
                <a:latin typeface="Segoe UI"/>
                <a:cs typeface="Segoe UI"/>
              </a:rPr>
              <a:t>د. </a:t>
            </a:r>
            <a:r>
              <a:rPr sz="1100" b="0" i="0">
                <a:solidFill>
                  <a:srgbClr val="2B2F38"/>
                </a:solidFill>
                <a:latin typeface="Segoe UI"/>
                <a:cs typeface="Segoe UI"/>
              </a:rPr>
              <a:t>تغيير الاستراتيجية فورًا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الوحدة الختامية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تأمل ختامي: خمس دقائق مع نفسك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234440"/>
            <a:ext cx="2331720" cy="50292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تأمل فردي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859536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400"/>
              </a:spcBef>
              <a:spcAft>
                <a:spcPts val="400"/>
              </a:spcAft>
            </a:pPr>
            <a:r>
              <a:rPr sz="1600" b="1" i="0">
                <a:solidFill>
                  <a:srgbClr val="1F3A93"/>
                </a:solidFill>
                <a:latin typeface="Segoe UI"/>
                <a:cs typeface="Segoe UI"/>
              </a:rPr>
              <a:t>أجب كتابيًا في كراسة التطبيق (صفحة 12) — بصدق وبساطة: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1183112" cy="790041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1.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الشيء الجديد الذي فهمته عن طفلي؟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65729"/>
            <a:ext cx="11183112" cy="790041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2.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الشيء الذي سأغيره في طريقة دعمي؟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65499"/>
            <a:ext cx="11183112" cy="790041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3.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المساعدة التي سأحاول تقليلها؟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665268"/>
            <a:ext cx="11183112" cy="790041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4.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المهارة التي سأتابعها؟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565038"/>
            <a:ext cx="11183112" cy="790041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r" rtl="1"/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5.  </a:t>
            </a:r>
            <a:r>
              <a:rPr sz="1500" b="0" i="0">
                <a:solidFill>
                  <a:srgbClr val="2B2F38"/>
                </a:solidFill>
                <a:latin typeface="Segoe UI"/>
                <a:cs typeface="Segoe UI"/>
              </a:rPr>
              <a:t>ما الشيء الذي أريد أن ألاحظه خلال الأسبوع القادم؟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من الدورة إلى البيت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ماذا ستطبق هذا الأسبوع؟ — ثلاث خطوات تكفي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4424" y="155448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اليوم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  <a:cs typeface="Segoe UI"/>
              </a:rPr>
              <a:t>طبّق «تغيير البيئة الواحد» الذي اخترته — سلة أدوات؟ إغلاق تلفاز؟ ابدأ الليلة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3672" y="155448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خلال يومين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  <a:cs typeface="Segoe UI"/>
              </a:rPr>
              <a:t>جرب استراتيجيتك المختارة مع المهمة التي حددتها — مرة واحدة تكفي كبداية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5448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نهاية الأسبوع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  <a:cs typeface="Segoe UI"/>
              </a:rPr>
              <a:t>افتح أداة متابعة التقدم واسأل: ما الذي كان يفعله؟ ما الذي أصبح يفعله؟ ثم قرر خطوتك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4480560"/>
            <a:ext cx="9601200" cy="146304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F3A93"/>
                </a:solidFill>
                <a:latin typeface="Segoe UI"/>
                <a:cs typeface="Segoe UI"/>
              </a:rPr>
              <a:t>وتذكر البطاقة:</a:t>
            </a:r>
          </a:p>
          <a:p>
            <a:pPr algn="ctr" rtl="1">
              <a:spcBef>
                <a:spcPts val="200"/>
              </a:spcBef>
              <a:spcAft>
                <a:spcPts val="100"/>
              </a:spcAft>
            </a:pPr>
            <a:r>
              <a:rPr sz="1400" b="0" i="0">
                <a:solidFill>
                  <a:srgbClr val="2B2F38"/>
                </a:solidFill>
                <a:latin typeface="Segoe UI"/>
                <a:cs typeface="Segoe UI"/>
              </a:rPr>
              <a:t>أكمل بطاقة «ما الذي يساعد طفلي؟» خلال هذا الأسبوع وشاركها مع من يشارك في رعاية طفلك —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2BB3B1"/>
                </a:solidFill>
                <a:latin typeface="Segoe UI"/>
                <a:cs typeface="Segoe UI"/>
              </a:rPr>
              <a:t>فتصبح خلاصة الدورة كلها في صفحة واحدة معلقة على الثلاجة.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2BB3B1"/>
                </a:solidFill>
                <a:latin typeface="Segoe UI"/>
                <a:cs typeface="Segoe UI"/>
              </a:rPr>
              <a:t>الرسالة الختامية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417320"/>
            <a:ext cx="10149840" cy="1737360"/>
          </a:xfrm>
          <a:prstGeom prst="roundRect">
            <a:avLst>
              <a:gd name="adj" fmla="val 8000"/>
            </a:avLst>
          </a:prstGeom>
          <a:solidFill>
            <a:srgbClr val="162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3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  <a:cs typeface="Segoe UI"/>
              </a:rPr>
              <a:t>طفلك لا يحتاج دائمًا إلى مزيد من المساعدة؛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2400" b="1" i="0">
                <a:solidFill>
                  <a:srgbClr val="C9A227"/>
                </a:solidFill>
                <a:latin typeface="Segoe UI"/>
                <a:cs typeface="Segoe UI"/>
              </a:rPr>
              <a:t>أحيانًا يحتاج إلى طريقة أفضل للمساعدة وفرصة أكبر للمحاولة.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1987" y="365760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cs typeface="Segoe UI"/>
              </a:rPr>
              <a:t>افهم طفلك</a:t>
            </a:r>
          </a:p>
        </p:txBody>
      </p:sp>
      <p:sp>
        <p:nvSpPr>
          <p:cNvPr id="8" name="Left Arrow 7"/>
          <p:cNvSpPr/>
          <p:nvPr/>
        </p:nvSpPr>
        <p:spPr>
          <a:xfrm>
            <a:off x="9255099" y="3813048"/>
            <a:ext cx="265176" cy="365760"/>
          </a:xfrm>
          <a:prstGeom prst="lef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07427" y="365760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cs typeface="Segoe UI"/>
              </a:rPr>
              <a:t>ادعم بذكاء</a:t>
            </a:r>
          </a:p>
        </p:txBody>
      </p:sp>
      <p:sp>
        <p:nvSpPr>
          <p:cNvPr id="10" name="Left Arrow 9"/>
          <p:cNvSpPr/>
          <p:nvPr/>
        </p:nvSpPr>
        <p:spPr>
          <a:xfrm>
            <a:off x="7060539" y="3813048"/>
            <a:ext cx="265176" cy="365760"/>
          </a:xfrm>
          <a:prstGeom prst="lef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2867" y="365760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cs typeface="Segoe UI"/>
              </a:rPr>
              <a:t>راقب التقدم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4865979" y="3813048"/>
            <a:ext cx="265176" cy="365760"/>
          </a:xfrm>
          <a:prstGeom prst="lef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18307" y="365760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cs typeface="Segoe UI"/>
              </a:rPr>
              <a:t>عدّل ما تفعله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2671419" y="3813048"/>
            <a:ext cx="265176" cy="365760"/>
          </a:xfrm>
          <a:prstGeom prst="lef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3747" y="365760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2BB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cs typeface="Segoe UI"/>
              </a:rPr>
              <a:t>ابنِ الاستقلالية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4892040"/>
            <a:ext cx="777240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300"/>
              </a:spcAft>
            </a:pP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شكرًا لك — طفلك محظوظ بوالدٍ يتعلم من أجله.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2B2F38"/>
                </a:solidFill>
                <a:latin typeface="Segoe UI"/>
                <a:cs typeface="Segoe UI"/>
              </a:rPr>
              <a:t>أدواتك الثماني معك في كراسة التطبيق — عد إليها كلما احتجت.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19088"/>
            <a:ext cx="116128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F6F6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3152"/>
            <a:ext cx="1118311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B3B1"/>
                </a:solidFill>
                <a:latin typeface="Segoe UI"/>
                <a:cs typeface="Segoe UI"/>
              </a:rPr>
              <a:t>إتمام الدورة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Segoe UI"/>
                <a:cs typeface="Segoe UI"/>
              </a:rPr>
              <a:t>تهانينا — أتممت الدورة!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MASAR | مسار — دعم تعلم طفلي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116128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  <a:cs typeface="Segoe UI"/>
              </a:rPr>
              <a:t>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463040"/>
            <a:ext cx="7772400" cy="1371600"/>
          </a:xfrm>
          <a:prstGeom prst="roundRect">
            <a:avLst>
              <a:gd name="adj" fmla="val 8000"/>
            </a:avLst>
          </a:prstGeom>
          <a:solidFill>
            <a:srgbClr val="E4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 rtl="1">
              <a:spcBef>
                <a:spcPts val="200"/>
              </a:spcBef>
              <a:spcAft>
                <a:spcPts val="300"/>
              </a:spcAft>
            </a:pPr>
            <a:r>
              <a:rPr sz="1700" b="1" i="0">
                <a:solidFill>
                  <a:srgbClr val="1F3A93"/>
                </a:solidFill>
                <a:latin typeface="Segoe UI"/>
                <a:cs typeface="Segoe UI"/>
              </a:rPr>
              <a:t>ما الذي معك الآن؟</a:t>
            </a:r>
          </a:p>
          <a:p>
            <a:pPr algn="ct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2BB3B1"/>
                </a:solidFill>
                <a:latin typeface="Segoe UI"/>
                <a:cs typeface="Segoe UI"/>
              </a:rPr>
              <a:t>فهم أعمق لطفلك • 8 أدوات عملية • 10 استراتيجيات منزلية • خطة أسبوعية جاهزة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154680"/>
            <a:ext cx="9601200" cy="8229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شهادة الإتمام —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بعد اجتياز الاختبار الختامي (80%) تحصل على شهادة إتمام الدورة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4087368"/>
            <a:ext cx="9601200" cy="8229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كراسة التطبيق —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تبقى معك — كل الأدوات الثماني فيها قابلة لإعادة الاستخدام كل فترة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5020056"/>
            <a:ext cx="9601200" cy="822960"/>
          </a:xfrm>
          <a:prstGeom prst="roundRect">
            <a:avLst>
              <a:gd name="adj" fmla="val 8000"/>
            </a:avLst>
          </a:prstGeom>
          <a:solidFill>
            <a:srgbClr val="F7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r" rtl="1"/>
            <a:r>
              <a:rPr sz="1500" b="1" i="0">
                <a:solidFill>
                  <a:srgbClr val="1F3A93"/>
                </a:solidFill>
                <a:latin typeface="Segoe UI"/>
                <a:cs typeface="Segoe UI"/>
              </a:rPr>
              <a:t>أعد التقييم بعد شهر — </a:t>
            </a:r>
            <a:r>
              <a:rPr sz="1350" b="0" i="0">
                <a:solidFill>
                  <a:srgbClr val="2B2F38"/>
                </a:solidFill>
                <a:latin typeface="Segoe UI"/>
                <a:cs typeface="Segoe UI"/>
              </a:rPr>
              <a:t>عد إلى «تقييم جاهزية الأسرة» (الأداة 1) بعد شهر — وقارن كم تقدمت أنت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35040"/>
            <a:ext cx="11183112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 rtl="1"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  <a:cs typeface="Segoe UI"/>
              </a:rPr>
              <a:t>دورة مقدمة ضمن برامج MASAR | مسار التعليمية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