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شريحة الغلاف — دقيقة واحدة</a:t>
            </a:r>
          </a:p>
          <a:p>
            <a:r>
              <a:rPr sz="1200">
                <a:latin typeface="Segoe UI"/>
              </a:rPr>
              <a:t>الرسالة الأساسية: هذه دورة عملية عن «كيف أستجيب لاختلاف طلابي داخل الدرس»، وليست دورة نظرية.</a:t>
            </a:r>
          </a:p>
          <a:p>
            <a:r>
              <a:rPr sz="1200">
                <a:latin typeface="Segoe UI"/>
              </a:rPr>
              <a:t>ما ينبغي شرحه: رحّب بالمشاركين، وذكّر من حضر الدورة الأولى (التعليم الشامل والمدرسة الشاملة) بأن هذه الدورة تبني عليها وتنقلنا من مستوى المدرسة إلى مستوى الدرس اليومي.</a:t>
            </a:r>
          </a:p>
          <a:p>
            <a:r>
              <a:rPr sz="1200">
                <a:latin typeface="Segoe UI"/>
              </a:rPr>
              <a:t>تنبيه: تأكد أن كل مشارك معه كراسة المتدرب وقلم قبل البدء.</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المقدمة — دقيقتان</a:t>
            </a:r>
          </a:p>
          <a:p>
            <a:r>
              <a:rPr sz="1200">
                <a:latin typeface="Segoe UI"/>
              </a:rPr>
              <a:t>الرسالة الأساسية: الانتقال من «طلابي مختلفون» إلى «أعرف كيف أستجيب لهذا الاختلاف داخل الدرس».</a:t>
            </a:r>
          </a:p>
          <a:p>
            <a:r>
              <a:rPr sz="1200">
                <a:latin typeface="Segoe UI"/>
              </a:rPr>
              <a:t>ما ينبغي شرحه: هذه الدورة صُممت للمعلم العام؛ لا حاجة لأي خلفية في التربية الخاصة.</a:t>
            </a:r>
          </a:p>
          <a:p>
            <a:r>
              <a:rPr sz="1200">
                <a:latin typeface="Segoe UI"/>
              </a:rPr>
              <a:t>سؤال للمشاركين: من جرّب أن يشرح درسًا واحدًا فوجد أن الصف خرج منه بثلاثة مستويات فهم مختلفة؟ (الإجابة المتوقعة: الجميع تقريبًا — وهذا موضوعنا).</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الأهداف — دقيقة واحدة</a:t>
            </a:r>
          </a:p>
          <a:p>
            <a:r>
              <a:rPr sz="1200">
                <a:latin typeface="Segoe UI"/>
              </a:rPr>
              <a:t>ما ينبغي شرحه: اقرأ الأهداف سريعًا. لاحظ أنها كلها أفعال عملية: تشرح، تحدد، تصمم، تقرر.</a:t>
            </a:r>
          </a:p>
          <a:p>
            <a:r>
              <a:rPr sz="1200">
                <a:latin typeface="Segoe UI"/>
              </a:rPr>
              <a:t>الرسالة الأساسية: الأهداف 8 و9 و10 هي جوهر الدورة — ستصمم وتتابع وتقرر بنفسك.</a:t>
            </a:r>
          </a:p>
          <a:p>
            <a:r>
              <a:rPr sz="1200">
                <a:latin typeface="Segoe UI"/>
              </a:rPr>
              <a:t>لا تتوقف طويلًا هنا.</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خريطة الدورة — دقيقة واحدة</a:t>
            </a:r>
          </a:p>
          <a:p>
            <a:r>
              <a:rPr sz="1200">
                <a:latin typeface="Segoe UI"/>
              </a:rPr>
              <a:t>الرسالة الأساسية: التمايز ليس «إضافة» فوق عمل المعلم، بل دورة عمل واحدة: افهم، حدد، خطط، نفذ، لاحظ، عدّل.</a:t>
            </a:r>
          </a:p>
          <a:p>
            <a:r>
              <a:rPr sz="1200">
                <a:latin typeface="Segoe UI"/>
              </a:rPr>
              <a:t>ما ينبغي شرحه: سنطبق هذا المسار كاملًا على درس حقيقي (دورة الماء) وعلى نشاط يختاره كل مشارك بنفسه.</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1 — 30 ثانية</a:t>
            </a:r>
          </a:p>
          <a:p>
            <a:r>
              <a:rPr sz="1200">
                <a:latin typeface="Segoe UI"/>
              </a:rPr>
              <a:t>انتقل مباشرة إلى الموقف الواقعي في الشريحة التالية.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الموقف الواقعي — 3 دقائق</a:t>
            </a:r>
          </a:p>
          <a:p>
            <a:r>
              <a:rPr sz="1200">
                <a:latin typeface="Segoe UI"/>
              </a:rPr>
              <a:t>ما ينبغي شرحه: اقرأ القصص الخمس بصوت مسموع وبإيقاع هادئ — هذه صورة أي صف حقيقي.</a:t>
            </a:r>
          </a:p>
          <a:p>
            <a:r>
              <a:rPr sz="1200">
                <a:latin typeface="Segoe UI"/>
              </a:rPr>
              <a:t>سؤال للمشاركين: هل هذا الموقف مألوف لكم؟ من يشبه طلابه أحمد أو ليلى أو فيصل؟</a:t>
            </a:r>
          </a:p>
          <a:p>
            <a:r>
              <a:rPr sz="1200">
                <a:latin typeface="Segoe UI"/>
              </a:rPr>
              <a:t>النقاط المتوقعة: سيتعرف الجميع على طلابهم في هذه الأوصاف.</a:t>
            </a:r>
          </a:p>
          <a:p>
            <a:r>
              <a:rPr sz="1200">
                <a:latin typeface="Segoe UI"/>
              </a:rPr>
              <a:t>مفهوم خاطئ محتمل: «المشكلة أن الصفوف مكتظة» — أجّل هذا النقاش؛ سنرى أن التمايز ممكن حتى في الصفوف الكبيرة لأنه لا يعني درسًا لكل طالب.</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السؤال المحوري — دقيقتان</a:t>
            </a:r>
          </a:p>
          <a:p>
            <a:r>
              <a:rPr sz="1200">
                <a:latin typeface="Segoe UI"/>
              </a:rPr>
              <a:t>الرسالة الأساسية: نقل التفكير من «إصلاح الطلاب» إلى «تصميم تعلم مرن». هذه أهم نقلة ذهنية في الدورة.</a:t>
            </a:r>
          </a:p>
          <a:p>
            <a:r>
              <a:rPr sz="1200">
                <a:latin typeface="Segoe UI"/>
              </a:rPr>
              <a:t>مثال إضافي: الطريق الجبلي الذي لا يصعده إلا المشاة الأقوياء — المشكلة ليست في بقية الناس، بل في أنه لا يوجد سوى طريق واحد.</a:t>
            </a:r>
          </a:p>
          <a:p>
            <a:r>
              <a:rPr sz="1200">
                <a:latin typeface="Segoe UI"/>
              </a:rPr>
              <a:t>سؤال للمشاركين: ماذا كان يستطيع الأستاذ خالد أن يفعل لأحمد وفيصل معًا في الحصة نفسها؟ (اتركه معلقًا — الدورة كلها إجابة عنه).</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2 — 30 ثانية. اربط: «قبل أن نصمم استجابة، لنفهم ما الذي نستجيب له».</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الفروق الفردية — 4 دقائق</a:t>
            </a:r>
          </a:p>
          <a:p>
            <a:r>
              <a:rPr sz="1200">
                <a:latin typeface="Segoe UI"/>
              </a:rPr>
              <a:t>ما ينبغي شرحه: مرّ على الأبعاد العشرة سريعًا، ثم امنح دقيقتين لورقة العمل (2): كل مشارك يحدد أكثر ثلاثة اختلافات حضورًا في صفه.</a:t>
            </a:r>
          </a:p>
          <a:p>
            <a:r>
              <a:rPr sz="1200">
                <a:latin typeface="Segoe UI"/>
              </a:rPr>
              <a:t>الرسالة الأساسية: أنت لا تحتاج إلى تحليل كل طالب في كل بُعد — يكفي أن تعرف الاختلافات الأكثر تأثيرًا في درسك القادم.</a:t>
            </a:r>
          </a:p>
          <a:p>
            <a:r>
              <a:rPr sz="1200">
                <a:latin typeface="Segoe UI"/>
              </a:rPr>
              <a:t>سؤال للمشاركين: أي بُعد منها نغفل عنه عادة؟ (النقاط المتوقعة: المعرفة السابقة وطريقة التعبير).</a:t>
            </a:r>
          </a:p>
          <a:p>
            <a:r>
              <a:rPr sz="1200">
                <a:latin typeface="Segoe UI"/>
              </a:rPr>
              <a:t>مفهوم خاطئ محتمل: «هذه الاختلافات تخص ذوي الاحتياجات فقط» — صحّح فورًا: هذه أبعاد طبيعية لدى كل طالب.</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القاعدة الأساسية — 3 دقائق</a:t>
            </a:r>
          </a:p>
          <a:p>
            <a:r>
              <a:rPr sz="1200">
                <a:latin typeface="Segoe UI"/>
              </a:rPr>
              <a:t>الرسالة الأساسية: هذه العبارة هي مفتاح الدورة كلها — اقرأها مرتين واطلب من المشاركين تدوينها.</a:t>
            </a:r>
          </a:p>
          <a:p>
            <a:r>
              <a:rPr sz="1200">
                <a:latin typeface="Segoe UI"/>
              </a:rPr>
              <a:t>ما ينبغي شرحه: التمايز ممارسة تعليمية لجميع المتعلمين، وليس مرادفًا للتربية الخاصة.</a:t>
            </a:r>
          </a:p>
          <a:p>
            <a:r>
              <a:rPr sz="1200">
                <a:latin typeface="Segoe UI"/>
              </a:rPr>
              <a:t>مفهوم خاطئ محتمل: «إذا قدمت دعمًا دون تشخيص فأنا أتجاوز صلاحياتي» — صحّح: تنويع طريقة الشرح والوقت والدعم صميم عمل المعلم ولا يحتاج إذنًا.</a:t>
            </a:r>
          </a:p>
          <a:p>
            <a:r>
              <a:rPr sz="1200">
                <a:latin typeface="Segoe UI"/>
              </a:rPr>
              <a:t>الزمن: 3 دقائق.</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3 — 30 ثانية.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التعريف — 3 دقائق</a:t>
            </a:r>
          </a:p>
          <a:p>
            <a:r>
              <a:rPr sz="1200">
                <a:latin typeface="Segoe UI"/>
              </a:rPr>
              <a:t>الرسالة الأساسية: هدف واحد، طرق مرنة، دعم حسب الحاجة — هذا كل شيء.</a:t>
            </a:r>
          </a:p>
          <a:p>
            <a:r>
              <a:rPr sz="1200">
                <a:latin typeface="Segoe UI"/>
              </a:rPr>
              <a:t>ما ينبغي شرحه: اذكر المصطلح الإنجليزي مرة واحدة (ليتمكن المعلم من البحث في المراجع المهنية) ثم استخدم «التعليم المتمايز» بالعربية طوال الدورة.</a:t>
            </a:r>
          </a:p>
          <a:p>
            <a:r>
              <a:rPr sz="1200">
                <a:latin typeface="Segoe UI"/>
              </a:rPr>
              <a:t>مثال إضافي: في درس القراءة نفسه: نص واحد، لكن بعضهم يقرأه مستقلًا، وبعضهم مع تسجيل صوتي، وبعضهم مع المعلم — والسؤال الختامي واحد للجميع.</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ما لا يعنيه التمايز — 4 دقائق</a:t>
            </a:r>
          </a:p>
          <a:p>
            <a:r>
              <a:rPr sz="1200">
                <a:latin typeface="Segoe UI"/>
              </a:rPr>
              <a:t>الرسالة الأساسية: معظم مقاومة المعلمين للتمايز سببها هذه المفاهيم الخاطئة الستة.</a:t>
            </a:r>
          </a:p>
          <a:p>
            <a:r>
              <a:rPr sz="1200">
                <a:latin typeface="Segoe UI"/>
              </a:rPr>
              <a:t>سؤال للمشاركين: أي واحدة من هذه الأفكار سمعتموها (أو قلتموها) من قبل؟</a:t>
            </a:r>
          </a:p>
          <a:p>
            <a:r>
              <a:rPr sz="1200">
                <a:latin typeface="Segoe UI"/>
              </a:rPr>
              <a:t>النقاط المتوقعة: الأولى («مستحيل أعمل درسًا لكل طالب») هي الأكثر شيوعًا — وستُعالج بالتفصيل في الشريحتين القادمتين.</a:t>
            </a:r>
          </a:p>
          <a:p>
            <a:r>
              <a:rPr sz="1200">
                <a:latin typeface="Segoe UI"/>
              </a:rPr>
              <a:t>الزمن: 4 دقائق مع النقاش.</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الأسطورة — 3 دقائق</a:t>
            </a:r>
          </a:p>
          <a:p>
            <a:r>
              <a:rPr sz="1200">
                <a:latin typeface="Segoe UI"/>
              </a:rPr>
              <a:t>الرسالة الأساسية: التمايز لا يضاعف عمل المعلم؛ يعيد توجيهه. طريقان أو ثلاثة تكفي دائمًا تقريبًا.</a:t>
            </a:r>
          </a:p>
          <a:p>
            <a:r>
              <a:rPr sz="1200">
                <a:latin typeface="Segoe UI"/>
              </a:rPr>
              <a:t>ما ينبغي شرحه: اطلب من المشاركين حل نشاط «حقيقة أم مفهوم خاطئ؟» في ورقة العمل (4) الآن أو في نهاية الوحدة.</a:t>
            </a:r>
          </a:p>
          <a:p>
            <a:r>
              <a:rPr sz="1200">
                <a:latin typeface="Segoe UI"/>
              </a:rPr>
              <a:t>مفهوم خاطئ محتمل: «إذًا التمايز للصفوف الصغيرة فقط» — صحّح: التجميع المرن والخيارات تعمل في الصفوف الكبيرة أيضًا.</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النموذج البصري — دقيقتان</a:t>
            </a:r>
          </a:p>
          <a:p>
            <a:r>
              <a:rPr sz="1200">
                <a:latin typeface="Segoe UI"/>
              </a:rPr>
              <a:t>الرسالة الأساسية: هذا هو الشكل الذهني الذي نريد أن يحمله المعلم: هدف واحد فوق، طرق في المنتصف، أدلة متنوعة تحت.</a:t>
            </a:r>
          </a:p>
          <a:p>
            <a:r>
              <a:rPr sz="1200">
                <a:latin typeface="Segoe UI"/>
              </a:rPr>
              <a:t>ما ينبغي شرحه: الطرق الثلاثة مجرد مثال — أحيانًا يكفي طريقان.</a:t>
            </a:r>
          </a:p>
          <a:p>
            <a:r>
              <a:rPr sz="1200">
                <a:latin typeface="Segoe UI"/>
              </a:rPr>
              <a:t>سؤال للمشاركين: في أي المواد يبدو هذا النموذج أسهل تطبيقًا؟ ولماذا؟ (النقاط المتوقعة: العلوم والاجتماعيات أسهل من الرياضيات في نظرهم — وسيتضح لاحقًا أنه ممكن في الجميع).</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5 — 30 ثانية. اربط: «قبل أي تمايز، يجب أن نعرف بدقة إلى أين نسير».</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الهدف والنشاط والدليل — 4 دقائق</a:t>
            </a:r>
          </a:p>
          <a:p>
            <a:r>
              <a:rPr sz="1200">
                <a:latin typeface="Segoe UI"/>
              </a:rPr>
              <a:t>الرسالة الأساسية: الخلط بين الهدف والنشاط هو أكثر ما يفسد التمايز. النشاط وسيلة قابلة للتغيير؛ الهدف ثابت.</a:t>
            </a:r>
          </a:p>
          <a:p>
            <a:r>
              <a:rPr sz="1200">
                <a:latin typeface="Segoe UI"/>
              </a:rPr>
              <a:t>مثال إضافي: إذا كان الهدف «يحدد مراحل دورة الماء»، فإصرارنا على أن يكتب فقرة كاملة يجعلنا نقيس الكتابة لا الفهم.</a:t>
            </a:r>
          </a:p>
          <a:p>
            <a:r>
              <a:rPr sz="1200">
                <a:latin typeface="Segoe UI"/>
              </a:rPr>
              <a:t>سؤال للمشاركين: طالب رتب البطاقات صحيحة لكنه لم يكتب — هل حقق الهدف؟ (الإجابة: نعم، إذا كان الهدف تحديد المراحل).</a:t>
            </a:r>
          </a:p>
          <a:p>
            <a:r>
              <a:rPr sz="1200">
                <a:latin typeface="Segoe UI"/>
              </a:rPr>
              <a:t>مفهوم خاطئ محتمل: «تغيير طريقة الإجابة تسهيل مخل» — صحّح: هو مخل فقط إذا كان الهدف نفسه هو الكتابة.</a:t>
            </a:r>
          </a:p>
          <a:p>
            <a:r>
              <a:rPr sz="1200">
                <a:latin typeface="Segoe UI"/>
              </a:rPr>
              <a:t>الزمن: 4 دقائق. وجّه المشاركين إلى ورقة العمل (6) لاحقًا لتحليل درس من مادتهم بهذا الإطار.</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6 — 30 ثانية. هذه الوحدة تعطي المعلم «مفاتيح» التنويع الأربعة.</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المجالات الأربعة — 3 دقائق</a:t>
            </a:r>
          </a:p>
          <a:p>
            <a:r>
              <a:rPr sz="1200">
                <a:latin typeface="Segoe UI"/>
              </a:rPr>
              <a:t>الرسالة الأساسية: هذه الأبواب الأربعة هي «قائمة الخيارات» أمام المعلم — لا يلزم فتح كل الأبواب في كل درس؛ باب واحد يكفي غالبًا.</a:t>
            </a:r>
          </a:p>
          <a:p>
            <a:r>
              <a:rPr sz="1200">
                <a:latin typeface="Segoe UI"/>
              </a:rPr>
              <a:t>ما ينبغي شرحه: اذكر المصطلح الإنجليزي مرة واحدة لكل مجال، ثم التزم بالعربية.</a:t>
            </a:r>
          </a:p>
          <a:p>
            <a:r>
              <a:rPr sz="1200">
                <a:latin typeface="Segoe UI"/>
              </a:rPr>
              <a:t>سؤال للمشاركين: أي باب تفتحونه أكثر تلقائيًا في تدريسكم اليومي؟ (النقاط المتوقعة: طريقة التعلم — أما ناتج التعلم فهو الأقل استخدامًا).</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أمثلة المجالات — 3 دقائق</a:t>
            </a:r>
          </a:p>
          <a:p>
            <a:r>
              <a:rPr sz="1200">
                <a:latin typeface="Segoe UI"/>
              </a:rPr>
              <a:t>الرسالة الأساسية: كل الأمثلة قابلة للتنفيذ غدًا وبلا موارد إضافية تقريبًا.</a:t>
            </a:r>
          </a:p>
          <a:p>
            <a:r>
              <a:rPr sz="1200">
                <a:latin typeface="Segoe UI"/>
              </a:rPr>
              <a:t>سؤال للمشاركين: اختر مثالًا واحدًا من هذه القائمة تستطيع تجربته في درسك القادم — أي واحد اخترت ولماذا؟</a:t>
            </a:r>
          </a:p>
          <a:p>
            <a:r>
              <a:rPr sz="1200">
                <a:latin typeface="Segoe UI"/>
              </a:rPr>
              <a:t>الزمن: 3 دقائق.</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7 — 30 ثانية. أكد: المطلوب إتقان 2–3 استراتيجيات، لا حفظ العشر.</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الاستراتيجيات 1–4 — 4 دقائق</a:t>
            </a:r>
          </a:p>
          <a:p>
            <a:r>
              <a:rPr sz="1200">
                <a:latin typeface="Segoe UI"/>
              </a:rPr>
              <a:t>الرسالة الأساسية: الاستراتيجية 4 (تعليمات مكتوبة ومسموعة) هي الأسهل والأوسع أثرًا — ابدأ بها إن لم تكن تفعلها.</a:t>
            </a:r>
          </a:p>
          <a:p>
            <a:r>
              <a:rPr sz="1200">
                <a:latin typeface="Segoe UI"/>
              </a:rPr>
              <a:t>ما ينبغي شرحه: لكل استراتيجية اقرأ: ما هي، متى، والمثال. لا تُطل.</a:t>
            </a:r>
          </a:p>
          <a:p>
            <a:r>
              <a:rPr sz="1200">
                <a:latin typeface="Segoe UI"/>
              </a:rPr>
              <a:t>سؤال للمشاركين: أيها تستخدمون بالفعل دون أن تسموها «تمايزًا»؟</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الاستراتيجيات 5–8 — 4 دقائق</a:t>
            </a:r>
          </a:p>
          <a:p>
            <a:r>
              <a:rPr sz="1200">
                <a:latin typeface="Segoe UI"/>
              </a:rPr>
              <a:t>الرسالة الأساسية: الاستراتيجية 8 (تدرج الأسئلة) تتيح تمايزًا فوريًا في أي نقاش دون أي تحضير إضافي تقريبًا.</a:t>
            </a:r>
          </a:p>
          <a:p>
            <a:r>
              <a:rPr sz="1200">
                <a:latin typeface="Segoe UI"/>
              </a:rPr>
              <a:t>مفهوم خاطئ محتمل: «الوقت الإضافي ظلم للبقية» — ذكّر بمبدأ الإنصاف من الدورة الأولى: نقيس الفهم لا السرعة، ومن انتهى لديه عمل مفيد.</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الاستراتيجيات 9–10 والقاعدة الذهبية — 3 دقائق</a:t>
            </a:r>
          </a:p>
          <a:p>
            <a:r>
              <a:rPr sz="1200">
                <a:latin typeface="Segoe UI"/>
              </a:rPr>
              <a:t>الرسالة الأساسية: الإثراء يعني عمقًا لا كمًا — «20 مسألة إضافية» عقوبة على الإتقان وليست إثراءً.</a:t>
            </a:r>
          </a:p>
          <a:p>
            <a:r>
              <a:rPr sz="1200">
                <a:latin typeface="Segoe UI"/>
              </a:rPr>
              <a:t>ما ينبغي شرحه: الدعم المتدرج (Scaffolding): نمذجة ← عمل مشترك ← أزواج ← مستقل. عرّف المصطلح الإنجليزي هنا مرة واحدة.</a:t>
            </a:r>
          </a:p>
          <a:p>
            <a:r>
              <a:rPr sz="1200">
                <a:latin typeface="Segoe UI"/>
              </a:rPr>
              <a:t>سؤال للمشاركين: اختر الآن استراتيجيتين ستتقنهما هذا الفصل — اكتبهما في كراستك.</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8 — 30 ثانية.</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التجميع المرن — 4 دقائق</a:t>
            </a:r>
          </a:p>
          <a:p>
            <a:r>
              <a:rPr sz="1200">
                <a:latin typeface="Segoe UI"/>
              </a:rPr>
              <a:t>الرسالة الأساسية: الفرق الجوهري هو الزمن والغرض: المرنة مؤقتة ولهدف؛ الثابتة دائمة ولتصنيف.</a:t>
            </a:r>
          </a:p>
          <a:p>
            <a:r>
              <a:rPr sz="1200">
                <a:latin typeface="Segoe UI"/>
              </a:rPr>
              <a:t>ما ينبغي شرحه: الطالب نفسه يتنقل بين المجموعات حسب المادة والمهارة — هذا طبيعي ومطلوب.</a:t>
            </a:r>
          </a:p>
          <a:p>
            <a:r>
              <a:rPr sz="1200">
                <a:latin typeface="Segoe UI"/>
              </a:rPr>
              <a:t>مفهوم خاطئ محتمل: «جمع المتعثرين معًا أسهل لي كمعلم» — ناقش التكلفة: وصمة، توقعات منخفضة، وفقدان نماذج الأقران.</a:t>
            </a:r>
          </a:p>
          <a:p>
            <a:r>
              <a:rPr sz="1200">
                <a:latin typeface="Segoe UI"/>
              </a:rPr>
              <a:t>سؤال للمشاركين: كيف يعرف طلابكم أنفسهم داخل مجموعاتكم الحالية؟ هل يقول أحدهم «أنا من المجموعة الضعيفة»؟</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أشكال التجميع — 3 دقائق</a:t>
            </a:r>
          </a:p>
          <a:p>
            <a:r>
              <a:rPr sz="1200">
                <a:latin typeface="Segoe UI"/>
              </a:rPr>
              <a:t>الرسالة الأساسية: الشكل يتبع الهدف. مجموعة الشرح الإضافي هي الأداة الأقوى للمعلم: دعم مركز دون إيقاف الصف كله.</a:t>
            </a:r>
          </a:p>
          <a:p>
            <a:r>
              <a:rPr sz="1200">
                <a:latin typeface="Segoe UI"/>
              </a:rPr>
              <a:t>ما ينبغي شرحه: أكد أن «مجموعة الشرح الإضافي» تتغير عضويتها كل مرة — اليوم في الكسور، وغدًا في الإملاء بأعضاء آخرين.</a:t>
            </a:r>
          </a:p>
          <a:p>
            <a:r>
              <a:rPr sz="1200">
                <a:latin typeface="Segoe UI"/>
              </a:rPr>
              <a:t>سؤال للمشاركين: حل نشاط ورقة العمل (5): خطط تجميعًا مرنًا لدرس من مادتك.</a:t>
            </a:r>
          </a:p>
          <a:p>
            <a:r>
              <a:rPr sz="1200">
                <a:latin typeface="Segoe UI"/>
              </a:rPr>
              <a:t>الزمن: 3 دقائق + النشاط في الكراسة.</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9 — 30 ثانية</a:t>
            </a:r>
          </a:p>
          <a:p>
            <a:r>
              <a:rPr sz="1200">
                <a:latin typeface="Segoe UI"/>
              </a:rPr>
              <a:t>هذه أهم وحدة في الدورة — نموذج كامل يُحتذى. خصص لها 10 دقائق كاملة.</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إطار الدرس — دقيقتان</a:t>
            </a:r>
          </a:p>
          <a:p>
            <a:r>
              <a:rPr sz="1200">
                <a:latin typeface="Segoe UI"/>
              </a:rPr>
              <a:t>الرسالة الأساسية: الدرس المتمايز يبدأ وينتهي مشتركًا؛ التمايز في المنتصف فقط (مرحلة الممارسة).</a:t>
            </a:r>
          </a:p>
          <a:p>
            <a:r>
              <a:rPr sz="1200">
                <a:latin typeface="Segoe UI"/>
              </a:rPr>
              <a:t>ما ينبغي شرحه: الافتتاح المشترك يبني لغة موحدة (الكلمات المفتاحية الأربع) يستخدمها الجميع مهما اختلف مسارهم.</a:t>
            </a:r>
          </a:p>
          <a:p>
            <a:r>
              <a:rPr sz="1200">
                <a:latin typeface="Segoe UI"/>
              </a:rPr>
              <a:t>الزمن: دقيقتان — التفاصيل في الشرائح الثلاث القادمة.</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المسار 1 — دقيقتان</a:t>
            </a:r>
          </a:p>
          <a:p>
            <a:r>
              <a:rPr sz="1200">
                <a:latin typeface="Segoe UI"/>
              </a:rPr>
              <a:t>الرسالة الأساسية: لاحظ أن الهدف لم يُخفض — الطالب سيحدد المراحل ويشرح العلاقة، لكن بسلم صعود أكثر درجات.</a:t>
            </a:r>
          </a:p>
          <a:p>
            <a:r>
              <a:rPr sz="1200">
                <a:latin typeface="Segoe UI"/>
              </a:rPr>
              <a:t>ما ينبغي شرحه: النموذج الجزئي والأسئلة الموجهة هما تطبيق مباشر للدعم المتدرج الذي تعلمناه في الوحدة 7.</a:t>
            </a:r>
          </a:p>
          <a:p>
            <a:r>
              <a:rPr sz="1200">
                <a:latin typeface="Segoe UI"/>
              </a:rPr>
              <a:t>مفهوم خاطئ محتمل: «هذا المسار أسهل» — صحّح: هو أكثر دعمًا، وليس أقل تعلمًا.</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المسار 2 — دقيقة ونصف</a:t>
            </a:r>
          </a:p>
          <a:p>
            <a:r>
              <a:rPr sz="1200">
                <a:latin typeface="Segoe UI"/>
              </a:rPr>
              <a:t>الرسالة الأساسية: هذا مسار معظم الصف — وفيه تمايز داخلي أيضًا (اختيار القراءة أو المشاهدة).</a:t>
            </a:r>
          </a:p>
          <a:p>
            <a:r>
              <a:rPr sz="1200">
                <a:latin typeface="Segoe UI"/>
              </a:rPr>
              <a:t>ما ينبغي شرحه: الخطوات الأربع نفسها هي بنية الهدف: تحديد ← ترتيب ← شرح العلاقة.</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المسار 3 — دقيقة ونصف</a:t>
            </a:r>
          </a:p>
          <a:p>
            <a:r>
              <a:rPr sz="1200">
                <a:latin typeface="Segoe UI"/>
              </a:rPr>
              <a:t>الرسالة الأساسية: الإثراء يبني على الهدف نفسه ويتجاوزه عمقًا — التفسير والتطبيق والنمذجة، لا مهام إضافية متكررة.</a:t>
            </a:r>
          </a:p>
          <a:p>
            <a:r>
              <a:rPr sz="1200">
                <a:latin typeface="Segoe UI"/>
              </a:rPr>
              <a:t>سؤال للمشاركين: ماذا كان سيحدث لعمر (طالب الوحدة الأولى الذي شعر بالملل) لو وُجد هذا المسار في صفه؟</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قاعدة المسارات — دقيقتان</a:t>
            </a:r>
          </a:p>
          <a:p>
            <a:r>
              <a:rPr sz="1200">
                <a:latin typeface="Segoe UI"/>
              </a:rPr>
              <a:t>الرسالة الأساسية: اللحظة التي تتحول فيها المسارات إلى «مستويات ثابتة» يموت التمايز ويولد التصنيف.</a:t>
            </a:r>
          </a:p>
          <a:p>
            <a:r>
              <a:rPr sz="1200">
                <a:latin typeface="Segoe UI"/>
              </a:rPr>
              <a:t>ما ينبغي شرحه: بطاقة الخروج في الختام هي أداة التقييم التكويني التي ستقرر شكل الحصة القادمة — وهذا موضوع الوحدة 12.</a:t>
            </a:r>
          </a:p>
          <a:p>
            <a:r>
              <a:rPr sz="1200">
                <a:latin typeface="Segoe UI"/>
              </a:rPr>
              <a:t>سؤال للمشاركين: كيف تمنعون تحول المسارات إلى تسميات بين الطلاب أنفسهم؟ (النقاط المتوقعة: تغيير التشكيل باستمرار، تسمية المسارات بأسماء محايدة، تنقل المعلم بين الجميع).</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10 — 30 ثانية. اربط: «رأينا درسًا صُمم متمايزًا من البداية — الآن نتعلم تحويل الموجود».</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الخطوات الست — 3 دقائق</a:t>
            </a:r>
          </a:p>
          <a:p>
            <a:r>
              <a:rPr sz="1200">
                <a:latin typeface="Segoe UI"/>
              </a:rPr>
              <a:t>الرسالة الأساسية: الخطوتان 2 و3 (الهدف والعائق) هما قلب العملية — إذا أصبتهما، صار الباقي سهلًا.</a:t>
            </a:r>
          </a:p>
          <a:p>
            <a:r>
              <a:rPr sz="1200">
                <a:latin typeface="Segoe UI"/>
              </a:rPr>
              <a:t>ما ينبغي شرحه: عرّف «تكييف التعليم» بالمصطلح الإنجليزي مرة واحدة هنا.</a:t>
            </a:r>
          </a:p>
          <a:p>
            <a:r>
              <a:rPr sz="1200">
                <a:latin typeface="Segoe UI"/>
              </a:rPr>
              <a:t>سؤال للمشاركين: لماذا نرفض سؤال «كيف أجعل النشاط أسهل؟» (الإجابة المتوقعة: لأنه يخفض الهدف بدل إزالة العائق).</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قبل وبعد — 4 دقائق</a:t>
            </a:r>
          </a:p>
          <a:p>
            <a:r>
              <a:rPr sz="1200">
                <a:latin typeface="Segoe UI"/>
              </a:rPr>
              <a:t>الرسالة الأساسية: النشاط «بعد» ليس أسهل — هو أدق قياسًا للهدف وأكثر إتاحة.</a:t>
            </a:r>
          </a:p>
          <a:p>
            <a:r>
              <a:rPr sz="1200">
                <a:latin typeface="Segoe UI"/>
              </a:rPr>
              <a:t>ما ينبغي شرحه: امش خلال التحليل: الهدف الفعلي ← العائق ← التغيير ← الدعم ← الدليل. هذه هي الخطوات الست مطبقة.</a:t>
            </a:r>
          </a:p>
          <a:p>
            <a:r>
              <a:rPr sz="1200">
                <a:latin typeface="Segoe UI"/>
              </a:rPr>
              <a:t>سؤال للمشاركين: افتحوا ورقة العمل (6) واختاروا نشاطًا حقيقيًا من موادكم لتحليله بالطريقة نفسها — سنبني عليه المهمة التطبيقية.</a:t>
            </a:r>
          </a:p>
          <a:p>
            <a:r>
              <a:rPr sz="1200">
                <a:latin typeface="Segoe UI"/>
              </a:rPr>
              <a:t>الزمن: 4 دقائق + عمل فردي في الكراسة.</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11 — 30 ثانية. هذه الوحدة تجيب عن أكبر مخاوف المعلمين: «كيف أضبط الصف؟»</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ممارسات الإدارة — 5 دقائق</a:t>
            </a:r>
          </a:p>
          <a:p>
            <a:r>
              <a:rPr sz="1200">
                <a:latin typeface="Segoe UI"/>
              </a:rPr>
              <a:t>الرسالة الأساسية: المعادلة: روتين واضح + تعليمات واضحة + توقعات واضحة + متابعة مستمرة = صف متمايز منظم.</a:t>
            </a:r>
          </a:p>
          <a:p>
            <a:r>
              <a:rPr sz="1200">
                <a:latin typeface="Segoe UI"/>
              </a:rPr>
              <a:t>ما ينبغي شرحه: الاستقلالية تُدرَّب ولا تُفترض — خصص أسبوعًا لتدريب الروتين قبل أول درس متمايز كامل.</a:t>
            </a:r>
          </a:p>
          <a:p>
            <a:r>
              <a:rPr sz="1200">
                <a:latin typeface="Segoe UI"/>
              </a:rPr>
              <a:t>مفهوم خاطئ محتمل: «الصف المتمايز صاخب وفوضوي» — صحّح: الصف المتمايز الجيد أهدأ لأن كل طالب لديه عمل يناسبه؛ الملل هو مصدر الشغب الأول.</a:t>
            </a:r>
          </a:p>
          <a:p>
            <a:r>
              <a:rPr sz="1200">
                <a:latin typeface="Segoe UI"/>
              </a:rPr>
              <a:t>سؤال للمشاركين: ما الروتين الواحد الذي لو ثبّتموه لسهل كل ما بعده؟ (النقاط المتوقعة: إشارة الانتقال أو قاعدة اسأل ثلاثة قبلي).</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12 — 30 ثانية. اربط: «التمايز بلا تقييم تكويني تخمين — التقييم هو عيون المعلم».</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أدوات التقييم التكويني — 4 دقائق</a:t>
            </a:r>
          </a:p>
          <a:p>
            <a:r>
              <a:rPr sz="1200">
                <a:latin typeface="Segoe UI"/>
              </a:rPr>
              <a:t>الرسالة الأساسية: التقييم التكويني ليس اختبارًا إضافيًا — إنه نبض سريع أثناء الدرس يوجه خطوتك التالية.</a:t>
            </a:r>
          </a:p>
          <a:p>
            <a:r>
              <a:rPr sz="1200">
                <a:latin typeface="Segoe UI"/>
              </a:rPr>
              <a:t>ما ينبغي شرحه: بطاقة الخروج هي الأداة الأنسب للبدء: سؤال واحد، دقيقتان، وتعرف بالضبط من فهم وماذا تفعل غدًا.</a:t>
            </a:r>
          </a:p>
          <a:p>
            <a:r>
              <a:rPr sz="1200">
                <a:latin typeface="Segoe UI"/>
              </a:rPr>
              <a:t>مثال إضافي: بطاقة خروج درس دورة الماء: «اكتب المراحل الأربع بالترتيب» — في اليوم التالي تتشكل مجموعة الشرح الإضافي ممن أخطؤوا الترتيب.</a:t>
            </a:r>
          </a:p>
          <a:p>
            <a:r>
              <a:rPr sz="1200">
                <a:latin typeface="Segoe UI"/>
              </a:rPr>
              <a:t>سؤال للمشاركين: أي أداة تناسب درسك القادم تحديدًا؟</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حلقة القرار — 3 دقائق</a:t>
            </a:r>
          </a:p>
          <a:p>
            <a:r>
              <a:rPr sz="1200">
                <a:latin typeface="Segoe UI"/>
              </a:rPr>
              <a:t>الرسالة الأساسية: الفرق بين «رأيت» و«يعني» و«سأفعل» هو الفرق بين جمع البيانات واستخدامها.</a:t>
            </a:r>
          </a:p>
          <a:p>
            <a:r>
              <a:rPr sz="1200">
                <a:latin typeface="Segoe UI"/>
              </a:rPr>
              <a:t>ما ينبغي شرحه: لاحظ في المثال أن التفسير حذر: الثلاثة الذين لم يبدؤوا لا نحكم عليهم فورًا — قد يكون العائق في فهم التعليمات.</a:t>
            </a:r>
          </a:p>
          <a:p>
            <a:r>
              <a:rPr sz="1200">
                <a:latin typeface="Segoe UI"/>
              </a:rPr>
              <a:t>سؤال للمشاركين: تذكروا آخر بطاقة خروج أو اختبار قصير صححتموه — ماذا غيّر في درسكم التالي؟ إن كانت الإجابة «لا شيء» فهذه فرصتنا.</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الوحدة 13 — 30 ثانية. ذكّر: لا تشخيصات ولا تسميات — أوصاف تعليمية فقط.</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الحالة الصفية — 3 دقائق (العرض) + 4 دقائق (النقاش)</a:t>
            </a:r>
          </a:p>
          <a:p>
            <a:r>
              <a:rPr sz="1200">
                <a:latin typeface="Segoe UI"/>
              </a:rPr>
              <a:t>ما ينبغي شرحه: اقرأ الأوصاف الستة. لاحظ: كلها أوصاف تعليمية (ماذا يفعل الطالب) لا تصنيفات (ما هو الطالب).</a:t>
            </a:r>
          </a:p>
          <a:p>
            <a:r>
              <a:rPr sz="1200">
                <a:latin typeface="Segoe UI"/>
              </a:rPr>
              <a:t>الرسالة الأساسية: هؤلاء الستة موجودون بنسب مختلفة في كل صف حقيقي.</a:t>
            </a:r>
          </a:p>
          <a:p>
            <a:r>
              <a:rPr sz="1200">
                <a:latin typeface="Segoe UI"/>
              </a:rPr>
              <a:t>تعليمات النشاط: وجّه المشاركين إلى ورقة العمل (8): لكل طالب — ما الاستجابة التعليمية المناسبة؟ عمل ثنائي أو في مجموعات صغيرة.</a:t>
            </a:r>
          </a:p>
          <a:p>
            <a:r>
              <a:rPr sz="1200">
                <a:latin typeface="Segoe UI"/>
              </a:rPr>
              <a:t>تنبيه حاسم: أوقف أي محاولة لتشخيص الشخصيات («زياد عنده تشتت انتباه») — أعد التوجيه: نصف ما نراه ونصمم استجابة.</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الإجابة النموذجية — 3 دقائق</a:t>
            </a:r>
          </a:p>
          <a:p>
            <a:r>
              <a:rPr sz="1200">
                <a:latin typeface="Segoe UI"/>
              </a:rPr>
              <a:t>الرسالة الأساسية: خمس استجابات بسيطة غطّت ستة طلاب — ولم نحتج ستة دروس ولا أي تشخيص.</a:t>
            </a:r>
          </a:p>
          <a:p>
            <a:r>
              <a:rPr sz="1200">
                <a:latin typeface="Segoe UI"/>
              </a:rPr>
              <a:t>ما ينبغي شرحه: كل استجابة هنا استراتيجية تعلمناها في الوحدة 7 — اربطها صراحة: تقسيم المهمة، النموذج، الخيارات، الوقت، الإثراء.</a:t>
            </a:r>
          </a:p>
          <a:p>
            <a:r>
              <a:rPr sz="1200">
                <a:latin typeface="Segoe UI"/>
              </a:rPr>
              <a:t>النقاط المتوقعة من المشاركين: قد يقترحون تجميعًا مرنًا (جود ولمى في مجموعة نموذج) — ممتاز، أي حل يخدم الهدف مقبول.</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المهمة التطبيقية — 10 دقائق</a:t>
            </a:r>
          </a:p>
          <a:p>
            <a:r>
              <a:rPr sz="1200">
                <a:latin typeface="Segoe UI"/>
              </a:rPr>
              <a:t>تعليمات التنفيذ: عمل فردي في ورقة العمل (9). تجول بين المشاركين ووجه من يحتاج.</a:t>
            </a:r>
          </a:p>
          <a:p>
            <a:r>
              <a:rPr sz="1200">
                <a:latin typeface="Segoe UI"/>
              </a:rPr>
              <a:t>أخطاء شائعة يجب رصدها أثناء التجول:</a:t>
            </a:r>
          </a:p>
          <a:p>
            <a:r>
              <a:rPr sz="1200">
                <a:latin typeface="Segoe UI"/>
              </a:rPr>
              <a:t>1) هدف مكتوب كنشاط («أن يحل ورقة العمل») — أعد السؤال: ما التعلم المقصود؟</a:t>
            </a:r>
          </a:p>
          <a:p>
            <a:r>
              <a:rPr sz="1200">
                <a:latin typeface="Segoe UI"/>
              </a:rPr>
              <a:t>2) خفض الهدف في مسار الدعم — ذكّر: نغير الطريق لا الوجهة.</a:t>
            </a:r>
          </a:p>
          <a:p>
            <a:r>
              <a:rPr sz="1200">
                <a:latin typeface="Segoe UI"/>
              </a:rPr>
              <a:t>3) إثراء كمي («10 مسائل زيادة») — ذكّر: عمق لا كم.</a:t>
            </a:r>
          </a:p>
          <a:p>
            <a:r>
              <a:rPr sz="1200">
                <a:latin typeface="Segoe UI"/>
              </a:rPr>
              <a:t>الختام: اطلب من 2–3 متطوعين عرض مخططهم في دقيقة واحدة لكل منهم.</a:t>
            </a:r>
          </a:p>
          <a:p>
            <a:r>
              <a:rPr sz="1200">
                <a:latin typeface="Segoe UI"/>
              </a:rPr>
              <a:t>في الجلسات عن بُعد: غرف فرعية ثنائية ليتبادلوا المراجعة قبل العرض.</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خطة الأسبوع — 3 دقائق</a:t>
            </a:r>
          </a:p>
          <a:p>
            <a:r>
              <a:rPr sz="1200">
                <a:latin typeface="Segoe UI"/>
              </a:rPr>
              <a:t>الرسالة الأساسية: «درس واحد، هدف واحد، نقطة تمايز واحدة» — هذه الوصفة تجعل البدء ممكنًا للجميع.</a:t>
            </a:r>
          </a:p>
          <a:p>
            <a:r>
              <a:rPr sz="1200">
                <a:latin typeface="Segoe UI"/>
              </a:rPr>
              <a:t>تعليمات: وجّه المشاركين إلى ورقة العمل (10): خطة تطبيق لمدة أسبوع بالبنود الخمسة نفسها.</a:t>
            </a:r>
          </a:p>
          <a:p>
            <a:r>
              <a:rPr sz="1200">
                <a:latin typeface="Segoe UI"/>
              </a:rPr>
              <a:t>سؤال للمشاركين: أي درس من جدول الأسبوع القادم ستختار؟ سمّه الآن بالاسم واليوم — التحديد يرفع الالتزام.</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فاصل الاختبار — 30 ثانية. طمئن المشاركين: الأسئلة مواقف عملية مثل التي تدربنا عليها.</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الاختبار 1 — 3 دقائق</a:t>
            </a:r>
          </a:p>
          <a:p>
            <a:r>
              <a:rPr sz="1200">
                <a:latin typeface="Segoe UI"/>
              </a:rPr>
              <a:t>الإجابات: س1: ب — س2: ب — س3: ج.</a:t>
            </a:r>
          </a:p>
          <a:p>
            <a:r>
              <a:rPr sz="1200">
                <a:latin typeface="Segoe UI"/>
              </a:rPr>
              <a:t>س3 يختبر أهم تمييز في الدورة: الهدف مقابل النشاط.</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الاختبار 2 — 3 دقائق</a:t>
            </a:r>
          </a:p>
          <a:p>
            <a:r>
              <a:rPr sz="1200">
                <a:latin typeface="Segoe UI"/>
              </a:rPr>
              <a:t>الإجابات: س4: ج — س5: ب — س6: ب.</a:t>
            </a:r>
          </a:p>
          <a:p>
            <a:r>
              <a:rPr sz="1200">
                <a:latin typeface="Segoe UI"/>
              </a:rPr>
              <a:t>س6 دقيق ومهم: المواءمة تسقط فقط عندما تمس الهدف المقيس نفسه.</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الاختبار 3 — 3 دقائق</a:t>
            </a:r>
          </a:p>
          <a:p>
            <a:r>
              <a:rPr sz="1200">
                <a:latin typeface="Segoe UI"/>
              </a:rPr>
              <a:t>الإجابات: س7: ج — س8: ج — س9: ب.</a:t>
            </a:r>
          </a:p>
          <a:p>
            <a:r>
              <a:rPr sz="1200">
                <a:latin typeface="Segoe UI"/>
              </a:rPr>
              <a:t>س9 يختبر قاعدة «المسارات ليست مستويات ثابتة» — أهم قاعدة في الوحدة 9.</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الاختبار 4 — 3 دقائق</a:t>
            </a:r>
          </a:p>
          <a:p>
            <a:r>
              <a:rPr sz="1200">
                <a:latin typeface="Segoe UI"/>
              </a:rPr>
              <a:t>الإجابات: س10: ب — س11: ب — س12: ج.</a:t>
            </a:r>
          </a:p>
          <a:p>
            <a:r>
              <a:rPr sz="1200">
                <a:latin typeface="Segoe UI"/>
              </a:rPr>
              <a:t>بعد الانتهاء اعرض شريحة مفتاح الإجابة وناقش الأسئلة الأكثر خطأً.</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مفتاح الإجابة — 3 دقائق</a:t>
            </a:r>
          </a:p>
          <a:p>
            <a:r>
              <a:rPr sz="1200">
                <a:latin typeface="Segoe UI"/>
              </a:rPr>
              <a:t>درجة الاجتياز المقترحة: 80% (10 من 12). من لم يجتز يراجع الوحدات ذات الصلة ويعيد المحاولة — الهدف الفهم لا الرسوب.</a:t>
            </a:r>
          </a:p>
          <a:p>
            <a:r>
              <a:rPr sz="1200">
                <a:latin typeface="Segoe UI"/>
              </a:rPr>
              <a:t>ركز النقاش على س3 وس6 وس9 — فهي الأدق مفاهيميًا.</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التأمل النهائي — 4 دقائق</a:t>
            </a:r>
          </a:p>
          <a:p>
            <a:r>
              <a:rPr sz="1200">
                <a:latin typeface="Segoe UI"/>
              </a:rPr>
              <a:t>تعليمات: كتابة صامتة في ورقة العمل (12). ثم شارك من يرغب إجابته عن السؤال 3 فقط («ماذا سأغير في درسي القادم؟»).</a:t>
            </a:r>
          </a:p>
          <a:p>
            <a:r>
              <a:rPr sz="1200">
                <a:latin typeface="Segoe UI"/>
              </a:rPr>
              <a:t>الرسالة الأساسية: السؤالان 4 و5 هما ما يميز معلمًا يجرب عن معلم يقرر بالأدلة.</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الختام — دقيقة واحدة</a:t>
            </a:r>
          </a:p>
          <a:p>
            <a:r>
              <a:rPr sz="1200">
                <a:latin typeface="Segoe UI"/>
              </a:rPr>
              <a:t>هنّئ المشاركين واقرأ الرسالة الختامية. هذه العبارة بين القوسين هي معيار نجاح الدورة — اقرأها بتمهل.</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الخطوة التالية — دقيقتان</a:t>
            </a:r>
          </a:p>
          <a:p>
            <a:r>
              <a:rPr sz="1200">
                <a:latin typeface="Segoe UI"/>
              </a:rPr>
              <a:t>ما ينبغي شرحه: قدّم الدورة التالية بجملة واحدة، وأشر إلى حزمة دعم المعلم كمورد اختياري — دون شرح تقني للأدوات.</a:t>
            </a:r>
          </a:p>
          <a:p>
            <a:r>
              <a:rPr sz="1200">
                <a:latin typeface="Segoe UI"/>
              </a:rPr>
              <a:t>اختم بتذكير المشاركين بخطة الأسبوع (ورقة العمل 10) وبموعد مراجعتهم لها.</a:t>
            </a:r>
          </a:p>
          <a:p>
            <a:r>
              <a:rPr sz="1200">
                <a:latin typeface="Segoe UI"/>
              </a:rPr>
              <a:t>ملاحظة: إتمام الدورة توعوي مهني ولا يشكل اعتمادًا رسميًا.</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4846320"/>
            <a:ext cx="2926080" cy="2926080"/>
          </a:xfrm>
          <a:prstGeom prst="ellipse">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97280" y="-1280160"/>
            <a:ext cx="2743200" cy="2743200"/>
          </a:xfrm>
          <a:prstGeom prst="ellipse">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837176" y="685800"/>
            <a:ext cx="2514600" cy="77724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400" b="1" i="0">
                <a:solidFill>
                  <a:srgbClr val="FFFFFF"/>
                </a:solidFill>
                <a:latin typeface="Segoe UI"/>
                <a:cs typeface="Segoe UI"/>
              </a:rPr>
              <a:t>MASAR | مسار</a:t>
            </a:r>
          </a:p>
        </p:txBody>
      </p:sp>
      <p:sp>
        <p:nvSpPr>
          <p:cNvPr id="8" name="TextBox 7"/>
          <p:cNvSpPr txBox="1"/>
          <p:nvPr/>
        </p:nvSpPr>
        <p:spPr>
          <a:xfrm>
            <a:off x="822960" y="1828800"/>
            <a:ext cx="10515600" cy="2377440"/>
          </a:xfrm>
          <a:prstGeom prst="rect">
            <a:avLst/>
          </a:prstGeom>
          <a:noFill/>
        </p:spPr>
        <p:txBody>
          <a:bodyPr wrap="square" anchor="ctr" lIns="50800" rIns="50800" tIns="25400" bIns="25400">
            <a:spAutoFit/>
          </a:bodyPr>
          <a:lstStyle/>
          <a:p>
            <a:pPr algn="ctr" rtl="1">
              <a:spcBef>
                <a:spcPts val="400"/>
              </a:spcBef>
              <a:spcAft>
                <a:spcPts val="400"/>
              </a:spcAft>
            </a:pPr>
            <a:r>
              <a:rPr sz="5200" b="1" i="0">
                <a:solidFill>
                  <a:srgbClr val="FFFFFF"/>
                </a:solidFill>
                <a:latin typeface="Segoe UI"/>
                <a:cs typeface="Segoe UI"/>
              </a:rPr>
              <a:t>الصف المتمايز</a:t>
            </a:r>
          </a:p>
          <a:p>
            <a:pPr algn="ctr" rtl="1">
              <a:spcBef>
                <a:spcPts val="600"/>
              </a:spcBef>
              <a:spcAft>
                <a:spcPts val="400"/>
              </a:spcAft>
            </a:pPr>
            <a:r>
              <a:rPr sz="2400" b="1" i="0">
                <a:solidFill>
                  <a:srgbClr val="C9A227"/>
                </a:solidFill>
                <a:latin typeface="Segoe UI"/>
                <a:cs typeface="Segoe UI"/>
              </a:rPr>
              <a:t>التعليم المتمايز داخل الصف</a:t>
            </a:r>
          </a:p>
          <a:p>
            <a:pPr algn="ctr" rtl="1">
              <a:spcBef>
                <a:spcPts val="400"/>
              </a:spcBef>
              <a:spcAft>
                <a:spcPts val="400"/>
              </a:spcAft>
            </a:pPr>
            <a:r>
              <a:rPr sz="1600" b="0" i="0">
                <a:solidFill>
                  <a:srgbClr val="E4F6F6"/>
                </a:solidFill>
                <a:latin typeface="Segoe UI"/>
                <a:cs typeface="Segoe UI"/>
              </a:rPr>
              <a:t>(The Differentiated Classroom)</a:t>
            </a:r>
          </a:p>
        </p:txBody>
      </p:sp>
      <p:sp>
        <p:nvSpPr>
          <p:cNvPr id="9" name="Rounded Rectangle 8"/>
          <p:cNvSpPr/>
          <p:nvPr/>
        </p:nvSpPr>
        <p:spPr>
          <a:xfrm>
            <a:off x="2194560" y="4434840"/>
            <a:ext cx="7772400" cy="64008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162B6B"/>
                </a:solidFill>
                <a:latin typeface="Segoe UI"/>
                <a:cs typeface="Segoe UI"/>
              </a:rPr>
              <a:t>الدورة التدريبية الثانية — منظومة مسار للتعليم الشامل</a:t>
            </a:r>
          </a:p>
        </p:txBody>
      </p:sp>
      <p:sp>
        <p:nvSpPr>
          <p:cNvPr id="10" name="TextBox 9"/>
          <p:cNvSpPr txBox="1"/>
          <p:nvPr/>
        </p:nvSpPr>
        <p:spPr>
          <a:xfrm>
            <a:off x="822960" y="5349240"/>
            <a:ext cx="10515600" cy="1097280"/>
          </a:xfrm>
          <a:prstGeom prst="rect">
            <a:avLst/>
          </a:prstGeom>
          <a:noFill/>
        </p:spPr>
        <p:txBody>
          <a:bodyPr wrap="square" anchor="t" lIns="50800" rIns="50800" tIns="25400" bIns="25400">
            <a:spAutoFit/>
          </a:bodyPr>
          <a:lstStyle/>
          <a:p>
            <a:pPr algn="ctr" rtl="1">
              <a:spcBef>
                <a:spcPts val="400"/>
              </a:spcBef>
              <a:spcAft>
                <a:spcPts val="400"/>
              </a:spcAft>
            </a:pPr>
            <a:r>
              <a:rPr sz="1700" b="0" i="0">
                <a:solidFill>
                  <a:srgbClr val="FFFFFF"/>
                </a:solidFill>
                <a:latin typeface="Segoe UI"/>
                <a:cs typeface="Segoe UI"/>
              </a:rPr>
              <a:t>دورة عملية للمعلمين والمعلمات والعاملين داخل الصفوف الدراسية</a:t>
            </a:r>
          </a:p>
          <a:p>
            <a:pPr algn="ctr" rtl="1">
              <a:spcBef>
                <a:spcPts val="200"/>
              </a:spcBef>
              <a:spcAft>
                <a:spcPts val="400"/>
              </a:spcAft>
            </a:pPr>
            <a:r>
              <a:rPr sz="1500" b="0" i="0">
                <a:solidFill>
                  <a:srgbClr val="E4F6F6"/>
                </a:solidFill>
                <a:latin typeface="Segoe UI"/>
                <a:cs typeface="Segoe UI"/>
              </a:rPr>
              <a:t>المدة: 60–90 دقيقة  |  يمكن إكمالها على مراحل قصيرة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مقدمة</a:t>
            </a:r>
          </a:p>
          <a:p>
            <a:pPr algn="r" rtl="1">
              <a:spcBef>
                <a:spcPts val="0"/>
              </a:spcBef>
              <a:spcAft>
                <a:spcPts val="0"/>
              </a:spcAft>
            </a:pPr>
            <a:r>
              <a:rPr sz="2800" b="1" i="0">
                <a:solidFill>
                  <a:srgbClr val="FFFFFF"/>
                </a:solidFill>
                <a:latin typeface="Segoe UI"/>
                <a:cs typeface="Segoe UI"/>
              </a:rPr>
              <a:t>من أين تبدأ هذه الدورة؟</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a:t>
            </a:r>
          </a:p>
        </p:txBody>
      </p:sp>
      <p:sp>
        <p:nvSpPr>
          <p:cNvPr id="9" name="TextBox 8"/>
          <p:cNvSpPr txBox="1"/>
          <p:nvPr/>
        </p:nvSpPr>
        <p:spPr>
          <a:xfrm>
            <a:off x="502920" y="1371600"/>
            <a:ext cx="11183112" cy="1737360"/>
          </a:xfrm>
          <a:prstGeom prst="rect">
            <a:avLst/>
          </a:prstGeom>
          <a:noFill/>
        </p:spPr>
        <p:txBody>
          <a:bodyPr wrap="square" anchor="t" lIns="50800" rIns="50800" tIns="25400" bIns="25400">
            <a:spAutoFit/>
          </a:bodyPr>
          <a:lstStyle/>
          <a:p>
            <a:pPr algn="r" rtl="1">
              <a:spcBef>
                <a:spcPts val="400"/>
              </a:spcBef>
              <a:spcAft>
                <a:spcPts val="400"/>
              </a:spcAft>
            </a:pPr>
            <a:r>
              <a:rPr sz="1700" b="0" i="0">
                <a:solidFill>
                  <a:srgbClr val="2B2F38"/>
                </a:solidFill>
                <a:latin typeface="Segoe UI"/>
                <a:cs typeface="Segoe UI"/>
              </a:rPr>
              <a:t>في الدورة الأولى تعلمنا أن تنوع المتعلمين سمة طبيعية لكل صف، وأن المدرسة الشاملة تخطط لهذا التنوع بدل أن تتفاجأ به.</a:t>
            </a:r>
          </a:p>
          <a:p>
            <a:pPr algn="r" rtl="1">
              <a:spcBef>
                <a:spcPts val="600"/>
              </a:spcBef>
              <a:spcAft>
                <a:spcPts val="400"/>
              </a:spcAft>
            </a:pPr>
            <a:r>
              <a:rPr sz="1700" b="1" i="0">
                <a:solidFill>
                  <a:srgbClr val="1F3A93"/>
                </a:solidFill>
                <a:latin typeface="Segoe UI"/>
                <a:cs typeface="Segoe UI"/>
              </a:rPr>
              <a:t>هذه الدورة تجيب عن السؤال التالي مباشرة:</a:t>
            </a:r>
          </a:p>
        </p:txBody>
      </p:sp>
      <p:sp>
        <p:nvSpPr>
          <p:cNvPr id="10" name="Rounded Rectangle 9"/>
          <p:cNvSpPr/>
          <p:nvPr/>
        </p:nvSpPr>
        <p:spPr>
          <a:xfrm>
            <a:off x="1371600" y="3063240"/>
            <a:ext cx="9418320" cy="10058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200" b="1" i="0">
                <a:solidFill>
                  <a:srgbClr val="1F3A93"/>
                </a:solidFill>
                <a:latin typeface="Segoe UI"/>
                <a:cs typeface="Segoe UI"/>
              </a:rPr>
              <a:t>حسنًا، طلابي مختلفون... فكيف أستجيب لهذا الاختلاف داخل درسي؟</a:t>
            </a:r>
          </a:p>
        </p:txBody>
      </p:sp>
      <p:sp>
        <p:nvSpPr>
          <p:cNvPr id="11" name="Rounded Rectangle 10"/>
          <p:cNvSpPr/>
          <p:nvPr/>
        </p:nvSpPr>
        <p:spPr>
          <a:xfrm>
            <a:off x="8074152" y="4343400"/>
            <a:ext cx="3602736" cy="19202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300"/>
              </a:spcAft>
            </a:pPr>
            <a:r>
              <a:rPr sz="1650" b="1" i="0">
                <a:solidFill>
                  <a:srgbClr val="1F3A93"/>
                </a:solidFill>
                <a:latin typeface="Segoe UI"/>
                <a:cs typeface="Segoe UI"/>
              </a:rPr>
              <a:t>لمن هذه الدورة؟</a:t>
            </a:r>
          </a:p>
          <a:p>
            <a:pPr algn="r" rtl="1">
              <a:spcBef>
                <a:spcPts val="200"/>
              </a:spcBef>
              <a:spcAft>
                <a:spcPts val="200"/>
              </a:spcAft>
            </a:pPr>
            <a:r>
              <a:rPr sz="1300" b="0" i="0">
                <a:solidFill>
                  <a:srgbClr val="2B2F38"/>
                </a:solidFill>
                <a:latin typeface="Segoe UI"/>
                <a:cs typeface="Segoe UI"/>
              </a:rPr>
              <a:t>للمعلمين والمعلمات في رياض الأطفال والتعليم الأساسي، في المدارس العامة والخاصة — لا تشترط تخصصًا في التربية الخاصة</a:t>
            </a:r>
          </a:p>
        </p:txBody>
      </p:sp>
      <p:sp>
        <p:nvSpPr>
          <p:cNvPr id="12" name="Rounded Rectangle 11"/>
          <p:cNvSpPr/>
          <p:nvPr/>
        </p:nvSpPr>
        <p:spPr>
          <a:xfrm>
            <a:off x="4288536" y="4343400"/>
            <a:ext cx="3602736" cy="19202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300"/>
              </a:spcAft>
            </a:pPr>
            <a:r>
              <a:rPr sz="1650" b="1" i="0">
                <a:solidFill>
                  <a:srgbClr val="1F3A93"/>
                </a:solidFill>
                <a:latin typeface="Segoe UI"/>
                <a:cs typeface="Segoe UI"/>
              </a:rPr>
              <a:t>ماذا ستخرج به؟</a:t>
            </a:r>
          </a:p>
          <a:p>
            <a:pPr algn="r" rtl="1">
              <a:spcBef>
                <a:spcPts val="200"/>
              </a:spcBef>
              <a:spcAft>
                <a:spcPts val="200"/>
              </a:spcAft>
            </a:pPr>
            <a:r>
              <a:rPr sz="1300" b="0" i="0">
                <a:solidFill>
                  <a:srgbClr val="2B2F38"/>
                </a:solidFill>
                <a:latin typeface="Segoe UI"/>
                <a:cs typeface="Segoe UI"/>
              </a:rPr>
              <a:t>طريقة عملية لأخذ درس عادي وجعله مرنًا: هدف واضح، مسارات مناسبة، أدلة، وقرار</a:t>
            </a:r>
          </a:p>
        </p:txBody>
      </p:sp>
      <p:sp>
        <p:nvSpPr>
          <p:cNvPr id="13" name="Rounded Rectangle 12"/>
          <p:cNvSpPr/>
          <p:nvPr/>
        </p:nvSpPr>
        <p:spPr>
          <a:xfrm>
            <a:off x="502920" y="4343400"/>
            <a:ext cx="3602736" cy="19202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300"/>
              </a:spcAft>
            </a:pPr>
            <a:r>
              <a:rPr sz="1650" b="1" i="0">
                <a:solidFill>
                  <a:srgbClr val="1F3A93"/>
                </a:solidFill>
                <a:latin typeface="Segoe UI"/>
                <a:cs typeface="Segoe UI"/>
              </a:rPr>
              <a:t>كيف سنعمل؟</a:t>
            </a:r>
          </a:p>
          <a:p>
            <a:pPr algn="r" rtl="1">
              <a:spcBef>
                <a:spcPts val="200"/>
              </a:spcBef>
              <a:spcAft>
                <a:spcPts val="200"/>
              </a:spcAft>
            </a:pPr>
            <a:r>
              <a:rPr sz="1300" b="0" i="0">
                <a:solidFill>
                  <a:srgbClr val="2B2F38"/>
                </a:solidFill>
                <a:latin typeface="Segoe UI"/>
                <a:cs typeface="Segoe UI"/>
              </a:rPr>
              <a:t>شرح قصير، أمثلة صفية حقيقية، درس كامل متمايز، حالة صفية، ثم مهمة تطبيقية تصممها بنفسك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أهداف التعلم</a:t>
            </a:r>
          </a:p>
          <a:p>
            <a:pPr algn="r" rtl="1">
              <a:spcBef>
                <a:spcPts val="0"/>
              </a:spcBef>
              <a:spcAft>
                <a:spcPts val="0"/>
              </a:spcAft>
            </a:pPr>
            <a:r>
              <a:rPr sz="2800" b="1" i="0">
                <a:solidFill>
                  <a:srgbClr val="FFFFFF"/>
                </a:solidFill>
                <a:latin typeface="Segoe UI"/>
                <a:cs typeface="Segoe UI"/>
              </a:rPr>
              <a:t>ماذا ستستطيع أن تفعل في نهاية الدورة؟</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a:t>
            </a:r>
          </a:p>
        </p:txBody>
      </p:sp>
      <p:sp>
        <p:nvSpPr>
          <p:cNvPr id="9" name="Rounded Rectangle 8"/>
          <p:cNvSpPr/>
          <p:nvPr/>
        </p:nvSpPr>
        <p:spPr>
          <a:xfrm>
            <a:off x="6190488" y="1298448"/>
            <a:ext cx="5486400" cy="932688"/>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450" b="1" i="0">
                <a:solidFill>
                  <a:srgbClr val="C9A227"/>
                </a:solidFill>
                <a:latin typeface="Segoe UI"/>
                <a:cs typeface="Segoe UI"/>
              </a:rPr>
              <a:t>1. </a:t>
            </a:r>
            <a:r>
              <a:rPr sz="1400" b="0" i="0">
                <a:solidFill>
                  <a:srgbClr val="2B2F38"/>
                </a:solidFill>
                <a:latin typeface="Segoe UI"/>
                <a:cs typeface="Segoe UI"/>
              </a:rPr>
              <a:t>تشرح مفهوم التعليم المتمايز بلغة عملية</a:t>
            </a:r>
          </a:p>
        </p:txBody>
      </p:sp>
      <p:sp>
        <p:nvSpPr>
          <p:cNvPr id="10" name="Rounded Rectangle 9"/>
          <p:cNvSpPr/>
          <p:nvPr/>
        </p:nvSpPr>
        <p:spPr>
          <a:xfrm>
            <a:off x="502920" y="1298448"/>
            <a:ext cx="5486400" cy="932688"/>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450" b="1" i="0">
                <a:solidFill>
                  <a:srgbClr val="C9A227"/>
                </a:solidFill>
                <a:latin typeface="Segoe UI"/>
                <a:cs typeface="Segoe UI"/>
              </a:rPr>
              <a:t>2. </a:t>
            </a:r>
            <a:r>
              <a:rPr sz="1400" b="0" i="0">
                <a:solidFill>
                  <a:srgbClr val="2B2F38"/>
                </a:solidFill>
                <a:latin typeface="Segoe UI"/>
                <a:cs typeface="Segoe UI"/>
              </a:rPr>
              <a:t>تتعرف على اختلافات المتعلمين المؤثرة في تعلمهم</a:t>
            </a:r>
          </a:p>
        </p:txBody>
      </p:sp>
      <p:sp>
        <p:nvSpPr>
          <p:cNvPr id="11" name="Rounded Rectangle 10"/>
          <p:cNvSpPr/>
          <p:nvPr/>
        </p:nvSpPr>
        <p:spPr>
          <a:xfrm>
            <a:off x="6190488" y="2331720"/>
            <a:ext cx="5486400" cy="932688"/>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450" b="1" i="0">
                <a:solidFill>
                  <a:srgbClr val="C9A227"/>
                </a:solidFill>
                <a:latin typeface="Segoe UI"/>
                <a:cs typeface="Segoe UI"/>
              </a:rPr>
              <a:t>3. </a:t>
            </a:r>
            <a:r>
              <a:rPr sz="1400" b="0" i="0">
                <a:solidFill>
                  <a:srgbClr val="2B2F38"/>
                </a:solidFill>
                <a:latin typeface="Segoe UI"/>
                <a:cs typeface="Segoe UI"/>
              </a:rPr>
              <a:t>تحدد العوائق التي قد تمنع بعض الطلاب من الوصول إلى التعلم</a:t>
            </a:r>
          </a:p>
        </p:txBody>
      </p:sp>
      <p:sp>
        <p:nvSpPr>
          <p:cNvPr id="12" name="Rounded Rectangle 11"/>
          <p:cNvSpPr/>
          <p:nvPr/>
        </p:nvSpPr>
        <p:spPr>
          <a:xfrm>
            <a:off x="502920" y="2331720"/>
            <a:ext cx="5486400" cy="932688"/>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450" b="1" i="0">
                <a:solidFill>
                  <a:srgbClr val="C9A227"/>
                </a:solidFill>
                <a:latin typeface="Segoe UI"/>
                <a:cs typeface="Segoe UI"/>
              </a:rPr>
              <a:t>4. </a:t>
            </a:r>
            <a:r>
              <a:rPr sz="1400" b="0" i="0">
                <a:solidFill>
                  <a:srgbClr val="2B2F38"/>
                </a:solidFill>
                <a:latin typeface="Segoe UI"/>
                <a:cs typeface="Segoe UI"/>
              </a:rPr>
              <a:t>تميز بين ما يمكن تنويعه: المحتوى، وطريقة التعلم، وناتج التعلم، وبيئة التعلم</a:t>
            </a:r>
          </a:p>
        </p:txBody>
      </p:sp>
      <p:sp>
        <p:nvSpPr>
          <p:cNvPr id="13" name="Rounded Rectangle 12"/>
          <p:cNvSpPr/>
          <p:nvPr/>
        </p:nvSpPr>
        <p:spPr>
          <a:xfrm>
            <a:off x="6190488" y="3364992"/>
            <a:ext cx="5486400" cy="932688"/>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450" b="1" i="0">
                <a:solidFill>
                  <a:srgbClr val="C9A227"/>
                </a:solidFill>
                <a:latin typeface="Segoe UI"/>
                <a:cs typeface="Segoe UI"/>
              </a:rPr>
              <a:t>5. </a:t>
            </a:r>
            <a:r>
              <a:rPr sz="1400" b="0" i="0">
                <a:solidFill>
                  <a:srgbClr val="2B2F38"/>
                </a:solidFill>
                <a:latin typeface="Segoe UI"/>
                <a:cs typeface="Segoe UI"/>
              </a:rPr>
              <a:t>تستخدم التجميع المرن بطريقة مناسبة</a:t>
            </a:r>
          </a:p>
        </p:txBody>
      </p:sp>
      <p:sp>
        <p:nvSpPr>
          <p:cNvPr id="14" name="Rounded Rectangle 13"/>
          <p:cNvSpPr/>
          <p:nvPr/>
        </p:nvSpPr>
        <p:spPr>
          <a:xfrm>
            <a:off x="502920" y="3364992"/>
            <a:ext cx="5486400" cy="932688"/>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450" b="1" i="0">
                <a:solidFill>
                  <a:srgbClr val="C9A227"/>
                </a:solidFill>
                <a:latin typeface="Segoe UI"/>
                <a:cs typeface="Segoe UI"/>
              </a:rPr>
              <a:t>6. </a:t>
            </a:r>
            <a:r>
              <a:rPr sz="1400" b="0" i="0">
                <a:solidFill>
                  <a:srgbClr val="2B2F38"/>
                </a:solidFill>
                <a:latin typeface="Segoe UI"/>
                <a:cs typeface="Segoe UI"/>
              </a:rPr>
              <a:t>تقدم مستويات دعم مختلفة دون خفض التوقعات</a:t>
            </a:r>
          </a:p>
        </p:txBody>
      </p:sp>
      <p:sp>
        <p:nvSpPr>
          <p:cNvPr id="15" name="Rounded Rectangle 14"/>
          <p:cNvSpPr/>
          <p:nvPr/>
        </p:nvSpPr>
        <p:spPr>
          <a:xfrm>
            <a:off x="6190488" y="4398264"/>
            <a:ext cx="5486400" cy="932688"/>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450" b="1" i="0">
                <a:solidFill>
                  <a:srgbClr val="C9A227"/>
                </a:solidFill>
                <a:latin typeface="Segoe UI"/>
                <a:cs typeface="Segoe UI"/>
              </a:rPr>
              <a:t>7. </a:t>
            </a:r>
            <a:r>
              <a:rPr sz="1400" b="0" i="0">
                <a:solidFill>
                  <a:srgbClr val="2B2F38"/>
                </a:solidFill>
                <a:latin typeface="Segoe UI"/>
                <a:cs typeface="Segoe UI"/>
              </a:rPr>
              <a:t>تستخدم التقييم التكويني لمعرفة ما يحتاجه طلابك بعد ذلك</a:t>
            </a:r>
          </a:p>
        </p:txBody>
      </p:sp>
      <p:sp>
        <p:nvSpPr>
          <p:cNvPr id="16" name="Rounded Rectangle 15"/>
          <p:cNvSpPr/>
          <p:nvPr/>
        </p:nvSpPr>
        <p:spPr>
          <a:xfrm>
            <a:off x="502920" y="4398264"/>
            <a:ext cx="5486400" cy="932688"/>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450" b="1" i="0">
                <a:solidFill>
                  <a:srgbClr val="C9A227"/>
                </a:solidFill>
                <a:latin typeface="Segoe UI"/>
                <a:cs typeface="Segoe UI"/>
              </a:rPr>
              <a:t>8. </a:t>
            </a:r>
            <a:r>
              <a:rPr sz="1400" b="0" i="0">
                <a:solidFill>
                  <a:srgbClr val="2B2F38"/>
                </a:solidFill>
                <a:latin typeface="Segoe UI"/>
                <a:cs typeface="Segoe UI"/>
              </a:rPr>
              <a:t>تصمم نشاطًا صفيًا متمايزًا بسيطًا</a:t>
            </a:r>
          </a:p>
        </p:txBody>
      </p:sp>
      <p:sp>
        <p:nvSpPr>
          <p:cNvPr id="17" name="Rounded Rectangle 16"/>
          <p:cNvSpPr/>
          <p:nvPr/>
        </p:nvSpPr>
        <p:spPr>
          <a:xfrm>
            <a:off x="6190488" y="5431536"/>
            <a:ext cx="5486400" cy="932688"/>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450" b="1" i="0">
                <a:solidFill>
                  <a:srgbClr val="C9A227"/>
                </a:solidFill>
                <a:latin typeface="Segoe UI"/>
                <a:cs typeface="Segoe UI"/>
              </a:rPr>
              <a:t>9. </a:t>
            </a:r>
            <a:r>
              <a:rPr sz="1400" b="0" i="0">
                <a:solidFill>
                  <a:srgbClr val="2B2F38"/>
                </a:solidFill>
                <a:latin typeface="Segoe UI"/>
                <a:cs typeface="Segoe UI"/>
              </a:rPr>
              <a:t>تتابع أثر التمايز على تعلم الطلاب</a:t>
            </a:r>
          </a:p>
        </p:txBody>
      </p:sp>
      <p:sp>
        <p:nvSpPr>
          <p:cNvPr id="18" name="Rounded Rectangle 17"/>
          <p:cNvSpPr/>
          <p:nvPr/>
        </p:nvSpPr>
        <p:spPr>
          <a:xfrm>
            <a:off x="502920" y="5431536"/>
            <a:ext cx="5486400" cy="932688"/>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450" b="1" i="0">
                <a:solidFill>
                  <a:srgbClr val="C9A227"/>
                </a:solidFill>
                <a:latin typeface="Segoe UI"/>
                <a:cs typeface="Segoe UI"/>
              </a:rPr>
              <a:t>10. </a:t>
            </a:r>
            <a:r>
              <a:rPr sz="1400" b="0" i="0">
                <a:solidFill>
                  <a:srgbClr val="2B2F38"/>
                </a:solidFill>
                <a:latin typeface="Segoe UI"/>
                <a:cs typeface="Segoe UI"/>
              </a:rPr>
              <a:t>تقرر الاستمرار أو التعديل بناءً على الأدلة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خريطة الدورة</a:t>
            </a:r>
          </a:p>
          <a:p>
            <a:pPr algn="r" rtl="1">
              <a:spcBef>
                <a:spcPts val="0"/>
              </a:spcBef>
              <a:spcAft>
                <a:spcPts val="0"/>
              </a:spcAft>
            </a:pPr>
            <a:r>
              <a:rPr sz="2800" b="1" i="0">
                <a:solidFill>
                  <a:srgbClr val="FFFFFF"/>
                </a:solidFill>
                <a:latin typeface="Segoe UI"/>
                <a:cs typeface="Segoe UI"/>
              </a:rPr>
              <a:t>المسار العملي الذي سنسير فيه</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a:t>
            </a:r>
          </a:p>
        </p:txBody>
      </p:sp>
      <p:sp>
        <p:nvSpPr>
          <p:cNvPr id="9" name="Oval 8"/>
          <p:cNvSpPr/>
          <p:nvPr/>
        </p:nvSpPr>
        <p:spPr>
          <a:xfrm>
            <a:off x="10457535" y="1600200"/>
            <a:ext cx="694944" cy="694944"/>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000" b="1" i="0">
                <a:solidFill>
                  <a:srgbClr val="FFFFFF"/>
                </a:solidFill>
                <a:latin typeface="Segoe UI"/>
                <a:cs typeface="Segoe UI"/>
              </a:rPr>
              <a:t>1</a:t>
            </a:r>
          </a:p>
        </p:txBody>
      </p:sp>
      <p:sp>
        <p:nvSpPr>
          <p:cNvPr id="10" name="Rounded Rectangle 9"/>
          <p:cNvSpPr/>
          <p:nvPr/>
        </p:nvSpPr>
        <p:spPr>
          <a:xfrm>
            <a:off x="9927183" y="2514600"/>
            <a:ext cx="1755648" cy="15544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500" b="1" i="0">
                <a:solidFill>
                  <a:srgbClr val="1F3A93"/>
                </a:solidFill>
                <a:latin typeface="Segoe UI"/>
                <a:cs typeface="Segoe UI"/>
              </a:rPr>
              <a:t>افهم</a:t>
            </a:r>
          </a:p>
          <a:p>
            <a:pPr algn="ctr" rtl="1">
              <a:spcBef>
                <a:spcPts val="200"/>
              </a:spcBef>
              <a:spcAft>
                <a:spcPts val="200"/>
              </a:spcAft>
            </a:pPr>
            <a:r>
              <a:rPr sz="1150" b="0" i="0">
                <a:solidFill>
                  <a:srgbClr val="2B2F38"/>
                </a:solidFill>
                <a:latin typeface="Segoe UI"/>
                <a:cs typeface="Segoe UI"/>
              </a:rPr>
              <a:t>اختلافات المتعلمين</a:t>
            </a:r>
          </a:p>
        </p:txBody>
      </p:sp>
      <p:sp>
        <p:nvSpPr>
          <p:cNvPr id="11" name="Left Arrow 10"/>
          <p:cNvSpPr/>
          <p:nvPr/>
        </p:nvSpPr>
        <p:spPr>
          <a:xfrm>
            <a:off x="9799167" y="1828800"/>
            <a:ext cx="128016" cy="256032"/>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73871" y="1600200"/>
            <a:ext cx="694944" cy="694944"/>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000" b="1" i="0">
                <a:solidFill>
                  <a:srgbClr val="FFFFFF"/>
                </a:solidFill>
                <a:latin typeface="Segoe UI"/>
                <a:cs typeface="Segoe UI"/>
              </a:rPr>
              <a:t>2</a:t>
            </a:r>
          </a:p>
        </p:txBody>
      </p:sp>
      <p:sp>
        <p:nvSpPr>
          <p:cNvPr id="13" name="Rounded Rectangle 12"/>
          <p:cNvSpPr/>
          <p:nvPr/>
        </p:nvSpPr>
        <p:spPr>
          <a:xfrm>
            <a:off x="8043519" y="2514600"/>
            <a:ext cx="1755648" cy="15544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500" b="1" i="0">
                <a:solidFill>
                  <a:srgbClr val="1F3A93"/>
                </a:solidFill>
                <a:latin typeface="Segoe UI"/>
                <a:cs typeface="Segoe UI"/>
              </a:rPr>
              <a:t>حدد</a:t>
            </a:r>
          </a:p>
          <a:p>
            <a:pPr algn="ctr" rtl="1">
              <a:spcBef>
                <a:spcPts val="200"/>
              </a:spcBef>
              <a:spcAft>
                <a:spcPts val="200"/>
              </a:spcAft>
            </a:pPr>
            <a:r>
              <a:rPr sz="1150" b="0" i="0">
                <a:solidFill>
                  <a:srgbClr val="2B2F38"/>
                </a:solidFill>
                <a:latin typeface="Segoe UI"/>
                <a:cs typeface="Segoe UI"/>
              </a:rPr>
              <a:t>الهدف التعلمي</a:t>
            </a:r>
          </a:p>
        </p:txBody>
      </p:sp>
      <p:sp>
        <p:nvSpPr>
          <p:cNvPr id="14" name="Left Arrow 13"/>
          <p:cNvSpPr/>
          <p:nvPr/>
        </p:nvSpPr>
        <p:spPr>
          <a:xfrm>
            <a:off x="7915503" y="1828800"/>
            <a:ext cx="128016" cy="256032"/>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690207" y="1600200"/>
            <a:ext cx="694944" cy="694944"/>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000" b="1" i="0">
                <a:solidFill>
                  <a:srgbClr val="FFFFFF"/>
                </a:solidFill>
                <a:latin typeface="Segoe UI"/>
                <a:cs typeface="Segoe UI"/>
              </a:rPr>
              <a:t>3</a:t>
            </a:r>
          </a:p>
        </p:txBody>
      </p:sp>
      <p:sp>
        <p:nvSpPr>
          <p:cNvPr id="16" name="Rounded Rectangle 15"/>
          <p:cNvSpPr/>
          <p:nvPr/>
        </p:nvSpPr>
        <p:spPr>
          <a:xfrm>
            <a:off x="6159855" y="2514600"/>
            <a:ext cx="1755648" cy="15544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500" b="1" i="0">
                <a:solidFill>
                  <a:srgbClr val="1F3A93"/>
                </a:solidFill>
                <a:latin typeface="Segoe UI"/>
                <a:cs typeface="Segoe UI"/>
              </a:rPr>
              <a:t>خطط</a:t>
            </a:r>
          </a:p>
          <a:p>
            <a:pPr algn="ctr" rtl="1">
              <a:spcBef>
                <a:spcPts val="200"/>
              </a:spcBef>
              <a:spcAft>
                <a:spcPts val="200"/>
              </a:spcAft>
            </a:pPr>
            <a:r>
              <a:rPr sz="1150" b="0" i="0">
                <a:solidFill>
                  <a:srgbClr val="2B2F38"/>
                </a:solidFill>
                <a:latin typeface="Segoe UI"/>
                <a:cs typeface="Segoe UI"/>
              </a:rPr>
              <a:t>لاستجابات مختلفة</a:t>
            </a:r>
          </a:p>
        </p:txBody>
      </p:sp>
      <p:sp>
        <p:nvSpPr>
          <p:cNvPr id="17" name="Left Arrow 16"/>
          <p:cNvSpPr/>
          <p:nvPr/>
        </p:nvSpPr>
        <p:spPr>
          <a:xfrm>
            <a:off x="6031839" y="1828800"/>
            <a:ext cx="128016" cy="256032"/>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806543" y="1600200"/>
            <a:ext cx="694944" cy="694944"/>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000" b="1" i="0">
                <a:solidFill>
                  <a:srgbClr val="FFFFFF"/>
                </a:solidFill>
                <a:latin typeface="Segoe UI"/>
                <a:cs typeface="Segoe UI"/>
              </a:rPr>
              <a:t>4</a:t>
            </a:r>
          </a:p>
        </p:txBody>
      </p:sp>
      <p:sp>
        <p:nvSpPr>
          <p:cNvPr id="19" name="Rounded Rectangle 18"/>
          <p:cNvSpPr/>
          <p:nvPr/>
        </p:nvSpPr>
        <p:spPr>
          <a:xfrm>
            <a:off x="4276191" y="2514600"/>
            <a:ext cx="1755648" cy="15544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500" b="1" i="0">
                <a:solidFill>
                  <a:srgbClr val="1F3A93"/>
                </a:solidFill>
                <a:latin typeface="Segoe UI"/>
                <a:cs typeface="Segoe UI"/>
              </a:rPr>
              <a:t>نفذ</a:t>
            </a:r>
          </a:p>
          <a:p>
            <a:pPr algn="ctr" rtl="1">
              <a:spcBef>
                <a:spcPts val="200"/>
              </a:spcBef>
              <a:spcAft>
                <a:spcPts val="200"/>
              </a:spcAft>
            </a:pPr>
            <a:r>
              <a:rPr sz="1150" b="0" i="0">
                <a:solidFill>
                  <a:srgbClr val="2B2F38"/>
                </a:solidFill>
                <a:latin typeface="Segoe UI"/>
                <a:cs typeface="Segoe UI"/>
              </a:rPr>
              <a:t>التعليم المتمايز</a:t>
            </a:r>
          </a:p>
        </p:txBody>
      </p:sp>
      <p:sp>
        <p:nvSpPr>
          <p:cNvPr id="20" name="Left Arrow 19"/>
          <p:cNvSpPr/>
          <p:nvPr/>
        </p:nvSpPr>
        <p:spPr>
          <a:xfrm>
            <a:off x="4148175" y="1828800"/>
            <a:ext cx="128016" cy="256032"/>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922879" y="1600200"/>
            <a:ext cx="694944" cy="694944"/>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000" b="1" i="0">
                <a:solidFill>
                  <a:srgbClr val="162B6B"/>
                </a:solidFill>
                <a:latin typeface="Segoe UI"/>
                <a:cs typeface="Segoe UI"/>
              </a:rPr>
              <a:t>5</a:t>
            </a:r>
          </a:p>
        </p:txBody>
      </p:sp>
      <p:sp>
        <p:nvSpPr>
          <p:cNvPr id="22" name="Rounded Rectangle 21"/>
          <p:cNvSpPr/>
          <p:nvPr/>
        </p:nvSpPr>
        <p:spPr>
          <a:xfrm>
            <a:off x="2392527" y="2514600"/>
            <a:ext cx="1755648" cy="155448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500" b="1" i="0">
                <a:solidFill>
                  <a:srgbClr val="1F3A93"/>
                </a:solidFill>
                <a:latin typeface="Segoe UI"/>
                <a:cs typeface="Segoe UI"/>
              </a:rPr>
              <a:t>لاحظ واجمع</a:t>
            </a:r>
          </a:p>
          <a:p>
            <a:pPr algn="ctr" rtl="1">
              <a:spcBef>
                <a:spcPts val="200"/>
              </a:spcBef>
              <a:spcAft>
                <a:spcPts val="200"/>
              </a:spcAft>
            </a:pPr>
            <a:r>
              <a:rPr sz="1150" b="0" i="0">
                <a:solidFill>
                  <a:srgbClr val="2B2F38"/>
                </a:solidFill>
                <a:latin typeface="Segoe UI"/>
                <a:cs typeface="Segoe UI"/>
              </a:rPr>
              <a:t>الأدلة على التعلم</a:t>
            </a:r>
          </a:p>
        </p:txBody>
      </p:sp>
      <p:sp>
        <p:nvSpPr>
          <p:cNvPr id="23" name="Left Arrow 22"/>
          <p:cNvSpPr/>
          <p:nvPr/>
        </p:nvSpPr>
        <p:spPr>
          <a:xfrm>
            <a:off x="2264511" y="1828800"/>
            <a:ext cx="128016" cy="256032"/>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9215" y="1600200"/>
            <a:ext cx="694944" cy="694944"/>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000" b="1" i="0">
                <a:solidFill>
                  <a:srgbClr val="FFFFFF"/>
                </a:solidFill>
                <a:latin typeface="Segoe UI"/>
                <a:cs typeface="Segoe UI"/>
              </a:rPr>
              <a:t>6</a:t>
            </a:r>
          </a:p>
        </p:txBody>
      </p:sp>
      <p:sp>
        <p:nvSpPr>
          <p:cNvPr id="25" name="Rounded Rectangle 24"/>
          <p:cNvSpPr/>
          <p:nvPr/>
        </p:nvSpPr>
        <p:spPr>
          <a:xfrm>
            <a:off x="508863" y="2514600"/>
            <a:ext cx="1755648" cy="15544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500" b="1" i="0">
                <a:solidFill>
                  <a:srgbClr val="1F3A93"/>
                </a:solidFill>
                <a:latin typeface="Segoe UI"/>
                <a:cs typeface="Segoe UI"/>
              </a:rPr>
              <a:t>عدّل وحسّن</a:t>
            </a:r>
          </a:p>
          <a:p>
            <a:pPr algn="ctr" rtl="1">
              <a:spcBef>
                <a:spcPts val="200"/>
              </a:spcBef>
              <a:spcAft>
                <a:spcPts val="200"/>
              </a:spcAft>
            </a:pPr>
            <a:r>
              <a:rPr sz="1150" b="0" i="0">
                <a:solidFill>
                  <a:srgbClr val="2B2F38"/>
                </a:solidFill>
                <a:latin typeface="Segoe UI"/>
                <a:cs typeface="Segoe UI"/>
              </a:rPr>
              <a:t>الدعم أو النشاط</a:t>
            </a:r>
          </a:p>
        </p:txBody>
      </p:sp>
      <p:sp>
        <p:nvSpPr>
          <p:cNvPr id="26" name="Rounded Rectangle 25"/>
          <p:cNvSpPr/>
          <p:nvPr/>
        </p:nvSpPr>
        <p:spPr>
          <a:xfrm>
            <a:off x="1188720" y="4526280"/>
            <a:ext cx="9784080" cy="160020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50" b="0" i="0">
                <a:solidFill>
                  <a:srgbClr val="E4F6F6"/>
                </a:solidFill>
                <a:latin typeface="Segoe UI"/>
                <a:cs typeface="Segoe UI"/>
              </a:rPr>
              <a:t>هذا هو المسار نفسه الذي يعمل به المعلم يوميًا في منظومة مسار:</a:t>
            </a:r>
          </a:p>
          <a:p>
            <a:pPr algn="ctr" rtl="1">
              <a:spcBef>
                <a:spcPts val="200"/>
              </a:spcBef>
              <a:spcAft>
                <a:spcPts val="200"/>
              </a:spcAft>
            </a:pPr>
            <a:r>
              <a:rPr sz="1600" b="1" i="0">
                <a:solidFill>
                  <a:srgbClr val="FFFFFF"/>
                </a:solidFill>
                <a:latin typeface="Segoe UI"/>
                <a:cs typeface="Segoe UI"/>
              </a:rPr>
              <a:t>فهم المتعلم ← تحديد الاحتياج ← التخطيط ← التنفيذ ← جمع الأدلة ← المتابعة ← التعديل</a:t>
            </a:r>
          </a:p>
          <a:p>
            <a:pPr algn="ctr" rtl="1">
              <a:spcBef>
                <a:spcPts val="200"/>
              </a:spcBef>
              <a:spcAft>
                <a:spcPts val="200"/>
              </a:spcAft>
            </a:pPr>
            <a:r>
              <a:rPr sz="1400" b="0" i="0">
                <a:solidFill>
                  <a:srgbClr val="C9A227"/>
                </a:solidFill>
                <a:latin typeface="Segoe UI"/>
                <a:cs typeface="Segoe UI"/>
              </a:rPr>
              <a:t>سنتدرب عليه اليوم على مستوى درس واحد ونشاط واحد.</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1</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1</a:t>
            </a:r>
          </a:p>
          <a:p>
            <a:pPr algn="r" rtl="1">
              <a:spcBef>
                <a:spcPts val="600"/>
              </a:spcBef>
              <a:spcAft>
                <a:spcPts val="400"/>
              </a:spcAft>
            </a:pPr>
            <a:r>
              <a:rPr sz="4000" b="1" i="0">
                <a:solidFill>
                  <a:srgbClr val="FFFFFF"/>
                </a:solidFill>
                <a:latin typeface="Segoe UI"/>
                <a:cs typeface="Segoe UI"/>
              </a:rPr>
              <a:t>لماذا نحتاج إلى صف متمايز؟</a:t>
            </a:r>
          </a:p>
          <a:p>
            <a:pPr algn="r" rtl="1">
              <a:spcBef>
                <a:spcPts val="400"/>
              </a:spcBef>
              <a:spcAft>
                <a:spcPts val="400"/>
              </a:spcAft>
            </a:pPr>
            <a:r>
              <a:rPr sz="1600" b="0" i="0">
                <a:solidFill>
                  <a:srgbClr val="E4F6F6"/>
                </a:solidFill>
                <a:latin typeface="Segoe UI"/>
                <a:cs typeface="Segoe UI"/>
              </a:rPr>
              <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موقف صفي واقعي: درس واحد وخمس استجابات مختلفة</a:t>
            </a:r>
          </a:p>
          <a:p>
            <a:pPr algn="r" rtl="1">
              <a:spcBef>
                <a:spcPts val="400"/>
              </a:spcBef>
            </a:pPr>
            <a:r>
              <a:rPr sz="1600" b="0" i="0">
                <a:solidFill>
                  <a:srgbClr val="FFFFFF"/>
                </a:solidFill>
                <a:latin typeface="Segoe UI"/>
                <a:cs typeface="Segoe UI"/>
              </a:rPr>
              <a:t>◂  هل المشكلة في الطلاب أم في تصميم التعلم؟</a:t>
            </a:r>
          </a:p>
          <a:p>
            <a:pPr algn="r" rtl="1">
              <a:spcBef>
                <a:spcPts val="400"/>
              </a:spcBef>
            </a:pPr>
            <a:r>
              <a:rPr sz="1600" b="0" i="0">
                <a:solidFill>
                  <a:srgbClr val="FFFFFF"/>
                </a:solidFill>
                <a:latin typeface="Segoe UI"/>
                <a:cs typeface="Segoe UI"/>
              </a:rPr>
              <a:t>◂  الدرس المرن: مسارات مختلفة نحو هدف واحد</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 — موقف واقعي</a:t>
            </a:r>
          </a:p>
          <a:p>
            <a:pPr algn="r" rtl="1">
              <a:spcBef>
                <a:spcPts val="0"/>
              </a:spcBef>
              <a:spcAft>
                <a:spcPts val="0"/>
              </a:spcAft>
            </a:pPr>
            <a:r>
              <a:rPr sz="2800" b="1" i="0">
                <a:solidFill>
                  <a:srgbClr val="FFFFFF"/>
                </a:solidFill>
                <a:latin typeface="Segoe UI"/>
                <a:cs typeface="Segoe UI"/>
              </a:rPr>
              <a:t>حصة واحدة... وخمس قصص مختلفة</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6</a:t>
            </a:r>
          </a:p>
        </p:txBody>
      </p:sp>
      <p:sp>
        <p:nvSpPr>
          <p:cNvPr id="9" name="Rounded Rectangle 8"/>
          <p:cNvSpPr/>
          <p:nvPr/>
        </p:nvSpPr>
        <p:spPr>
          <a:xfrm>
            <a:off x="9326880" y="1234440"/>
            <a:ext cx="2331720" cy="50292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00" b="1" i="0">
                <a:solidFill>
                  <a:srgbClr val="FFFFFF"/>
                </a:solidFill>
                <a:latin typeface="Segoe UI"/>
                <a:cs typeface="Segoe UI"/>
              </a:rPr>
              <a:t>تأمل في الموقف</a:t>
            </a:r>
          </a:p>
        </p:txBody>
      </p:sp>
      <p:sp>
        <p:nvSpPr>
          <p:cNvPr id="10" name="TextBox 9"/>
          <p:cNvSpPr txBox="1"/>
          <p:nvPr/>
        </p:nvSpPr>
        <p:spPr>
          <a:xfrm>
            <a:off x="502920" y="1234440"/>
            <a:ext cx="8595360" cy="685800"/>
          </a:xfrm>
          <a:prstGeom prst="rect">
            <a:avLst/>
          </a:prstGeom>
          <a:noFill/>
        </p:spPr>
        <p:txBody>
          <a:bodyPr wrap="square" anchor="t" lIns="50800" rIns="50800" tIns="25400" bIns="25400">
            <a:spAutoFit/>
          </a:bodyPr>
          <a:lstStyle/>
          <a:p>
            <a:pPr algn="r" rtl="1">
              <a:spcBef>
                <a:spcPts val="400"/>
              </a:spcBef>
              <a:spcAft>
                <a:spcPts val="400"/>
              </a:spcAft>
            </a:pPr>
            <a:r>
              <a:rPr sz="1600" b="1" i="0">
                <a:solidFill>
                  <a:srgbClr val="1F3A93"/>
                </a:solidFill>
                <a:latin typeface="Segoe UI"/>
                <a:cs typeface="Segoe UI"/>
              </a:rPr>
              <a:t>الأستاذ خالد شرح درسًا واحدًا بالطريقة نفسها لجميع الطلاب. لاحظ ما حدث:</a:t>
            </a:r>
          </a:p>
        </p:txBody>
      </p:sp>
      <p:sp>
        <p:nvSpPr>
          <p:cNvPr id="11" name="Rounded Rectangle 10"/>
          <p:cNvSpPr/>
          <p:nvPr/>
        </p:nvSpPr>
        <p:spPr>
          <a:xfrm>
            <a:off x="502920" y="1965960"/>
            <a:ext cx="11183112" cy="790041"/>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أحمد:  </a:t>
            </a:r>
            <a:r>
              <a:rPr sz="1500" b="0" i="0">
                <a:solidFill>
                  <a:srgbClr val="2B2F38"/>
                </a:solidFill>
                <a:latin typeface="Segoe UI"/>
                <a:cs typeface="Segoe UI"/>
              </a:rPr>
              <a:t>فهم الشرح من المرة الأولى، وجلس ينتظر الآخرين دون عمل.</a:t>
            </a:r>
          </a:p>
        </p:txBody>
      </p:sp>
      <p:sp>
        <p:nvSpPr>
          <p:cNvPr id="12" name="Rounded Rectangle 11"/>
          <p:cNvSpPr/>
          <p:nvPr/>
        </p:nvSpPr>
        <p:spPr>
          <a:xfrm>
            <a:off x="502920" y="2865729"/>
            <a:ext cx="11183112" cy="790041"/>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سارة:  </a:t>
            </a:r>
            <a:r>
              <a:rPr sz="1500" b="0" i="0">
                <a:solidFill>
                  <a:srgbClr val="2B2F38"/>
                </a:solidFill>
                <a:latin typeface="Segoe UI"/>
                <a:cs typeface="Segoe UI"/>
              </a:rPr>
              <a:t>احتاجت إلى شرح إضافي، لكنها لم تطلبه خجلًا، وبقيت صامتة.</a:t>
            </a:r>
          </a:p>
        </p:txBody>
      </p:sp>
      <p:sp>
        <p:nvSpPr>
          <p:cNvPr id="13" name="Rounded Rectangle 12"/>
          <p:cNvSpPr/>
          <p:nvPr/>
        </p:nvSpPr>
        <p:spPr>
          <a:xfrm>
            <a:off x="502920" y="3765499"/>
            <a:ext cx="11183112" cy="790041"/>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عمر:  </a:t>
            </a:r>
            <a:r>
              <a:rPr sz="1500" b="0" i="0">
                <a:solidFill>
                  <a:srgbClr val="2B2F38"/>
                </a:solidFill>
                <a:latin typeface="Segoe UI"/>
                <a:cs typeface="Segoe UI"/>
              </a:rPr>
              <a:t>كان يعرف المفهوم مسبقًا من قراءاته، فشعر بالملل وبدأ يشاغب.</a:t>
            </a:r>
          </a:p>
        </p:txBody>
      </p:sp>
      <p:sp>
        <p:nvSpPr>
          <p:cNvPr id="14" name="Rounded Rectangle 13"/>
          <p:cNvSpPr/>
          <p:nvPr/>
        </p:nvSpPr>
        <p:spPr>
          <a:xfrm>
            <a:off x="502920" y="4665268"/>
            <a:ext cx="11183112" cy="790041"/>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ليلى:  </a:t>
            </a:r>
            <a:r>
              <a:rPr sz="1500" b="0" i="0">
                <a:solidFill>
                  <a:srgbClr val="2B2F38"/>
                </a:solidFill>
                <a:latin typeface="Segoe UI"/>
                <a:cs typeface="Segoe UI"/>
              </a:rPr>
              <a:t>تستطيع الإجابة عن كل الأسئلة شفهيًا، لكنها تعثرت عندما طُلبت الإجابة كتابةً.</a:t>
            </a:r>
          </a:p>
        </p:txBody>
      </p:sp>
      <p:sp>
        <p:nvSpPr>
          <p:cNvPr id="15" name="Rounded Rectangle 14"/>
          <p:cNvSpPr/>
          <p:nvPr/>
        </p:nvSpPr>
        <p:spPr>
          <a:xfrm>
            <a:off x="502920" y="5565038"/>
            <a:ext cx="11183112" cy="790041"/>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2BB3B1"/>
                </a:solidFill>
                <a:latin typeface="Segoe UI"/>
                <a:cs typeface="Segoe UI"/>
              </a:rPr>
              <a:t>فيصل:  </a:t>
            </a:r>
            <a:r>
              <a:rPr sz="1500" b="0" i="0">
                <a:solidFill>
                  <a:srgbClr val="2B2F38"/>
                </a:solidFill>
                <a:latin typeface="Segoe UI"/>
                <a:cs typeface="Segoe UI"/>
              </a:rPr>
              <a:t>كان يحتاج وقتًا أطول قليلًا ومثالًا إضافيًا — فانتهت الحصة قبل أن يصل.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a:t>
            </a:r>
          </a:p>
          <a:p>
            <a:pPr algn="r" rtl="1">
              <a:spcBef>
                <a:spcPts val="0"/>
              </a:spcBef>
              <a:spcAft>
                <a:spcPts val="0"/>
              </a:spcAft>
            </a:pPr>
            <a:r>
              <a:rPr sz="2800" b="1" i="0">
                <a:solidFill>
                  <a:srgbClr val="FFFFFF"/>
                </a:solidFill>
                <a:latin typeface="Segoe UI"/>
                <a:cs typeface="Segoe UI"/>
              </a:rPr>
              <a:t>أين المشكلة إذًا؟</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7</a:t>
            </a:r>
          </a:p>
        </p:txBody>
      </p:sp>
      <p:sp>
        <p:nvSpPr>
          <p:cNvPr id="9" name="Rounded Rectangle 8"/>
          <p:cNvSpPr/>
          <p:nvPr/>
        </p:nvSpPr>
        <p:spPr>
          <a:xfrm>
            <a:off x="1097280" y="1371600"/>
            <a:ext cx="9966960" cy="105156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400" b="1" i="0">
                <a:solidFill>
                  <a:srgbClr val="162B6B"/>
                </a:solidFill>
                <a:latin typeface="Segoe UI"/>
                <a:cs typeface="Segoe UI"/>
              </a:rPr>
              <a:t>هل المشكلة في الطلاب؟ أم في طريقة تصميم التعلم؟</a:t>
            </a:r>
          </a:p>
        </p:txBody>
      </p:sp>
      <p:sp>
        <p:nvSpPr>
          <p:cNvPr id="10" name="TextBox 9"/>
          <p:cNvSpPr txBox="1"/>
          <p:nvPr/>
        </p:nvSpPr>
        <p:spPr>
          <a:xfrm>
            <a:off x="502920" y="2743200"/>
            <a:ext cx="11183112" cy="3291840"/>
          </a:xfrm>
          <a:prstGeom prst="rect">
            <a:avLst/>
          </a:prstGeom>
          <a:noFill/>
        </p:spPr>
        <p:txBody>
          <a:bodyPr wrap="square" anchor="t" lIns="50800" rIns="50800" tIns="25400" bIns="25400">
            <a:spAutoFit/>
          </a:bodyPr>
          <a:lstStyle/>
          <a:p>
            <a:pPr algn="r" rtl="1">
              <a:spcBef>
                <a:spcPts val="800"/>
              </a:spcBef>
              <a:spcAft>
                <a:spcPts val="400"/>
              </a:spcAft>
            </a:pPr>
            <a:r>
              <a:rPr sz="1400" b="1" i="0">
                <a:solidFill>
                  <a:srgbClr val="2BB3B1"/>
                </a:solidFill>
                <a:latin typeface="Segoe UI"/>
                <a:cs typeface="Segoe UI"/>
              </a:rPr>
              <a:t>●  </a:t>
            </a:r>
            <a:r>
              <a:rPr sz="1750" b="1" i="0">
                <a:solidFill>
                  <a:srgbClr val="1F3A93"/>
                </a:solidFill>
                <a:latin typeface="Segoe UI"/>
                <a:cs typeface="Segoe UI"/>
              </a:rPr>
              <a:t>الطلاب الخمسة لم يفشلوا — التصميم هو الذي لم يترك لهم إلا طريقًا واحدًا.</a:t>
            </a:r>
          </a:p>
          <a:p>
            <a:pPr algn="r" rtl="1">
              <a:spcBef>
                <a:spcPts val="800"/>
              </a:spcBef>
              <a:spcAft>
                <a:spcPts val="400"/>
              </a:spcAft>
            </a:pPr>
            <a:r>
              <a:rPr sz="1400" b="1" i="0">
                <a:solidFill>
                  <a:srgbClr val="2BB3B1"/>
                </a:solidFill>
                <a:latin typeface="Segoe UI"/>
                <a:cs typeface="Segoe UI"/>
              </a:rPr>
              <a:t>●  </a:t>
            </a:r>
            <a:r>
              <a:rPr sz="1750" b="0" i="0">
                <a:solidFill>
                  <a:srgbClr val="2B2F38"/>
                </a:solidFill>
                <a:latin typeface="Segoe UI"/>
                <a:cs typeface="Segoe UI"/>
              </a:rPr>
              <a:t>اختلاف المتعلمين أمر طبيعي ومتوقع في كل صف، وليس خللًا نصلحه.</a:t>
            </a:r>
          </a:p>
          <a:p>
            <a:pPr algn="r" rtl="1">
              <a:spcBef>
                <a:spcPts val="800"/>
              </a:spcBef>
              <a:spcAft>
                <a:spcPts val="400"/>
              </a:spcAft>
            </a:pPr>
            <a:r>
              <a:rPr sz="1400" b="1" i="0">
                <a:solidFill>
                  <a:srgbClr val="2BB3B1"/>
                </a:solidFill>
                <a:latin typeface="Segoe UI"/>
                <a:cs typeface="Segoe UI"/>
              </a:rPr>
              <a:t>●  </a:t>
            </a:r>
            <a:r>
              <a:rPr sz="1750" b="0" i="0">
                <a:solidFill>
                  <a:srgbClr val="2B2F38"/>
                </a:solidFill>
                <a:latin typeface="Segoe UI"/>
                <a:cs typeface="Segoe UI"/>
              </a:rPr>
              <a:t>الهدف ليس إنشاء درس منفصل لكل طالب — فهذا مستحيل وغير مطلوب.</a:t>
            </a:r>
          </a:p>
          <a:p>
            <a:pPr algn="r" rtl="1">
              <a:spcBef>
                <a:spcPts val="800"/>
              </a:spcBef>
              <a:spcAft>
                <a:spcPts val="400"/>
              </a:spcAft>
            </a:pPr>
            <a:r>
              <a:rPr sz="1400" b="1" i="0">
                <a:solidFill>
                  <a:srgbClr val="2BB3B1"/>
                </a:solidFill>
                <a:latin typeface="Segoe UI"/>
                <a:cs typeface="Segoe UI"/>
              </a:rPr>
              <a:t>●  </a:t>
            </a:r>
            <a:r>
              <a:rPr sz="1750" b="1" i="0">
                <a:solidFill>
                  <a:srgbClr val="1F3A93"/>
                </a:solidFill>
                <a:latin typeface="Segoe UI"/>
                <a:cs typeface="Segoe UI"/>
              </a:rPr>
              <a:t>الهدف هو بناء درس مرن يسمح بمسارات مختلفة للوصول إلى الهدف نفسه.</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2</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2</a:t>
            </a:r>
          </a:p>
          <a:p>
            <a:pPr algn="r" rtl="1">
              <a:spcBef>
                <a:spcPts val="600"/>
              </a:spcBef>
              <a:spcAft>
                <a:spcPts val="400"/>
              </a:spcAft>
            </a:pPr>
            <a:r>
              <a:rPr sz="4000" b="1" i="0">
                <a:solidFill>
                  <a:srgbClr val="FFFFFF"/>
                </a:solidFill>
                <a:latin typeface="Segoe UI"/>
                <a:cs typeface="Segoe UI"/>
              </a:rPr>
              <a:t>فهم اختلافات المتعلمين</a:t>
            </a:r>
          </a:p>
          <a:p>
            <a:pPr algn="r" rtl="1">
              <a:spcBef>
                <a:spcPts val="400"/>
              </a:spcBef>
              <a:spcAft>
                <a:spcPts val="400"/>
              </a:spcAft>
            </a:pPr>
            <a:r>
              <a:rPr sz="1600" b="0" i="0">
                <a:solidFill>
                  <a:srgbClr val="E4F6F6"/>
                </a:solidFill>
                <a:latin typeface="Segoe UI"/>
                <a:cs typeface="Segoe UI"/>
              </a:rPr>
              <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الفروق الفردية: ما الذي يختلف فيه المتعلمون فعلًا؟</a:t>
            </a:r>
          </a:p>
          <a:p>
            <a:pPr algn="r" rtl="1">
              <a:spcBef>
                <a:spcPts val="400"/>
              </a:spcBef>
            </a:pPr>
            <a:r>
              <a:rPr sz="1600" b="0" i="0">
                <a:solidFill>
                  <a:srgbClr val="FFFFFF"/>
                </a:solidFill>
                <a:latin typeface="Segoe UI"/>
                <a:cs typeface="Segoe UI"/>
              </a:rPr>
              <a:t>◂  الاختلاف لا يعني بالضرورة تشخيصًا أو إعاقة</a:t>
            </a:r>
          </a:p>
          <a:p>
            <a:pPr algn="r" rtl="1">
              <a:spcBef>
                <a:spcPts val="400"/>
              </a:spcBef>
            </a:pPr>
            <a:r>
              <a:rPr sz="1600" b="0" i="0">
                <a:solidFill>
                  <a:srgbClr val="FFFFFF"/>
                </a:solidFill>
                <a:latin typeface="Segoe UI"/>
                <a:cs typeface="Segoe UI"/>
              </a:rPr>
              <a:t>◂  القاعدة: كل اختلاف مؤثر في التعلم يحتاج إلى استجابة تعليمية</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2</a:t>
            </a:r>
          </a:p>
          <a:p>
            <a:pPr algn="r" rtl="1">
              <a:spcBef>
                <a:spcPts val="0"/>
              </a:spcBef>
              <a:spcAft>
                <a:spcPts val="0"/>
              </a:spcAft>
            </a:pPr>
            <a:r>
              <a:rPr sz="2800" b="1" i="0">
                <a:solidFill>
                  <a:srgbClr val="FFFFFF"/>
                </a:solidFill>
                <a:latin typeface="Segoe UI"/>
                <a:cs typeface="Segoe UI"/>
              </a:rPr>
              <a:t>الفروق الفردية بين المتعلمين</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9</a:t>
            </a:r>
          </a:p>
        </p:txBody>
      </p:sp>
      <p:sp>
        <p:nvSpPr>
          <p:cNvPr id="9" name="TextBox 8"/>
          <p:cNvSpPr txBox="1"/>
          <p:nvPr/>
        </p:nvSpPr>
        <p:spPr>
          <a:xfrm>
            <a:off x="502920" y="1234440"/>
            <a:ext cx="11183112" cy="73152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1F3A93"/>
                </a:solidFill>
                <a:latin typeface="Segoe UI"/>
                <a:cs typeface="Segoe UI"/>
              </a:rPr>
              <a:t>الفروق الفردية </a:t>
            </a:r>
            <a:r>
              <a:rPr sz="1400" b="0" i="0">
                <a:solidFill>
                  <a:srgbClr val="6B7280"/>
                </a:solidFill>
                <a:latin typeface="Segoe UI"/>
                <a:cs typeface="Segoe UI"/>
              </a:rPr>
              <a:t>(Learner Differences)</a:t>
            </a:r>
            <a:r>
              <a:rPr sz="1600" b="0" i="0">
                <a:solidFill>
                  <a:srgbClr val="2B2F38"/>
                </a:solidFill>
                <a:latin typeface="Segoe UI"/>
                <a:cs typeface="Segoe UI"/>
              </a:rPr>
              <a:t> هي الاختلافات الطبيعية بين الطلاب التي قد تؤثر في طريقة تعلمهم داخل درسك:</a:t>
            </a:r>
          </a:p>
        </p:txBody>
      </p:sp>
      <p:sp>
        <p:nvSpPr>
          <p:cNvPr id="10" name="Rounded Rectangle 9"/>
          <p:cNvSpPr/>
          <p:nvPr/>
        </p:nvSpPr>
        <p:spPr>
          <a:xfrm>
            <a:off x="9537192" y="2148840"/>
            <a:ext cx="2148840" cy="17830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350" b="1" i="0">
                <a:solidFill>
                  <a:srgbClr val="1F3A93"/>
                </a:solidFill>
                <a:latin typeface="Segoe UI"/>
                <a:cs typeface="Segoe UI"/>
              </a:rPr>
              <a:t>المعرفة السابقة</a:t>
            </a:r>
          </a:p>
          <a:p>
            <a:pPr algn="r" rtl="1">
              <a:spcBef>
                <a:spcPts val="200"/>
              </a:spcBef>
              <a:spcAft>
                <a:spcPts val="200"/>
              </a:spcAft>
            </a:pPr>
            <a:r>
              <a:rPr sz="1100" b="0" i="0">
                <a:solidFill>
                  <a:srgbClr val="2B2F38"/>
                </a:solidFill>
                <a:latin typeface="Segoe UI"/>
                <a:cs typeface="Segoe UI"/>
              </a:rPr>
              <a:t>ماذا يعرف عن الموضوع قبل الدرس؟</a:t>
            </a:r>
          </a:p>
        </p:txBody>
      </p:sp>
      <p:sp>
        <p:nvSpPr>
          <p:cNvPr id="11" name="Rounded Rectangle 10"/>
          <p:cNvSpPr/>
          <p:nvPr/>
        </p:nvSpPr>
        <p:spPr>
          <a:xfrm>
            <a:off x="7278624" y="2148840"/>
            <a:ext cx="2148840" cy="178308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350" b="1" i="0">
                <a:solidFill>
                  <a:srgbClr val="1F3A93"/>
                </a:solidFill>
                <a:latin typeface="Segoe UI"/>
                <a:cs typeface="Segoe UI"/>
              </a:rPr>
              <a:t>سرعة التعلم</a:t>
            </a:r>
          </a:p>
          <a:p>
            <a:pPr algn="r" rtl="1">
              <a:spcBef>
                <a:spcPts val="200"/>
              </a:spcBef>
              <a:spcAft>
                <a:spcPts val="200"/>
              </a:spcAft>
            </a:pPr>
            <a:r>
              <a:rPr sz="1100" b="0" i="0">
                <a:solidFill>
                  <a:srgbClr val="2B2F38"/>
                </a:solidFill>
                <a:latin typeface="Segoe UI"/>
                <a:cs typeface="Segoe UI"/>
              </a:rPr>
              <a:t>كم يحتاج من الوقت والتكرار؟</a:t>
            </a:r>
          </a:p>
        </p:txBody>
      </p:sp>
      <p:sp>
        <p:nvSpPr>
          <p:cNvPr id="12" name="Rounded Rectangle 11"/>
          <p:cNvSpPr/>
          <p:nvPr/>
        </p:nvSpPr>
        <p:spPr>
          <a:xfrm>
            <a:off x="5020056" y="2148840"/>
            <a:ext cx="2148840" cy="17830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350" b="1" i="0">
                <a:solidFill>
                  <a:srgbClr val="1F3A93"/>
                </a:solidFill>
                <a:latin typeface="Segoe UI"/>
                <a:cs typeface="Segoe UI"/>
              </a:rPr>
              <a:t>مستوى الاستقلالية</a:t>
            </a:r>
          </a:p>
          <a:p>
            <a:pPr algn="r" rtl="1">
              <a:spcBef>
                <a:spcPts val="200"/>
              </a:spcBef>
              <a:spcAft>
                <a:spcPts val="200"/>
              </a:spcAft>
            </a:pPr>
            <a:r>
              <a:rPr sz="1100" b="0" i="0">
                <a:solidFill>
                  <a:srgbClr val="2B2F38"/>
                </a:solidFill>
                <a:latin typeface="Segoe UI"/>
                <a:cs typeface="Segoe UI"/>
              </a:rPr>
              <a:t>هل يعمل وحده أم يحتاج توجيهًا؟</a:t>
            </a:r>
          </a:p>
        </p:txBody>
      </p:sp>
      <p:sp>
        <p:nvSpPr>
          <p:cNvPr id="13" name="Rounded Rectangle 12"/>
          <p:cNvSpPr/>
          <p:nvPr/>
        </p:nvSpPr>
        <p:spPr>
          <a:xfrm>
            <a:off x="2761488" y="2148840"/>
            <a:ext cx="2148840" cy="178308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350" b="1" i="0">
                <a:solidFill>
                  <a:srgbClr val="1F3A93"/>
                </a:solidFill>
                <a:latin typeface="Segoe UI"/>
                <a:cs typeface="Segoe UI"/>
              </a:rPr>
              <a:t>اللغة</a:t>
            </a:r>
          </a:p>
          <a:p>
            <a:pPr algn="r" rtl="1">
              <a:spcBef>
                <a:spcPts val="200"/>
              </a:spcBef>
              <a:spcAft>
                <a:spcPts val="200"/>
              </a:spcAft>
            </a:pPr>
            <a:r>
              <a:rPr sz="1100" b="0" i="0">
                <a:solidFill>
                  <a:srgbClr val="2B2F38"/>
                </a:solidFill>
                <a:latin typeface="Segoe UI"/>
                <a:cs typeface="Segoe UI"/>
              </a:rPr>
              <a:t>هل لغة التدريس هي لغته الأقوى؟</a:t>
            </a:r>
          </a:p>
        </p:txBody>
      </p:sp>
      <p:sp>
        <p:nvSpPr>
          <p:cNvPr id="14" name="Rounded Rectangle 13"/>
          <p:cNvSpPr/>
          <p:nvPr/>
        </p:nvSpPr>
        <p:spPr>
          <a:xfrm>
            <a:off x="502920" y="2148840"/>
            <a:ext cx="2148840" cy="17830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350" b="1" i="0">
                <a:solidFill>
                  <a:srgbClr val="1F3A93"/>
                </a:solidFill>
                <a:latin typeface="Segoe UI"/>
                <a:cs typeface="Segoe UI"/>
              </a:rPr>
              <a:t>طريقة التعبير</a:t>
            </a:r>
          </a:p>
          <a:p>
            <a:pPr algn="r" rtl="1">
              <a:spcBef>
                <a:spcPts val="200"/>
              </a:spcBef>
              <a:spcAft>
                <a:spcPts val="200"/>
              </a:spcAft>
            </a:pPr>
            <a:r>
              <a:rPr sz="1100" b="0" i="0">
                <a:solidFill>
                  <a:srgbClr val="2B2F38"/>
                </a:solidFill>
                <a:latin typeface="Segoe UI"/>
                <a:cs typeface="Segoe UI"/>
              </a:rPr>
              <a:t>هل يعبّر أفضل شفهيًا أم كتابيًا أم عمليًا؟</a:t>
            </a:r>
          </a:p>
        </p:txBody>
      </p:sp>
      <p:sp>
        <p:nvSpPr>
          <p:cNvPr id="15" name="Rounded Rectangle 14"/>
          <p:cNvSpPr/>
          <p:nvPr/>
        </p:nvSpPr>
        <p:spPr>
          <a:xfrm>
            <a:off x="9537192" y="4078224"/>
            <a:ext cx="2148840" cy="178308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350" b="1" i="0">
                <a:solidFill>
                  <a:srgbClr val="1F3A93"/>
                </a:solidFill>
                <a:latin typeface="Segoe UI"/>
                <a:cs typeface="Segoe UI"/>
              </a:rPr>
              <a:t>الانتباه</a:t>
            </a:r>
          </a:p>
          <a:p>
            <a:pPr algn="r" rtl="1">
              <a:spcBef>
                <a:spcPts val="200"/>
              </a:spcBef>
              <a:spcAft>
                <a:spcPts val="200"/>
              </a:spcAft>
            </a:pPr>
            <a:r>
              <a:rPr sz="1100" b="0" i="0">
                <a:solidFill>
                  <a:srgbClr val="2B2F38"/>
                </a:solidFill>
                <a:latin typeface="Segoe UI"/>
                <a:cs typeface="Segoe UI"/>
              </a:rPr>
              <a:t>كم يستمر تركيزه في المهمة الواحدة؟</a:t>
            </a:r>
          </a:p>
        </p:txBody>
      </p:sp>
      <p:sp>
        <p:nvSpPr>
          <p:cNvPr id="16" name="Rounded Rectangle 15"/>
          <p:cNvSpPr/>
          <p:nvPr/>
        </p:nvSpPr>
        <p:spPr>
          <a:xfrm>
            <a:off x="7278624" y="4078224"/>
            <a:ext cx="2148840" cy="17830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350" b="1" i="0">
                <a:solidFill>
                  <a:srgbClr val="1F3A93"/>
                </a:solidFill>
                <a:latin typeface="Segoe UI"/>
                <a:cs typeface="Segoe UI"/>
              </a:rPr>
              <a:t>الخبرات السابقة</a:t>
            </a:r>
          </a:p>
          <a:p>
            <a:pPr algn="r" rtl="1">
              <a:spcBef>
                <a:spcPts val="200"/>
              </a:spcBef>
              <a:spcAft>
                <a:spcPts val="200"/>
              </a:spcAft>
            </a:pPr>
            <a:r>
              <a:rPr sz="1100" b="0" i="0">
                <a:solidFill>
                  <a:srgbClr val="2B2F38"/>
                </a:solidFill>
                <a:latin typeface="Segoe UI"/>
                <a:cs typeface="Segoe UI"/>
              </a:rPr>
              <a:t>ما التجارب التي يربط بها الجديد؟</a:t>
            </a:r>
          </a:p>
        </p:txBody>
      </p:sp>
      <p:sp>
        <p:nvSpPr>
          <p:cNvPr id="17" name="Rounded Rectangle 16"/>
          <p:cNvSpPr/>
          <p:nvPr/>
        </p:nvSpPr>
        <p:spPr>
          <a:xfrm>
            <a:off x="5020056" y="4078224"/>
            <a:ext cx="2148840" cy="178308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350" b="1" i="0">
                <a:solidFill>
                  <a:srgbClr val="1F3A93"/>
                </a:solidFill>
                <a:latin typeface="Segoe UI"/>
                <a:cs typeface="Segoe UI"/>
              </a:rPr>
              <a:t>الاهتمامات</a:t>
            </a:r>
          </a:p>
          <a:p>
            <a:pPr algn="r" rtl="1">
              <a:spcBef>
                <a:spcPts val="200"/>
              </a:spcBef>
              <a:spcAft>
                <a:spcPts val="200"/>
              </a:spcAft>
            </a:pPr>
            <a:r>
              <a:rPr sz="1100" b="0" i="0">
                <a:solidFill>
                  <a:srgbClr val="2B2F38"/>
                </a:solidFill>
                <a:latin typeface="Segoe UI"/>
                <a:cs typeface="Segoe UI"/>
              </a:rPr>
              <a:t>ما الذي يحفزه ويجذبه للتعلم؟</a:t>
            </a:r>
          </a:p>
        </p:txBody>
      </p:sp>
      <p:sp>
        <p:nvSpPr>
          <p:cNvPr id="18" name="Rounded Rectangle 17"/>
          <p:cNvSpPr/>
          <p:nvPr/>
        </p:nvSpPr>
        <p:spPr>
          <a:xfrm>
            <a:off x="2761488" y="4078224"/>
            <a:ext cx="2148840" cy="178308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350" b="1" i="0">
                <a:solidFill>
                  <a:srgbClr val="1F3A93"/>
                </a:solidFill>
                <a:latin typeface="Segoe UI"/>
                <a:cs typeface="Segoe UI"/>
              </a:rPr>
              <a:t>الحاجة إلى الدعم</a:t>
            </a:r>
          </a:p>
          <a:p>
            <a:pPr algn="r" rtl="1">
              <a:spcBef>
                <a:spcPts val="200"/>
              </a:spcBef>
              <a:spcAft>
                <a:spcPts val="200"/>
              </a:spcAft>
            </a:pPr>
            <a:r>
              <a:rPr sz="1100" b="0" i="0">
                <a:solidFill>
                  <a:srgbClr val="2B2F38"/>
                </a:solidFill>
                <a:latin typeface="Segoe UI"/>
                <a:cs typeface="Segoe UI"/>
              </a:rPr>
              <a:t>كم يحتاج من نمذجة وتوجيه؟</a:t>
            </a:r>
          </a:p>
        </p:txBody>
      </p:sp>
      <p:sp>
        <p:nvSpPr>
          <p:cNvPr id="19" name="Rounded Rectangle 18"/>
          <p:cNvSpPr/>
          <p:nvPr/>
        </p:nvSpPr>
        <p:spPr>
          <a:xfrm>
            <a:off x="502920" y="4078224"/>
            <a:ext cx="2148840" cy="178308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350" b="1" i="0">
                <a:solidFill>
                  <a:srgbClr val="1F3A93"/>
                </a:solidFill>
                <a:latin typeface="Segoe UI"/>
                <a:cs typeface="Segoe UI"/>
              </a:rPr>
              <a:t>تنظيم العمل</a:t>
            </a:r>
          </a:p>
          <a:p>
            <a:pPr algn="r" rtl="1">
              <a:spcBef>
                <a:spcPts val="200"/>
              </a:spcBef>
              <a:spcAft>
                <a:spcPts val="200"/>
              </a:spcAft>
            </a:pPr>
            <a:r>
              <a:rPr sz="1100" b="0" i="0">
                <a:solidFill>
                  <a:srgbClr val="2B2F38"/>
                </a:solidFill>
                <a:latin typeface="Segoe UI"/>
                <a:cs typeface="Segoe UI"/>
              </a:rPr>
              <a:t>هل يخطط لمهمته أم يتوه في خطواتها؟</a:t>
            </a:r>
          </a:p>
        </p:txBody>
      </p:sp>
      <p:sp>
        <p:nvSpPr>
          <p:cNvPr id="20" name="TextBox 19"/>
          <p:cNvSpPr txBox="1"/>
          <p:nvPr/>
        </p:nvSpPr>
        <p:spPr>
          <a:xfrm>
            <a:off x="502920" y="5989320"/>
            <a:ext cx="11183112" cy="457200"/>
          </a:xfrm>
          <a:prstGeom prst="rect">
            <a:avLst/>
          </a:prstGeom>
          <a:noFill/>
        </p:spPr>
        <p:txBody>
          <a:bodyPr wrap="square" anchor="t" lIns="50800" rIns="50800" tIns="25400" bIns="25400">
            <a:spAutoFit/>
          </a:bodyPr>
          <a:lstStyle/>
          <a:p>
            <a:pPr algn="ctr" rtl="1">
              <a:spcBef>
                <a:spcPts val="400"/>
              </a:spcBef>
              <a:spcAft>
                <a:spcPts val="400"/>
              </a:spcAft>
            </a:pPr>
            <a:r>
              <a:rPr sz="1450" b="1" i="0">
                <a:solidFill>
                  <a:srgbClr val="1F3A93"/>
                </a:solidFill>
                <a:latin typeface="Segoe UI"/>
                <a:cs typeface="Segoe UI"/>
              </a:rPr>
              <a:t>سجّل في ورقة العمل (2): ما أكثر ثلاثة اختلافات حضورًا في صفك أنت؟</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2 — القاعدة الأساسية</a:t>
            </a:r>
          </a:p>
          <a:p>
            <a:pPr algn="r" rtl="1">
              <a:spcBef>
                <a:spcPts val="0"/>
              </a:spcBef>
              <a:spcAft>
                <a:spcPts val="0"/>
              </a:spcAft>
            </a:pPr>
            <a:r>
              <a:rPr sz="2800" b="1" i="0">
                <a:solidFill>
                  <a:srgbClr val="FFFFFF"/>
                </a:solidFill>
                <a:latin typeface="Segoe UI"/>
                <a:cs typeface="Segoe UI"/>
              </a:rPr>
              <a:t>اختلاف لا يعني تشخيصًا</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10</a:t>
            </a:r>
          </a:p>
        </p:txBody>
      </p:sp>
      <p:sp>
        <p:nvSpPr>
          <p:cNvPr id="9" name="Rounded Rectangle 8"/>
          <p:cNvSpPr/>
          <p:nvPr/>
        </p:nvSpPr>
        <p:spPr>
          <a:xfrm>
            <a:off x="914400" y="1554480"/>
            <a:ext cx="10332720" cy="155448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200" b="1" i="0">
                <a:solidFill>
                  <a:srgbClr val="FFFFFF"/>
                </a:solidFill>
                <a:latin typeface="Segoe UI"/>
                <a:cs typeface="Segoe UI"/>
              </a:rPr>
              <a:t>ليس كل اختلاف يحتاج إلى تشخيص،</a:t>
            </a:r>
          </a:p>
          <a:p>
            <a:pPr algn="ctr" rtl="1">
              <a:spcBef>
                <a:spcPts val="200"/>
              </a:spcBef>
              <a:spcAft>
                <a:spcPts val="200"/>
              </a:spcAft>
            </a:pPr>
            <a:r>
              <a:rPr sz="2200" b="1" i="0">
                <a:solidFill>
                  <a:srgbClr val="C9A227"/>
                </a:solidFill>
                <a:latin typeface="Segoe UI"/>
                <a:cs typeface="Segoe UI"/>
              </a:rPr>
              <a:t>ولكن كل اختلاف مؤثر في التعلم يحتاج إلى استجابة تعليمية مناسبة.</a:t>
            </a:r>
          </a:p>
        </p:txBody>
      </p:sp>
      <p:sp>
        <p:nvSpPr>
          <p:cNvPr id="10" name="TextBox 9"/>
          <p:cNvSpPr txBox="1"/>
          <p:nvPr/>
        </p:nvSpPr>
        <p:spPr>
          <a:xfrm>
            <a:off x="502920" y="3474720"/>
            <a:ext cx="11183112" cy="2651760"/>
          </a:xfrm>
          <a:prstGeom prst="rect">
            <a:avLst/>
          </a:prstGeom>
          <a:noFill/>
        </p:spPr>
        <p:txBody>
          <a:bodyPr wrap="square" anchor="t" lIns="50800" rIns="50800" tIns="25400" bIns="25400">
            <a:spAutoFit/>
          </a:bodyPr>
          <a:lstStyle/>
          <a:p>
            <a:pPr algn="r" rtl="1">
              <a:spcBef>
                <a:spcPts val="700"/>
              </a:spcBef>
              <a:spcAft>
                <a:spcPts val="400"/>
              </a:spcAft>
            </a:pPr>
            <a:r>
              <a:rPr sz="1400" b="1" i="0">
                <a:solidFill>
                  <a:srgbClr val="2BB3B1"/>
                </a:solidFill>
                <a:latin typeface="Segoe UI"/>
                <a:cs typeface="Segoe UI"/>
              </a:rPr>
              <a:t>●  </a:t>
            </a:r>
            <a:r>
              <a:rPr sz="1650" b="0" i="0">
                <a:solidFill>
                  <a:srgbClr val="2B2F38"/>
                </a:solidFill>
                <a:latin typeface="Segoe UI"/>
                <a:cs typeface="Segoe UI"/>
              </a:rPr>
              <a:t>ليلى التي تعبّر شفهيًا أفضل من الكتابة لا تحتاج «تسمية» — تحتاج فرصة لإظهار فهمها بأكثر من طريقة.</a:t>
            </a:r>
          </a:p>
          <a:p>
            <a:pPr algn="r" rtl="1">
              <a:spcBef>
                <a:spcPts val="700"/>
              </a:spcBef>
              <a:spcAft>
                <a:spcPts val="400"/>
              </a:spcAft>
            </a:pPr>
            <a:r>
              <a:rPr sz="1400" b="1" i="0">
                <a:solidFill>
                  <a:srgbClr val="2BB3B1"/>
                </a:solidFill>
                <a:latin typeface="Segoe UI"/>
                <a:cs typeface="Segoe UI"/>
              </a:rPr>
              <a:t>●  </a:t>
            </a:r>
            <a:r>
              <a:rPr sz="1650" b="0" i="0">
                <a:solidFill>
                  <a:srgbClr val="2B2F38"/>
                </a:solidFill>
                <a:latin typeface="Segoe UI"/>
                <a:cs typeface="Segoe UI"/>
              </a:rPr>
              <a:t>فيصل الذي يحتاج وقتًا أطول لا يحتاج ملفًا خاصًا — يحتاج مثالًا إضافيًا ووقتًا كافيًا.</a:t>
            </a:r>
          </a:p>
          <a:p>
            <a:pPr algn="r" rtl="1">
              <a:spcBef>
                <a:spcPts val="700"/>
              </a:spcBef>
              <a:spcAft>
                <a:spcPts val="400"/>
              </a:spcAft>
            </a:pPr>
            <a:r>
              <a:rPr sz="1400" b="1" i="0">
                <a:solidFill>
                  <a:srgbClr val="2BB3B1"/>
                </a:solidFill>
                <a:latin typeface="Segoe UI"/>
                <a:cs typeface="Segoe UI"/>
              </a:rPr>
              <a:t>●  </a:t>
            </a:r>
            <a:r>
              <a:rPr sz="1650" b="0" i="0">
                <a:solidFill>
                  <a:srgbClr val="2B2F38"/>
                </a:solidFill>
                <a:latin typeface="Segoe UI"/>
                <a:cs typeface="Segoe UI"/>
              </a:rPr>
              <a:t>التشخيص شأن المختصين، أما الاستجابة التعليمية داخل الصف فهي مهنة المعلم اليومية.</a:t>
            </a:r>
          </a:p>
          <a:p>
            <a:pPr algn="r" rtl="1">
              <a:spcBef>
                <a:spcPts val="700"/>
              </a:spcBef>
              <a:spcAft>
                <a:spcPts val="400"/>
              </a:spcAft>
            </a:pPr>
            <a:r>
              <a:rPr sz="1400" b="1" i="0">
                <a:solidFill>
                  <a:srgbClr val="2BB3B1"/>
                </a:solidFill>
                <a:latin typeface="Segoe UI"/>
                <a:cs typeface="Segoe UI"/>
              </a:rPr>
              <a:t>●  </a:t>
            </a:r>
            <a:r>
              <a:rPr sz="1650" b="0" i="0">
                <a:solidFill>
                  <a:srgbClr val="2B2F38"/>
                </a:solidFill>
                <a:latin typeface="Segoe UI"/>
                <a:cs typeface="Segoe UI"/>
              </a:rPr>
              <a:t>لا تنتظر تشخيصًا لتقدم دعمًا — ولا تحوّل كل اختلاف إلى «مشكلة».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3</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3</a:t>
            </a:r>
          </a:p>
          <a:p>
            <a:pPr algn="r" rtl="1">
              <a:spcBef>
                <a:spcPts val="600"/>
              </a:spcBef>
              <a:spcAft>
                <a:spcPts val="400"/>
              </a:spcAft>
            </a:pPr>
            <a:r>
              <a:rPr sz="4000" b="1" i="0">
                <a:solidFill>
                  <a:srgbClr val="FFFFFF"/>
                </a:solidFill>
                <a:latin typeface="Segoe UI"/>
                <a:cs typeface="Segoe UI"/>
              </a:rPr>
              <a:t>ما هو التعليم المتمايز؟</a:t>
            </a:r>
          </a:p>
          <a:p>
            <a:pPr algn="r" rtl="1">
              <a:spcBef>
                <a:spcPts val="400"/>
              </a:spcBef>
              <a:spcAft>
                <a:spcPts val="400"/>
              </a:spcAft>
            </a:pPr>
            <a:r>
              <a:rPr sz="1600" b="0" i="0">
                <a:solidFill>
                  <a:srgbClr val="E4F6F6"/>
                </a:solidFill>
                <a:latin typeface="Segoe UI"/>
                <a:cs typeface="Segoe UI"/>
              </a:rPr>
              <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تعريف عملي بسيط</a:t>
            </a:r>
          </a:p>
          <a:p>
            <a:pPr algn="r" rtl="1">
              <a:spcBef>
                <a:spcPts val="400"/>
              </a:spcBef>
            </a:pPr>
            <a:r>
              <a:rPr sz="1600" b="0" i="0">
                <a:solidFill>
                  <a:srgbClr val="FFFFFF"/>
                </a:solidFill>
                <a:latin typeface="Segoe UI"/>
                <a:cs typeface="Segoe UI"/>
              </a:rPr>
              <a:t>◂  ما الذي لا يعنيه التعليم المتمايز؟</a:t>
            </a:r>
          </a:p>
          <a:p>
            <a:pPr algn="r" rtl="1">
              <a:spcBef>
                <a:spcPts val="400"/>
              </a:spcBef>
            </a:pPr>
            <a:r>
              <a:rPr sz="1600" b="0" i="0">
                <a:solidFill>
                  <a:srgbClr val="FFFFFF"/>
                </a:solidFill>
                <a:latin typeface="Segoe UI"/>
                <a:cs typeface="Segoe UI"/>
              </a:rPr>
              <a:t>◂  تصحيح المفاهيم الخاطئة الشائعة</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3</a:t>
            </a:r>
          </a:p>
          <a:p>
            <a:pPr algn="r" rtl="1">
              <a:spcBef>
                <a:spcPts val="0"/>
              </a:spcBef>
              <a:spcAft>
                <a:spcPts val="0"/>
              </a:spcAft>
            </a:pPr>
            <a:r>
              <a:rPr sz="2800" b="1" i="0">
                <a:solidFill>
                  <a:srgbClr val="FFFFFF"/>
                </a:solidFill>
                <a:latin typeface="Segoe UI"/>
                <a:cs typeface="Segoe UI"/>
              </a:rPr>
              <a:t>التعليم المتمايز ببساطة</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12</a:t>
            </a:r>
          </a:p>
        </p:txBody>
      </p:sp>
      <p:sp>
        <p:nvSpPr>
          <p:cNvPr id="9" name="TextBox 8"/>
          <p:cNvSpPr txBox="1"/>
          <p:nvPr/>
        </p:nvSpPr>
        <p:spPr>
          <a:xfrm>
            <a:off x="502920" y="1234440"/>
            <a:ext cx="11183112" cy="502920"/>
          </a:xfrm>
          <a:prstGeom prst="rect">
            <a:avLst/>
          </a:prstGeom>
          <a:noFill/>
        </p:spPr>
        <p:txBody>
          <a:bodyPr wrap="square" anchor="t" lIns="50800" rIns="50800" tIns="25400" bIns="25400">
            <a:spAutoFit/>
          </a:bodyPr>
          <a:lstStyle/>
          <a:p>
            <a:pPr algn="r" rtl="1">
              <a:spcBef>
                <a:spcPts val="400"/>
              </a:spcBef>
              <a:spcAft>
                <a:spcPts val="400"/>
              </a:spcAft>
            </a:pPr>
            <a:r>
              <a:rPr sz="2000" b="1" i="0">
                <a:solidFill>
                  <a:srgbClr val="1F3A93"/>
                </a:solidFill>
                <a:latin typeface="Segoe UI"/>
                <a:cs typeface="Segoe UI"/>
              </a:rPr>
              <a:t>التعليم المتمايز </a:t>
            </a:r>
            <a:r>
              <a:rPr sz="1500" b="0" i="0">
                <a:solidFill>
                  <a:srgbClr val="6B7280"/>
                </a:solidFill>
                <a:latin typeface="Segoe UI"/>
                <a:cs typeface="Segoe UI"/>
              </a:rPr>
              <a:t>(Differentiated Instruction)</a:t>
            </a:r>
          </a:p>
        </p:txBody>
      </p:sp>
      <p:sp>
        <p:nvSpPr>
          <p:cNvPr id="10" name="Rounded Rectangle 9"/>
          <p:cNvSpPr/>
          <p:nvPr/>
        </p:nvSpPr>
        <p:spPr>
          <a:xfrm>
            <a:off x="914400" y="1828800"/>
            <a:ext cx="10332720" cy="137160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900" b="1" i="0">
                <a:solidFill>
                  <a:srgbClr val="1F3A93"/>
                </a:solidFill>
                <a:latin typeface="Segoe UI"/>
                <a:cs typeface="Segoe UI"/>
              </a:rPr>
              <a:t>تصميم التعليم بطريقة مرنة تسمح للطلاب المختلفين بالوصول إلى الهدف التعلمي</a:t>
            </a:r>
          </a:p>
          <a:p>
            <a:pPr algn="ctr" rtl="1">
              <a:spcBef>
                <a:spcPts val="200"/>
              </a:spcBef>
              <a:spcAft>
                <a:spcPts val="200"/>
              </a:spcAft>
            </a:pPr>
            <a:r>
              <a:rPr sz="1900" b="1" i="0">
                <a:solidFill>
                  <a:srgbClr val="1F3A93"/>
                </a:solidFill>
                <a:latin typeface="Segoe UI"/>
                <a:cs typeface="Segoe UI"/>
              </a:rPr>
              <a:t>من خلال طرق أو مستويات دعم مناسبة لاحتياجاتهم.</a:t>
            </a:r>
          </a:p>
        </p:txBody>
      </p:sp>
      <p:sp>
        <p:nvSpPr>
          <p:cNvPr id="11" name="TextBox 10"/>
          <p:cNvSpPr txBox="1"/>
          <p:nvPr/>
        </p:nvSpPr>
        <p:spPr>
          <a:xfrm>
            <a:off x="502920" y="3520440"/>
            <a:ext cx="11183112" cy="2651760"/>
          </a:xfrm>
          <a:prstGeom prst="rect">
            <a:avLst/>
          </a:prstGeom>
          <a:noFill/>
        </p:spPr>
        <p:txBody>
          <a:bodyPr wrap="square" anchor="t" lIns="50800" rIns="50800" tIns="25400" bIns="25400">
            <a:spAutoFit/>
          </a:bodyPr>
          <a:lstStyle/>
          <a:p>
            <a:pPr algn="r" rtl="1">
              <a:spcBef>
                <a:spcPts val="400"/>
              </a:spcBef>
              <a:spcAft>
                <a:spcPts val="400"/>
              </a:spcAft>
            </a:pPr>
            <a:r>
              <a:rPr sz="1700" b="1" i="0">
                <a:solidFill>
                  <a:srgbClr val="1F3A93"/>
                </a:solidFill>
                <a:latin typeface="Segoe UI"/>
                <a:cs typeface="Segoe UI"/>
              </a:rPr>
              <a:t>ثلاث كلمات تلخص الفكرة:</a:t>
            </a:r>
          </a:p>
          <a:p>
            <a:pPr algn="r" rtl="1">
              <a:spcBef>
                <a:spcPts val="800"/>
              </a:spcBef>
              <a:spcAft>
                <a:spcPts val="400"/>
              </a:spcAft>
            </a:pPr>
            <a:r>
              <a:rPr sz="1400" b="1" i="0">
                <a:solidFill>
                  <a:srgbClr val="2BB3B1"/>
                </a:solidFill>
                <a:latin typeface="Segoe UI"/>
                <a:cs typeface="Segoe UI"/>
              </a:rPr>
              <a:t>●  </a:t>
            </a:r>
            <a:r>
              <a:rPr sz="1700" b="1" i="0">
                <a:solidFill>
                  <a:srgbClr val="1F3A93"/>
                </a:solidFill>
                <a:latin typeface="Segoe UI"/>
                <a:cs typeface="Segoe UI"/>
              </a:rPr>
              <a:t>هدف واحد: </a:t>
            </a:r>
            <a:r>
              <a:rPr sz="1650" b="0" i="0">
                <a:solidFill>
                  <a:srgbClr val="2B2F38"/>
                </a:solidFill>
                <a:latin typeface="Segoe UI"/>
                <a:cs typeface="Segoe UI"/>
              </a:rPr>
              <a:t>الجميع يسير نحو الهدف التعلمي نفسه — لا نخفضه لأحد دون ضرورة.</a:t>
            </a:r>
          </a:p>
          <a:p>
            <a:pPr algn="r" rtl="1">
              <a:spcBef>
                <a:spcPts val="800"/>
              </a:spcBef>
              <a:spcAft>
                <a:spcPts val="400"/>
              </a:spcAft>
            </a:pPr>
            <a:r>
              <a:rPr sz="1400" b="1" i="0">
                <a:solidFill>
                  <a:srgbClr val="2BB3B1"/>
                </a:solidFill>
                <a:latin typeface="Segoe UI"/>
                <a:cs typeface="Segoe UI"/>
              </a:rPr>
              <a:t>●  </a:t>
            </a:r>
            <a:r>
              <a:rPr sz="1700" b="1" i="0">
                <a:solidFill>
                  <a:srgbClr val="1F3A93"/>
                </a:solidFill>
                <a:latin typeface="Segoe UI"/>
                <a:cs typeface="Segoe UI"/>
              </a:rPr>
              <a:t>طرق مرنة: </a:t>
            </a:r>
            <a:r>
              <a:rPr sz="1650" b="0" i="0">
                <a:solidFill>
                  <a:srgbClr val="2B2F38"/>
                </a:solidFill>
                <a:latin typeface="Segoe UI"/>
                <a:cs typeface="Segoe UI"/>
              </a:rPr>
              <a:t>أكثر من طريق للفهم، وأكثر من طريقة لإظهار التعلم.</a:t>
            </a:r>
          </a:p>
          <a:p>
            <a:pPr algn="r" rtl="1">
              <a:spcBef>
                <a:spcPts val="800"/>
              </a:spcBef>
              <a:spcAft>
                <a:spcPts val="400"/>
              </a:spcAft>
            </a:pPr>
            <a:r>
              <a:rPr sz="1400" b="1" i="0">
                <a:solidFill>
                  <a:srgbClr val="2BB3B1"/>
                </a:solidFill>
                <a:latin typeface="Segoe UI"/>
                <a:cs typeface="Segoe UI"/>
              </a:rPr>
              <a:t>●  </a:t>
            </a:r>
            <a:r>
              <a:rPr sz="1700" b="1" i="0">
                <a:solidFill>
                  <a:srgbClr val="1F3A93"/>
                </a:solidFill>
                <a:latin typeface="Segoe UI"/>
                <a:cs typeface="Segoe UI"/>
              </a:rPr>
              <a:t>دعم حسب الحاجة: </a:t>
            </a:r>
            <a:r>
              <a:rPr sz="1650" b="0" i="0">
                <a:solidFill>
                  <a:srgbClr val="2B2F38"/>
                </a:solidFill>
                <a:latin typeface="Segoe UI"/>
                <a:cs typeface="Segoe UI"/>
              </a:rPr>
              <a:t>من يحتاج نموذجًا يجده، ومن يحتاج تحديًا يجده — في الدرس نفسه.</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3 — تصحيح المفاهيم</a:t>
            </a:r>
          </a:p>
          <a:p>
            <a:pPr algn="r" rtl="1">
              <a:spcBef>
                <a:spcPts val="0"/>
              </a:spcBef>
              <a:spcAft>
                <a:spcPts val="0"/>
              </a:spcAft>
            </a:pPr>
            <a:r>
              <a:rPr sz="2800" b="1" i="0">
                <a:solidFill>
                  <a:srgbClr val="FFFFFF"/>
                </a:solidFill>
                <a:latin typeface="Segoe UI"/>
                <a:cs typeface="Segoe UI"/>
              </a:rPr>
              <a:t>التعليم المتمايز لا يعني...</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13</a:t>
            </a:r>
          </a:p>
        </p:txBody>
      </p:sp>
      <p:sp>
        <p:nvSpPr>
          <p:cNvPr id="9" name="Rounded Rectangle 8"/>
          <p:cNvSpPr/>
          <p:nvPr/>
        </p:nvSpPr>
        <p:spPr>
          <a:xfrm>
            <a:off x="8092440" y="1371600"/>
            <a:ext cx="359359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500" b="1" i="0">
                <a:solidFill>
                  <a:srgbClr val="1F3A93"/>
                </a:solidFill>
                <a:latin typeface="Segoe UI"/>
                <a:cs typeface="Segoe UI"/>
              </a:rPr>
              <a:t>إعداد 25 درسًا مختلفًا</a:t>
            </a:r>
          </a:p>
          <a:p>
            <a:pPr algn="r" rtl="1">
              <a:spcBef>
                <a:spcPts val="100"/>
              </a:spcBef>
              <a:spcAft>
                <a:spcPts val="100"/>
              </a:spcAft>
            </a:pPr>
            <a:r>
              <a:rPr sz="1250" b="0" i="0">
                <a:solidFill>
                  <a:srgbClr val="2B2F38"/>
                </a:solidFill>
                <a:latin typeface="Segoe UI"/>
                <a:cs typeface="Segoe UI"/>
              </a:rPr>
              <a:t>درس واحد مرن — لا خطة لكل طالب. التمايز في نقاط محددة من الدرس، لا في كل شيء.</a:t>
            </a:r>
          </a:p>
        </p:txBody>
      </p:sp>
      <p:sp>
        <p:nvSpPr>
          <p:cNvPr id="10" name="Rounded Rectangle 9"/>
          <p:cNvSpPr/>
          <p:nvPr/>
        </p:nvSpPr>
        <p:spPr>
          <a:xfrm>
            <a:off x="4297680" y="1371600"/>
            <a:ext cx="359359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500" b="1" i="0">
                <a:solidFill>
                  <a:srgbClr val="1F3A93"/>
                </a:solidFill>
                <a:latin typeface="Segoe UI"/>
                <a:cs typeface="Segoe UI"/>
              </a:rPr>
              <a:t>عملًا أقل لمن يواجه صعوبة</a:t>
            </a:r>
          </a:p>
          <a:p>
            <a:pPr algn="r" rtl="1">
              <a:spcBef>
                <a:spcPts val="100"/>
              </a:spcBef>
              <a:spcAft>
                <a:spcPts val="100"/>
              </a:spcAft>
            </a:pPr>
            <a:r>
              <a:rPr sz="1250" b="0" i="0">
                <a:solidFill>
                  <a:srgbClr val="2B2F38"/>
                </a:solidFill>
                <a:latin typeface="Segoe UI"/>
                <a:cs typeface="Segoe UI"/>
              </a:rPr>
              <a:t>تقليل كمية المهمة دون تفكير يحرم الطالب من التعلم. نغيّر الدعم والطريق، لا قيمة الهدف.</a:t>
            </a:r>
          </a:p>
        </p:txBody>
      </p:sp>
      <p:sp>
        <p:nvSpPr>
          <p:cNvPr id="11" name="Rounded Rectangle 10"/>
          <p:cNvSpPr/>
          <p:nvPr/>
        </p:nvSpPr>
        <p:spPr>
          <a:xfrm>
            <a:off x="502920" y="1371600"/>
            <a:ext cx="359359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500" b="1" i="0">
                <a:solidFill>
                  <a:srgbClr val="1F3A93"/>
                </a:solidFill>
                <a:latin typeface="Segoe UI"/>
                <a:cs typeface="Segoe UI"/>
              </a:rPr>
              <a:t>خفض التوقعات للجميع</a:t>
            </a:r>
          </a:p>
          <a:p>
            <a:pPr algn="r" rtl="1">
              <a:spcBef>
                <a:spcPts val="100"/>
              </a:spcBef>
              <a:spcAft>
                <a:spcPts val="100"/>
              </a:spcAft>
            </a:pPr>
            <a:r>
              <a:rPr sz="1250" b="0" i="0">
                <a:solidFill>
                  <a:srgbClr val="2B2F38"/>
                </a:solidFill>
                <a:latin typeface="Segoe UI"/>
                <a:cs typeface="Segoe UI"/>
              </a:rPr>
              <a:t>التمايز يرفع الجميع نحو الهدف — لا يهبط بالهدف نحو الأسهل.</a:t>
            </a:r>
          </a:p>
        </p:txBody>
      </p:sp>
      <p:sp>
        <p:nvSpPr>
          <p:cNvPr id="12" name="Rounded Rectangle 11"/>
          <p:cNvSpPr/>
          <p:nvPr/>
        </p:nvSpPr>
        <p:spPr>
          <a:xfrm>
            <a:off x="8092440" y="4032504"/>
            <a:ext cx="359359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500" b="1" i="0">
                <a:solidFill>
                  <a:srgbClr val="1F3A93"/>
                </a:solidFill>
                <a:latin typeface="Segoe UI"/>
                <a:cs typeface="Segoe UI"/>
              </a:rPr>
              <a:t>مجموعات ثابتة دائمة</a:t>
            </a:r>
          </a:p>
          <a:p>
            <a:pPr algn="r" rtl="1">
              <a:spcBef>
                <a:spcPts val="100"/>
              </a:spcBef>
              <a:spcAft>
                <a:spcPts val="100"/>
              </a:spcAft>
            </a:pPr>
            <a:r>
              <a:rPr sz="1250" b="0" i="0">
                <a:solidFill>
                  <a:srgbClr val="2B2F38"/>
                </a:solidFill>
                <a:latin typeface="Segoe UI"/>
                <a:cs typeface="Segoe UI"/>
              </a:rPr>
              <a:t>«مجموعة الضعاف» الثابتة تصنيف وليست تمايزًا. المجموعات تتغير حسب الهدف والحاجة.</a:t>
            </a:r>
          </a:p>
        </p:txBody>
      </p:sp>
      <p:sp>
        <p:nvSpPr>
          <p:cNvPr id="13" name="Rounded Rectangle 12"/>
          <p:cNvSpPr/>
          <p:nvPr/>
        </p:nvSpPr>
        <p:spPr>
          <a:xfrm>
            <a:off x="4297680" y="4032504"/>
            <a:ext cx="359359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500" b="1" i="0">
                <a:solidFill>
                  <a:srgbClr val="1F3A93"/>
                </a:solidFill>
                <a:latin typeface="Segoe UI"/>
                <a:cs typeface="Segoe UI"/>
              </a:rPr>
              <a:t>أنشطة عشوائية كثيرة</a:t>
            </a:r>
          </a:p>
          <a:p>
            <a:pPr algn="r" rtl="1">
              <a:spcBef>
                <a:spcPts val="100"/>
              </a:spcBef>
              <a:spcAft>
                <a:spcPts val="100"/>
              </a:spcAft>
            </a:pPr>
            <a:r>
              <a:rPr sz="1250" b="0" i="0">
                <a:solidFill>
                  <a:srgbClr val="2B2F38"/>
                </a:solidFill>
                <a:latin typeface="Segoe UI"/>
                <a:cs typeface="Segoe UI"/>
              </a:rPr>
              <a:t>كثرة الأنشطة بلا هدف واحد واضح فوضى، وليست تمايزًا.</a:t>
            </a:r>
          </a:p>
        </p:txBody>
      </p:sp>
      <p:sp>
        <p:nvSpPr>
          <p:cNvPr id="14" name="Rounded Rectangle 13"/>
          <p:cNvSpPr/>
          <p:nvPr/>
        </p:nvSpPr>
        <p:spPr>
          <a:xfrm>
            <a:off x="502920" y="4032504"/>
            <a:ext cx="359359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500" b="1" i="0">
                <a:solidFill>
                  <a:srgbClr val="1F3A93"/>
                </a:solidFill>
                <a:latin typeface="Segoe UI"/>
                <a:cs typeface="Segoe UI"/>
              </a:rPr>
              <a:t>ترك كل طالب يفعل ما يريد</a:t>
            </a:r>
          </a:p>
          <a:p>
            <a:pPr algn="r" rtl="1">
              <a:spcBef>
                <a:spcPts val="100"/>
              </a:spcBef>
              <a:spcAft>
                <a:spcPts val="100"/>
              </a:spcAft>
            </a:pPr>
            <a:r>
              <a:rPr sz="1250" b="0" i="0">
                <a:solidFill>
                  <a:srgbClr val="2B2F38"/>
                </a:solidFill>
                <a:latin typeface="Segoe UI"/>
                <a:cs typeface="Segoe UI"/>
              </a:rPr>
              <a:t>الخيارات تكون ضمن إطار يقوده المعلم نحو الهدف — الحرية الموجهة لا الفوضى.</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4 — حقيقة أم مفهوم خاطئ؟</a:t>
            </a:r>
          </a:p>
          <a:p>
            <a:pPr algn="r" rtl="1">
              <a:spcBef>
                <a:spcPts val="0"/>
              </a:spcBef>
              <a:spcAft>
                <a:spcPts val="0"/>
              </a:spcAft>
            </a:pPr>
            <a:r>
              <a:rPr sz="2800" b="1" i="0">
                <a:solidFill>
                  <a:srgbClr val="FFFFFF"/>
                </a:solidFill>
                <a:latin typeface="Segoe UI"/>
                <a:cs typeface="Segoe UI"/>
              </a:rPr>
              <a:t>أسطورة: «التمايز يعني تدريس عدة دروس معًا»</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14</a:t>
            </a:r>
          </a:p>
        </p:txBody>
      </p:sp>
      <p:sp>
        <p:nvSpPr>
          <p:cNvPr id="9" name="Rounded Rectangle 8"/>
          <p:cNvSpPr/>
          <p:nvPr/>
        </p:nvSpPr>
        <p:spPr>
          <a:xfrm>
            <a:off x="1280160" y="1371600"/>
            <a:ext cx="9601200" cy="10058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200" b="1" i="0">
                <a:solidFill>
                  <a:srgbClr val="1F3A93"/>
                </a:solidFill>
                <a:latin typeface="Segoe UI"/>
                <a:cs typeface="Segoe UI"/>
              </a:rPr>
              <a:t>«إذا كان لدي 30 طالبًا، فهل يجب أن أصمم 30 خطة؟»</a:t>
            </a:r>
          </a:p>
        </p:txBody>
      </p:sp>
      <p:sp>
        <p:nvSpPr>
          <p:cNvPr id="10" name="Rounded Rectangle 9"/>
          <p:cNvSpPr/>
          <p:nvPr/>
        </p:nvSpPr>
        <p:spPr>
          <a:xfrm>
            <a:off x="4937760" y="2606040"/>
            <a:ext cx="2286000" cy="731520"/>
          </a:xfrm>
          <a:prstGeom prst="roundRect">
            <a:avLst>
              <a:gd name="adj" fmla="val 8000"/>
            </a:avLst>
          </a:prstGeom>
          <a:solidFill>
            <a:srgbClr val="B033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600" b="1" i="0">
                <a:solidFill>
                  <a:srgbClr val="FFFFFF"/>
                </a:solidFill>
                <a:latin typeface="Segoe UI"/>
                <a:cs typeface="Segoe UI"/>
              </a:rPr>
              <a:t>لا.</a:t>
            </a:r>
          </a:p>
        </p:txBody>
      </p:sp>
      <p:sp>
        <p:nvSpPr>
          <p:cNvPr id="11" name="TextBox 10"/>
          <p:cNvSpPr txBox="1"/>
          <p:nvPr/>
        </p:nvSpPr>
        <p:spPr>
          <a:xfrm>
            <a:off x="502920" y="3611880"/>
            <a:ext cx="11183112" cy="2560320"/>
          </a:xfrm>
          <a:prstGeom prst="rect">
            <a:avLst/>
          </a:prstGeom>
          <a:noFill/>
        </p:spPr>
        <p:txBody>
          <a:bodyPr wrap="square" anchor="t" lIns="50800" rIns="50800" tIns="25400" bIns="25400">
            <a:spAutoFit/>
          </a:bodyPr>
          <a:lstStyle/>
          <a:p>
            <a:pPr algn="r" rtl="1">
              <a:spcBef>
                <a:spcPts val="700"/>
              </a:spcBef>
              <a:spcAft>
                <a:spcPts val="400"/>
              </a:spcAft>
            </a:pPr>
            <a:r>
              <a:rPr sz="1400" b="1" i="0">
                <a:solidFill>
                  <a:srgbClr val="2BB3B1"/>
                </a:solidFill>
                <a:latin typeface="Segoe UI"/>
                <a:cs typeface="Segoe UI"/>
              </a:rPr>
              <a:t>●  </a:t>
            </a:r>
            <a:r>
              <a:rPr sz="1700" b="0" i="0">
                <a:solidFill>
                  <a:srgbClr val="2B2F38"/>
                </a:solidFill>
                <a:latin typeface="Segoe UI"/>
                <a:cs typeface="Segoe UI"/>
              </a:rPr>
              <a:t>تبدأ بهدف تعلمي واحد يسير نحوه الصف كله.</a:t>
            </a:r>
          </a:p>
          <a:p>
            <a:pPr algn="r" rtl="1">
              <a:spcBef>
                <a:spcPts val="700"/>
              </a:spcBef>
              <a:spcAft>
                <a:spcPts val="400"/>
              </a:spcAft>
            </a:pPr>
            <a:r>
              <a:rPr sz="1400" b="1" i="0">
                <a:solidFill>
                  <a:srgbClr val="2BB3B1"/>
                </a:solidFill>
                <a:latin typeface="Segoe UI"/>
                <a:cs typeface="Segoe UI"/>
              </a:rPr>
              <a:t>●  </a:t>
            </a:r>
            <a:r>
              <a:rPr sz="1700" b="0" i="0">
                <a:solidFill>
                  <a:srgbClr val="2B2F38"/>
                </a:solidFill>
                <a:latin typeface="Segoe UI"/>
                <a:cs typeface="Segoe UI"/>
              </a:rPr>
              <a:t>ثم توفر طريقين أو ثلاثة للوصول إليه — لا ثلاثين.</a:t>
            </a:r>
          </a:p>
          <a:p>
            <a:pPr algn="r" rtl="1">
              <a:spcBef>
                <a:spcPts val="700"/>
              </a:spcBef>
              <a:spcAft>
                <a:spcPts val="400"/>
              </a:spcAft>
            </a:pPr>
            <a:r>
              <a:rPr sz="1400" b="1" i="0">
                <a:solidFill>
                  <a:srgbClr val="2BB3B1"/>
                </a:solidFill>
                <a:latin typeface="Segoe UI"/>
                <a:cs typeface="Segoe UI"/>
              </a:rPr>
              <a:t>●  </a:t>
            </a:r>
            <a:r>
              <a:rPr sz="1700" b="0" i="0">
                <a:solidFill>
                  <a:srgbClr val="2B2F38"/>
                </a:solidFill>
                <a:latin typeface="Segoe UI"/>
                <a:cs typeface="Segoe UI"/>
              </a:rPr>
              <a:t>وتضيف مستويات دعم: نموذج لمن يحتاجه، وتحديًا لمن أتقن.</a:t>
            </a:r>
          </a:p>
          <a:p>
            <a:pPr algn="r" rtl="1">
              <a:spcBef>
                <a:spcPts val="700"/>
              </a:spcBef>
              <a:spcAft>
                <a:spcPts val="400"/>
              </a:spcAft>
            </a:pPr>
            <a:r>
              <a:rPr sz="1400" b="1" i="0">
                <a:solidFill>
                  <a:srgbClr val="2BB3B1"/>
                </a:solidFill>
                <a:latin typeface="Segoe UI"/>
                <a:cs typeface="Segoe UI"/>
              </a:rPr>
              <a:t>●  </a:t>
            </a:r>
            <a:r>
              <a:rPr sz="1700" b="0" i="0">
                <a:solidFill>
                  <a:srgbClr val="2B2F38"/>
                </a:solidFill>
                <a:latin typeface="Segoe UI"/>
                <a:cs typeface="Segoe UI"/>
              </a:rPr>
              <a:t>معظم التمايز الفعال يكون في نقطة واحدة أو نقطتين من الدرس، وليس في الدرس كله.</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4 — النموذج الأساسي</a:t>
            </a:r>
          </a:p>
          <a:p>
            <a:pPr algn="r" rtl="1">
              <a:spcBef>
                <a:spcPts val="0"/>
              </a:spcBef>
              <a:spcAft>
                <a:spcPts val="0"/>
              </a:spcAft>
            </a:pPr>
            <a:r>
              <a:rPr sz="2800" b="1" i="0">
                <a:solidFill>
                  <a:srgbClr val="FFFFFF"/>
                </a:solidFill>
                <a:latin typeface="Segoe UI"/>
                <a:cs typeface="Segoe UI"/>
              </a:rPr>
              <a:t>الصورة الكاملة: هدف واحد، طرق متعددة</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15</a:t>
            </a:r>
          </a:p>
        </p:txBody>
      </p:sp>
      <p:sp>
        <p:nvSpPr>
          <p:cNvPr id="9" name="Rounded Rectangle 8"/>
          <p:cNvSpPr/>
          <p:nvPr/>
        </p:nvSpPr>
        <p:spPr>
          <a:xfrm>
            <a:off x="4041648" y="1371600"/>
            <a:ext cx="4114800" cy="86868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000" b="1" i="0">
                <a:solidFill>
                  <a:srgbClr val="FFFFFF"/>
                </a:solidFill>
                <a:latin typeface="Segoe UI"/>
                <a:cs typeface="Segoe UI"/>
              </a:rPr>
              <a:t>هدف تعلمي واحد</a:t>
            </a:r>
          </a:p>
        </p:txBody>
      </p:sp>
      <p:sp>
        <p:nvSpPr>
          <p:cNvPr id="10" name="Down Arrow 9"/>
          <p:cNvSpPr/>
          <p:nvPr/>
        </p:nvSpPr>
        <p:spPr>
          <a:xfrm>
            <a:off x="5870448" y="2331720"/>
            <a:ext cx="457200" cy="502920"/>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107527" y="2926080"/>
            <a:ext cx="3108960" cy="114300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50" b="1" i="0">
                <a:solidFill>
                  <a:srgbClr val="FFFFFF"/>
                </a:solidFill>
                <a:latin typeface="Segoe UI"/>
                <a:cs typeface="Segoe UI"/>
              </a:rPr>
              <a:t>طريق 1:
مع نموذج ودعم</a:t>
            </a:r>
          </a:p>
        </p:txBody>
      </p:sp>
      <p:sp>
        <p:nvSpPr>
          <p:cNvPr id="12" name="Down Arrow 11"/>
          <p:cNvSpPr/>
          <p:nvPr/>
        </p:nvSpPr>
        <p:spPr>
          <a:xfrm>
            <a:off x="9433407" y="4160520"/>
            <a:ext cx="457200" cy="457200"/>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41367" y="2926080"/>
            <a:ext cx="3108960" cy="114300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50" b="1" i="0">
                <a:solidFill>
                  <a:srgbClr val="FFFFFF"/>
                </a:solidFill>
                <a:latin typeface="Segoe UI"/>
                <a:cs typeface="Segoe UI"/>
              </a:rPr>
              <a:t>طريق 2:
عمل مستقل</a:t>
            </a:r>
          </a:p>
        </p:txBody>
      </p:sp>
      <p:sp>
        <p:nvSpPr>
          <p:cNvPr id="14" name="Down Arrow 13"/>
          <p:cNvSpPr/>
          <p:nvPr/>
        </p:nvSpPr>
        <p:spPr>
          <a:xfrm>
            <a:off x="5867247" y="4160520"/>
            <a:ext cx="457200" cy="457200"/>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5207" y="2926080"/>
            <a:ext cx="3108960" cy="114300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50" b="1" i="0">
                <a:solidFill>
                  <a:srgbClr val="FFFFFF"/>
                </a:solidFill>
                <a:latin typeface="Segoe UI"/>
                <a:cs typeface="Segoe UI"/>
              </a:rPr>
              <a:t>طريق 3:
مهمة أكثر تحديًا</a:t>
            </a:r>
          </a:p>
        </p:txBody>
      </p:sp>
      <p:sp>
        <p:nvSpPr>
          <p:cNvPr id="16" name="Down Arrow 15"/>
          <p:cNvSpPr/>
          <p:nvPr/>
        </p:nvSpPr>
        <p:spPr>
          <a:xfrm>
            <a:off x="2301087" y="4160520"/>
            <a:ext cx="457200" cy="457200"/>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4709160"/>
            <a:ext cx="3108960" cy="82296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450" b="1" i="0">
                <a:solidFill>
                  <a:srgbClr val="1F3A93"/>
                </a:solidFill>
                <a:latin typeface="Segoe UI"/>
                <a:cs typeface="Segoe UI"/>
              </a:rPr>
              <a:t>دليل: شرح شفهي</a:t>
            </a:r>
          </a:p>
        </p:txBody>
      </p:sp>
      <p:sp>
        <p:nvSpPr>
          <p:cNvPr id="18" name="Rounded Rectangle 17"/>
          <p:cNvSpPr/>
          <p:nvPr/>
        </p:nvSpPr>
        <p:spPr>
          <a:xfrm>
            <a:off x="4541367" y="4709160"/>
            <a:ext cx="3108960" cy="82296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450" b="1" i="0">
                <a:solidFill>
                  <a:srgbClr val="1F3A93"/>
                </a:solidFill>
                <a:latin typeface="Segoe UI"/>
                <a:cs typeface="Segoe UI"/>
              </a:rPr>
              <a:t>دليل: رسم أو مخطط</a:t>
            </a:r>
          </a:p>
        </p:txBody>
      </p:sp>
      <p:sp>
        <p:nvSpPr>
          <p:cNvPr id="19" name="Rounded Rectangle 18"/>
          <p:cNvSpPr/>
          <p:nvPr/>
        </p:nvSpPr>
        <p:spPr>
          <a:xfrm>
            <a:off x="975207" y="4709160"/>
            <a:ext cx="3108960" cy="82296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450" b="1" i="0">
                <a:solidFill>
                  <a:srgbClr val="1F3A93"/>
                </a:solidFill>
                <a:latin typeface="Segoe UI"/>
                <a:cs typeface="Segoe UI"/>
              </a:rPr>
              <a:t>دليل: إجابة مكتوبة</a:t>
            </a:r>
          </a:p>
        </p:txBody>
      </p:sp>
      <p:sp>
        <p:nvSpPr>
          <p:cNvPr id="20" name="TextBox 19"/>
          <p:cNvSpPr txBox="1"/>
          <p:nvPr/>
        </p:nvSpPr>
        <p:spPr>
          <a:xfrm>
            <a:off x="502920" y="5760720"/>
            <a:ext cx="11183112" cy="640080"/>
          </a:xfrm>
          <a:prstGeom prst="rect">
            <a:avLst/>
          </a:prstGeom>
          <a:noFill/>
        </p:spPr>
        <p:txBody>
          <a:bodyPr wrap="square" anchor="t" lIns="50800" rIns="50800" tIns="25400" bIns="25400">
            <a:spAutoFit/>
          </a:bodyPr>
          <a:lstStyle/>
          <a:p>
            <a:pPr algn="ctr" rtl="1">
              <a:spcBef>
                <a:spcPts val="400"/>
              </a:spcBef>
              <a:spcAft>
                <a:spcPts val="400"/>
              </a:spcAft>
            </a:pPr>
            <a:r>
              <a:rPr sz="1600" b="1" i="0">
                <a:solidFill>
                  <a:srgbClr val="1F3A93"/>
                </a:solidFill>
                <a:latin typeface="Segoe UI"/>
                <a:cs typeface="Segoe UI"/>
              </a:rPr>
              <a:t>أدلة مختلفة على التعلم — لكن الجميع وصل إلى الهدف نفسه.</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5</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5</a:t>
            </a:r>
          </a:p>
          <a:p>
            <a:pPr algn="r" rtl="1">
              <a:spcBef>
                <a:spcPts val="600"/>
              </a:spcBef>
              <a:spcAft>
                <a:spcPts val="400"/>
              </a:spcAft>
            </a:pPr>
            <a:r>
              <a:rPr sz="4000" b="1" i="0">
                <a:solidFill>
                  <a:srgbClr val="FFFFFF"/>
                </a:solidFill>
                <a:latin typeface="Segoe UI"/>
                <a:cs typeface="Segoe UI"/>
              </a:rPr>
              <a:t>ابدأ من الهدف التعلمي</a:t>
            </a:r>
          </a:p>
          <a:p>
            <a:pPr algn="r" rtl="1">
              <a:spcBef>
                <a:spcPts val="400"/>
              </a:spcBef>
              <a:spcAft>
                <a:spcPts val="400"/>
              </a:spcAft>
            </a:pPr>
            <a:r>
              <a:rPr sz="1600" b="0" i="0">
                <a:solidFill>
                  <a:srgbClr val="E4F6F6"/>
                </a:solidFill>
                <a:latin typeface="Segoe UI"/>
                <a:cs typeface="Segoe UI"/>
              </a:rPr>
              <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السؤال الصحيح: ماذا أريد أن يتعلم الطالب؟</a:t>
            </a:r>
          </a:p>
          <a:p>
            <a:pPr algn="r" rtl="1">
              <a:spcBef>
                <a:spcPts val="400"/>
              </a:spcBef>
            </a:pPr>
            <a:r>
              <a:rPr sz="1600" b="0" i="0">
                <a:solidFill>
                  <a:srgbClr val="FFFFFF"/>
                </a:solidFill>
                <a:latin typeface="Segoe UI"/>
                <a:cs typeface="Segoe UI"/>
              </a:rPr>
              <a:t>◂  الفرق بين الهدف والنشاط والدليل على التعلم</a:t>
            </a:r>
          </a:p>
          <a:p>
            <a:pPr algn="r" rtl="1">
              <a:spcBef>
                <a:spcPts val="400"/>
              </a:spcBef>
            </a:pPr>
            <a:r>
              <a:rPr sz="1600" b="0" i="0">
                <a:solidFill>
                  <a:srgbClr val="FFFFFF"/>
                </a:solidFill>
                <a:latin typeface="Segoe UI"/>
                <a:cs typeface="Segoe UI"/>
              </a:rPr>
              <a:t>◂  مثال عملي من درس دورة الماء</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5</a:t>
            </a:r>
          </a:p>
          <a:p>
            <a:pPr algn="r" rtl="1">
              <a:spcBef>
                <a:spcPts val="0"/>
              </a:spcBef>
              <a:spcAft>
                <a:spcPts val="0"/>
              </a:spcAft>
            </a:pPr>
            <a:r>
              <a:rPr sz="2800" b="1" i="0">
                <a:solidFill>
                  <a:srgbClr val="FFFFFF"/>
                </a:solidFill>
                <a:latin typeface="Segoe UI"/>
                <a:cs typeface="Segoe UI"/>
              </a:rPr>
              <a:t>الهدف ليس النشاط... والنشاط ليس الدليل</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17</a:t>
            </a:r>
          </a:p>
        </p:txBody>
      </p:sp>
      <p:sp>
        <p:nvSpPr>
          <p:cNvPr id="9" name="TextBox 8"/>
          <p:cNvSpPr txBox="1"/>
          <p:nvPr/>
        </p:nvSpPr>
        <p:spPr>
          <a:xfrm>
            <a:off x="502920" y="1188720"/>
            <a:ext cx="11183112" cy="914400"/>
          </a:xfrm>
          <a:prstGeom prst="rect">
            <a:avLst/>
          </a:prstGeom>
          <a:noFill/>
        </p:spPr>
        <p:txBody>
          <a:bodyPr wrap="square" anchor="t" lIns="50800" rIns="50800" tIns="25400" bIns="25400">
            <a:spAutoFit/>
          </a:bodyPr>
          <a:lstStyle/>
          <a:p>
            <a:pPr algn="r" rtl="1">
              <a:spcBef>
                <a:spcPts val="400"/>
              </a:spcBef>
              <a:spcAft>
                <a:spcPts val="400"/>
              </a:spcAft>
            </a:pPr>
            <a:r>
              <a:rPr sz="1700" b="1" i="0">
                <a:solidFill>
                  <a:srgbClr val="1F3A93"/>
                </a:solidFill>
                <a:latin typeface="Segoe UI"/>
                <a:cs typeface="Segoe UI"/>
              </a:rPr>
              <a:t>الهدف التعلمي </a:t>
            </a:r>
            <a:r>
              <a:rPr sz="1300" b="0" i="0">
                <a:solidFill>
                  <a:srgbClr val="6B7280"/>
                </a:solidFill>
                <a:latin typeface="Segoe UI"/>
                <a:cs typeface="Segoe UI"/>
              </a:rPr>
              <a:t>(Learning Goal)</a:t>
            </a:r>
            <a:r>
              <a:rPr sz="1550" b="0" i="0">
                <a:solidFill>
                  <a:srgbClr val="2B2F38"/>
                </a:solidFill>
                <a:latin typeface="Segoe UI"/>
                <a:cs typeface="Segoe UI"/>
              </a:rPr>
              <a:t> هو ما تريد أن يتعلمه الطالب. التمايز الجيد يبدأ من سؤال: </a:t>
            </a:r>
            <a:r>
              <a:rPr sz="1550" b="1" i="0">
                <a:solidFill>
                  <a:srgbClr val="1F3A93"/>
                </a:solidFill>
                <a:latin typeface="Segoe UI"/>
                <a:cs typeface="Segoe UI"/>
              </a:rPr>
              <a:t>«ماذا أريد أن يتعلم الطالب؟»</a:t>
            </a:r>
            <a:r>
              <a:rPr sz="1550" b="0" i="0">
                <a:solidFill>
                  <a:srgbClr val="2B2F38"/>
                </a:solidFill>
                <a:latin typeface="Segoe UI"/>
                <a:cs typeface="Segoe UI"/>
              </a:rPr>
              <a:t> وليس: «ما النشاط الذي سأعطيه؟»</a:t>
            </a:r>
          </a:p>
        </p:txBody>
      </p:sp>
      <p:sp>
        <p:nvSpPr>
          <p:cNvPr id="10" name="Rounded Rectangle 9"/>
          <p:cNvSpPr/>
          <p:nvPr/>
        </p:nvSpPr>
        <p:spPr>
          <a:xfrm>
            <a:off x="8074152" y="2331720"/>
            <a:ext cx="3602736" cy="566928"/>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700" b="1" i="0">
                <a:solidFill>
                  <a:srgbClr val="FFFFFF"/>
                </a:solidFill>
                <a:latin typeface="Segoe UI"/>
                <a:cs typeface="Segoe UI"/>
              </a:rPr>
              <a:t>الهدف التعلمي</a:t>
            </a:r>
          </a:p>
        </p:txBody>
      </p:sp>
      <p:sp>
        <p:nvSpPr>
          <p:cNvPr id="11" name="Rounded Rectangle 10"/>
          <p:cNvSpPr/>
          <p:nvPr/>
        </p:nvSpPr>
        <p:spPr>
          <a:xfrm>
            <a:off x="8074152" y="3017520"/>
            <a:ext cx="3602736" cy="228600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400" b="1" i="0">
                <a:solidFill>
                  <a:srgbClr val="1F3A93"/>
                </a:solidFill>
                <a:latin typeface="Segoe UI"/>
                <a:cs typeface="Segoe UI"/>
              </a:rPr>
              <a:t>ما الذي سيتعلمه الطالب؟</a:t>
            </a:r>
          </a:p>
          <a:p>
            <a:pPr algn="r" rtl="1">
              <a:spcBef>
                <a:spcPts val="200"/>
              </a:spcBef>
              <a:spcAft>
                <a:spcPts val="200"/>
              </a:spcAft>
            </a:pPr>
            <a:r>
              <a:rPr sz="1250" b="1" i="0">
                <a:solidFill>
                  <a:srgbClr val="6B7280"/>
                </a:solidFill>
                <a:latin typeface="Segoe UI"/>
                <a:cs typeface="Segoe UI"/>
              </a:rPr>
              <a:t>مثال — دورة الماء:</a:t>
            </a:r>
          </a:p>
          <a:p>
            <a:pPr algn="r" rtl="1">
              <a:spcBef>
                <a:spcPts val="200"/>
              </a:spcBef>
              <a:spcAft>
                <a:spcPts val="200"/>
              </a:spcAft>
            </a:pPr>
            <a:r>
              <a:rPr sz="1300" b="0" i="0">
                <a:solidFill>
                  <a:srgbClr val="2B2F38"/>
                </a:solidFill>
                <a:latin typeface="Segoe UI"/>
                <a:cs typeface="Segoe UI"/>
              </a:rPr>
              <a:t>أن يحدد الطالب المراحل الأساسية لدورة الماء ويشرح العلاقة بينها.</a:t>
            </a:r>
          </a:p>
        </p:txBody>
      </p:sp>
      <p:sp>
        <p:nvSpPr>
          <p:cNvPr id="12" name="Rounded Rectangle 11"/>
          <p:cNvSpPr/>
          <p:nvPr/>
        </p:nvSpPr>
        <p:spPr>
          <a:xfrm>
            <a:off x="4288536" y="2331720"/>
            <a:ext cx="3602736" cy="566928"/>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700" b="1" i="0">
                <a:solidFill>
                  <a:srgbClr val="FFFFFF"/>
                </a:solidFill>
                <a:latin typeface="Segoe UI"/>
                <a:cs typeface="Segoe UI"/>
              </a:rPr>
              <a:t>النشاط</a:t>
            </a:r>
          </a:p>
        </p:txBody>
      </p:sp>
      <p:sp>
        <p:nvSpPr>
          <p:cNvPr id="13" name="Rounded Rectangle 12"/>
          <p:cNvSpPr/>
          <p:nvPr/>
        </p:nvSpPr>
        <p:spPr>
          <a:xfrm>
            <a:off x="4288536" y="3017520"/>
            <a:ext cx="3602736" cy="228600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400" b="1" i="0">
                <a:solidFill>
                  <a:srgbClr val="1F3A93"/>
                </a:solidFill>
                <a:latin typeface="Segoe UI"/>
                <a:cs typeface="Segoe UI"/>
              </a:rPr>
              <a:t>ما الذي سيفعله الطالب ليتعلم؟</a:t>
            </a:r>
          </a:p>
          <a:p>
            <a:pPr algn="r" rtl="1">
              <a:spcBef>
                <a:spcPts val="200"/>
              </a:spcBef>
              <a:spcAft>
                <a:spcPts val="200"/>
              </a:spcAft>
            </a:pPr>
            <a:r>
              <a:rPr sz="1250" b="1" i="0">
                <a:solidFill>
                  <a:srgbClr val="6B7280"/>
                </a:solidFill>
                <a:latin typeface="Segoe UI"/>
                <a:cs typeface="Segoe UI"/>
              </a:rPr>
              <a:t>مثال — دورة الماء:</a:t>
            </a:r>
          </a:p>
          <a:p>
            <a:pPr algn="r" rtl="1">
              <a:spcBef>
                <a:spcPts val="200"/>
              </a:spcBef>
              <a:spcAft>
                <a:spcPts val="200"/>
              </a:spcAft>
            </a:pPr>
            <a:r>
              <a:rPr sz="1300" b="0" i="0">
                <a:solidFill>
                  <a:srgbClr val="2B2F38"/>
                </a:solidFill>
                <a:latin typeface="Segoe UI"/>
                <a:cs typeface="Segoe UI"/>
              </a:rPr>
              <a:t>قراءة نص، مشاهدة رسم متحرك، ترتيب بطاقات المراحل، أو مناقشة في مجموعة.</a:t>
            </a:r>
          </a:p>
        </p:txBody>
      </p:sp>
      <p:sp>
        <p:nvSpPr>
          <p:cNvPr id="14" name="Rounded Rectangle 13"/>
          <p:cNvSpPr/>
          <p:nvPr/>
        </p:nvSpPr>
        <p:spPr>
          <a:xfrm>
            <a:off x="502920" y="2331720"/>
            <a:ext cx="3602736" cy="566928"/>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700" b="1" i="0">
                <a:solidFill>
                  <a:srgbClr val="162B6B"/>
                </a:solidFill>
                <a:latin typeface="Segoe UI"/>
                <a:cs typeface="Segoe UI"/>
              </a:rPr>
              <a:t>الدليل على التعلم</a:t>
            </a:r>
          </a:p>
        </p:txBody>
      </p:sp>
      <p:sp>
        <p:nvSpPr>
          <p:cNvPr id="15" name="Rounded Rectangle 14"/>
          <p:cNvSpPr/>
          <p:nvPr/>
        </p:nvSpPr>
        <p:spPr>
          <a:xfrm>
            <a:off x="502920" y="3017520"/>
            <a:ext cx="3602736" cy="228600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400" b="1" i="0">
                <a:solidFill>
                  <a:srgbClr val="1F3A93"/>
                </a:solidFill>
                <a:latin typeface="Segoe UI"/>
                <a:cs typeface="Segoe UI"/>
              </a:rPr>
              <a:t>كيف سنعرف أنه تعلم فعلًا؟</a:t>
            </a:r>
          </a:p>
          <a:p>
            <a:pPr algn="r" rtl="1">
              <a:spcBef>
                <a:spcPts val="200"/>
              </a:spcBef>
              <a:spcAft>
                <a:spcPts val="200"/>
              </a:spcAft>
            </a:pPr>
            <a:r>
              <a:rPr sz="1250" b="1" i="0">
                <a:solidFill>
                  <a:srgbClr val="6B7280"/>
                </a:solidFill>
                <a:latin typeface="Segoe UI"/>
                <a:cs typeface="Segoe UI"/>
              </a:rPr>
              <a:t>مثال — دورة الماء:</a:t>
            </a:r>
          </a:p>
          <a:p>
            <a:pPr algn="r" rtl="1">
              <a:spcBef>
                <a:spcPts val="200"/>
              </a:spcBef>
              <a:spcAft>
                <a:spcPts val="200"/>
              </a:spcAft>
            </a:pPr>
            <a:r>
              <a:rPr sz="1300" b="0" i="0">
                <a:solidFill>
                  <a:srgbClr val="2B2F38"/>
                </a:solidFill>
                <a:latin typeface="Segoe UI"/>
                <a:cs typeface="Segoe UI"/>
              </a:rPr>
              <a:t>رسم دورة الماء، ترتيب المراحل بشكل صحيح، شرح شفهي، أو إجابة مكتوبة.</a:t>
            </a:r>
          </a:p>
        </p:txBody>
      </p:sp>
      <p:sp>
        <p:nvSpPr>
          <p:cNvPr id="16" name="TextBox 15"/>
          <p:cNvSpPr txBox="1"/>
          <p:nvPr/>
        </p:nvSpPr>
        <p:spPr>
          <a:xfrm>
            <a:off x="502920" y="5532120"/>
            <a:ext cx="11183112" cy="777240"/>
          </a:xfrm>
          <a:prstGeom prst="rect">
            <a:avLst/>
          </a:prstGeom>
          <a:noFill/>
        </p:spPr>
        <p:txBody>
          <a:bodyPr wrap="square" anchor="t" lIns="50800" rIns="50800" tIns="25400" bIns="25400">
            <a:spAutoFit/>
          </a:bodyPr>
          <a:lstStyle/>
          <a:p>
            <a:pPr algn="ctr" rtl="1">
              <a:spcBef>
                <a:spcPts val="400"/>
              </a:spcBef>
              <a:spcAft>
                <a:spcPts val="400"/>
              </a:spcAft>
            </a:pPr>
            <a:r>
              <a:rPr sz="1550" b="1" i="0">
                <a:solidFill>
                  <a:srgbClr val="1F3A93"/>
                </a:solidFill>
                <a:latin typeface="Segoe UI"/>
                <a:cs typeface="Segoe UI"/>
              </a:rPr>
              <a:t>الأدلة على التعلم </a:t>
            </a:r>
            <a:r>
              <a:rPr sz="1200" b="0" i="0">
                <a:solidFill>
                  <a:srgbClr val="6B7280"/>
                </a:solidFill>
                <a:latin typeface="Segoe UI"/>
                <a:cs typeface="Segoe UI"/>
              </a:rPr>
              <a:t>(Evidence of Learning)</a:t>
            </a:r>
            <a:r>
              <a:rPr sz="1550" b="0" i="0">
                <a:solidFill>
                  <a:srgbClr val="2B2F38"/>
                </a:solidFill>
                <a:latin typeface="Segoe UI"/>
                <a:cs typeface="Segoe UI"/>
              </a:rPr>
              <a:t> قد تختلف من طالب لآخر — لكنها كلها تثبت الهدف نفسه.</a:t>
            </a:r>
          </a:p>
          <a:p>
            <a:pPr algn="ctr" rtl="1">
              <a:spcBef>
                <a:spcPts val="200"/>
              </a:spcBef>
              <a:spcAft>
                <a:spcPts val="400"/>
              </a:spcAft>
            </a:pPr>
            <a:r>
              <a:rPr sz="1500" b="1" i="0">
                <a:solidFill>
                  <a:srgbClr val="C9A227"/>
                </a:solidFill>
                <a:latin typeface="Segoe UI"/>
                <a:cs typeface="Segoe UI"/>
              </a:rPr>
              <a:t>عندما يثبت الهدف، يصبح كل شيء آخر قابلًا للتنويع.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6</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6</a:t>
            </a:r>
          </a:p>
          <a:p>
            <a:pPr algn="r" rtl="1">
              <a:spcBef>
                <a:spcPts val="600"/>
              </a:spcBef>
              <a:spcAft>
                <a:spcPts val="400"/>
              </a:spcAft>
            </a:pPr>
            <a:r>
              <a:rPr sz="4000" b="1" i="0">
                <a:solidFill>
                  <a:srgbClr val="FFFFFF"/>
                </a:solidFill>
                <a:latin typeface="Segoe UI"/>
                <a:cs typeface="Segoe UI"/>
              </a:rPr>
              <a:t>كيف نُمايز التعليم؟</a:t>
            </a:r>
          </a:p>
          <a:p>
            <a:pPr algn="r" rtl="1">
              <a:spcBef>
                <a:spcPts val="400"/>
              </a:spcBef>
              <a:spcAft>
                <a:spcPts val="400"/>
              </a:spcAft>
            </a:pPr>
            <a:r>
              <a:rPr sz="1600" b="0" i="0">
                <a:solidFill>
                  <a:srgbClr val="E4F6F6"/>
                </a:solidFill>
                <a:latin typeface="Segoe UI"/>
                <a:cs typeface="Segoe UI"/>
              </a:rPr>
              <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أربعة مجالات يمكن تنويعها في أي درس</a:t>
            </a:r>
          </a:p>
          <a:p>
            <a:pPr algn="r" rtl="1">
              <a:spcBef>
                <a:spcPts val="400"/>
              </a:spcBef>
            </a:pPr>
            <a:r>
              <a:rPr sz="1600" b="0" i="0">
                <a:solidFill>
                  <a:srgbClr val="FFFFFF"/>
                </a:solidFill>
                <a:latin typeface="Segoe UI"/>
                <a:cs typeface="Segoe UI"/>
              </a:rPr>
              <a:t>◂  المحتوى — طريقة التعلم — ناتج التعلم — بيئة التعلم</a:t>
            </a:r>
          </a:p>
          <a:p>
            <a:pPr algn="r" rtl="1">
              <a:spcBef>
                <a:spcPts val="400"/>
              </a:spcBef>
            </a:pPr>
            <a:r>
              <a:rPr sz="1600" b="0" i="0">
                <a:solidFill>
                  <a:srgbClr val="FFFFFF"/>
                </a:solidFill>
                <a:latin typeface="Segoe UI"/>
                <a:cs typeface="Segoe UI"/>
              </a:rPr>
              <a:t>◂  أمثلة صفية قصيرة لكل مجال</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6 — نظرة عامة</a:t>
            </a:r>
          </a:p>
          <a:p>
            <a:pPr algn="r" rtl="1">
              <a:spcBef>
                <a:spcPts val="0"/>
              </a:spcBef>
              <a:spcAft>
                <a:spcPts val="0"/>
              </a:spcAft>
            </a:pPr>
            <a:r>
              <a:rPr sz="2800" b="1" i="0">
                <a:solidFill>
                  <a:srgbClr val="FFFFFF"/>
                </a:solidFill>
                <a:latin typeface="Segoe UI"/>
                <a:cs typeface="Segoe UI"/>
              </a:rPr>
              <a:t>أربعة أبواب للتمايز في أي درس</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19</a:t>
            </a:r>
          </a:p>
        </p:txBody>
      </p:sp>
      <p:sp>
        <p:nvSpPr>
          <p:cNvPr id="9" name="Rounded Rectangle 8"/>
          <p:cNvSpPr/>
          <p:nvPr/>
        </p:nvSpPr>
        <p:spPr>
          <a:xfrm>
            <a:off x="6208776" y="1371600"/>
            <a:ext cx="5477256" cy="23317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711200"/>
          <a:lstStyle/>
          <a:p>
            <a:pPr algn="r" rtl="1"/>
            <a:r>
              <a:rPr sz="1900" b="1" i="0">
                <a:solidFill>
                  <a:srgbClr val="1F3A93"/>
                </a:solidFill>
                <a:latin typeface="Segoe UI"/>
                <a:cs typeface="Segoe UI"/>
              </a:rPr>
              <a:t>المحتوى </a:t>
            </a:r>
            <a:r>
              <a:rPr sz="1200" b="0" i="0">
                <a:solidFill>
                  <a:srgbClr val="6B7280"/>
                </a:solidFill>
                <a:latin typeface="Segoe UI"/>
                <a:cs typeface="Segoe UI"/>
              </a:rPr>
              <a:t>(Content)</a:t>
            </a:r>
          </a:p>
          <a:p>
            <a:pPr algn="r" rtl="1">
              <a:spcBef>
                <a:spcPts val="300"/>
              </a:spcBef>
            </a:pPr>
            <a:r>
              <a:rPr sz="1500" b="1" i="0">
                <a:solidFill>
                  <a:srgbClr val="2BB3B1"/>
                </a:solidFill>
                <a:latin typeface="Segoe UI"/>
                <a:cs typeface="Segoe UI"/>
              </a:rPr>
              <a:t>ما الذي يتعلمه الطالب؟</a:t>
            </a:r>
          </a:p>
          <a:p>
            <a:pPr algn="r" rtl="1">
              <a:spcBef>
                <a:spcPts val="300"/>
              </a:spcBef>
            </a:pPr>
            <a:r>
              <a:rPr sz="1350" b="0" i="0">
                <a:solidFill>
                  <a:srgbClr val="2B2F38"/>
                </a:solidFill>
                <a:latin typeface="Segoe UI"/>
                <a:cs typeface="Segoe UI"/>
              </a:rPr>
              <a:t>المادة نفسها: النصوص، المفاهيم، مستوى التفصيل، طريقة العرض</a:t>
            </a:r>
          </a:p>
        </p:txBody>
      </p:sp>
      <p:sp>
        <p:nvSpPr>
          <p:cNvPr id="10" name="Oval 9"/>
          <p:cNvSpPr/>
          <p:nvPr/>
        </p:nvSpPr>
        <p:spPr>
          <a:xfrm>
            <a:off x="10908792" y="1572768"/>
            <a:ext cx="548640" cy="54864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1</a:t>
            </a:r>
          </a:p>
        </p:txBody>
      </p:sp>
      <p:sp>
        <p:nvSpPr>
          <p:cNvPr id="11" name="Rounded Rectangle 10"/>
          <p:cNvSpPr/>
          <p:nvPr/>
        </p:nvSpPr>
        <p:spPr>
          <a:xfrm>
            <a:off x="502920" y="1371600"/>
            <a:ext cx="5477256" cy="233172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711200"/>
          <a:lstStyle/>
          <a:p>
            <a:pPr algn="r" rtl="1"/>
            <a:r>
              <a:rPr sz="1900" b="1" i="0">
                <a:solidFill>
                  <a:srgbClr val="1F3A93"/>
                </a:solidFill>
                <a:latin typeface="Segoe UI"/>
                <a:cs typeface="Segoe UI"/>
              </a:rPr>
              <a:t>طريقة التعلم </a:t>
            </a:r>
            <a:r>
              <a:rPr sz="1200" b="0" i="0">
                <a:solidFill>
                  <a:srgbClr val="6B7280"/>
                </a:solidFill>
                <a:latin typeface="Segoe UI"/>
                <a:cs typeface="Segoe UI"/>
              </a:rPr>
              <a:t>(Process)</a:t>
            </a:r>
          </a:p>
          <a:p>
            <a:pPr algn="r" rtl="1">
              <a:spcBef>
                <a:spcPts val="300"/>
              </a:spcBef>
            </a:pPr>
            <a:r>
              <a:rPr sz="1500" b="1" i="0">
                <a:solidFill>
                  <a:srgbClr val="C9A227"/>
                </a:solidFill>
                <a:latin typeface="Segoe UI"/>
                <a:cs typeface="Segoe UI"/>
              </a:rPr>
              <a:t>كيف يتعلم الطالب؟</a:t>
            </a:r>
          </a:p>
          <a:p>
            <a:pPr algn="r" rtl="1">
              <a:spcBef>
                <a:spcPts val="300"/>
              </a:spcBef>
            </a:pPr>
            <a:r>
              <a:rPr sz="1350" b="0" i="0">
                <a:solidFill>
                  <a:srgbClr val="2B2F38"/>
                </a:solidFill>
                <a:latin typeface="Segoe UI"/>
                <a:cs typeface="Segoe UI"/>
              </a:rPr>
              <a:t>الأنشطة والخطوات التي يمر بها الطالب ليفهم</a:t>
            </a:r>
          </a:p>
        </p:txBody>
      </p:sp>
      <p:sp>
        <p:nvSpPr>
          <p:cNvPr id="12" name="Oval 11"/>
          <p:cNvSpPr/>
          <p:nvPr/>
        </p:nvSpPr>
        <p:spPr>
          <a:xfrm>
            <a:off x="5202936" y="1572768"/>
            <a:ext cx="548640" cy="54864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2</a:t>
            </a:r>
          </a:p>
        </p:txBody>
      </p:sp>
      <p:sp>
        <p:nvSpPr>
          <p:cNvPr id="13" name="Rounded Rectangle 12"/>
          <p:cNvSpPr/>
          <p:nvPr/>
        </p:nvSpPr>
        <p:spPr>
          <a:xfrm>
            <a:off x="6208776" y="3904487"/>
            <a:ext cx="5477256" cy="233172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711200"/>
          <a:lstStyle/>
          <a:p>
            <a:pPr algn="r" rtl="1"/>
            <a:r>
              <a:rPr sz="1900" b="1" i="0">
                <a:solidFill>
                  <a:srgbClr val="1F3A93"/>
                </a:solidFill>
                <a:latin typeface="Segoe UI"/>
                <a:cs typeface="Segoe UI"/>
              </a:rPr>
              <a:t>ناتج التعلم </a:t>
            </a:r>
            <a:r>
              <a:rPr sz="1200" b="0" i="0">
                <a:solidFill>
                  <a:srgbClr val="6B7280"/>
                </a:solidFill>
                <a:latin typeface="Segoe UI"/>
                <a:cs typeface="Segoe UI"/>
              </a:rPr>
              <a:t>(Product)</a:t>
            </a:r>
          </a:p>
          <a:p>
            <a:pPr algn="r" rtl="1">
              <a:spcBef>
                <a:spcPts val="300"/>
              </a:spcBef>
            </a:pPr>
            <a:r>
              <a:rPr sz="1500" b="1" i="0">
                <a:solidFill>
                  <a:srgbClr val="C9A227"/>
                </a:solidFill>
                <a:latin typeface="Segoe UI"/>
                <a:cs typeface="Segoe UI"/>
              </a:rPr>
              <a:t>كيف يُظهر الطالب ما تعلمه؟</a:t>
            </a:r>
          </a:p>
          <a:p>
            <a:pPr algn="r" rtl="1">
              <a:spcBef>
                <a:spcPts val="300"/>
              </a:spcBef>
            </a:pPr>
            <a:r>
              <a:rPr sz="1350" b="0" i="0">
                <a:solidFill>
                  <a:srgbClr val="2B2F38"/>
                </a:solidFill>
                <a:latin typeface="Segoe UI"/>
                <a:cs typeface="Segoe UI"/>
              </a:rPr>
              <a:t>الطريقة التي يثبت بها الفهم: كتابة، رسم، شرح، نموذج</a:t>
            </a:r>
          </a:p>
        </p:txBody>
      </p:sp>
      <p:sp>
        <p:nvSpPr>
          <p:cNvPr id="14" name="Oval 13"/>
          <p:cNvSpPr/>
          <p:nvPr/>
        </p:nvSpPr>
        <p:spPr>
          <a:xfrm>
            <a:off x="10908792" y="4105655"/>
            <a:ext cx="548640" cy="54864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3</a:t>
            </a:r>
          </a:p>
        </p:txBody>
      </p:sp>
      <p:sp>
        <p:nvSpPr>
          <p:cNvPr id="15" name="Rounded Rectangle 14"/>
          <p:cNvSpPr/>
          <p:nvPr/>
        </p:nvSpPr>
        <p:spPr>
          <a:xfrm>
            <a:off x="502920" y="3904487"/>
            <a:ext cx="5477256" cy="23317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711200"/>
          <a:lstStyle/>
          <a:p>
            <a:pPr algn="r" rtl="1"/>
            <a:r>
              <a:rPr sz="1900" b="1" i="0">
                <a:solidFill>
                  <a:srgbClr val="1F3A93"/>
                </a:solidFill>
                <a:latin typeface="Segoe UI"/>
                <a:cs typeface="Segoe UI"/>
              </a:rPr>
              <a:t>بيئة التعلم </a:t>
            </a:r>
            <a:r>
              <a:rPr sz="1200" b="0" i="0">
                <a:solidFill>
                  <a:srgbClr val="6B7280"/>
                </a:solidFill>
                <a:latin typeface="Segoe UI"/>
                <a:cs typeface="Segoe UI"/>
              </a:rPr>
              <a:t>(Learning Environment)</a:t>
            </a:r>
          </a:p>
          <a:p>
            <a:pPr algn="r" rtl="1">
              <a:spcBef>
                <a:spcPts val="300"/>
              </a:spcBef>
            </a:pPr>
            <a:r>
              <a:rPr sz="1500" b="1" i="0">
                <a:solidFill>
                  <a:srgbClr val="2BB3B1"/>
                </a:solidFill>
                <a:latin typeface="Segoe UI"/>
                <a:cs typeface="Segoe UI"/>
              </a:rPr>
              <a:t>ما الظروف التي تساعده؟</a:t>
            </a:r>
          </a:p>
          <a:p>
            <a:pPr algn="r" rtl="1">
              <a:spcBef>
                <a:spcPts val="300"/>
              </a:spcBef>
            </a:pPr>
            <a:r>
              <a:rPr sz="1350" b="0" i="0">
                <a:solidFill>
                  <a:srgbClr val="2B2F38"/>
                </a:solidFill>
                <a:latin typeface="Segoe UI"/>
                <a:cs typeface="Segoe UI"/>
              </a:rPr>
              <a:t>المكان، الهدوء، التنظيم، الجلوس، أجواء العمل</a:t>
            </a:r>
          </a:p>
        </p:txBody>
      </p:sp>
      <p:sp>
        <p:nvSpPr>
          <p:cNvPr id="16" name="Oval 15"/>
          <p:cNvSpPr/>
          <p:nvPr/>
        </p:nvSpPr>
        <p:spPr>
          <a:xfrm>
            <a:off x="5202936" y="4105655"/>
            <a:ext cx="548640" cy="54864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6 — أمثلة</a:t>
            </a:r>
          </a:p>
          <a:p>
            <a:pPr algn="r" rtl="1">
              <a:spcBef>
                <a:spcPts val="0"/>
              </a:spcBef>
              <a:spcAft>
                <a:spcPts val="0"/>
              </a:spcAft>
            </a:pPr>
            <a:r>
              <a:rPr sz="2800" b="1" i="0">
                <a:solidFill>
                  <a:srgbClr val="FFFFFF"/>
                </a:solidFill>
                <a:latin typeface="Segoe UI"/>
                <a:cs typeface="Segoe UI"/>
              </a:rPr>
              <a:t>أمثلة صفية سريعة لكل مجال</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20</a:t>
            </a:r>
          </a:p>
        </p:txBody>
      </p:sp>
      <p:sp>
        <p:nvSpPr>
          <p:cNvPr id="9" name="Rounded Rectangle 8"/>
          <p:cNvSpPr/>
          <p:nvPr/>
        </p:nvSpPr>
        <p:spPr>
          <a:xfrm>
            <a:off x="6195059" y="1325880"/>
            <a:ext cx="5490972" cy="248259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50" b="1" i="0">
                <a:solidFill>
                  <a:srgbClr val="1F3A93"/>
                </a:solidFill>
                <a:latin typeface="Segoe UI"/>
                <a:cs typeface="Segoe UI"/>
              </a:rPr>
              <a:t>المحتوى</a:t>
            </a:r>
          </a:p>
          <a:p>
            <a:pPr algn="r" rtl="1">
              <a:spcBef>
                <a:spcPts val="100"/>
              </a:spcBef>
              <a:spcAft>
                <a:spcPts val="100"/>
              </a:spcAft>
            </a:pPr>
            <a:r>
              <a:rPr sz="1300" b="0" i="0">
                <a:solidFill>
                  <a:srgbClr val="2B2F38"/>
                </a:solidFill>
                <a:latin typeface="Segoe UI"/>
                <a:cs typeface="Segoe UI"/>
              </a:rPr>
              <a:t>نص أساسي + نسخة ميسّرة بجمل أقصر لمن يحتاجها</a:t>
            </a:r>
          </a:p>
          <a:p>
            <a:pPr algn="r" rtl="1">
              <a:spcBef>
                <a:spcPts val="100"/>
              </a:spcBef>
              <a:spcAft>
                <a:spcPts val="100"/>
              </a:spcAft>
            </a:pPr>
            <a:r>
              <a:rPr sz="1300" b="0" i="0">
                <a:solidFill>
                  <a:srgbClr val="2B2F38"/>
                </a:solidFill>
                <a:latin typeface="Segoe UI"/>
                <a:cs typeface="Segoe UI"/>
              </a:rPr>
              <a:t>كلمات مفتاحية مع صور قبل قراءة الدرس</a:t>
            </a:r>
          </a:p>
          <a:p>
            <a:pPr algn="r" rtl="1">
              <a:spcBef>
                <a:spcPts val="100"/>
              </a:spcBef>
              <a:spcAft>
                <a:spcPts val="100"/>
              </a:spcAft>
            </a:pPr>
            <a:r>
              <a:rPr sz="1300" b="0" i="0">
                <a:solidFill>
                  <a:srgbClr val="2B2F38"/>
                </a:solidFill>
                <a:latin typeface="Segoe UI"/>
                <a:cs typeface="Segoe UI"/>
              </a:rPr>
              <a:t>مصدر إضافي أعمق لمن أتقن الأساس</a:t>
            </a:r>
          </a:p>
        </p:txBody>
      </p:sp>
      <p:sp>
        <p:nvSpPr>
          <p:cNvPr id="10" name="Rounded Rectangle 9"/>
          <p:cNvSpPr/>
          <p:nvPr/>
        </p:nvSpPr>
        <p:spPr>
          <a:xfrm>
            <a:off x="502920" y="1325880"/>
            <a:ext cx="5490972" cy="248259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50" b="1" i="0">
                <a:solidFill>
                  <a:srgbClr val="1F3A93"/>
                </a:solidFill>
                <a:latin typeface="Segoe UI"/>
                <a:cs typeface="Segoe UI"/>
              </a:rPr>
              <a:t>طريقة التعلم</a:t>
            </a:r>
          </a:p>
          <a:p>
            <a:pPr algn="r" rtl="1">
              <a:spcBef>
                <a:spcPts val="100"/>
              </a:spcBef>
              <a:spcAft>
                <a:spcPts val="100"/>
              </a:spcAft>
            </a:pPr>
            <a:r>
              <a:rPr sz="1300" b="0" i="0">
                <a:solidFill>
                  <a:srgbClr val="2B2F38"/>
                </a:solidFill>
                <a:latin typeface="Segoe UI"/>
                <a:cs typeface="Segoe UI"/>
              </a:rPr>
              <a:t>بعضهم يفهم بالتجربة العملية، وبعضهم بالرسم، وبعضهم بالنقاش</a:t>
            </a:r>
          </a:p>
          <a:p>
            <a:pPr algn="r" rtl="1">
              <a:spcBef>
                <a:spcPts val="100"/>
              </a:spcBef>
              <a:spcAft>
                <a:spcPts val="100"/>
              </a:spcAft>
            </a:pPr>
            <a:r>
              <a:rPr sz="1300" b="0" i="0">
                <a:solidFill>
                  <a:srgbClr val="2B2F38"/>
                </a:solidFill>
                <a:latin typeface="Segoe UI"/>
                <a:cs typeface="Segoe UI"/>
              </a:rPr>
              <a:t>مهمة مجزأة إلى خطوات لمن يحتاج، وكاملة لمن يعمل مستقلًا</a:t>
            </a:r>
          </a:p>
          <a:p>
            <a:pPr algn="r" rtl="1">
              <a:spcBef>
                <a:spcPts val="100"/>
              </a:spcBef>
              <a:spcAft>
                <a:spcPts val="100"/>
              </a:spcAft>
            </a:pPr>
            <a:r>
              <a:rPr sz="1300" b="0" i="0">
                <a:solidFill>
                  <a:srgbClr val="2B2F38"/>
                </a:solidFill>
                <a:latin typeface="Segoe UI"/>
                <a:cs typeface="Segoe UI"/>
              </a:rPr>
              <a:t>شرح إضافي لمجموعة صغيرة أثناء عمل البقية</a:t>
            </a:r>
          </a:p>
        </p:txBody>
      </p:sp>
      <p:sp>
        <p:nvSpPr>
          <p:cNvPr id="11" name="Rounded Rectangle 10"/>
          <p:cNvSpPr/>
          <p:nvPr/>
        </p:nvSpPr>
        <p:spPr>
          <a:xfrm>
            <a:off x="6195059" y="4009644"/>
            <a:ext cx="5490972" cy="248259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50" b="1" i="0">
                <a:solidFill>
                  <a:srgbClr val="1F3A93"/>
                </a:solidFill>
                <a:latin typeface="Segoe UI"/>
                <a:cs typeface="Segoe UI"/>
              </a:rPr>
              <a:t>ناتج التعلم</a:t>
            </a:r>
          </a:p>
          <a:p>
            <a:pPr algn="r" rtl="1">
              <a:spcBef>
                <a:spcPts val="100"/>
              </a:spcBef>
              <a:spcAft>
                <a:spcPts val="100"/>
              </a:spcAft>
            </a:pPr>
            <a:r>
              <a:rPr sz="1300" b="0" i="0">
                <a:solidFill>
                  <a:srgbClr val="2B2F38"/>
                </a:solidFill>
                <a:latin typeface="Segoe UI"/>
                <a:cs typeface="Segoe UI"/>
              </a:rPr>
              <a:t>إجابة مكتوبة أو شرح شفهي أو خريطة ذهنية أو نموذج</a:t>
            </a:r>
          </a:p>
          <a:p>
            <a:pPr algn="r" rtl="1">
              <a:spcBef>
                <a:spcPts val="100"/>
              </a:spcBef>
              <a:spcAft>
                <a:spcPts val="100"/>
              </a:spcAft>
            </a:pPr>
            <a:r>
              <a:rPr sz="1300" b="0" i="0">
                <a:solidFill>
                  <a:srgbClr val="2B2F38"/>
                </a:solidFill>
                <a:latin typeface="Segoe UI"/>
                <a:cs typeface="Segoe UI"/>
              </a:rPr>
              <a:t>المعيار واحد: هل يُظهر الناتج تحقق الهدف؟</a:t>
            </a:r>
          </a:p>
          <a:p>
            <a:pPr algn="r" rtl="1">
              <a:spcBef>
                <a:spcPts val="100"/>
              </a:spcBef>
              <a:spcAft>
                <a:spcPts val="100"/>
              </a:spcAft>
            </a:pPr>
            <a:r>
              <a:rPr sz="1300" b="0" i="0">
                <a:solidFill>
                  <a:srgbClr val="2B2F38"/>
                </a:solidFill>
                <a:latin typeface="Segoe UI"/>
                <a:cs typeface="Segoe UI"/>
              </a:rPr>
              <a:t>الخيار لا يعني العشوائية — قدّم خيارين أو ثلاثة محددة</a:t>
            </a:r>
          </a:p>
        </p:txBody>
      </p:sp>
      <p:sp>
        <p:nvSpPr>
          <p:cNvPr id="12" name="Rounded Rectangle 11"/>
          <p:cNvSpPr/>
          <p:nvPr/>
        </p:nvSpPr>
        <p:spPr>
          <a:xfrm>
            <a:off x="502920" y="4009644"/>
            <a:ext cx="5490972" cy="248259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50" b="1" i="0">
                <a:solidFill>
                  <a:srgbClr val="1F3A93"/>
                </a:solidFill>
                <a:latin typeface="Segoe UI"/>
                <a:cs typeface="Segoe UI"/>
              </a:rPr>
              <a:t>بيئة التعلم</a:t>
            </a:r>
          </a:p>
          <a:p>
            <a:pPr algn="r" rtl="1">
              <a:spcBef>
                <a:spcPts val="100"/>
              </a:spcBef>
              <a:spcAft>
                <a:spcPts val="100"/>
              </a:spcAft>
            </a:pPr>
            <a:r>
              <a:rPr sz="1300" b="0" i="0">
                <a:solidFill>
                  <a:srgbClr val="2B2F38"/>
                </a:solidFill>
                <a:latin typeface="Segoe UI"/>
                <a:cs typeface="Segoe UI"/>
              </a:rPr>
              <a:t>ركن هادئ لمن يتشتت بسهولة</a:t>
            </a:r>
          </a:p>
          <a:p>
            <a:pPr algn="r" rtl="1">
              <a:spcBef>
                <a:spcPts val="100"/>
              </a:spcBef>
              <a:spcAft>
                <a:spcPts val="100"/>
              </a:spcAft>
            </a:pPr>
            <a:r>
              <a:rPr sz="1300" b="0" i="0">
                <a:solidFill>
                  <a:srgbClr val="2B2F38"/>
                </a:solidFill>
                <a:latin typeface="Segoe UI"/>
                <a:cs typeface="Segoe UI"/>
              </a:rPr>
              <a:t>مقعد قريب من السبورة أو من المعلم لمن يحتاج</a:t>
            </a:r>
          </a:p>
          <a:p>
            <a:pPr algn="r" rtl="1">
              <a:spcBef>
                <a:spcPts val="100"/>
              </a:spcBef>
              <a:spcAft>
                <a:spcPts val="100"/>
              </a:spcAft>
            </a:pPr>
            <a:r>
              <a:rPr sz="1300" b="0" i="0">
                <a:solidFill>
                  <a:srgbClr val="2B2F38"/>
                </a:solidFill>
                <a:latin typeface="Segoe UI"/>
                <a:cs typeface="Segoe UI"/>
              </a:rPr>
              <a:t>مساحة عمل جماعي وأخرى فردية في الصف نفسه</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7</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7</a:t>
            </a:r>
          </a:p>
          <a:p>
            <a:pPr algn="r" rtl="1">
              <a:spcBef>
                <a:spcPts val="600"/>
              </a:spcBef>
              <a:spcAft>
                <a:spcPts val="400"/>
              </a:spcAft>
            </a:pPr>
            <a:r>
              <a:rPr sz="4000" b="1" i="0">
                <a:solidFill>
                  <a:srgbClr val="FFFFFF"/>
                </a:solidFill>
                <a:latin typeface="Segoe UI"/>
                <a:cs typeface="Segoe UI"/>
              </a:rPr>
              <a:t>استراتيجيات عملية للتعليم المتمايز</a:t>
            </a:r>
          </a:p>
          <a:p>
            <a:pPr algn="r" rtl="1">
              <a:spcBef>
                <a:spcPts val="400"/>
              </a:spcBef>
              <a:spcAft>
                <a:spcPts val="400"/>
              </a:spcAft>
            </a:pPr>
            <a:r>
              <a:rPr sz="1600" b="0" i="0">
                <a:solidFill>
                  <a:srgbClr val="E4F6F6"/>
                </a:solidFill>
                <a:latin typeface="Segoe UI"/>
                <a:cs typeface="Segoe UI"/>
              </a:rPr>
              <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عشر استراتيجيات قابلة للتطبيق مباشرة</a:t>
            </a:r>
          </a:p>
          <a:p>
            <a:pPr algn="r" rtl="1">
              <a:spcBef>
                <a:spcPts val="400"/>
              </a:spcBef>
            </a:pPr>
            <a:r>
              <a:rPr sz="1600" b="0" i="0">
                <a:solidFill>
                  <a:srgbClr val="FFFFFF"/>
                </a:solidFill>
                <a:latin typeface="Segoe UI"/>
                <a:cs typeface="Segoe UI"/>
              </a:rPr>
              <a:t>◂  لكل استراتيجية: ما هي؟ متى أستخدمها؟ مثال صفي</a:t>
            </a:r>
          </a:p>
          <a:p>
            <a:pPr algn="r" rtl="1">
              <a:spcBef>
                <a:spcPts val="400"/>
              </a:spcBef>
            </a:pPr>
            <a:r>
              <a:rPr sz="1600" b="0" i="0">
                <a:solidFill>
                  <a:srgbClr val="FFFFFF"/>
                </a:solidFill>
                <a:latin typeface="Segoe UI"/>
                <a:cs typeface="Segoe UI"/>
              </a:rPr>
              <a:t>◂  اختر القليل وطبقه جيدًا — لا تحاول تطبيق الكل</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7</a:t>
            </a:r>
          </a:p>
          <a:p>
            <a:pPr algn="r" rtl="1">
              <a:spcBef>
                <a:spcPts val="0"/>
              </a:spcBef>
              <a:spcAft>
                <a:spcPts val="0"/>
              </a:spcAft>
            </a:pPr>
            <a:r>
              <a:rPr sz="2800" b="1" i="0">
                <a:solidFill>
                  <a:srgbClr val="FFFFFF"/>
                </a:solidFill>
                <a:latin typeface="Segoe UI"/>
                <a:cs typeface="Segoe UI"/>
              </a:rPr>
              <a:t>استراتيجيات عملية (1–4)</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22</a:t>
            </a:r>
          </a:p>
        </p:txBody>
      </p:sp>
      <p:sp>
        <p:nvSpPr>
          <p:cNvPr id="9" name="Rounded Rectangle 8"/>
          <p:cNvSpPr/>
          <p:nvPr/>
        </p:nvSpPr>
        <p:spPr>
          <a:xfrm>
            <a:off x="6208776" y="1298448"/>
            <a:ext cx="5477256"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550" b="1" i="0">
                <a:solidFill>
                  <a:srgbClr val="1F3A93"/>
                </a:solidFill>
                <a:latin typeface="Segoe UI"/>
                <a:cs typeface="Segoe UI"/>
              </a:rPr>
              <a:t>1. تنويع مستوى الدعم</a:t>
            </a:r>
          </a:p>
          <a:p>
            <a:pPr algn="r" rtl="1">
              <a:spcBef>
                <a:spcPts val="200"/>
              </a:spcBef>
              <a:spcAft>
                <a:spcPts val="200"/>
              </a:spcAft>
            </a:pPr>
            <a:r>
              <a:rPr sz="1250" b="0" i="0">
                <a:solidFill>
                  <a:srgbClr val="2B2F38"/>
                </a:solidFill>
                <a:latin typeface="Segoe UI"/>
                <a:cs typeface="Segoe UI"/>
              </a:rPr>
              <a:t>قدّم للجميع المهمة نفسها، لكن بدرجات توجيه مختلفة.</a:t>
            </a:r>
          </a:p>
          <a:p>
            <a:pPr algn="r" rtl="1">
              <a:spcBef>
                <a:spcPts val="200"/>
              </a:spcBef>
              <a:spcAft>
                <a:spcPts val="200"/>
              </a:spcAft>
            </a:pPr>
            <a:r>
              <a:rPr sz="1200" b="1" i="0">
                <a:solidFill>
                  <a:srgbClr val="2BB3B1"/>
                </a:solidFill>
                <a:latin typeface="Segoe UI"/>
                <a:cs typeface="Segoe UI"/>
              </a:rPr>
              <a:t>متى؟ عندما تتفاوت استقلالية الطلاب.</a:t>
            </a:r>
          </a:p>
          <a:p>
            <a:pPr algn="r" rtl="1">
              <a:spcBef>
                <a:spcPts val="200"/>
              </a:spcBef>
              <a:spcAft>
                <a:spcPts val="200"/>
              </a:spcAft>
            </a:pPr>
            <a:r>
              <a:rPr sz="1200" b="0" i="0">
                <a:solidFill>
                  <a:srgbClr val="2B2F38"/>
                </a:solidFill>
                <a:latin typeface="Segoe UI"/>
                <a:cs typeface="Segoe UI"/>
              </a:rPr>
              <a:t>مثال: في التعبير الكتابي — بعضهم يكتب حرًا، وبعضهم يبدأ من جمل افتتاحية جاهزة.</a:t>
            </a:r>
          </a:p>
        </p:txBody>
      </p:sp>
      <p:sp>
        <p:nvSpPr>
          <p:cNvPr id="10" name="Rounded Rectangle 9"/>
          <p:cNvSpPr/>
          <p:nvPr/>
        </p:nvSpPr>
        <p:spPr>
          <a:xfrm>
            <a:off x="502920" y="1298448"/>
            <a:ext cx="5477256" cy="2459736"/>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550" b="1" i="0">
                <a:solidFill>
                  <a:srgbClr val="1F3A93"/>
                </a:solidFill>
                <a:latin typeface="Segoe UI"/>
                <a:cs typeface="Segoe UI"/>
              </a:rPr>
              <a:t>2. النماذج والأمثلة المحلولة</a:t>
            </a:r>
          </a:p>
          <a:p>
            <a:pPr algn="r" rtl="1">
              <a:spcBef>
                <a:spcPts val="200"/>
              </a:spcBef>
              <a:spcAft>
                <a:spcPts val="200"/>
              </a:spcAft>
            </a:pPr>
            <a:r>
              <a:rPr sz="1250" b="0" i="0">
                <a:solidFill>
                  <a:srgbClr val="2B2F38"/>
                </a:solidFill>
                <a:latin typeface="Segoe UI"/>
                <a:cs typeface="Segoe UI"/>
              </a:rPr>
              <a:t>اعرض مثالًا مكتملًا يوضح شكل العمل المطلوب قبل البدء.</a:t>
            </a:r>
          </a:p>
          <a:p>
            <a:pPr algn="r" rtl="1">
              <a:spcBef>
                <a:spcPts val="200"/>
              </a:spcBef>
              <a:spcAft>
                <a:spcPts val="200"/>
              </a:spcAft>
            </a:pPr>
            <a:r>
              <a:rPr sz="1200" b="1" i="0">
                <a:solidFill>
                  <a:srgbClr val="C9A227"/>
                </a:solidFill>
                <a:latin typeface="Segoe UI"/>
                <a:cs typeface="Segoe UI"/>
              </a:rPr>
              <a:t>متى؟ عند المهام الجديدة أو متعددة الخطوات.</a:t>
            </a:r>
          </a:p>
          <a:p>
            <a:pPr algn="r" rtl="1">
              <a:spcBef>
                <a:spcPts val="200"/>
              </a:spcBef>
              <a:spcAft>
                <a:spcPts val="200"/>
              </a:spcAft>
            </a:pPr>
            <a:r>
              <a:rPr sz="1200" b="0" i="0">
                <a:solidFill>
                  <a:srgbClr val="2B2F38"/>
                </a:solidFill>
                <a:latin typeface="Segoe UI"/>
                <a:cs typeface="Segoe UI"/>
              </a:rPr>
              <a:t>مثال: قبل كتابة الفقرة، اعرض فقرة نموذجية وحلّلها مع الصف: أين الفكرة؟ أين التفاصيل؟</a:t>
            </a:r>
          </a:p>
        </p:txBody>
      </p:sp>
      <p:sp>
        <p:nvSpPr>
          <p:cNvPr id="11" name="Rounded Rectangle 10"/>
          <p:cNvSpPr/>
          <p:nvPr/>
        </p:nvSpPr>
        <p:spPr>
          <a:xfrm>
            <a:off x="6208776" y="3941064"/>
            <a:ext cx="5477256"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550" b="1" i="0">
                <a:solidFill>
                  <a:srgbClr val="1F3A93"/>
                </a:solidFill>
                <a:latin typeface="Segoe UI"/>
                <a:cs typeface="Segoe UI"/>
              </a:rPr>
              <a:t>3. تقسيم المهمة إلى خطوات</a:t>
            </a:r>
          </a:p>
          <a:p>
            <a:pPr algn="r" rtl="1">
              <a:spcBef>
                <a:spcPts val="200"/>
              </a:spcBef>
              <a:spcAft>
                <a:spcPts val="200"/>
              </a:spcAft>
            </a:pPr>
            <a:r>
              <a:rPr sz="1250" b="0" i="0">
                <a:solidFill>
                  <a:srgbClr val="2B2F38"/>
                </a:solidFill>
                <a:latin typeface="Segoe UI"/>
                <a:cs typeface="Segoe UI"/>
              </a:rPr>
              <a:t>حوّل المهمة الكبيرة إلى خطوات قصيرة مرقمة.</a:t>
            </a:r>
          </a:p>
          <a:p>
            <a:pPr algn="r" rtl="1">
              <a:spcBef>
                <a:spcPts val="200"/>
              </a:spcBef>
              <a:spcAft>
                <a:spcPts val="200"/>
              </a:spcAft>
            </a:pPr>
            <a:r>
              <a:rPr sz="1200" b="1" i="0">
                <a:solidFill>
                  <a:srgbClr val="2BB3B1"/>
                </a:solidFill>
                <a:latin typeface="Segoe UI"/>
                <a:cs typeface="Segoe UI"/>
              </a:rPr>
              <a:t>متى؟ عندما يتوه بعض الطلاب في المهام الطويلة أو يتأخرون في البدء.</a:t>
            </a:r>
          </a:p>
          <a:p>
            <a:pPr algn="r" rtl="1">
              <a:spcBef>
                <a:spcPts val="200"/>
              </a:spcBef>
              <a:spcAft>
                <a:spcPts val="200"/>
              </a:spcAft>
            </a:pPr>
            <a:r>
              <a:rPr sz="1200" b="0" i="0">
                <a:solidFill>
                  <a:srgbClr val="2B2F38"/>
                </a:solidFill>
                <a:latin typeface="Segoe UI"/>
                <a:cs typeface="Segoe UI"/>
              </a:rPr>
              <a:t>مثال: «حل المسألة» تصبح: 1) ضع خطًا تحت المعطيات 2) حدد المطلوب 3) اختر العملية 4) احسب 5) تحقق.</a:t>
            </a:r>
          </a:p>
        </p:txBody>
      </p:sp>
      <p:sp>
        <p:nvSpPr>
          <p:cNvPr id="12" name="Rounded Rectangle 11"/>
          <p:cNvSpPr/>
          <p:nvPr/>
        </p:nvSpPr>
        <p:spPr>
          <a:xfrm>
            <a:off x="502920" y="3941064"/>
            <a:ext cx="5477256" cy="2459736"/>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550" b="1" i="0">
                <a:solidFill>
                  <a:srgbClr val="1F3A93"/>
                </a:solidFill>
                <a:latin typeface="Segoe UI"/>
                <a:cs typeface="Segoe UI"/>
              </a:rPr>
              <a:t>4. تعليمات مكتوبة ومسموعة معًا</a:t>
            </a:r>
          </a:p>
          <a:p>
            <a:pPr algn="r" rtl="1">
              <a:spcBef>
                <a:spcPts val="200"/>
              </a:spcBef>
              <a:spcAft>
                <a:spcPts val="200"/>
              </a:spcAft>
            </a:pPr>
            <a:r>
              <a:rPr sz="1250" b="0" i="0">
                <a:solidFill>
                  <a:srgbClr val="2B2F38"/>
                </a:solidFill>
                <a:latin typeface="Segoe UI"/>
                <a:cs typeface="Segoe UI"/>
              </a:rPr>
              <a:t>قل التعليمات واعرضها مكتوبة بنقاط قصيرة في الوقت نفسه.</a:t>
            </a:r>
          </a:p>
          <a:p>
            <a:pPr algn="r" rtl="1">
              <a:spcBef>
                <a:spcPts val="200"/>
              </a:spcBef>
              <a:spcAft>
                <a:spcPts val="200"/>
              </a:spcAft>
            </a:pPr>
            <a:r>
              <a:rPr sz="1200" b="1" i="0">
                <a:solidFill>
                  <a:srgbClr val="C9A227"/>
                </a:solidFill>
                <a:latin typeface="Segoe UI"/>
                <a:cs typeface="Segoe UI"/>
              </a:rPr>
              <a:t>متى؟ في كل درس تقريبًا — أرخص استراتيجية وأوسعها أثرًا.</a:t>
            </a:r>
          </a:p>
          <a:p>
            <a:pPr algn="r" rtl="1">
              <a:spcBef>
                <a:spcPts val="200"/>
              </a:spcBef>
              <a:spcAft>
                <a:spcPts val="200"/>
              </a:spcAft>
            </a:pPr>
            <a:r>
              <a:rPr sz="1200" b="0" i="0">
                <a:solidFill>
                  <a:srgbClr val="2B2F38"/>
                </a:solidFill>
                <a:latin typeface="Segoe UI"/>
                <a:cs typeface="Segoe UI"/>
              </a:rPr>
              <a:t>مثال: بعد الشرح الشفهي، تبقى الخطوات الثلاث معروضة على السبورة طوال النشاط.</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7</a:t>
            </a:r>
          </a:p>
          <a:p>
            <a:pPr algn="r" rtl="1">
              <a:spcBef>
                <a:spcPts val="0"/>
              </a:spcBef>
              <a:spcAft>
                <a:spcPts val="0"/>
              </a:spcAft>
            </a:pPr>
            <a:r>
              <a:rPr sz="2800" b="1" i="0">
                <a:solidFill>
                  <a:srgbClr val="FFFFFF"/>
                </a:solidFill>
                <a:latin typeface="Segoe UI"/>
                <a:cs typeface="Segoe UI"/>
              </a:rPr>
              <a:t>استراتيجيات عملية (5–8)</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23</a:t>
            </a:r>
          </a:p>
        </p:txBody>
      </p:sp>
      <p:sp>
        <p:nvSpPr>
          <p:cNvPr id="9" name="Rounded Rectangle 8"/>
          <p:cNvSpPr/>
          <p:nvPr/>
        </p:nvSpPr>
        <p:spPr>
          <a:xfrm>
            <a:off x="6208776" y="1298448"/>
            <a:ext cx="5477256"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550" b="1" i="0">
                <a:solidFill>
                  <a:srgbClr val="1F3A93"/>
                </a:solidFill>
                <a:latin typeface="Segoe UI"/>
                <a:cs typeface="Segoe UI"/>
              </a:rPr>
              <a:t>5. خيارات في إظهار التعلم</a:t>
            </a:r>
          </a:p>
          <a:p>
            <a:pPr algn="r" rtl="1">
              <a:spcBef>
                <a:spcPts val="200"/>
              </a:spcBef>
              <a:spcAft>
                <a:spcPts val="200"/>
              </a:spcAft>
            </a:pPr>
            <a:r>
              <a:rPr sz="1250" b="0" i="0">
                <a:solidFill>
                  <a:srgbClr val="2B2F38"/>
                </a:solidFill>
                <a:latin typeface="Segoe UI"/>
                <a:cs typeface="Segoe UI"/>
              </a:rPr>
              <a:t>اسمح بأكثر من طريقة لإثبات الفهم عندما لا يكون شكل الناتج هو الهدف.</a:t>
            </a:r>
          </a:p>
          <a:p>
            <a:pPr algn="r" rtl="1">
              <a:spcBef>
                <a:spcPts val="200"/>
              </a:spcBef>
              <a:spcAft>
                <a:spcPts val="200"/>
              </a:spcAft>
            </a:pPr>
            <a:r>
              <a:rPr sz="1200" b="1" i="0">
                <a:solidFill>
                  <a:srgbClr val="2BB3B1"/>
                </a:solidFill>
                <a:latin typeface="Segoe UI"/>
                <a:cs typeface="Segoe UI"/>
              </a:rPr>
              <a:t>متى؟ عندما تعيق طريقة التعبير (كالكتابة) إظهار الفهم الحقيقي.</a:t>
            </a:r>
          </a:p>
          <a:p>
            <a:pPr algn="r" rtl="1">
              <a:spcBef>
                <a:spcPts val="200"/>
              </a:spcBef>
              <a:spcAft>
                <a:spcPts val="200"/>
              </a:spcAft>
            </a:pPr>
            <a:r>
              <a:rPr sz="1200" b="0" i="0">
                <a:solidFill>
                  <a:srgbClr val="2B2F38"/>
                </a:solidFill>
                <a:latin typeface="Segoe UI"/>
                <a:cs typeface="Segoe UI"/>
              </a:rPr>
              <a:t>مثال: لخص الدرس: فقرة مكتوبة، أو خريطة ذهنية، أو شرح شفهي مسجل.</a:t>
            </a:r>
          </a:p>
        </p:txBody>
      </p:sp>
      <p:sp>
        <p:nvSpPr>
          <p:cNvPr id="10" name="Rounded Rectangle 9"/>
          <p:cNvSpPr/>
          <p:nvPr/>
        </p:nvSpPr>
        <p:spPr>
          <a:xfrm>
            <a:off x="502920" y="1298448"/>
            <a:ext cx="5477256" cy="2459736"/>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550" b="1" i="0">
                <a:solidFill>
                  <a:srgbClr val="1F3A93"/>
                </a:solidFill>
                <a:latin typeface="Segoe UI"/>
                <a:cs typeface="Segoe UI"/>
              </a:rPr>
              <a:t>6. الوسائل البصرية</a:t>
            </a:r>
          </a:p>
          <a:p>
            <a:pPr algn="r" rtl="1">
              <a:spcBef>
                <a:spcPts val="200"/>
              </a:spcBef>
              <a:spcAft>
                <a:spcPts val="200"/>
              </a:spcAft>
            </a:pPr>
            <a:r>
              <a:rPr sz="1250" b="0" i="0">
                <a:solidFill>
                  <a:srgbClr val="2B2F38"/>
                </a:solidFill>
                <a:latin typeface="Segoe UI"/>
                <a:cs typeface="Segoe UI"/>
              </a:rPr>
              <a:t>ادعم الشرح بصور ومخططات وألوان وكلمات مفتاحية.</a:t>
            </a:r>
          </a:p>
          <a:p>
            <a:pPr algn="r" rtl="1">
              <a:spcBef>
                <a:spcPts val="200"/>
              </a:spcBef>
              <a:spcAft>
                <a:spcPts val="200"/>
              </a:spcAft>
            </a:pPr>
            <a:r>
              <a:rPr sz="1200" b="1" i="0">
                <a:solidFill>
                  <a:srgbClr val="C9A227"/>
                </a:solidFill>
                <a:latin typeface="Segoe UI"/>
                <a:cs typeface="Segoe UI"/>
              </a:rPr>
              <a:t>متى؟ مع المفاهيم المجردة، ومع الطلاب الذين تختلف لغتهم الأم.</a:t>
            </a:r>
          </a:p>
          <a:p>
            <a:pPr algn="r" rtl="1">
              <a:spcBef>
                <a:spcPts val="200"/>
              </a:spcBef>
              <a:spcAft>
                <a:spcPts val="200"/>
              </a:spcAft>
            </a:pPr>
            <a:r>
              <a:rPr sz="1200" b="0" i="0">
                <a:solidFill>
                  <a:srgbClr val="2B2F38"/>
                </a:solidFill>
                <a:latin typeface="Segoe UI"/>
                <a:cs typeface="Segoe UI"/>
              </a:rPr>
              <a:t>مثال: خط زمني مصور على الجدار في درس التاريخ يبقى مرجعًا طوال الوحدة.</a:t>
            </a:r>
          </a:p>
        </p:txBody>
      </p:sp>
      <p:sp>
        <p:nvSpPr>
          <p:cNvPr id="11" name="Rounded Rectangle 10"/>
          <p:cNvSpPr/>
          <p:nvPr/>
        </p:nvSpPr>
        <p:spPr>
          <a:xfrm>
            <a:off x="6208776" y="3941064"/>
            <a:ext cx="5477256"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550" b="1" i="0">
                <a:solidFill>
                  <a:srgbClr val="1F3A93"/>
                </a:solidFill>
                <a:latin typeface="Segoe UI"/>
                <a:cs typeface="Segoe UI"/>
              </a:rPr>
              <a:t>7. الوقت الإضافي عند الحاجة</a:t>
            </a:r>
          </a:p>
          <a:p>
            <a:pPr algn="r" rtl="1">
              <a:spcBef>
                <a:spcPts val="200"/>
              </a:spcBef>
              <a:spcAft>
                <a:spcPts val="200"/>
              </a:spcAft>
            </a:pPr>
            <a:r>
              <a:rPr sz="1250" b="0" i="0">
                <a:solidFill>
                  <a:srgbClr val="2B2F38"/>
                </a:solidFill>
                <a:latin typeface="Segoe UI"/>
                <a:cs typeface="Segoe UI"/>
              </a:rPr>
              <a:t>امنح وقتًا أطول لمن يحتاجه دون إحراج، وجهّز عملًا مفيدًا لمن ينتهي مبكرًا.</a:t>
            </a:r>
          </a:p>
          <a:p>
            <a:pPr algn="r" rtl="1">
              <a:spcBef>
                <a:spcPts val="200"/>
              </a:spcBef>
              <a:spcAft>
                <a:spcPts val="200"/>
              </a:spcAft>
            </a:pPr>
            <a:r>
              <a:rPr sz="1200" b="1" i="0">
                <a:solidFill>
                  <a:srgbClr val="2BB3B1"/>
                </a:solidFill>
                <a:latin typeface="Segoe UI"/>
                <a:cs typeface="Segoe UI"/>
              </a:rPr>
              <a:t>متى؟ في المهام الكتابية والتقييمات خاصة.</a:t>
            </a:r>
          </a:p>
          <a:p>
            <a:pPr algn="r" rtl="1">
              <a:spcBef>
                <a:spcPts val="200"/>
              </a:spcBef>
              <a:spcAft>
                <a:spcPts val="200"/>
              </a:spcAft>
            </a:pPr>
            <a:r>
              <a:rPr sz="1200" b="0" i="0">
                <a:solidFill>
                  <a:srgbClr val="2B2F38"/>
                </a:solidFill>
                <a:latin typeface="Segoe UI"/>
                <a:cs typeface="Segoe UI"/>
              </a:rPr>
              <a:t>مثال: «من انتهى ينتقل إلى سؤال التحدي؛ ومن يحتاج وقتًا إضافيًا فليأخذه بهدوء».</a:t>
            </a:r>
          </a:p>
        </p:txBody>
      </p:sp>
      <p:sp>
        <p:nvSpPr>
          <p:cNvPr id="12" name="Rounded Rectangle 11"/>
          <p:cNvSpPr/>
          <p:nvPr/>
        </p:nvSpPr>
        <p:spPr>
          <a:xfrm>
            <a:off x="502920" y="3941064"/>
            <a:ext cx="5477256" cy="2459736"/>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550" b="1" i="0">
                <a:solidFill>
                  <a:srgbClr val="1F3A93"/>
                </a:solidFill>
                <a:latin typeface="Segoe UI"/>
                <a:cs typeface="Segoe UI"/>
              </a:rPr>
              <a:t>8. أسئلة بدرجات تعقيد مختلفة</a:t>
            </a:r>
          </a:p>
          <a:p>
            <a:pPr algn="r" rtl="1">
              <a:spcBef>
                <a:spcPts val="200"/>
              </a:spcBef>
              <a:spcAft>
                <a:spcPts val="200"/>
              </a:spcAft>
            </a:pPr>
            <a:r>
              <a:rPr sz="1250" b="0" i="0">
                <a:solidFill>
                  <a:srgbClr val="2B2F38"/>
                </a:solidFill>
                <a:latin typeface="Segoe UI"/>
                <a:cs typeface="Segoe UI"/>
              </a:rPr>
              <a:t>اطرح على الصف نفسه أسئلة تتدرج من التذكر إلى التحليل.</a:t>
            </a:r>
          </a:p>
          <a:p>
            <a:pPr algn="r" rtl="1">
              <a:spcBef>
                <a:spcPts val="200"/>
              </a:spcBef>
              <a:spcAft>
                <a:spcPts val="200"/>
              </a:spcAft>
            </a:pPr>
            <a:r>
              <a:rPr sz="1200" b="1" i="0">
                <a:solidFill>
                  <a:srgbClr val="C9A227"/>
                </a:solidFill>
                <a:latin typeface="Segoe UI"/>
                <a:cs typeface="Segoe UI"/>
              </a:rPr>
              <a:t>متى؟ في النقاش الصفي وأوراق العمل.</a:t>
            </a:r>
          </a:p>
          <a:p>
            <a:pPr algn="r" rtl="1">
              <a:spcBef>
                <a:spcPts val="200"/>
              </a:spcBef>
              <a:spcAft>
                <a:spcPts val="200"/>
              </a:spcAft>
            </a:pPr>
            <a:r>
              <a:rPr sz="1200" b="0" i="0">
                <a:solidFill>
                  <a:srgbClr val="2B2F38"/>
                </a:solidFill>
                <a:latin typeface="Segoe UI"/>
                <a:cs typeface="Segoe UI"/>
              </a:rPr>
              <a:t>مثال: ما مراحل دورة الماء؟ ← لماذا يتبخر الماء؟ ← ماذا لو توقف التكاثف؟</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7</a:t>
            </a:r>
          </a:p>
          <a:p>
            <a:pPr algn="r" rtl="1">
              <a:spcBef>
                <a:spcPts val="0"/>
              </a:spcBef>
              <a:spcAft>
                <a:spcPts val="0"/>
              </a:spcAft>
            </a:pPr>
            <a:r>
              <a:rPr sz="2800" b="1" i="0">
                <a:solidFill>
                  <a:srgbClr val="FFFFFF"/>
                </a:solidFill>
                <a:latin typeface="Segoe UI"/>
                <a:cs typeface="Segoe UI"/>
              </a:rPr>
              <a:t>استراتيجيات عملية (9–10)</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24</a:t>
            </a:r>
          </a:p>
        </p:txBody>
      </p:sp>
      <p:sp>
        <p:nvSpPr>
          <p:cNvPr id="9" name="Rounded Rectangle 8"/>
          <p:cNvSpPr/>
          <p:nvPr/>
        </p:nvSpPr>
        <p:spPr>
          <a:xfrm>
            <a:off x="6208776" y="1298448"/>
            <a:ext cx="5477256" cy="5102352"/>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550" b="1" i="0">
                <a:solidFill>
                  <a:srgbClr val="1F3A93"/>
                </a:solidFill>
                <a:latin typeface="Segoe UI"/>
                <a:cs typeface="Segoe UI"/>
              </a:rPr>
              <a:t>9. النشاط الإثرائي</a:t>
            </a:r>
          </a:p>
          <a:p>
            <a:pPr algn="r" rtl="1">
              <a:spcBef>
                <a:spcPts val="200"/>
              </a:spcBef>
              <a:spcAft>
                <a:spcPts val="200"/>
              </a:spcAft>
            </a:pPr>
            <a:r>
              <a:rPr sz="1250" b="0" i="0">
                <a:solidFill>
                  <a:srgbClr val="2B2F38"/>
                </a:solidFill>
                <a:latin typeface="Segoe UI"/>
                <a:cs typeface="Segoe UI"/>
              </a:rPr>
              <a:t>مهمة أعمق (لا أكثر كمًا) جاهزة لمن يتقن الهدف مبكرًا.</a:t>
            </a:r>
          </a:p>
          <a:p>
            <a:pPr algn="r" rtl="1">
              <a:spcBef>
                <a:spcPts val="200"/>
              </a:spcBef>
              <a:spcAft>
                <a:spcPts val="200"/>
              </a:spcAft>
            </a:pPr>
            <a:r>
              <a:rPr sz="1200" b="1" i="0">
                <a:solidFill>
                  <a:srgbClr val="2BB3B1"/>
                </a:solidFill>
                <a:latin typeface="Segoe UI"/>
                <a:cs typeface="Segoe UI"/>
              </a:rPr>
              <a:t>متى؟ عندما ينهي بعض الطلاب المهمة قبل زملائهم بفارق كبير.</a:t>
            </a:r>
          </a:p>
          <a:p>
            <a:pPr algn="r" rtl="1">
              <a:spcBef>
                <a:spcPts val="200"/>
              </a:spcBef>
              <a:spcAft>
                <a:spcPts val="200"/>
              </a:spcAft>
            </a:pPr>
            <a:r>
              <a:rPr sz="1200" b="0" i="0">
                <a:solidFill>
                  <a:srgbClr val="2B2F38"/>
                </a:solidFill>
                <a:latin typeface="Segoe UI"/>
                <a:cs typeface="Segoe UI"/>
              </a:rPr>
              <a:t>مثال: من أتقن جدول الضرب ينتقل إلى مسائل حياتية مركبة — لا إلى 20 مسألة إضافية من النوع نفسه.</a:t>
            </a:r>
          </a:p>
        </p:txBody>
      </p:sp>
      <p:sp>
        <p:nvSpPr>
          <p:cNvPr id="10" name="Rounded Rectangle 9"/>
          <p:cNvSpPr/>
          <p:nvPr/>
        </p:nvSpPr>
        <p:spPr>
          <a:xfrm>
            <a:off x="502920" y="1298448"/>
            <a:ext cx="5477256" cy="5102352"/>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550" b="1" i="0">
                <a:solidFill>
                  <a:srgbClr val="1F3A93"/>
                </a:solidFill>
                <a:latin typeface="Segoe UI"/>
                <a:cs typeface="Segoe UI"/>
              </a:rPr>
              <a:t>10. الدعم المتدرج</a:t>
            </a:r>
          </a:p>
          <a:p>
            <a:pPr algn="r" rtl="1">
              <a:spcBef>
                <a:spcPts val="200"/>
              </a:spcBef>
              <a:spcAft>
                <a:spcPts val="200"/>
              </a:spcAft>
            </a:pPr>
            <a:r>
              <a:rPr sz="1250" b="0" i="0">
                <a:solidFill>
                  <a:srgbClr val="2B2F38"/>
                </a:solidFill>
                <a:latin typeface="Segoe UI"/>
                <a:cs typeface="Segoe UI"/>
              </a:rPr>
              <a:t>ابدأ بدعم قوي (نمذجة كاملة) ثم اسحبه تدريجيًا حتى يستقل الطالب. يُعرف بالدعم المتدرج (Scaffolding).</a:t>
            </a:r>
          </a:p>
          <a:p>
            <a:pPr algn="r" rtl="1">
              <a:spcBef>
                <a:spcPts val="200"/>
              </a:spcBef>
              <a:spcAft>
                <a:spcPts val="200"/>
              </a:spcAft>
            </a:pPr>
            <a:r>
              <a:rPr sz="1200" b="1" i="0">
                <a:solidFill>
                  <a:srgbClr val="C9A227"/>
                </a:solidFill>
                <a:latin typeface="Segoe UI"/>
                <a:cs typeface="Segoe UI"/>
              </a:rPr>
              <a:t>متى؟ عند بناء مهارة جديدة تمامًا.</a:t>
            </a:r>
          </a:p>
          <a:p>
            <a:pPr algn="r" rtl="1">
              <a:spcBef>
                <a:spcPts val="200"/>
              </a:spcBef>
              <a:spcAft>
                <a:spcPts val="200"/>
              </a:spcAft>
            </a:pPr>
            <a:r>
              <a:rPr sz="1200" b="0" i="0">
                <a:solidFill>
                  <a:srgbClr val="2B2F38"/>
                </a:solidFill>
                <a:latin typeface="Segoe UI"/>
                <a:cs typeface="Segoe UI"/>
              </a:rPr>
              <a:t>مثال: أحل مسألة أمامهم بصوت مسموع ← نحل معًا ← يحلون في أزواج ← يحل كل طالب وحده.</a:t>
            </a:r>
          </a:p>
        </p:txBody>
      </p:sp>
      <p:sp>
        <p:nvSpPr>
          <p:cNvPr id="11" name="TextBox 10"/>
          <p:cNvSpPr txBox="1"/>
          <p:nvPr/>
        </p:nvSpPr>
        <p:spPr>
          <a:xfrm>
            <a:off x="502920" y="4892040"/>
            <a:ext cx="11183112" cy="1371600"/>
          </a:xfrm>
          <a:prstGeom prst="rect">
            <a:avLst/>
          </a:prstGeom>
          <a:noFill/>
        </p:spPr>
        <p:txBody>
          <a:bodyPr wrap="square" anchor="t" lIns="50800" rIns="50800" tIns="25400" bIns="25400">
            <a:spAutoFit/>
          </a:bodyPr>
          <a:lstStyle/>
          <a:p>
            <a:pPr algn="ctr" rtl="1">
              <a:spcBef>
                <a:spcPts val="400"/>
              </a:spcBef>
              <a:spcAft>
                <a:spcPts val="400"/>
              </a:spcAft>
            </a:pPr>
            <a:r>
              <a:rPr sz="1700" b="1" i="0">
                <a:solidFill>
                  <a:srgbClr val="1F3A93"/>
                </a:solidFill>
                <a:latin typeface="Segoe UI"/>
                <a:cs typeface="Segoe UI"/>
              </a:rPr>
              <a:t>قاعدة ذهبية: اختر استراتيجيتين أو ثلاثًا تناسب صفك وأتقنها —</a:t>
            </a:r>
          </a:p>
          <a:p>
            <a:pPr algn="ctr" rtl="1">
              <a:spcBef>
                <a:spcPts val="200"/>
              </a:spcBef>
              <a:spcAft>
                <a:spcPts val="400"/>
              </a:spcAft>
            </a:pPr>
            <a:r>
              <a:rPr sz="1600" b="0" i="0">
                <a:solidFill>
                  <a:srgbClr val="2B2F38"/>
                </a:solidFill>
                <a:latin typeface="Segoe UI"/>
                <a:cs typeface="Segoe UI"/>
              </a:rPr>
              <a:t>استراتيجية واحدة تُطبق باستمرار خير من عشر تُنسى بعد الدورة.</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8</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8</a:t>
            </a:r>
          </a:p>
          <a:p>
            <a:pPr algn="r" rtl="1">
              <a:spcBef>
                <a:spcPts val="600"/>
              </a:spcBef>
              <a:spcAft>
                <a:spcPts val="400"/>
              </a:spcAft>
            </a:pPr>
            <a:r>
              <a:rPr sz="4000" b="1" i="0">
                <a:solidFill>
                  <a:srgbClr val="FFFFFF"/>
                </a:solidFill>
                <a:latin typeface="Segoe UI"/>
                <a:cs typeface="Segoe UI"/>
              </a:rPr>
              <a:t>التجميع المرن</a:t>
            </a:r>
          </a:p>
          <a:p>
            <a:pPr algn="r" rtl="1">
              <a:spcBef>
                <a:spcPts val="400"/>
              </a:spcBef>
              <a:spcAft>
                <a:spcPts val="400"/>
              </a:spcAft>
            </a:pPr>
            <a:r>
              <a:rPr sz="1600" b="0" i="0">
                <a:solidFill>
                  <a:srgbClr val="E4F6F6"/>
                </a:solidFill>
                <a:latin typeface="Segoe UI"/>
                <a:cs typeface="Segoe UI"/>
              </a:rPr>
              <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ما الفرق بين المجموعة المرنة والمجموعة الثابتة؟</a:t>
            </a:r>
          </a:p>
          <a:p>
            <a:pPr algn="r" rtl="1">
              <a:spcBef>
                <a:spcPts val="400"/>
              </a:spcBef>
            </a:pPr>
            <a:r>
              <a:rPr sz="1600" b="0" i="0">
                <a:solidFill>
                  <a:srgbClr val="FFFFFF"/>
                </a:solidFill>
                <a:latin typeface="Segoe UI"/>
                <a:cs typeface="Segoe UI"/>
              </a:rPr>
              <a:t>◂  لماذا لا نضع «الطلاب الضعفاء» معًا بشكل دائم؟</a:t>
            </a:r>
          </a:p>
          <a:p>
            <a:pPr algn="r" rtl="1">
              <a:spcBef>
                <a:spcPts val="400"/>
              </a:spcBef>
            </a:pPr>
            <a:r>
              <a:rPr sz="1600" b="0" i="0">
                <a:solidFill>
                  <a:srgbClr val="FFFFFF"/>
                </a:solidFill>
                <a:latin typeface="Segoe UI"/>
                <a:cs typeface="Segoe UI"/>
              </a:rPr>
              <a:t>◂  خمسة أشكال عملية للتجميع</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8</a:t>
            </a:r>
          </a:p>
          <a:p>
            <a:pPr algn="r" rtl="1">
              <a:spcBef>
                <a:spcPts val="0"/>
              </a:spcBef>
              <a:spcAft>
                <a:spcPts val="0"/>
              </a:spcAft>
            </a:pPr>
            <a:r>
              <a:rPr sz="2800" b="1" i="0">
                <a:solidFill>
                  <a:srgbClr val="FFFFFF"/>
                </a:solidFill>
                <a:latin typeface="Segoe UI"/>
                <a:cs typeface="Segoe UI"/>
              </a:rPr>
              <a:t>مجموعات تخدم الهدف... لا تصنيفات دائمة</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26</a:t>
            </a:r>
          </a:p>
        </p:txBody>
      </p:sp>
      <p:sp>
        <p:nvSpPr>
          <p:cNvPr id="9" name="TextBox 8"/>
          <p:cNvSpPr txBox="1"/>
          <p:nvPr/>
        </p:nvSpPr>
        <p:spPr>
          <a:xfrm>
            <a:off x="502920" y="1207008"/>
            <a:ext cx="11183112" cy="685800"/>
          </a:xfrm>
          <a:prstGeom prst="rect">
            <a:avLst/>
          </a:prstGeom>
          <a:noFill/>
        </p:spPr>
        <p:txBody>
          <a:bodyPr wrap="square" anchor="t" lIns="50800" rIns="50800" tIns="25400" bIns="25400">
            <a:spAutoFit/>
          </a:bodyPr>
          <a:lstStyle/>
          <a:p>
            <a:pPr algn="r" rtl="1">
              <a:spcBef>
                <a:spcPts val="400"/>
              </a:spcBef>
              <a:spcAft>
                <a:spcPts val="400"/>
              </a:spcAft>
            </a:pPr>
            <a:r>
              <a:rPr sz="1700" b="1" i="0">
                <a:solidFill>
                  <a:srgbClr val="1F3A93"/>
                </a:solidFill>
                <a:latin typeface="Segoe UI"/>
                <a:cs typeface="Segoe UI"/>
              </a:rPr>
              <a:t>التجميع المرن </a:t>
            </a:r>
            <a:r>
              <a:rPr sz="1300" b="0" i="0">
                <a:solidFill>
                  <a:srgbClr val="6B7280"/>
                </a:solidFill>
                <a:latin typeface="Segoe UI"/>
                <a:cs typeface="Segoe UI"/>
              </a:rPr>
              <a:t>(Flexible Grouping)</a:t>
            </a:r>
            <a:r>
              <a:rPr sz="1550" b="0" i="0">
                <a:solidFill>
                  <a:srgbClr val="2B2F38"/>
                </a:solidFill>
                <a:latin typeface="Segoe UI"/>
                <a:cs typeface="Segoe UI"/>
              </a:rPr>
              <a:t> هو تنظيم الطلاب في مجموعات مؤقتة تتشكل وتتغير حسب الهدف والحاجة — لا حسب «مستوى» ثابت.</a:t>
            </a:r>
          </a:p>
        </p:txBody>
      </p:sp>
      <p:sp>
        <p:nvSpPr>
          <p:cNvPr id="10" name="Rounded Rectangle 9"/>
          <p:cNvSpPr/>
          <p:nvPr/>
        </p:nvSpPr>
        <p:spPr>
          <a:xfrm>
            <a:off x="6263640" y="2057400"/>
            <a:ext cx="5422392" cy="265176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700" b="1" i="0">
                <a:solidFill>
                  <a:srgbClr val="1F3A93"/>
                </a:solidFill>
                <a:latin typeface="Segoe UI"/>
                <a:cs typeface="Segoe UI"/>
              </a:rPr>
              <a:t>مجموعة مرنة ✓</a:t>
            </a:r>
          </a:p>
          <a:p>
            <a:pPr algn="r" rtl="1">
              <a:spcBef>
                <a:spcPts val="100"/>
              </a:spcBef>
              <a:spcAft>
                <a:spcPts val="100"/>
              </a:spcAft>
            </a:pPr>
            <a:r>
              <a:rPr sz="1350" b="0" i="0">
                <a:solidFill>
                  <a:srgbClr val="2B2F38"/>
                </a:solidFill>
                <a:latin typeface="Segoe UI"/>
                <a:cs typeface="Segoe UI"/>
              </a:rPr>
              <a:t>●  تتشكل لهدف محدد وتنحل بعده</a:t>
            </a:r>
          </a:p>
          <a:p>
            <a:pPr algn="r" rtl="1">
              <a:spcBef>
                <a:spcPts val="100"/>
              </a:spcBef>
              <a:spcAft>
                <a:spcPts val="100"/>
              </a:spcAft>
            </a:pPr>
            <a:r>
              <a:rPr sz="1350" b="0" i="0">
                <a:solidFill>
                  <a:srgbClr val="2B2F38"/>
                </a:solidFill>
                <a:latin typeface="Segoe UI"/>
                <a:cs typeface="Segoe UI"/>
              </a:rPr>
              <a:t>●  عضويتها تتغير من درس لآخر</a:t>
            </a:r>
          </a:p>
          <a:p>
            <a:pPr algn="r" rtl="1">
              <a:spcBef>
                <a:spcPts val="100"/>
              </a:spcBef>
              <a:spcAft>
                <a:spcPts val="100"/>
              </a:spcAft>
            </a:pPr>
            <a:r>
              <a:rPr sz="1350" b="0" i="0">
                <a:solidFill>
                  <a:srgbClr val="2B2F38"/>
                </a:solidFill>
                <a:latin typeface="Segoe UI"/>
                <a:cs typeface="Segoe UI"/>
              </a:rPr>
              <a:t>●  الطالب نفسه قد يحتاج دعمًا في القراءة ويقود مجموعة في الرياضيات</a:t>
            </a:r>
          </a:p>
          <a:p>
            <a:pPr algn="r" rtl="1">
              <a:spcBef>
                <a:spcPts val="100"/>
              </a:spcBef>
              <a:spcAft>
                <a:spcPts val="100"/>
              </a:spcAft>
            </a:pPr>
            <a:r>
              <a:rPr sz="1350" b="0" i="0">
                <a:solidFill>
                  <a:srgbClr val="2B2F38"/>
                </a:solidFill>
                <a:latin typeface="Segoe UI"/>
                <a:cs typeface="Segoe UI"/>
              </a:rPr>
              <a:t>●  لا تحمل تسمية تصنيفية</a:t>
            </a:r>
          </a:p>
        </p:txBody>
      </p:sp>
      <p:sp>
        <p:nvSpPr>
          <p:cNvPr id="11" name="Rounded Rectangle 10"/>
          <p:cNvSpPr/>
          <p:nvPr/>
        </p:nvSpPr>
        <p:spPr>
          <a:xfrm>
            <a:off x="502920" y="2057400"/>
            <a:ext cx="5422392" cy="2651760"/>
          </a:xfrm>
          <a:prstGeom prst="roundRect">
            <a:avLst>
              <a:gd name="adj" fmla="val 8000"/>
            </a:avLst>
          </a:prstGeom>
          <a:solidFill>
            <a:srgbClr val="FFFFFF"/>
          </a:solidFill>
          <a:ln w="12700">
            <a:solidFill>
              <a:srgbClr val="B03333"/>
            </a:solid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700" b="1" i="0">
                <a:solidFill>
                  <a:srgbClr val="B03333"/>
                </a:solidFill>
                <a:latin typeface="Segoe UI"/>
                <a:cs typeface="Segoe UI"/>
              </a:rPr>
              <a:t>مجموعة ثابتة ✗</a:t>
            </a:r>
          </a:p>
          <a:p>
            <a:pPr algn="r" rtl="1">
              <a:spcBef>
                <a:spcPts val="100"/>
              </a:spcBef>
              <a:spcAft>
                <a:spcPts val="100"/>
              </a:spcAft>
            </a:pPr>
            <a:r>
              <a:rPr sz="1350" b="0" i="0">
                <a:solidFill>
                  <a:srgbClr val="2B2F38"/>
                </a:solidFill>
                <a:latin typeface="Segoe UI"/>
                <a:cs typeface="Segoe UI"/>
              </a:rPr>
              <a:t>●  مبنية على تصنيف دائم («مجموعة الضعاف»)</a:t>
            </a:r>
          </a:p>
          <a:p>
            <a:pPr algn="r" rtl="1">
              <a:spcBef>
                <a:spcPts val="100"/>
              </a:spcBef>
              <a:spcAft>
                <a:spcPts val="100"/>
              </a:spcAft>
            </a:pPr>
            <a:r>
              <a:rPr sz="1350" b="0" i="0">
                <a:solidFill>
                  <a:srgbClr val="2B2F38"/>
                </a:solidFill>
                <a:latin typeface="Segoe UI"/>
                <a:cs typeface="Segoe UI"/>
              </a:rPr>
              <a:t>●  يعرفها الطلاب ويعرفون معناها — فتتحول إلى وصمة</a:t>
            </a:r>
          </a:p>
          <a:p>
            <a:pPr algn="r" rtl="1">
              <a:spcBef>
                <a:spcPts val="100"/>
              </a:spcBef>
              <a:spcAft>
                <a:spcPts val="100"/>
              </a:spcAft>
            </a:pPr>
            <a:r>
              <a:rPr sz="1350" b="0" i="0">
                <a:solidFill>
                  <a:srgbClr val="2B2F38"/>
                </a:solidFill>
                <a:latin typeface="Segoe UI"/>
                <a:cs typeface="Segoe UI"/>
              </a:rPr>
              <a:t>●  تخفض التوقعات والدافعية مع الوقت</a:t>
            </a:r>
          </a:p>
          <a:p>
            <a:pPr algn="r" rtl="1">
              <a:spcBef>
                <a:spcPts val="100"/>
              </a:spcBef>
              <a:spcAft>
                <a:spcPts val="100"/>
              </a:spcAft>
            </a:pPr>
            <a:r>
              <a:rPr sz="1350" b="0" i="0">
                <a:solidFill>
                  <a:srgbClr val="2B2F38"/>
                </a:solidFill>
                <a:latin typeface="Segoe UI"/>
                <a:cs typeface="Segoe UI"/>
              </a:rPr>
              <a:t>●  تحرم الطلاب من التعلم من أقران مختلفين</a:t>
            </a:r>
          </a:p>
        </p:txBody>
      </p:sp>
      <p:sp>
        <p:nvSpPr>
          <p:cNvPr id="12" name="Rounded Rectangle 11"/>
          <p:cNvSpPr/>
          <p:nvPr/>
        </p:nvSpPr>
        <p:spPr>
          <a:xfrm>
            <a:off x="1188720" y="4937760"/>
            <a:ext cx="9784080" cy="118872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القاعدة: المجموعة تُبنى على حاجة اليوم، لا على حكم دائم على الطالب.</a:t>
            </a:r>
          </a:p>
          <a:p>
            <a:pPr algn="ctr" rtl="1">
              <a:spcBef>
                <a:spcPts val="200"/>
              </a:spcBef>
              <a:spcAft>
                <a:spcPts val="200"/>
              </a:spcAft>
            </a:pPr>
            <a:r>
              <a:rPr sz="1500" b="0" i="0">
                <a:solidFill>
                  <a:srgbClr val="C9A227"/>
                </a:solidFill>
                <a:latin typeface="Segoe UI"/>
                <a:cs typeface="Segoe UI"/>
              </a:rPr>
              <a:t>وضع الطلاب الأقل تمكنًا معًا بشكل دائم ليس تمايزًا — إنه تصنيف يضرهم.</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8 — أشكال التجميع</a:t>
            </a:r>
          </a:p>
          <a:p>
            <a:pPr algn="r" rtl="1">
              <a:spcBef>
                <a:spcPts val="0"/>
              </a:spcBef>
              <a:spcAft>
                <a:spcPts val="0"/>
              </a:spcAft>
            </a:pPr>
            <a:r>
              <a:rPr sz="2800" b="1" i="0">
                <a:solidFill>
                  <a:srgbClr val="FFFFFF"/>
                </a:solidFill>
                <a:latin typeface="Segoe UI"/>
                <a:cs typeface="Segoe UI"/>
              </a:rPr>
              <a:t>خمسة أشكال عملية للتجميع المرن</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27</a:t>
            </a:r>
          </a:p>
        </p:txBody>
      </p:sp>
      <p:sp>
        <p:nvSpPr>
          <p:cNvPr id="9" name="Rounded Rectangle 8"/>
          <p:cNvSpPr/>
          <p:nvPr/>
        </p:nvSpPr>
        <p:spPr>
          <a:xfrm>
            <a:off x="8092440" y="1371600"/>
            <a:ext cx="359359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500" b="1" i="0">
                <a:solidFill>
                  <a:srgbClr val="1F3A93"/>
                </a:solidFill>
                <a:latin typeface="Segoe UI"/>
                <a:cs typeface="Segoe UI"/>
              </a:rPr>
              <a:t>مجموعة شرح إضافي</a:t>
            </a:r>
          </a:p>
          <a:p>
            <a:pPr algn="r" rtl="1">
              <a:spcBef>
                <a:spcPts val="100"/>
              </a:spcBef>
              <a:spcAft>
                <a:spcPts val="100"/>
              </a:spcAft>
            </a:pPr>
            <a:r>
              <a:rPr sz="1250" b="0" i="0">
                <a:solidFill>
                  <a:srgbClr val="2B2F38"/>
                </a:solidFill>
                <a:latin typeface="Segoe UI"/>
                <a:cs typeface="Segoe UI"/>
              </a:rPr>
              <a:t>مجموعة صغيرة مؤقتة تجلس مع المعلم لإعادة شرح نقطة محددة، بينما يعمل البقية باستقلالية. تنحل فور تحقق الهدف.</a:t>
            </a:r>
          </a:p>
        </p:txBody>
      </p:sp>
      <p:sp>
        <p:nvSpPr>
          <p:cNvPr id="10" name="Rounded Rectangle 9"/>
          <p:cNvSpPr/>
          <p:nvPr/>
        </p:nvSpPr>
        <p:spPr>
          <a:xfrm>
            <a:off x="4297680" y="1371600"/>
            <a:ext cx="359359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500" b="1" i="0">
                <a:solidFill>
                  <a:srgbClr val="1F3A93"/>
                </a:solidFill>
                <a:latin typeface="Segoe UI"/>
                <a:cs typeface="Segoe UI"/>
              </a:rPr>
              <a:t>مجموعة عمل مستقل</a:t>
            </a:r>
          </a:p>
          <a:p>
            <a:pPr algn="r" rtl="1">
              <a:spcBef>
                <a:spcPts val="100"/>
              </a:spcBef>
              <a:spcAft>
                <a:spcPts val="100"/>
              </a:spcAft>
            </a:pPr>
            <a:r>
              <a:rPr sz="1250" b="0" i="0">
                <a:solidFill>
                  <a:srgbClr val="2B2F38"/>
                </a:solidFill>
                <a:latin typeface="Segoe UI"/>
                <a:cs typeface="Segoe UI"/>
              </a:rPr>
              <a:t>طلاب جاهزون للعمل دون توجيه مباشر — يحررون وقت المعلم للدعم المركز.</a:t>
            </a:r>
          </a:p>
        </p:txBody>
      </p:sp>
      <p:sp>
        <p:nvSpPr>
          <p:cNvPr id="11" name="Rounded Rectangle 10"/>
          <p:cNvSpPr/>
          <p:nvPr/>
        </p:nvSpPr>
        <p:spPr>
          <a:xfrm>
            <a:off x="502920" y="1371600"/>
            <a:ext cx="359359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500" b="1" i="0">
                <a:solidFill>
                  <a:srgbClr val="1F3A93"/>
                </a:solidFill>
                <a:latin typeface="Segoe UI"/>
                <a:cs typeface="Segoe UI"/>
              </a:rPr>
              <a:t>مجموعة مهمة إثرائية</a:t>
            </a:r>
          </a:p>
          <a:p>
            <a:pPr algn="r" rtl="1">
              <a:spcBef>
                <a:spcPts val="100"/>
              </a:spcBef>
              <a:spcAft>
                <a:spcPts val="100"/>
              </a:spcAft>
            </a:pPr>
            <a:r>
              <a:rPr sz="1250" b="0" i="0">
                <a:solidFill>
                  <a:srgbClr val="2B2F38"/>
                </a:solidFill>
                <a:latin typeface="Segoe UI"/>
                <a:cs typeface="Segoe UI"/>
              </a:rPr>
              <a:t>من أتقنوا الهدف يعملون معًا على سؤال أعمق أو تطبيق جديد.</a:t>
            </a:r>
          </a:p>
        </p:txBody>
      </p:sp>
      <p:sp>
        <p:nvSpPr>
          <p:cNvPr id="12" name="Rounded Rectangle 11"/>
          <p:cNvSpPr/>
          <p:nvPr/>
        </p:nvSpPr>
        <p:spPr>
          <a:xfrm>
            <a:off x="8092440" y="4032504"/>
            <a:ext cx="359359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500" b="1" i="0">
                <a:solidFill>
                  <a:srgbClr val="1F3A93"/>
                </a:solidFill>
                <a:latin typeface="Segoe UI"/>
                <a:cs typeface="Segoe UI"/>
              </a:rPr>
              <a:t>أزواج مؤقتة</a:t>
            </a:r>
          </a:p>
          <a:p>
            <a:pPr algn="r" rtl="1">
              <a:spcBef>
                <a:spcPts val="100"/>
              </a:spcBef>
              <a:spcAft>
                <a:spcPts val="100"/>
              </a:spcAft>
            </a:pPr>
            <a:r>
              <a:rPr sz="1250" b="0" i="0">
                <a:solidFill>
                  <a:srgbClr val="2B2F38"/>
                </a:solidFill>
                <a:latin typeface="Segoe UI"/>
                <a:cs typeface="Segoe UI"/>
              </a:rPr>
              <a:t>زوجان لغرض محدد: مراجعة متبادلة، تدريب على القراءة، تبادل شرح — ثم ينحل الزوج.</a:t>
            </a:r>
          </a:p>
        </p:txBody>
      </p:sp>
      <p:sp>
        <p:nvSpPr>
          <p:cNvPr id="13" name="Rounded Rectangle 12"/>
          <p:cNvSpPr/>
          <p:nvPr/>
        </p:nvSpPr>
        <p:spPr>
          <a:xfrm>
            <a:off x="4297680" y="4032504"/>
            <a:ext cx="359359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500" b="1" i="0">
                <a:solidFill>
                  <a:srgbClr val="1F3A93"/>
                </a:solidFill>
                <a:latin typeface="Segoe UI"/>
                <a:cs typeface="Segoe UI"/>
              </a:rPr>
              <a:t>مجموعات مختلطة</a:t>
            </a:r>
          </a:p>
          <a:p>
            <a:pPr algn="r" rtl="1">
              <a:spcBef>
                <a:spcPts val="100"/>
              </a:spcBef>
              <a:spcAft>
                <a:spcPts val="100"/>
              </a:spcAft>
            </a:pPr>
            <a:r>
              <a:rPr sz="1250" b="0" i="0">
                <a:solidFill>
                  <a:srgbClr val="2B2F38"/>
                </a:solidFill>
                <a:latin typeface="Segoe UI"/>
                <a:cs typeface="Segoe UI"/>
              </a:rPr>
              <a:t>قدرات متنوعة في المجموعة الواحدة لمهمة تحتاج أدوارًا مختلفة: قارئ، راسم، متحدث، منظم وقت.</a:t>
            </a:r>
          </a:p>
        </p:txBody>
      </p:sp>
      <p:sp>
        <p:nvSpPr>
          <p:cNvPr id="14" name="Rounded Rectangle 13"/>
          <p:cNvSpPr/>
          <p:nvPr/>
        </p:nvSpPr>
        <p:spPr>
          <a:xfrm>
            <a:off x="502920" y="4032504"/>
            <a:ext cx="359359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500" b="1" i="0">
                <a:solidFill>
                  <a:srgbClr val="1F3A93"/>
                </a:solidFill>
                <a:latin typeface="Segoe UI"/>
                <a:cs typeface="Segoe UI"/>
              </a:rPr>
              <a:t>متى أي شكل؟</a:t>
            </a:r>
          </a:p>
          <a:p>
            <a:pPr algn="r" rtl="1">
              <a:spcBef>
                <a:spcPts val="100"/>
              </a:spcBef>
              <a:spcAft>
                <a:spcPts val="100"/>
              </a:spcAft>
            </a:pPr>
            <a:r>
              <a:rPr sz="1250" b="0" i="0">
                <a:solidFill>
                  <a:srgbClr val="2B2F38"/>
                </a:solidFill>
                <a:latin typeface="Segoe UI"/>
                <a:cs typeface="Segoe UI"/>
              </a:rPr>
              <a:t>اسأل دائمًا: ما هدف هذا الدرس؟ ومن يحتاج ماذا اليوم؟ الجواب يحدد الشكل — لا العكس.</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9</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9</a:t>
            </a:r>
          </a:p>
          <a:p>
            <a:pPr algn="r" rtl="1">
              <a:spcBef>
                <a:spcPts val="600"/>
              </a:spcBef>
              <a:spcAft>
                <a:spcPts val="400"/>
              </a:spcAft>
            </a:pPr>
            <a:r>
              <a:rPr sz="4000" b="1" i="0">
                <a:solidFill>
                  <a:srgbClr val="FFFFFF"/>
                </a:solidFill>
                <a:latin typeface="Segoe UI"/>
                <a:cs typeface="Segoe UI"/>
              </a:rPr>
              <a:t>درس كامل متمايز: دورة الماء</a:t>
            </a:r>
          </a:p>
          <a:p>
            <a:pPr algn="r" rtl="1">
              <a:spcBef>
                <a:spcPts val="400"/>
              </a:spcBef>
              <a:spcAft>
                <a:spcPts val="400"/>
              </a:spcAft>
            </a:pPr>
            <a:r>
              <a:rPr sz="1600" b="0" i="0">
                <a:solidFill>
                  <a:srgbClr val="E4F6F6"/>
                </a:solidFill>
                <a:latin typeface="Segoe UI"/>
                <a:cs typeface="Segoe UI"/>
              </a:rPr>
              <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درس علوم للصف الرابع من البداية إلى النهاية</a:t>
            </a:r>
          </a:p>
          <a:p>
            <a:pPr algn="r" rtl="1">
              <a:spcBef>
                <a:spcPts val="400"/>
              </a:spcBef>
            </a:pPr>
            <a:r>
              <a:rPr sz="1600" b="0" i="0">
                <a:solidFill>
                  <a:srgbClr val="FFFFFF"/>
                </a:solidFill>
                <a:latin typeface="Segoe UI"/>
                <a:cs typeface="Segoe UI"/>
              </a:rPr>
              <a:t>◂  هدف واحد وثلاثة مسارات: دعم إضافي، تعلم أساسي، توسع وإثراء</a:t>
            </a:r>
          </a:p>
          <a:p>
            <a:pPr algn="r" rtl="1">
              <a:spcBef>
                <a:spcPts val="400"/>
              </a:spcBef>
            </a:pPr>
            <a:r>
              <a:rPr sz="1600" b="0" i="0">
                <a:solidFill>
                  <a:srgbClr val="FFFFFF"/>
                </a:solidFill>
                <a:latin typeface="Segoe UI"/>
                <a:cs typeface="Segoe UI"/>
              </a:rPr>
              <a:t>◂  المسارات ليست مستويات ثابتة للطلاب</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9 — إطار الدرس</a:t>
            </a:r>
          </a:p>
          <a:p>
            <a:pPr algn="r" rtl="1">
              <a:spcBef>
                <a:spcPts val="0"/>
              </a:spcBef>
              <a:spcAft>
                <a:spcPts val="0"/>
              </a:spcAft>
            </a:pPr>
            <a:r>
              <a:rPr sz="2800" b="1" i="0">
                <a:solidFill>
                  <a:srgbClr val="FFFFFF"/>
                </a:solidFill>
                <a:latin typeface="Segoe UI"/>
                <a:cs typeface="Segoe UI"/>
              </a:rPr>
              <a:t>الدرس: دورة الماء في الطبيعة — الصف الرابع</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29</a:t>
            </a:r>
          </a:p>
        </p:txBody>
      </p:sp>
      <p:sp>
        <p:nvSpPr>
          <p:cNvPr id="9" name="Rounded Rectangle 8"/>
          <p:cNvSpPr/>
          <p:nvPr/>
        </p:nvSpPr>
        <p:spPr>
          <a:xfrm>
            <a:off x="914400" y="1371600"/>
            <a:ext cx="10332720" cy="114300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C9A227"/>
                </a:solidFill>
                <a:latin typeface="Segoe UI"/>
                <a:cs typeface="Segoe UI"/>
              </a:rPr>
              <a:t>الهدف التعلمي (واحد للجميع):</a:t>
            </a:r>
          </a:p>
          <a:p>
            <a:pPr algn="ctr" rtl="1">
              <a:spcBef>
                <a:spcPts val="200"/>
              </a:spcBef>
              <a:spcAft>
                <a:spcPts val="200"/>
              </a:spcAft>
            </a:pPr>
            <a:r>
              <a:rPr sz="1700" b="1" i="0">
                <a:solidFill>
                  <a:srgbClr val="FFFFFF"/>
                </a:solidFill>
                <a:latin typeface="Segoe UI"/>
                <a:cs typeface="Segoe UI"/>
              </a:rPr>
              <a:t>أن يحدد الطالب المراحل الأساسية لدورة الماء ويشرح العلاقة بينها بصورة مناسبة لمستواه.</a:t>
            </a:r>
          </a:p>
        </p:txBody>
      </p:sp>
      <p:sp>
        <p:nvSpPr>
          <p:cNvPr id="10" name="TextBox 9"/>
          <p:cNvSpPr txBox="1"/>
          <p:nvPr/>
        </p:nvSpPr>
        <p:spPr>
          <a:xfrm>
            <a:off x="502920" y="2743200"/>
            <a:ext cx="11183112" cy="914400"/>
          </a:xfrm>
          <a:prstGeom prst="rect">
            <a:avLst/>
          </a:prstGeom>
          <a:noFill/>
        </p:spPr>
        <p:txBody>
          <a:bodyPr wrap="square" anchor="t" lIns="50800" rIns="50800" tIns="25400" bIns="25400">
            <a:spAutoFit/>
          </a:bodyPr>
          <a:lstStyle/>
          <a:p>
            <a:pPr algn="r" rtl="1">
              <a:spcBef>
                <a:spcPts val="400"/>
              </a:spcBef>
              <a:spcAft>
                <a:spcPts val="400"/>
              </a:spcAft>
            </a:pPr>
            <a:r>
              <a:rPr sz="1600" b="1" i="0">
                <a:solidFill>
                  <a:srgbClr val="1F3A93"/>
                </a:solidFill>
                <a:latin typeface="Segoe UI"/>
                <a:cs typeface="Segoe UI"/>
              </a:rPr>
              <a:t>الافتتاح المشترك (10 دقائق — الصف كله معًا):</a:t>
            </a:r>
          </a:p>
          <a:p>
            <a:pPr algn="r" rtl="1">
              <a:spcBef>
                <a:spcPts val="300"/>
              </a:spcBef>
              <a:spcAft>
                <a:spcPts val="400"/>
              </a:spcAft>
            </a:pPr>
            <a:r>
              <a:rPr sz="1450" b="0" i="0">
                <a:solidFill>
                  <a:srgbClr val="2B2F38"/>
                </a:solidFill>
                <a:latin typeface="Segoe UI"/>
                <a:cs typeface="Segoe UI"/>
              </a:rPr>
              <a:t>عرض قصير مصور لدورة الماء + سؤال تنشيطي: «أين ذهبت بركة الماء التي رأيناها أمس في الفناء؟» + كتابة الكلمات المفتاحية الأربع على السبورة: تبخر — تكاثف — هطول — تجمع.</a:t>
            </a:r>
          </a:p>
        </p:txBody>
      </p:sp>
      <p:sp>
        <p:nvSpPr>
          <p:cNvPr id="11" name="Rounded Rectangle 10"/>
          <p:cNvSpPr/>
          <p:nvPr/>
        </p:nvSpPr>
        <p:spPr>
          <a:xfrm>
            <a:off x="8074152" y="4023360"/>
            <a:ext cx="3602736" cy="118872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50" b="1" i="0">
                <a:solidFill>
                  <a:srgbClr val="FFFFFF"/>
                </a:solidFill>
                <a:latin typeface="Segoe UI"/>
                <a:cs typeface="Segoe UI"/>
              </a:rPr>
              <a:t>المسار 1: دعم إضافي</a:t>
            </a:r>
          </a:p>
          <a:p>
            <a:pPr algn="ctr" rtl="1">
              <a:spcBef>
                <a:spcPts val="200"/>
              </a:spcBef>
              <a:spcAft>
                <a:spcPts val="200"/>
              </a:spcAft>
            </a:pPr>
            <a:r>
              <a:rPr sz="1300" b="0" i="0">
                <a:solidFill>
                  <a:srgbClr val="E4F6F6"/>
                </a:solidFill>
                <a:latin typeface="Segoe UI"/>
                <a:cs typeface="Segoe UI"/>
              </a:rPr>
              <a:t>لمن يحتاج مزيدًا من التوجيه</a:t>
            </a:r>
          </a:p>
        </p:txBody>
      </p:sp>
      <p:sp>
        <p:nvSpPr>
          <p:cNvPr id="12" name="Rounded Rectangle 11"/>
          <p:cNvSpPr/>
          <p:nvPr/>
        </p:nvSpPr>
        <p:spPr>
          <a:xfrm>
            <a:off x="4288536" y="4023360"/>
            <a:ext cx="3602736" cy="118872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50" b="1" i="0">
                <a:solidFill>
                  <a:srgbClr val="FFFFFF"/>
                </a:solidFill>
                <a:latin typeface="Segoe UI"/>
                <a:cs typeface="Segoe UI"/>
              </a:rPr>
              <a:t>المسار 2: التعلم الأساسي</a:t>
            </a:r>
          </a:p>
          <a:p>
            <a:pPr algn="ctr" rtl="1">
              <a:spcBef>
                <a:spcPts val="200"/>
              </a:spcBef>
              <a:spcAft>
                <a:spcPts val="200"/>
              </a:spcAft>
            </a:pPr>
            <a:r>
              <a:rPr sz="1300" b="0" i="0">
                <a:solidFill>
                  <a:srgbClr val="E4F6F6"/>
                </a:solidFill>
                <a:latin typeface="Segoe UI"/>
                <a:cs typeface="Segoe UI"/>
              </a:rPr>
              <a:t>لمعظم طلاب الصف</a:t>
            </a:r>
          </a:p>
        </p:txBody>
      </p:sp>
      <p:sp>
        <p:nvSpPr>
          <p:cNvPr id="13" name="Rounded Rectangle 12"/>
          <p:cNvSpPr/>
          <p:nvPr/>
        </p:nvSpPr>
        <p:spPr>
          <a:xfrm>
            <a:off x="502920" y="4023360"/>
            <a:ext cx="3602736" cy="118872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50" b="1" i="0">
                <a:solidFill>
                  <a:srgbClr val="162B6B"/>
                </a:solidFill>
                <a:latin typeface="Segoe UI"/>
                <a:cs typeface="Segoe UI"/>
              </a:rPr>
              <a:t>المسار 3: التوسع والإثراء</a:t>
            </a:r>
          </a:p>
          <a:p>
            <a:pPr algn="ctr" rtl="1">
              <a:spcBef>
                <a:spcPts val="200"/>
              </a:spcBef>
              <a:spcAft>
                <a:spcPts val="200"/>
              </a:spcAft>
            </a:pPr>
            <a:r>
              <a:rPr sz="1300" b="0" i="0">
                <a:solidFill>
                  <a:srgbClr val="162B6B"/>
                </a:solidFill>
                <a:latin typeface="Segoe UI"/>
                <a:cs typeface="Segoe UI"/>
              </a:rPr>
              <a:t>لمن أتقن الهدف الأساسي</a:t>
            </a:r>
          </a:p>
        </p:txBody>
      </p:sp>
      <p:sp>
        <p:nvSpPr>
          <p:cNvPr id="14" name="Rounded Rectangle 13"/>
          <p:cNvSpPr/>
          <p:nvPr/>
        </p:nvSpPr>
        <p:spPr>
          <a:xfrm>
            <a:off x="1188720" y="5486400"/>
            <a:ext cx="9784080" cy="7772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50" b="1" i="0">
                <a:solidFill>
                  <a:srgbClr val="1F3A93"/>
                </a:solidFill>
                <a:latin typeface="Segoe UI"/>
                <a:cs typeface="Segoe UI"/>
              </a:rPr>
              <a:t>المسارات الثلاثة تعمل في الوقت نفسه داخل الصف نفسه — والختام مشترك للجميع.</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9 — دورة الماء</a:t>
            </a:r>
          </a:p>
          <a:p>
            <a:pPr algn="r" rtl="1">
              <a:spcBef>
                <a:spcPts val="0"/>
              </a:spcBef>
              <a:spcAft>
                <a:spcPts val="0"/>
              </a:spcAft>
            </a:pPr>
            <a:r>
              <a:rPr sz="2800" b="1" i="0">
                <a:solidFill>
                  <a:srgbClr val="FFFFFF"/>
                </a:solidFill>
                <a:latin typeface="Segoe UI"/>
                <a:cs typeface="Segoe UI"/>
              </a:rPr>
              <a:t>المسار 1: دعم إضافي</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30</a:t>
            </a:r>
          </a:p>
        </p:txBody>
      </p:sp>
      <p:sp>
        <p:nvSpPr>
          <p:cNvPr id="9" name="Rounded Rectangle 8"/>
          <p:cNvSpPr/>
          <p:nvPr/>
        </p:nvSpPr>
        <p:spPr>
          <a:xfrm>
            <a:off x="9326880" y="1234440"/>
            <a:ext cx="2331720" cy="50292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FFFFFF"/>
                </a:solidFill>
                <a:latin typeface="Segoe UI"/>
                <a:cs typeface="Segoe UI"/>
              </a:rPr>
              <a:t>مع توجيه المعلم</a:t>
            </a:r>
          </a:p>
        </p:txBody>
      </p:sp>
      <p:sp>
        <p:nvSpPr>
          <p:cNvPr id="10" name="TextBox 9"/>
          <p:cNvSpPr txBox="1"/>
          <p:nvPr/>
        </p:nvSpPr>
        <p:spPr>
          <a:xfrm>
            <a:off x="502920" y="1298448"/>
            <a:ext cx="8503920" cy="548640"/>
          </a:xfrm>
          <a:prstGeom prst="rect">
            <a:avLst/>
          </a:prstGeom>
          <a:noFill/>
        </p:spPr>
        <p:txBody>
          <a:bodyPr wrap="square" anchor="t" lIns="50800" rIns="50800" tIns="25400" bIns="25400">
            <a:spAutoFit/>
          </a:bodyPr>
          <a:lstStyle/>
          <a:p>
            <a:pPr algn="r" rtl="1">
              <a:spcBef>
                <a:spcPts val="400"/>
              </a:spcBef>
              <a:spcAft>
                <a:spcPts val="400"/>
              </a:spcAft>
            </a:pPr>
            <a:r>
              <a:rPr sz="1550" b="1" i="0">
                <a:solidFill>
                  <a:srgbClr val="1F3A93"/>
                </a:solidFill>
                <a:latin typeface="Segoe UI"/>
                <a:cs typeface="Segoe UI"/>
              </a:rPr>
              <a:t>لمن يحتاج مزيدًا من التوجيه للوصول إلى الهدف نفسه:</a:t>
            </a:r>
          </a:p>
        </p:txBody>
      </p:sp>
      <p:sp>
        <p:nvSpPr>
          <p:cNvPr id="11" name="Rounded Rectangle 10"/>
          <p:cNvSpPr/>
          <p:nvPr/>
        </p:nvSpPr>
        <p:spPr>
          <a:xfrm>
            <a:off x="6208776" y="1965960"/>
            <a:ext cx="5477256" cy="137160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450" b="1" i="0">
                <a:solidFill>
                  <a:srgbClr val="1F3A93"/>
                </a:solidFill>
                <a:latin typeface="Segoe UI"/>
                <a:cs typeface="Segoe UI"/>
              </a:rPr>
              <a:t>صور واضحة</a:t>
            </a:r>
          </a:p>
          <a:p>
            <a:pPr algn="r" rtl="1">
              <a:spcBef>
                <a:spcPts val="200"/>
              </a:spcBef>
              <a:spcAft>
                <a:spcPts val="200"/>
              </a:spcAft>
            </a:pPr>
            <a:r>
              <a:rPr sz="1250" b="0" i="0">
                <a:solidFill>
                  <a:srgbClr val="2B2F38"/>
                </a:solidFill>
                <a:latin typeface="Segoe UI"/>
                <a:cs typeface="Segoe UI"/>
              </a:rPr>
              <a:t>أربع صور كبيرة للمراحل (بحر تحت الشمس، غيوم، مطر، نهر) بدل نص طويل</a:t>
            </a:r>
          </a:p>
        </p:txBody>
      </p:sp>
      <p:sp>
        <p:nvSpPr>
          <p:cNvPr id="12" name="Rounded Rectangle 11"/>
          <p:cNvSpPr/>
          <p:nvPr/>
        </p:nvSpPr>
        <p:spPr>
          <a:xfrm>
            <a:off x="502920" y="1965960"/>
            <a:ext cx="5477256" cy="137160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450" b="1" i="0">
                <a:solidFill>
                  <a:srgbClr val="1F3A93"/>
                </a:solidFill>
                <a:latin typeface="Segoe UI"/>
                <a:cs typeface="Segoe UI"/>
              </a:rPr>
              <a:t>كلمات مفتاحية</a:t>
            </a:r>
          </a:p>
          <a:p>
            <a:pPr algn="r" rtl="1">
              <a:spcBef>
                <a:spcPts val="200"/>
              </a:spcBef>
              <a:spcAft>
                <a:spcPts val="200"/>
              </a:spcAft>
            </a:pPr>
            <a:r>
              <a:rPr sz="1250" b="0" i="0">
                <a:solidFill>
                  <a:srgbClr val="2B2F38"/>
                </a:solidFill>
                <a:latin typeface="Segoe UI"/>
                <a:cs typeface="Segoe UI"/>
              </a:rPr>
              <a:t>بطاقة بالكلمات الأربع مع رسم صغير بجانب كل كلمة</a:t>
            </a:r>
          </a:p>
        </p:txBody>
      </p:sp>
      <p:sp>
        <p:nvSpPr>
          <p:cNvPr id="13" name="Rounded Rectangle 12"/>
          <p:cNvSpPr/>
          <p:nvPr/>
        </p:nvSpPr>
        <p:spPr>
          <a:xfrm>
            <a:off x="6208776" y="3456432"/>
            <a:ext cx="5477256" cy="137160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450" b="1" i="0">
                <a:solidFill>
                  <a:srgbClr val="1F3A93"/>
                </a:solidFill>
                <a:latin typeface="Segoe UI"/>
                <a:cs typeface="Segoe UI"/>
              </a:rPr>
              <a:t>نموذج جاهز جزئيًا</a:t>
            </a:r>
          </a:p>
          <a:p>
            <a:pPr algn="r" rtl="1">
              <a:spcBef>
                <a:spcPts val="200"/>
              </a:spcBef>
              <a:spcAft>
                <a:spcPts val="200"/>
              </a:spcAft>
            </a:pPr>
            <a:r>
              <a:rPr sz="1250" b="0" i="0">
                <a:solidFill>
                  <a:srgbClr val="2B2F38"/>
                </a:solidFill>
                <a:latin typeface="Segoe UI"/>
                <a:cs typeface="Segoe UI"/>
              </a:rPr>
              <a:t>مخطط دائري لدورة الماء فيه مرحلتان مكتوبتان — يكمل الطالب المرحلتين الناقصتين</a:t>
            </a:r>
          </a:p>
        </p:txBody>
      </p:sp>
      <p:sp>
        <p:nvSpPr>
          <p:cNvPr id="14" name="Rounded Rectangle 13"/>
          <p:cNvSpPr/>
          <p:nvPr/>
        </p:nvSpPr>
        <p:spPr>
          <a:xfrm>
            <a:off x="502920" y="3456432"/>
            <a:ext cx="5477256" cy="137160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450" b="1" i="0">
                <a:solidFill>
                  <a:srgbClr val="1F3A93"/>
                </a:solidFill>
                <a:latin typeface="Segoe UI"/>
                <a:cs typeface="Segoe UI"/>
              </a:rPr>
              <a:t>ترتيب الخطوات</a:t>
            </a:r>
          </a:p>
          <a:p>
            <a:pPr algn="r" rtl="1">
              <a:spcBef>
                <a:spcPts val="200"/>
              </a:spcBef>
              <a:spcAft>
                <a:spcPts val="200"/>
              </a:spcAft>
            </a:pPr>
            <a:r>
              <a:rPr sz="1250" b="0" i="0">
                <a:solidFill>
                  <a:srgbClr val="2B2F38"/>
                </a:solidFill>
                <a:latin typeface="Segoe UI"/>
                <a:cs typeface="Segoe UI"/>
              </a:rPr>
              <a:t>بطاقات المراحل الأربع يرتبها الطالب على المخطط قبل الكتابة</a:t>
            </a:r>
          </a:p>
        </p:txBody>
      </p:sp>
      <p:sp>
        <p:nvSpPr>
          <p:cNvPr id="15" name="Rounded Rectangle 14"/>
          <p:cNvSpPr/>
          <p:nvPr/>
        </p:nvSpPr>
        <p:spPr>
          <a:xfrm>
            <a:off x="6208776" y="4946904"/>
            <a:ext cx="5477256" cy="137160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450" b="1" i="0">
                <a:solidFill>
                  <a:srgbClr val="1F3A93"/>
                </a:solidFill>
                <a:latin typeface="Segoe UI"/>
                <a:cs typeface="Segoe UI"/>
              </a:rPr>
              <a:t>أسئلة موجهة</a:t>
            </a:r>
          </a:p>
          <a:p>
            <a:pPr algn="r" rtl="1">
              <a:spcBef>
                <a:spcPts val="200"/>
              </a:spcBef>
              <a:spcAft>
                <a:spcPts val="200"/>
              </a:spcAft>
            </a:pPr>
            <a:r>
              <a:rPr sz="1250" b="0" i="0">
                <a:solidFill>
                  <a:srgbClr val="2B2F38"/>
                </a:solidFill>
                <a:latin typeface="Segoe UI"/>
                <a:cs typeface="Segoe UI"/>
              </a:rPr>
              <a:t>«ماذا يحدث للماء عندما تسخنه الشمس؟» بدل «اشرح دورة الماء»</a:t>
            </a:r>
          </a:p>
        </p:txBody>
      </p:sp>
      <p:sp>
        <p:nvSpPr>
          <p:cNvPr id="16" name="Rounded Rectangle 15"/>
          <p:cNvSpPr/>
          <p:nvPr/>
        </p:nvSpPr>
        <p:spPr>
          <a:xfrm>
            <a:off x="502920" y="4946904"/>
            <a:ext cx="5477256" cy="137160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450" b="1" i="0">
                <a:solidFill>
                  <a:srgbClr val="1F3A93"/>
                </a:solidFill>
                <a:latin typeface="Segoe UI"/>
                <a:cs typeface="Segoe UI"/>
              </a:rPr>
              <a:t>دعم المعلم</a:t>
            </a:r>
          </a:p>
          <a:p>
            <a:pPr algn="r" rtl="1">
              <a:spcBef>
                <a:spcPts val="200"/>
              </a:spcBef>
              <a:spcAft>
                <a:spcPts val="200"/>
              </a:spcAft>
            </a:pPr>
            <a:r>
              <a:rPr sz="1250" b="0" i="0">
                <a:solidFill>
                  <a:srgbClr val="2B2F38"/>
                </a:solidFill>
                <a:latin typeface="Segoe UI"/>
                <a:cs typeface="Segoe UI"/>
              </a:rPr>
              <a:t>المعلم يجلس مع هذه المجموعة أول 5 دقائق: يقرأ البطاقات معهم وينمذج المرحلة الأولى</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9 — دورة الماء</a:t>
            </a:r>
          </a:p>
          <a:p>
            <a:pPr algn="r" rtl="1">
              <a:spcBef>
                <a:spcPts val="0"/>
              </a:spcBef>
              <a:spcAft>
                <a:spcPts val="0"/>
              </a:spcAft>
            </a:pPr>
            <a:r>
              <a:rPr sz="2800" b="1" i="0">
                <a:solidFill>
                  <a:srgbClr val="FFFFFF"/>
                </a:solidFill>
                <a:latin typeface="Segoe UI"/>
                <a:cs typeface="Segoe UI"/>
              </a:rPr>
              <a:t>المسار 2: التعلم الأساسي</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31</a:t>
            </a:r>
          </a:p>
        </p:txBody>
      </p:sp>
      <p:sp>
        <p:nvSpPr>
          <p:cNvPr id="9" name="Rounded Rectangle 8"/>
          <p:cNvSpPr/>
          <p:nvPr/>
        </p:nvSpPr>
        <p:spPr>
          <a:xfrm>
            <a:off x="9326880" y="1234440"/>
            <a:ext cx="2331720" cy="50292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FFFFFF"/>
                </a:solidFill>
                <a:latin typeface="Segoe UI"/>
                <a:cs typeface="Segoe UI"/>
              </a:rPr>
              <a:t>عمل شبه مستقل</a:t>
            </a:r>
          </a:p>
        </p:txBody>
      </p:sp>
      <p:sp>
        <p:nvSpPr>
          <p:cNvPr id="10" name="Rounded Rectangle 9"/>
          <p:cNvSpPr/>
          <p:nvPr/>
        </p:nvSpPr>
        <p:spPr>
          <a:xfrm>
            <a:off x="502920" y="1965960"/>
            <a:ext cx="11183112" cy="987552"/>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50" b="1" i="0">
                <a:solidFill>
                  <a:srgbClr val="1F3A93"/>
                </a:solidFill>
                <a:latin typeface="Segoe UI"/>
                <a:cs typeface="Segoe UI"/>
              </a:rPr>
              <a:t>1. اقرأ أو شاهد — </a:t>
            </a:r>
            <a:r>
              <a:rPr sz="1450" b="0" i="0">
                <a:solidFill>
                  <a:srgbClr val="2B2F38"/>
                </a:solidFill>
                <a:latin typeface="Segoe UI"/>
                <a:cs typeface="Segoe UI"/>
              </a:rPr>
              <a:t>قراءة نص الكتاب المدرسي (صفحة واحدة) أو مشاهدة عرض مصور قصير — الطالب يختار</a:t>
            </a:r>
          </a:p>
        </p:txBody>
      </p:sp>
      <p:sp>
        <p:nvSpPr>
          <p:cNvPr id="11" name="Rounded Rectangle 10"/>
          <p:cNvSpPr/>
          <p:nvPr/>
        </p:nvSpPr>
        <p:spPr>
          <a:xfrm>
            <a:off x="502920" y="3063239"/>
            <a:ext cx="11183112" cy="987552"/>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50" b="1" i="0">
                <a:solidFill>
                  <a:srgbClr val="1F3A93"/>
                </a:solidFill>
                <a:latin typeface="Segoe UI"/>
                <a:cs typeface="Segoe UI"/>
              </a:rPr>
              <a:t>2. حدد المراحل — </a:t>
            </a:r>
            <a:r>
              <a:rPr sz="1450" b="0" i="0">
                <a:solidFill>
                  <a:srgbClr val="2B2F38"/>
                </a:solidFill>
                <a:latin typeface="Segoe UI"/>
                <a:cs typeface="Segoe UI"/>
              </a:rPr>
              <a:t>استخراج المراحل الأربع وكتابتها بكلماته</a:t>
            </a:r>
          </a:p>
        </p:txBody>
      </p:sp>
      <p:sp>
        <p:nvSpPr>
          <p:cNvPr id="12" name="Rounded Rectangle 11"/>
          <p:cNvSpPr/>
          <p:nvPr/>
        </p:nvSpPr>
        <p:spPr>
          <a:xfrm>
            <a:off x="502920" y="4160520"/>
            <a:ext cx="11183112" cy="987552"/>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50" b="1" i="0">
                <a:solidFill>
                  <a:srgbClr val="1F3A93"/>
                </a:solidFill>
                <a:latin typeface="Segoe UI"/>
                <a:cs typeface="Segoe UI"/>
              </a:rPr>
              <a:t>3. رتبها — </a:t>
            </a:r>
            <a:r>
              <a:rPr sz="1450" b="0" i="0">
                <a:solidFill>
                  <a:srgbClr val="2B2F38"/>
                </a:solidFill>
                <a:latin typeface="Segoe UI"/>
                <a:cs typeface="Segoe UI"/>
              </a:rPr>
              <a:t>رسم مخطط دائري وترتيب المراحل عليه بالأسهم</a:t>
            </a:r>
          </a:p>
        </p:txBody>
      </p:sp>
      <p:sp>
        <p:nvSpPr>
          <p:cNvPr id="13" name="Rounded Rectangle 12"/>
          <p:cNvSpPr/>
          <p:nvPr/>
        </p:nvSpPr>
        <p:spPr>
          <a:xfrm>
            <a:off x="502920" y="5257800"/>
            <a:ext cx="11183112" cy="987552"/>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50" b="1" i="0">
                <a:solidFill>
                  <a:srgbClr val="1F3A93"/>
                </a:solidFill>
                <a:latin typeface="Segoe UI"/>
                <a:cs typeface="Segoe UI"/>
              </a:rPr>
              <a:t>4. اشرح العلاقة — </a:t>
            </a:r>
            <a:r>
              <a:rPr sz="1450" b="0" i="0">
                <a:solidFill>
                  <a:srgbClr val="2B2F38"/>
                </a:solidFill>
                <a:latin typeface="Segoe UI"/>
                <a:cs typeface="Segoe UI"/>
              </a:rPr>
              <a:t>كتابة ثلاث جمل: ماذا يحدث في كل انتقال؟ ولماذا تسمى «دورة»؟</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9 — دورة الماء</a:t>
            </a:r>
          </a:p>
          <a:p>
            <a:pPr algn="r" rtl="1">
              <a:spcBef>
                <a:spcPts val="0"/>
              </a:spcBef>
              <a:spcAft>
                <a:spcPts val="0"/>
              </a:spcAft>
            </a:pPr>
            <a:r>
              <a:rPr sz="2800" b="1" i="0">
                <a:solidFill>
                  <a:srgbClr val="FFFFFF"/>
                </a:solidFill>
                <a:latin typeface="Segoe UI"/>
                <a:cs typeface="Segoe UI"/>
              </a:rPr>
              <a:t>المسار 3: التوسع والإثراء</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32</a:t>
            </a:r>
          </a:p>
        </p:txBody>
      </p:sp>
      <p:sp>
        <p:nvSpPr>
          <p:cNvPr id="9" name="Rounded Rectangle 8"/>
          <p:cNvSpPr/>
          <p:nvPr/>
        </p:nvSpPr>
        <p:spPr>
          <a:xfrm>
            <a:off x="9326880" y="1234440"/>
            <a:ext cx="2331720" cy="50292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162B6B"/>
                </a:solidFill>
                <a:latin typeface="Segoe UI"/>
                <a:cs typeface="Segoe UI"/>
              </a:rPr>
              <a:t>لمن أتقن الهدف</a:t>
            </a:r>
          </a:p>
        </p:txBody>
      </p:sp>
      <p:sp>
        <p:nvSpPr>
          <p:cNvPr id="10" name="Rounded Rectangle 9"/>
          <p:cNvSpPr/>
          <p:nvPr/>
        </p:nvSpPr>
        <p:spPr>
          <a:xfrm>
            <a:off x="502920" y="1965960"/>
            <a:ext cx="11183112" cy="105156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50" b="1" i="0">
                <a:solidFill>
                  <a:srgbClr val="1F3A93"/>
                </a:solidFill>
                <a:latin typeface="Segoe UI"/>
                <a:cs typeface="Segoe UI"/>
              </a:rPr>
              <a:t>تفسير التغيير — </a:t>
            </a:r>
            <a:r>
              <a:rPr sz="1450" b="0" i="0">
                <a:solidFill>
                  <a:srgbClr val="2B2F38"/>
                </a:solidFill>
                <a:latin typeface="Segoe UI"/>
                <a:cs typeface="Segoe UI"/>
              </a:rPr>
              <a:t>«ماذا يحدث لدورة الماء لو انخفضت حرارة الشمس كثيرًا؟ ولو ارتفعت؟» — تفسير مكتوب أو مخطط</a:t>
            </a:r>
          </a:p>
        </p:txBody>
      </p:sp>
      <p:sp>
        <p:nvSpPr>
          <p:cNvPr id="11" name="Rounded Rectangle 10"/>
          <p:cNvSpPr/>
          <p:nvPr/>
        </p:nvSpPr>
        <p:spPr>
          <a:xfrm>
            <a:off x="502920" y="3154680"/>
            <a:ext cx="11183112" cy="105156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50" b="1" i="0">
                <a:solidFill>
                  <a:srgbClr val="1F3A93"/>
                </a:solidFill>
                <a:latin typeface="Segoe UI"/>
                <a:cs typeface="Segoe UI"/>
              </a:rPr>
              <a:t>تطبيق على موقف جديد — </a:t>
            </a:r>
            <a:r>
              <a:rPr sz="1450" b="0" i="0">
                <a:solidFill>
                  <a:srgbClr val="2B2F38"/>
                </a:solidFill>
                <a:latin typeface="Segoe UI"/>
                <a:cs typeface="Segoe UI"/>
              </a:rPr>
              <a:t>«لماذا يتكون الندى على العشب صباحًا؟ اربط ذلك بمرحلة من مراحل الدورة»</a:t>
            </a:r>
          </a:p>
        </p:txBody>
      </p:sp>
      <p:sp>
        <p:nvSpPr>
          <p:cNvPr id="12" name="Rounded Rectangle 11"/>
          <p:cNvSpPr/>
          <p:nvPr/>
        </p:nvSpPr>
        <p:spPr>
          <a:xfrm>
            <a:off x="502920" y="4343400"/>
            <a:ext cx="11183112" cy="105156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50" b="1" i="0">
                <a:solidFill>
                  <a:srgbClr val="1F3A93"/>
                </a:solidFill>
                <a:latin typeface="Segoe UI"/>
                <a:cs typeface="Segoe UI"/>
              </a:rPr>
              <a:t>نموذج أكثر تعقيدًا — </a:t>
            </a:r>
            <a:r>
              <a:rPr sz="1450" b="0" i="0">
                <a:solidFill>
                  <a:srgbClr val="2B2F38"/>
                </a:solidFill>
                <a:latin typeface="Segoe UI"/>
                <a:cs typeface="Segoe UI"/>
              </a:rPr>
              <a:t>إضافة عناصر جديدة للمخطط: المياه الجوفية، النتح من النباتات، الثلوج — مع شرح موقعها في الدورة</a:t>
            </a:r>
          </a:p>
        </p:txBody>
      </p:sp>
      <p:sp>
        <p:nvSpPr>
          <p:cNvPr id="13" name="Rounded Rectangle 12"/>
          <p:cNvSpPr/>
          <p:nvPr/>
        </p:nvSpPr>
        <p:spPr>
          <a:xfrm>
            <a:off x="1188720" y="5486400"/>
            <a:ext cx="9784080" cy="82296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00" b="1" i="0">
                <a:solidFill>
                  <a:srgbClr val="FFFFFF"/>
                </a:solidFill>
                <a:latin typeface="Segoe UI"/>
                <a:cs typeface="Segoe UI"/>
              </a:rPr>
              <a:t>الإثراء عمق وليس كمًا: لا نعطي المتقن «المزيد من نفس الشيء»، بل سؤالًا أعمق.</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9 — دورة الماء</a:t>
            </a:r>
          </a:p>
          <a:p>
            <a:pPr algn="r" rtl="1">
              <a:spcBef>
                <a:spcPts val="0"/>
              </a:spcBef>
              <a:spcAft>
                <a:spcPts val="0"/>
              </a:spcAft>
            </a:pPr>
            <a:r>
              <a:rPr sz="2800" b="1" i="0">
                <a:solidFill>
                  <a:srgbClr val="FFFFFF"/>
                </a:solidFill>
                <a:latin typeface="Segoe UI"/>
                <a:cs typeface="Segoe UI"/>
              </a:rPr>
              <a:t>أهم قاعدة في الدرس المتمايز</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33</a:t>
            </a:r>
          </a:p>
        </p:txBody>
      </p:sp>
      <p:sp>
        <p:nvSpPr>
          <p:cNvPr id="9" name="Rounded Rectangle 8"/>
          <p:cNvSpPr/>
          <p:nvPr/>
        </p:nvSpPr>
        <p:spPr>
          <a:xfrm>
            <a:off x="914400" y="1417320"/>
            <a:ext cx="10332720" cy="146304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2400" b="1" i="0">
                <a:solidFill>
                  <a:srgbClr val="C9A227"/>
                </a:solidFill>
                <a:latin typeface="Segoe UI"/>
                <a:cs typeface="Segoe UI"/>
              </a:rPr>
              <a:t>هذه المسارات ليست مستويات ثابتة للطلاب.</a:t>
            </a:r>
          </a:p>
          <a:p>
            <a:pPr algn="ctr" rtl="1">
              <a:spcBef>
                <a:spcPts val="200"/>
              </a:spcBef>
              <a:spcAft>
                <a:spcPts val="200"/>
              </a:spcAft>
            </a:pPr>
            <a:r>
              <a:rPr sz="1700" b="0" i="0">
                <a:solidFill>
                  <a:srgbClr val="FFFFFF"/>
                </a:solidFill>
                <a:latin typeface="Segoe UI"/>
                <a:cs typeface="Segoe UI"/>
              </a:rPr>
              <a:t>ينتقل الطالب بينها حسب حاجته وتقدمه — في هذا الدرس، وفي غيره.</a:t>
            </a:r>
          </a:p>
        </p:txBody>
      </p:sp>
      <p:sp>
        <p:nvSpPr>
          <p:cNvPr id="10" name="TextBox 9"/>
          <p:cNvSpPr txBox="1"/>
          <p:nvPr/>
        </p:nvSpPr>
        <p:spPr>
          <a:xfrm>
            <a:off x="502920" y="3246120"/>
            <a:ext cx="11183112" cy="1828800"/>
          </a:xfrm>
          <a:prstGeom prst="rect">
            <a:avLst/>
          </a:prstGeom>
          <a:noFill/>
        </p:spPr>
        <p:txBody>
          <a:bodyPr wrap="square" anchor="t" lIns="50800" rIns="50800" tIns="25400" bIns="25400">
            <a:spAutoFit/>
          </a:bodyPr>
          <a:lstStyle/>
          <a:p>
            <a:pPr algn="r" rtl="1">
              <a:spcBef>
                <a:spcPts val="700"/>
              </a:spcBef>
              <a:spcAft>
                <a:spcPts val="400"/>
              </a:spcAft>
            </a:pPr>
            <a:r>
              <a:rPr sz="1400" b="1" i="0">
                <a:solidFill>
                  <a:srgbClr val="2BB3B1"/>
                </a:solidFill>
                <a:latin typeface="Segoe UI"/>
                <a:cs typeface="Segoe UI"/>
              </a:rPr>
              <a:t>●  </a:t>
            </a:r>
            <a:r>
              <a:rPr sz="1650" b="0" i="0">
                <a:solidFill>
                  <a:srgbClr val="2B2F38"/>
                </a:solidFill>
                <a:latin typeface="Segoe UI"/>
                <a:cs typeface="Segoe UI"/>
              </a:rPr>
              <a:t>فيصل قد يبدأ في مسار الدعم اليوم، وينتقل إلى المسار الأساسي في الحصة نفسها إذا استوعب بسرعة.</a:t>
            </a:r>
          </a:p>
          <a:p>
            <a:pPr algn="r" rtl="1">
              <a:spcBef>
                <a:spcPts val="700"/>
              </a:spcBef>
              <a:spcAft>
                <a:spcPts val="400"/>
              </a:spcAft>
            </a:pPr>
            <a:r>
              <a:rPr sz="1400" b="1" i="0">
                <a:solidFill>
                  <a:srgbClr val="2BB3B1"/>
                </a:solidFill>
                <a:latin typeface="Segoe UI"/>
                <a:cs typeface="Segoe UI"/>
              </a:rPr>
              <a:t>●  </a:t>
            </a:r>
            <a:r>
              <a:rPr sz="1650" b="0" i="0">
                <a:solidFill>
                  <a:srgbClr val="2B2F38"/>
                </a:solidFill>
                <a:latin typeface="Segoe UI"/>
                <a:cs typeface="Segoe UI"/>
              </a:rPr>
              <a:t>أحمد المتقن في العلوم قد يحتاج مسار الدعم في درس التعبير الكتابي — ولا حرج في ذلك.</a:t>
            </a:r>
          </a:p>
          <a:p>
            <a:pPr algn="r" rtl="1">
              <a:spcBef>
                <a:spcPts val="700"/>
              </a:spcBef>
              <a:spcAft>
                <a:spcPts val="400"/>
              </a:spcAft>
            </a:pPr>
            <a:r>
              <a:rPr sz="1400" b="1" i="0">
                <a:solidFill>
                  <a:srgbClr val="2BB3B1"/>
                </a:solidFill>
                <a:latin typeface="Segoe UI"/>
                <a:cs typeface="Segoe UI"/>
              </a:rPr>
              <a:t>●  </a:t>
            </a:r>
            <a:r>
              <a:rPr sz="1650" b="0" i="0">
                <a:solidFill>
                  <a:srgbClr val="2B2F38"/>
                </a:solidFill>
                <a:latin typeface="Segoe UI"/>
                <a:cs typeface="Segoe UI"/>
              </a:rPr>
              <a:t>المعلم يوجه الانتقال بناءً على ما يلاحظه، لا بناءً على «سمعة» الطالب.</a:t>
            </a:r>
          </a:p>
        </p:txBody>
      </p:sp>
      <p:sp>
        <p:nvSpPr>
          <p:cNvPr id="11" name="Rounded Rectangle 10"/>
          <p:cNvSpPr/>
          <p:nvPr/>
        </p:nvSpPr>
        <p:spPr>
          <a:xfrm>
            <a:off x="1188720" y="5257800"/>
            <a:ext cx="9784080" cy="105156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1F3A93"/>
                </a:solidFill>
                <a:latin typeface="Segoe UI"/>
                <a:cs typeface="Segoe UI"/>
              </a:rPr>
              <a:t>الختام المشترك (5 دقائق — الصف كله):</a:t>
            </a:r>
          </a:p>
          <a:p>
            <a:pPr algn="ctr" rtl="1">
              <a:spcBef>
                <a:spcPts val="200"/>
              </a:spcBef>
              <a:spcAft>
                <a:spcPts val="200"/>
              </a:spcAft>
            </a:pPr>
            <a:r>
              <a:rPr sz="1400" b="0" i="0">
                <a:solidFill>
                  <a:srgbClr val="2B2F38"/>
                </a:solidFill>
                <a:latin typeface="Segoe UI"/>
                <a:cs typeface="Segoe UI"/>
              </a:rPr>
              <a:t>كل طالب يذكر مرحلة واحدة وما يحدث فيها — ثم بطاقة خروج: «ارسم أو اكتب أو رتب مراحل دورة الماء».</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10</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10</a:t>
            </a:r>
          </a:p>
          <a:p>
            <a:pPr algn="r" rtl="1">
              <a:spcBef>
                <a:spcPts val="600"/>
              </a:spcBef>
              <a:spcAft>
                <a:spcPts val="400"/>
              </a:spcAft>
            </a:pPr>
            <a:r>
              <a:rPr sz="4000" b="1" i="0">
                <a:solidFill>
                  <a:srgbClr val="FFFFFF"/>
                </a:solidFill>
                <a:latin typeface="Segoe UI"/>
                <a:cs typeface="Segoe UI"/>
              </a:rPr>
              <a:t>من نشاط عادي إلى نشاط متمايز</a:t>
            </a:r>
          </a:p>
          <a:p>
            <a:pPr algn="r" rtl="1">
              <a:spcBef>
                <a:spcPts val="400"/>
              </a:spcBef>
              <a:spcAft>
                <a:spcPts val="400"/>
              </a:spcAft>
            </a:pPr>
            <a:r>
              <a:rPr sz="1600" b="0" i="0">
                <a:solidFill>
                  <a:srgbClr val="E4F6F6"/>
                </a:solidFill>
                <a:latin typeface="Segoe UI"/>
                <a:cs typeface="Segoe UI"/>
              </a:rPr>
              <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ست خطوات لجعل أي نشاط أكثر مرونة</a:t>
            </a:r>
          </a:p>
          <a:p>
            <a:pPr algn="r" rtl="1">
              <a:spcBef>
                <a:spcPts val="400"/>
              </a:spcBef>
            </a:pPr>
            <a:r>
              <a:rPr sz="1600" b="0" i="0">
                <a:solidFill>
                  <a:srgbClr val="FFFFFF"/>
                </a:solidFill>
                <a:latin typeface="Segoe UI"/>
                <a:cs typeface="Segoe UI"/>
              </a:rPr>
              <a:t>◂  مثال قبل / بعد من درس لغة عربية</a:t>
            </a:r>
          </a:p>
          <a:p>
            <a:pPr algn="r" rtl="1">
              <a:spcBef>
                <a:spcPts val="400"/>
              </a:spcBef>
            </a:pPr>
            <a:r>
              <a:rPr sz="1600" b="0" i="0">
                <a:solidFill>
                  <a:srgbClr val="FFFFFF"/>
                </a:solidFill>
                <a:latin typeface="Segoe UI"/>
                <a:cs typeface="Segoe UI"/>
              </a:rPr>
              <a:t>◂  جرّبها على نشاط من مادتك</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10</a:t>
            </a:r>
          </a:p>
          <a:p>
            <a:pPr algn="r" rtl="1">
              <a:spcBef>
                <a:spcPts val="0"/>
              </a:spcBef>
              <a:spcAft>
                <a:spcPts val="0"/>
              </a:spcAft>
            </a:pPr>
            <a:r>
              <a:rPr sz="2800" b="1" i="0">
                <a:solidFill>
                  <a:srgbClr val="FFFFFF"/>
                </a:solidFill>
                <a:latin typeface="Segoe UI"/>
                <a:cs typeface="Segoe UI"/>
              </a:rPr>
              <a:t>ست خطوات لتحويل أي نشاط</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35</a:t>
            </a:r>
          </a:p>
        </p:txBody>
      </p:sp>
      <p:sp>
        <p:nvSpPr>
          <p:cNvPr id="9" name="Oval 8"/>
          <p:cNvSpPr/>
          <p:nvPr/>
        </p:nvSpPr>
        <p:spPr>
          <a:xfrm>
            <a:off x="10484967" y="1463040"/>
            <a:ext cx="640080" cy="64008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1</a:t>
            </a:r>
          </a:p>
        </p:txBody>
      </p:sp>
      <p:sp>
        <p:nvSpPr>
          <p:cNvPr id="10" name="Rounded Rectangle 9"/>
          <p:cNvSpPr/>
          <p:nvPr/>
        </p:nvSpPr>
        <p:spPr>
          <a:xfrm>
            <a:off x="9927183" y="2286000"/>
            <a:ext cx="1755648" cy="16459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350" b="1" i="0">
                <a:solidFill>
                  <a:srgbClr val="1F3A93"/>
                </a:solidFill>
                <a:latin typeface="Segoe UI"/>
                <a:cs typeface="Segoe UI"/>
              </a:rPr>
              <a:t>النشاط الأصلي</a:t>
            </a:r>
          </a:p>
          <a:p>
            <a:pPr algn="ctr" rtl="1">
              <a:spcBef>
                <a:spcPts val="200"/>
              </a:spcBef>
              <a:spcAft>
                <a:spcPts val="200"/>
              </a:spcAft>
            </a:pPr>
            <a:r>
              <a:rPr sz="1100" b="0" i="0">
                <a:solidFill>
                  <a:srgbClr val="2B2F38"/>
                </a:solidFill>
                <a:latin typeface="Segoe UI"/>
                <a:cs typeface="Segoe UI"/>
              </a:rPr>
              <a:t>ما النشاط كما هو الآن؟</a:t>
            </a:r>
          </a:p>
        </p:txBody>
      </p:sp>
      <p:sp>
        <p:nvSpPr>
          <p:cNvPr id="11" name="Left Arrow 10"/>
          <p:cNvSpPr/>
          <p:nvPr/>
        </p:nvSpPr>
        <p:spPr>
          <a:xfrm>
            <a:off x="9799167" y="1691640"/>
            <a:ext cx="128016" cy="237744"/>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01303" y="1463040"/>
            <a:ext cx="640080" cy="6400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2</a:t>
            </a:r>
          </a:p>
        </p:txBody>
      </p:sp>
      <p:sp>
        <p:nvSpPr>
          <p:cNvPr id="13" name="Rounded Rectangle 12"/>
          <p:cNvSpPr/>
          <p:nvPr/>
        </p:nvSpPr>
        <p:spPr>
          <a:xfrm>
            <a:off x="8043519" y="2286000"/>
            <a:ext cx="1755648" cy="164592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350" b="1" i="0">
                <a:solidFill>
                  <a:srgbClr val="1F3A93"/>
                </a:solidFill>
                <a:latin typeface="Segoe UI"/>
                <a:cs typeface="Segoe UI"/>
              </a:rPr>
              <a:t>ما الهدف؟</a:t>
            </a:r>
          </a:p>
          <a:p>
            <a:pPr algn="ctr" rtl="1">
              <a:spcBef>
                <a:spcPts val="200"/>
              </a:spcBef>
              <a:spcAft>
                <a:spcPts val="200"/>
              </a:spcAft>
            </a:pPr>
            <a:r>
              <a:rPr sz="1100" b="0" i="0">
                <a:solidFill>
                  <a:srgbClr val="2B2F38"/>
                </a:solidFill>
                <a:latin typeface="Segoe UI"/>
                <a:cs typeface="Segoe UI"/>
              </a:rPr>
              <a:t>ما التعلم المقصود منه فعلًا؟</a:t>
            </a:r>
          </a:p>
        </p:txBody>
      </p:sp>
      <p:sp>
        <p:nvSpPr>
          <p:cNvPr id="14" name="Left Arrow 13"/>
          <p:cNvSpPr/>
          <p:nvPr/>
        </p:nvSpPr>
        <p:spPr>
          <a:xfrm>
            <a:off x="7915503" y="1691640"/>
            <a:ext cx="128016" cy="237744"/>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717639" y="1463040"/>
            <a:ext cx="640080" cy="64008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3</a:t>
            </a:r>
          </a:p>
        </p:txBody>
      </p:sp>
      <p:sp>
        <p:nvSpPr>
          <p:cNvPr id="16" name="Rounded Rectangle 15"/>
          <p:cNvSpPr/>
          <p:nvPr/>
        </p:nvSpPr>
        <p:spPr>
          <a:xfrm>
            <a:off x="6159855" y="2286000"/>
            <a:ext cx="1755648" cy="16459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350" b="1" i="0">
                <a:solidFill>
                  <a:srgbClr val="1F3A93"/>
                </a:solidFill>
                <a:latin typeface="Segoe UI"/>
                <a:cs typeface="Segoe UI"/>
              </a:rPr>
              <a:t>أين العائق؟</a:t>
            </a:r>
          </a:p>
          <a:p>
            <a:pPr algn="ctr" rtl="1">
              <a:spcBef>
                <a:spcPts val="200"/>
              </a:spcBef>
              <a:spcAft>
                <a:spcPts val="200"/>
              </a:spcAft>
            </a:pPr>
            <a:r>
              <a:rPr sz="1100" b="0" i="0">
                <a:solidFill>
                  <a:srgbClr val="2B2F38"/>
                </a:solidFill>
                <a:latin typeface="Segoe UI"/>
                <a:cs typeface="Segoe UI"/>
              </a:rPr>
              <a:t>أين قد يتعثر بعض الطلاب؟ ولماذا؟</a:t>
            </a:r>
          </a:p>
        </p:txBody>
      </p:sp>
      <p:sp>
        <p:nvSpPr>
          <p:cNvPr id="17" name="Left Arrow 16"/>
          <p:cNvSpPr/>
          <p:nvPr/>
        </p:nvSpPr>
        <p:spPr>
          <a:xfrm>
            <a:off x="6031839" y="1691640"/>
            <a:ext cx="128016" cy="237744"/>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833975" y="1463040"/>
            <a:ext cx="640080" cy="6400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4</a:t>
            </a:r>
          </a:p>
        </p:txBody>
      </p:sp>
      <p:sp>
        <p:nvSpPr>
          <p:cNvPr id="19" name="Rounded Rectangle 18"/>
          <p:cNvSpPr/>
          <p:nvPr/>
        </p:nvSpPr>
        <p:spPr>
          <a:xfrm>
            <a:off x="4276191" y="2286000"/>
            <a:ext cx="1755648" cy="164592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350" b="1" i="0">
                <a:solidFill>
                  <a:srgbClr val="1F3A93"/>
                </a:solidFill>
                <a:latin typeface="Segoe UI"/>
                <a:cs typeface="Segoe UI"/>
              </a:rPr>
              <a:t>ما الذي يتغير؟</a:t>
            </a:r>
          </a:p>
          <a:p>
            <a:pPr algn="ctr" rtl="1">
              <a:spcBef>
                <a:spcPts val="200"/>
              </a:spcBef>
              <a:spcAft>
                <a:spcPts val="200"/>
              </a:spcAft>
            </a:pPr>
            <a:r>
              <a:rPr sz="1100" b="0" i="0">
                <a:solidFill>
                  <a:srgbClr val="2B2F38"/>
                </a:solidFill>
                <a:latin typeface="Segoe UI"/>
                <a:cs typeface="Segoe UI"/>
              </a:rPr>
              <a:t>المحتوى؟ الطريقة؟ الناتج؟ البيئة؟</a:t>
            </a:r>
          </a:p>
        </p:txBody>
      </p:sp>
      <p:sp>
        <p:nvSpPr>
          <p:cNvPr id="20" name="Left Arrow 19"/>
          <p:cNvSpPr/>
          <p:nvPr/>
        </p:nvSpPr>
        <p:spPr>
          <a:xfrm>
            <a:off x="4148175" y="1691640"/>
            <a:ext cx="128016" cy="237744"/>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950311" y="1463040"/>
            <a:ext cx="640080" cy="64008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5</a:t>
            </a:r>
          </a:p>
        </p:txBody>
      </p:sp>
      <p:sp>
        <p:nvSpPr>
          <p:cNvPr id="22" name="Rounded Rectangle 21"/>
          <p:cNvSpPr/>
          <p:nvPr/>
        </p:nvSpPr>
        <p:spPr>
          <a:xfrm>
            <a:off x="2392527" y="2286000"/>
            <a:ext cx="1755648" cy="16459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350" b="1" i="0">
                <a:solidFill>
                  <a:srgbClr val="1F3A93"/>
                </a:solidFill>
                <a:latin typeface="Segoe UI"/>
                <a:cs typeface="Segoe UI"/>
              </a:rPr>
              <a:t>ما الدعم؟</a:t>
            </a:r>
          </a:p>
          <a:p>
            <a:pPr algn="ctr" rtl="1">
              <a:spcBef>
                <a:spcPts val="200"/>
              </a:spcBef>
              <a:spcAft>
                <a:spcPts val="200"/>
              </a:spcAft>
            </a:pPr>
            <a:r>
              <a:rPr sz="1100" b="0" i="0">
                <a:solidFill>
                  <a:srgbClr val="2B2F38"/>
                </a:solidFill>
                <a:latin typeface="Segoe UI"/>
                <a:cs typeface="Segoe UI"/>
              </a:rPr>
              <a:t>نموذج؟ تقسيم؟ وقت؟ أسئلة موجهة؟</a:t>
            </a:r>
          </a:p>
        </p:txBody>
      </p:sp>
      <p:sp>
        <p:nvSpPr>
          <p:cNvPr id="23" name="Left Arrow 22"/>
          <p:cNvSpPr/>
          <p:nvPr/>
        </p:nvSpPr>
        <p:spPr>
          <a:xfrm>
            <a:off x="2264511" y="1691640"/>
            <a:ext cx="128016" cy="237744"/>
          </a:xfrm>
          <a:prstGeom prst="lef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6647" y="1463040"/>
            <a:ext cx="640080" cy="6400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6</a:t>
            </a:r>
          </a:p>
        </p:txBody>
      </p:sp>
      <p:sp>
        <p:nvSpPr>
          <p:cNvPr id="25" name="Rounded Rectangle 24"/>
          <p:cNvSpPr/>
          <p:nvPr/>
        </p:nvSpPr>
        <p:spPr>
          <a:xfrm>
            <a:off x="508863" y="2286000"/>
            <a:ext cx="1755648" cy="164592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ctr" rtl="1">
              <a:spcBef>
                <a:spcPts val="200"/>
              </a:spcBef>
              <a:spcAft>
                <a:spcPts val="200"/>
              </a:spcAft>
            </a:pPr>
            <a:r>
              <a:rPr sz="1350" b="1" i="0">
                <a:solidFill>
                  <a:srgbClr val="1F3A93"/>
                </a:solidFill>
                <a:latin typeface="Segoe UI"/>
                <a:cs typeface="Segoe UI"/>
              </a:rPr>
              <a:t>ما الدليل؟</a:t>
            </a:r>
          </a:p>
          <a:p>
            <a:pPr algn="ctr" rtl="1">
              <a:spcBef>
                <a:spcPts val="200"/>
              </a:spcBef>
              <a:spcAft>
                <a:spcPts val="200"/>
              </a:spcAft>
            </a:pPr>
            <a:r>
              <a:rPr sz="1100" b="0" i="0">
                <a:solidFill>
                  <a:srgbClr val="2B2F38"/>
                </a:solidFill>
                <a:latin typeface="Segoe UI"/>
                <a:cs typeface="Segoe UI"/>
              </a:rPr>
              <a:t>كيف سأعرف أن الطالب تعلم؟</a:t>
            </a:r>
          </a:p>
        </p:txBody>
      </p:sp>
      <p:sp>
        <p:nvSpPr>
          <p:cNvPr id="26" name="Rounded Rectangle 25"/>
          <p:cNvSpPr/>
          <p:nvPr/>
        </p:nvSpPr>
        <p:spPr>
          <a:xfrm>
            <a:off x="1188720" y="4297680"/>
            <a:ext cx="9784080" cy="173736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300"/>
              </a:spcAft>
            </a:pPr>
            <a:r>
              <a:rPr sz="1700" b="1" i="0">
                <a:solidFill>
                  <a:srgbClr val="C9A227"/>
                </a:solidFill>
                <a:latin typeface="Segoe UI"/>
                <a:cs typeface="Segoe UI"/>
              </a:rPr>
              <a:t>لاحظ: لم نسأل أبدًا «كيف أجعل النشاط أسهل؟»</a:t>
            </a:r>
          </a:p>
          <a:p>
            <a:pPr algn="ctr" rtl="1">
              <a:spcBef>
                <a:spcPts val="200"/>
              </a:spcBef>
              <a:spcAft>
                <a:spcPts val="300"/>
              </a:spcAft>
            </a:pPr>
            <a:r>
              <a:rPr sz="1600" b="0" i="0">
                <a:solidFill>
                  <a:srgbClr val="FFFFFF"/>
                </a:solidFill>
                <a:latin typeface="Segoe UI"/>
                <a:cs typeface="Segoe UI"/>
              </a:rPr>
              <a:t>سألنا: أين العائق؟ وما الدعم الذي يوصل الطالب إلى الهدف نفسه؟</a:t>
            </a:r>
          </a:p>
          <a:p>
            <a:pPr algn="ctr" rtl="1">
              <a:spcBef>
                <a:spcPts val="200"/>
              </a:spcBef>
              <a:spcAft>
                <a:spcPts val="200"/>
              </a:spcAft>
            </a:pPr>
            <a:r>
              <a:rPr sz="1400" b="0" i="0">
                <a:solidFill>
                  <a:srgbClr val="E4F6F6"/>
                </a:solidFill>
                <a:latin typeface="Segoe UI"/>
                <a:cs typeface="Segoe UI"/>
              </a:rPr>
              <a:t>هذا هو تكييف التعليم (Instructional Adaptation): تعديل الطريق لا تخفيض الوجهة.</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10 — درس لغة عربية، الصف الثالث</a:t>
            </a:r>
          </a:p>
          <a:p>
            <a:pPr algn="r" rtl="1">
              <a:spcBef>
                <a:spcPts val="0"/>
              </a:spcBef>
              <a:spcAft>
                <a:spcPts val="0"/>
              </a:spcAft>
            </a:pPr>
            <a:r>
              <a:rPr sz="2800" b="1" i="0">
                <a:solidFill>
                  <a:srgbClr val="FFFFFF"/>
                </a:solidFill>
                <a:latin typeface="Segoe UI"/>
                <a:cs typeface="Segoe UI"/>
              </a:rPr>
              <a:t>مثال: قبل وبعد</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36</a:t>
            </a:r>
          </a:p>
        </p:txBody>
      </p:sp>
      <p:sp>
        <p:nvSpPr>
          <p:cNvPr id="9" name="Rounded Rectangle 8"/>
          <p:cNvSpPr/>
          <p:nvPr/>
        </p:nvSpPr>
        <p:spPr>
          <a:xfrm>
            <a:off x="6263640" y="1325880"/>
            <a:ext cx="5422392" cy="2148840"/>
          </a:xfrm>
          <a:prstGeom prst="roundRect">
            <a:avLst>
              <a:gd name="adj" fmla="val 8000"/>
            </a:avLst>
          </a:prstGeom>
          <a:solidFill>
            <a:srgbClr val="FFFFFF"/>
          </a:solidFill>
          <a:ln w="12700">
            <a:solidFill>
              <a:srgbClr val="B03333"/>
            </a:solid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300"/>
              </a:spcAft>
            </a:pPr>
            <a:r>
              <a:rPr sz="1600" b="1" i="0">
                <a:solidFill>
                  <a:srgbClr val="B03333"/>
                </a:solidFill>
                <a:latin typeface="Segoe UI"/>
                <a:cs typeface="Segoe UI"/>
              </a:rPr>
              <a:t>قبل — النشاط الأصلي</a:t>
            </a:r>
          </a:p>
          <a:p>
            <a:pPr algn="r" rtl="1">
              <a:spcBef>
                <a:spcPts val="200"/>
              </a:spcBef>
              <a:spcAft>
                <a:spcPts val="300"/>
              </a:spcAft>
            </a:pPr>
            <a:r>
              <a:rPr sz="1400" b="0" i="0">
                <a:solidFill>
                  <a:srgbClr val="2B2F38"/>
                </a:solidFill>
                <a:latin typeface="Segoe UI"/>
                <a:cs typeface="Segoe UI"/>
              </a:rPr>
              <a:t>«اقرأ النص ثم اكتب فقرة من خمسة أسطر تلخص أحداث القصة.»</a:t>
            </a:r>
          </a:p>
          <a:p>
            <a:pPr algn="r" rtl="1">
              <a:spcBef>
                <a:spcPts val="200"/>
              </a:spcBef>
              <a:spcAft>
                <a:spcPts val="200"/>
              </a:spcAft>
            </a:pPr>
            <a:r>
              <a:rPr sz="1250" b="0" i="0">
                <a:solidFill>
                  <a:srgbClr val="6B7280"/>
                </a:solidFill>
                <a:latin typeface="Segoe UI"/>
                <a:cs typeface="Segoe UI"/>
              </a:rPr>
              <a:t>النتيجة المعتادة: ثلث الصف يكتب، وثلث يكتب سطرين، وثلث يسلّم ورقة فارغة.</a:t>
            </a:r>
          </a:p>
        </p:txBody>
      </p:sp>
      <p:sp>
        <p:nvSpPr>
          <p:cNvPr id="10" name="Rounded Rectangle 9"/>
          <p:cNvSpPr/>
          <p:nvPr/>
        </p:nvSpPr>
        <p:spPr>
          <a:xfrm>
            <a:off x="502920" y="1325880"/>
            <a:ext cx="5422392" cy="21488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300"/>
              </a:spcAft>
            </a:pPr>
            <a:r>
              <a:rPr sz="1600" b="1" i="0">
                <a:solidFill>
                  <a:srgbClr val="1F3A93"/>
                </a:solidFill>
                <a:latin typeface="Segoe UI"/>
                <a:cs typeface="Segoe UI"/>
              </a:rPr>
              <a:t>التحليل السريع</a:t>
            </a:r>
          </a:p>
          <a:p>
            <a:pPr algn="r" rtl="1">
              <a:spcBef>
                <a:spcPts val="200"/>
              </a:spcBef>
              <a:spcAft>
                <a:spcPts val="200"/>
              </a:spcAft>
            </a:pPr>
            <a:r>
              <a:rPr sz="1350" b="0" i="0">
                <a:solidFill>
                  <a:srgbClr val="2B2F38"/>
                </a:solidFill>
                <a:latin typeface="Segoe UI"/>
                <a:cs typeface="Segoe UI"/>
              </a:rPr>
              <a:t>الهدف الفعلي: أن يحدد الطالب الأحداث الرئيسة وتسلسلها — وليس «كتابة خمسة أسطر».</a:t>
            </a:r>
          </a:p>
          <a:p>
            <a:pPr algn="r" rtl="1">
              <a:spcBef>
                <a:spcPts val="200"/>
              </a:spcBef>
              <a:spcAft>
                <a:spcPts val="200"/>
              </a:spcAft>
            </a:pPr>
            <a:r>
              <a:rPr sz="1350" b="0" i="0">
                <a:solidFill>
                  <a:srgbClr val="2B2F38"/>
                </a:solidFill>
                <a:latin typeface="Segoe UI"/>
                <a:cs typeface="Segoe UI"/>
              </a:rPr>
              <a:t>العائق: الكتابة الحرة الطويلة تحجب فهم طلاب يفهمون القصة جيدًا.</a:t>
            </a:r>
          </a:p>
        </p:txBody>
      </p:sp>
      <p:sp>
        <p:nvSpPr>
          <p:cNvPr id="11" name="Rounded Rectangle 10"/>
          <p:cNvSpPr/>
          <p:nvPr/>
        </p:nvSpPr>
        <p:spPr>
          <a:xfrm>
            <a:off x="502920" y="3657600"/>
            <a:ext cx="11183112" cy="251460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600" b="1" i="0">
                <a:solidFill>
                  <a:srgbClr val="1F3A93"/>
                </a:solidFill>
                <a:latin typeface="Segoe UI"/>
                <a:cs typeface="Segoe UI"/>
              </a:rPr>
              <a:t>بعد — النشاط المتمايز (الهدف نفسه)</a:t>
            </a:r>
          </a:p>
          <a:p>
            <a:pPr algn="r" rtl="1">
              <a:spcBef>
                <a:spcPts val="100"/>
              </a:spcBef>
              <a:spcAft>
                <a:spcPts val="100"/>
              </a:spcAft>
            </a:pPr>
            <a:r>
              <a:rPr sz="1400" b="0" i="0">
                <a:solidFill>
                  <a:srgbClr val="2B2F38"/>
                </a:solidFill>
                <a:latin typeface="Segoe UI"/>
                <a:cs typeface="Segoe UI"/>
              </a:rPr>
              <a:t>●  للجميع: حدد الأحداث الرئيسة الثلاثة للقصة ورتبها.</a:t>
            </a:r>
          </a:p>
          <a:p>
            <a:pPr algn="r" rtl="1">
              <a:spcBef>
                <a:spcPts val="100"/>
              </a:spcBef>
              <a:spcAft>
                <a:spcPts val="100"/>
              </a:spcAft>
            </a:pPr>
            <a:r>
              <a:rPr sz="1400" b="0" i="0">
                <a:solidFill>
                  <a:srgbClr val="2B2F38"/>
                </a:solidFill>
                <a:latin typeface="Segoe UI"/>
                <a:cs typeface="Segoe UI"/>
              </a:rPr>
              <a:t>●  خيارات الناتج: فقرة مكتوبة، أو ترتيب بطاقات الأحداث مع جملة لكل حدث، أو سرد شفهي للتسلسل.</a:t>
            </a:r>
          </a:p>
          <a:p>
            <a:pPr algn="r" rtl="1">
              <a:spcBef>
                <a:spcPts val="100"/>
              </a:spcBef>
              <a:spcAft>
                <a:spcPts val="100"/>
              </a:spcAft>
            </a:pPr>
            <a:r>
              <a:rPr sz="1400" b="0" i="0">
                <a:solidFill>
                  <a:srgbClr val="2B2F38"/>
                </a:solidFill>
                <a:latin typeface="Segoe UI"/>
                <a:cs typeface="Segoe UI"/>
              </a:rPr>
              <a:t>●  دعم لمن يحتاج: بطاقات أحداث جاهزة للترتيب + كلمات ربط (أولًا، ثم، أخيرًا).</a:t>
            </a:r>
          </a:p>
          <a:p>
            <a:pPr algn="r" rtl="1">
              <a:spcBef>
                <a:spcPts val="100"/>
              </a:spcBef>
              <a:spcAft>
                <a:spcPts val="100"/>
              </a:spcAft>
            </a:pPr>
            <a:r>
              <a:rPr sz="1400" b="0" i="0">
                <a:solidFill>
                  <a:srgbClr val="2B2F38"/>
                </a:solidFill>
                <a:latin typeface="Segoe UI"/>
                <a:cs typeface="Segoe UI"/>
              </a:rPr>
              <a:t>●  إثراء لمن أتقن: «ماذا كان سيتغير في النهاية لو تصرفت الشخصية بطريقة مختلفة؟»</a:t>
            </a:r>
          </a:p>
          <a:p>
            <a:pPr algn="r" rtl="1">
              <a:spcBef>
                <a:spcPts val="200"/>
              </a:spcBef>
              <a:spcAft>
                <a:spcPts val="200"/>
              </a:spcAft>
            </a:pPr>
            <a:r>
              <a:rPr sz="1400" b="1" i="0">
                <a:solidFill>
                  <a:srgbClr val="1F3A93"/>
                </a:solidFill>
                <a:latin typeface="Segoe UI"/>
                <a:cs typeface="Segoe UI"/>
              </a:rPr>
              <a:t>●  الدليل للجميع: تسلسل صحيح للأحداث الثلاثة — بأي شكل ظهر.</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11</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11</a:t>
            </a:r>
          </a:p>
          <a:p>
            <a:pPr algn="r" rtl="1">
              <a:spcBef>
                <a:spcPts val="600"/>
              </a:spcBef>
              <a:spcAft>
                <a:spcPts val="400"/>
              </a:spcAft>
            </a:pPr>
            <a:r>
              <a:rPr sz="4000" b="1" i="0">
                <a:solidFill>
                  <a:srgbClr val="FFFFFF"/>
                </a:solidFill>
                <a:latin typeface="Segoe UI"/>
                <a:cs typeface="Segoe UI"/>
              </a:rPr>
              <a:t>إدارة الصف المتمايز</a:t>
            </a:r>
          </a:p>
          <a:p>
            <a:pPr algn="r" rtl="1">
              <a:spcBef>
                <a:spcPts val="400"/>
              </a:spcBef>
              <a:spcAft>
                <a:spcPts val="400"/>
              </a:spcAft>
            </a:pPr>
            <a:r>
              <a:rPr sz="1600" b="0" i="0">
                <a:solidFill>
                  <a:srgbClr val="E4F6F6"/>
                </a:solidFill>
                <a:latin typeface="Segoe UI"/>
                <a:cs typeface="Segoe UI"/>
              </a:rPr>
              <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التمايز لا يعني الفوضى</a:t>
            </a:r>
          </a:p>
          <a:p>
            <a:pPr algn="r" rtl="1">
              <a:spcBef>
                <a:spcPts val="400"/>
              </a:spcBef>
            </a:pPr>
            <a:r>
              <a:rPr sz="1600" b="0" i="0">
                <a:solidFill>
                  <a:srgbClr val="FFFFFF"/>
                </a:solidFill>
                <a:latin typeface="Segoe UI"/>
                <a:cs typeface="Segoe UI"/>
              </a:rPr>
              <a:t>◂  روتين واضح + تعليمات واضحة + توقعات واضحة + متابعة مستمرة</a:t>
            </a:r>
          </a:p>
          <a:p>
            <a:pPr algn="r" rtl="1">
              <a:spcBef>
                <a:spcPts val="400"/>
              </a:spcBef>
            </a:pPr>
            <a:r>
              <a:rPr sz="1600" b="0" i="0">
                <a:solidFill>
                  <a:srgbClr val="FFFFFF"/>
                </a:solidFill>
                <a:latin typeface="Segoe UI"/>
                <a:cs typeface="Segoe UI"/>
              </a:rPr>
              <a:t>◂  ثماني ممارسات لإدارة صف يعمل في مسارات</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11</a:t>
            </a:r>
          </a:p>
          <a:p>
            <a:pPr algn="r" rtl="1">
              <a:spcBef>
                <a:spcPts val="0"/>
              </a:spcBef>
              <a:spcAft>
                <a:spcPts val="0"/>
              </a:spcAft>
            </a:pPr>
            <a:r>
              <a:rPr sz="2800" b="1" i="0">
                <a:solidFill>
                  <a:srgbClr val="FFFFFF"/>
                </a:solidFill>
                <a:latin typeface="Segoe UI"/>
                <a:cs typeface="Segoe UI"/>
              </a:rPr>
              <a:t>ثماني ممارسات تحفظ النظام في الصف المتمايز</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38</a:t>
            </a:r>
          </a:p>
        </p:txBody>
      </p:sp>
      <p:sp>
        <p:nvSpPr>
          <p:cNvPr id="9" name="Rounded Rectangle 8"/>
          <p:cNvSpPr/>
          <p:nvPr/>
        </p:nvSpPr>
        <p:spPr>
          <a:xfrm>
            <a:off x="9041130" y="1371600"/>
            <a:ext cx="264490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350" b="1" i="0">
                <a:solidFill>
                  <a:srgbClr val="1F3A93"/>
                </a:solidFill>
                <a:latin typeface="Segoe UI"/>
                <a:cs typeface="Segoe UI"/>
              </a:rPr>
              <a:t>وضوح التعليمات</a:t>
            </a:r>
          </a:p>
          <a:p>
            <a:pPr algn="r" rtl="1">
              <a:spcBef>
                <a:spcPts val="100"/>
              </a:spcBef>
              <a:spcAft>
                <a:spcPts val="100"/>
              </a:spcAft>
            </a:pPr>
            <a:r>
              <a:rPr sz="1150" b="0" i="0">
                <a:solidFill>
                  <a:srgbClr val="2B2F38"/>
                </a:solidFill>
                <a:latin typeface="Segoe UI"/>
                <a:cs typeface="Segoe UI"/>
              </a:rPr>
              <a:t>تعليمات كل مسار مكتوبة في مكانه قبل بدء العمل — لا تشرح ثلاثة مسارات شفهيًا دفعة واحدة</a:t>
            </a:r>
          </a:p>
        </p:txBody>
      </p:sp>
      <p:sp>
        <p:nvSpPr>
          <p:cNvPr id="10" name="Rounded Rectangle 9"/>
          <p:cNvSpPr/>
          <p:nvPr/>
        </p:nvSpPr>
        <p:spPr>
          <a:xfrm>
            <a:off x="6195060" y="1371600"/>
            <a:ext cx="264490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350" b="1" i="0">
                <a:solidFill>
                  <a:srgbClr val="1F3A93"/>
                </a:solidFill>
                <a:latin typeface="Segoe UI"/>
                <a:cs typeface="Segoe UI"/>
              </a:rPr>
              <a:t>تنظيم الوقت</a:t>
            </a:r>
          </a:p>
          <a:p>
            <a:pPr algn="r" rtl="1">
              <a:spcBef>
                <a:spcPts val="100"/>
              </a:spcBef>
              <a:spcAft>
                <a:spcPts val="100"/>
              </a:spcAft>
            </a:pPr>
            <a:r>
              <a:rPr sz="1150" b="0" i="0">
                <a:solidFill>
                  <a:srgbClr val="2B2F38"/>
                </a:solidFill>
                <a:latin typeface="Segoe UI"/>
                <a:cs typeface="Segoe UI"/>
              </a:rPr>
              <a:t>وقت محدد معلن لكل مرحلة، ومؤقت مرئي للصف كله</a:t>
            </a:r>
          </a:p>
        </p:txBody>
      </p:sp>
      <p:sp>
        <p:nvSpPr>
          <p:cNvPr id="11" name="Rounded Rectangle 10"/>
          <p:cNvSpPr/>
          <p:nvPr/>
        </p:nvSpPr>
        <p:spPr>
          <a:xfrm>
            <a:off x="3348990" y="1371600"/>
            <a:ext cx="264490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350" b="1" i="0">
                <a:solidFill>
                  <a:srgbClr val="1F3A93"/>
                </a:solidFill>
                <a:latin typeface="Segoe UI"/>
                <a:cs typeface="Segoe UI"/>
              </a:rPr>
              <a:t>الانتقال بين الأنشطة</a:t>
            </a:r>
          </a:p>
          <a:p>
            <a:pPr algn="r" rtl="1">
              <a:spcBef>
                <a:spcPts val="100"/>
              </a:spcBef>
              <a:spcAft>
                <a:spcPts val="100"/>
              </a:spcAft>
            </a:pPr>
            <a:r>
              <a:rPr sz="1150" b="0" i="0">
                <a:solidFill>
                  <a:srgbClr val="2B2F38"/>
                </a:solidFill>
                <a:latin typeface="Segoe UI"/>
                <a:cs typeface="Segoe UI"/>
              </a:rPr>
              <a:t>إشارة ثابتة متفق عليها للانتقال (جرس، عد تنازلي، رفع يد) وتدريب عليها</a:t>
            </a:r>
          </a:p>
        </p:txBody>
      </p:sp>
      <p:sp>
        <p:nvSpPr>
          <p:cNvPr id="12" name="Rounded Rectangle 11"/>
          <p:cNvSpPr/>
          <p:nvPr/>
        </p:nvSpPr>
        <p:spPr>
          <a:xfrm>
            <a:off x="502920" y="1371600"/>
            <a:ext cx="264490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350" b="1" i="0">
                <a:solidFill>
                  <a:srgbClr val="1F3A93"/>
                </a:solidFill>
                <a:latin typeface="Segoe UI"/>
                <a:cs typeface="Segoe UI"/>
              </a:rPr>
              <a:t>الإشارات البصرية</a:t>
            </a:r>
          </a:p>
          <a:p>
            <a:pPr algn="r" rtl="1">
              <a:spcBef>
                <a:spcPts val="100"/>
              </a:spcBef>
              <a:spcAft>
                <a:spcPts val="100"/>
              </a:spcAft>
            </a:pPr>
            <a:r>
              <a:rPr sz="1150" b="0" i="0">
                <a:solidFill>
                  <a:srgbClr val="2B2F38"/>
                </a:solidFill>
                <a:latin typeface="Segoe UI"/>
                <a:cs typeface="Segoe UI"/>
              </a:rPr>
              <a:t>بطاقات ملونة على الطاولات: أعمل بمفردي / أحتاج مساعدة / أنهيت</a:t>
            </a:r>
          </a:p>
        </p:txBody>
      </p:sp>
      <p:sp>
        <p:nvSpPr>
          <p:cNvPr id="13" name="Rounded Rectangle 12"/>
          <p:cNvSpPr/>
          <p:nvPr/>
        </p:nvSpPr>
        <p:spPr>
          <a:xfrm>
            <a:off x="9041130" y="4032504"/>
            <a:ext cx="264490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350" b="1" i="0">
                <a:solidFill>
                  <a:srgbClr val="1F3A93"/>
                </a:solidFill>
                <a:latin typeface="Segoe UI"/>
                <a:cs typeface="Segoe UI"/>
              </a:rPr>
              <a:t>توزيع المواد</a:t>
            </a:r>
          </a:p>
          <a:p>
            <a:pPr algn="r" rtl="1">
              <a:spcBef>
                <a:spcPts val="100"/>
              </a:spcBef>
              <a:spcAft>
                <a:spcPts val="100"/>
              </a:spcAft>
            </a:pPr>
            <a:r>
              <a:rPr sz="1150" b="0" i="0">
                <a:solidFill>
                  <a:srgbClr val="2B2F38"/>
                </a:solidFill>
                <a:latin typeface="Segoe UI"/>
                <a:cs typeface="Segoe UI"/>
              </a:rPr>
              <a:t>المواد جاهزة في سلال أو أركان قبل الحصة — لا توزيع أثناء الشرح</a:t>
            </a:r>
          </a:p>
        </p:txBody>
      </p:sp>
      <p:sp>
        <p:nvSpPr>
          <p:cNvPr id="14" name="Rounded Rectangle 13"/>
          <p:cNvSpPr/>
          <p:nvPr/>
        </p:nvSpPr>
        <p:spPr>
          <a:xfrm>
            <a:off x="6195060" y="4032504"/>
            <a:ext cx="264490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350" b="1" i="0">
                <a:solidFill>
                  <a:srgbClr val="1F3A93"/>
                </a:solidFill>
                <a:latin typeface="Segoe UI"/>
                <a:cs typeface="Segoe UI"/>
              </a:rPr>
              <a:t>قواعد العمل الجماعي</a:t>
            </a:r>
          </a:p>
          <a:p>
            <a:pPr algn="r" rtl="1">
              <a:spcBef>
                <a:spcPts val="100"/>
              </a:spcBef>
              <a:spcAft>
                <a:spcPts val="100"/>
              </a:spcAft>
            </a:pPr>
            <a:r>
              <a:rPr sz="1150" b="0" i="0">
                <a:solidFill>
                  <a:srgbClr val="2B2F38"/>
                </a:solidFill>
                <a:latin typeface="Segoe UI"/>
                <a:cs typeface="Segoe UI"/>
              </a:rPr>
              <a:t>أدوار محددة في المجموعة (قارئ، مدون، متحدث) وصوت هادئ متفق عليه</a:t>
            </a:r>
          </a:p>
        </p:txBody>
      </p:sp>
      <p:sp>
        <p:nvSpPr>
          <p:cNvPr id="15" name="Rounded Rectangle 14"/>
          <p:cNvSpPr/>
          <p:nvPr/>
        </p:nvSpPr>
        <p:spPr>
          <a:xfrm>
            <a:off x="3348990" y="4032504"/>
            <a:ext cx="264490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350" b="1" i="0">
                <a:solidFill>
                  <a:srgbClr val="1F3A93"/>
                </a:solidFill>
                <a:latin typeface="Segoe UI"/>
                <a:cs typeface="Segoe UI"/>
              </a:rPr>
              <a:t>تدريب على الاستقلالية</a:t>
            </a:r>
          </a:p>
          <a:p>
            <a:pPr algn="r" rtl="1">
              <a:spcBef>
                <a:spcPts val="100"/>
              </a:spcBef>
              <a:spcAft>
                <a:spcPts val="100"/>
              </a:spcAft>
            </a:pPr>
            <a:r>
              <a:rPr sz="1150" b="0" i="0">
                <a:solidFill>
                  <a:srgbClr val="2B2F38"/>
                </a:solidFill>
                <a:latin typeface="Segoe UI"/>
                <a:cs typeface="Segoe UI"/>
              </a:rPr>
              <a:t>علّم الطلاب: ماذا أفعل إذا انتهيت؟ وماذا أفعل إذا احترت؟ قبل أن يسألوك</a:t>
            </a:r>
          </a:p>
        </p:txBody>
      </p:sp>
      <p:sp>
        <p:nvSpPr>
          <p:cNvPr id="16" name="Rounded Rectangle 15"/>
          <p:cNvSpPr/>
          <p:nvPr/>
        </p:nvSpPr>
        <p:spPr>
          <a:xfrm>
            <a:off x="502920" y="4032504"/>
            <a:ext cx="2644902" cy="245973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400"/>
              </a:spcAft>
            </a:pPr>
            <a:r>
              <a:rPr sz="1350" b="1" i="0">
                <a:solidFill>
                  <a:srgbClr val="1F3A93"/>
                </a:solidFill>
                <a:latin typeface="Segoe UI"/>
                <a:cs typeface="Segoe UI"/>
              </a:rPr>
              <a:t>تقليل الاعتماد على المعلم</a:t>
            </a:r>
          </a:p>
          <a:p>
            <a:pPr algn="r" rtl="1">
              <a:spcBef>
                <a:spcPts val="100"/>
              </a:spcBef>
              <a:spcAft>
                <a:spcPts val="100"/>
              </a:spcAft>
            </a:pPr>
            <a:r>
              <a:rPr sz="1150" b="0" i="0">
                <a:solidFill>
                  <a:srgbClr val="2B2F38"/>
                </a:solidFill>
                <a:latin typeface="Segoe UI"/>
                <a:cs typeface="Segoe UI"/>
              </a:rPr>
              <a:t>قاعدة «اسأل ثلاثة قبلي»: زميلًا، ثم التعليمات المكتوبة، ثم لوحة المساعدة — ثم المعلم</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12</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12</a:t>
            </a:r>
          </a:p>
          <a:p>
            <a:pPr algn="r" rtl="1">
              <a:spcBef>
                <a:spcPts val="600"/>
              </a:spcBef>
              <a:spcAft>
                <a:spcPts val="400"/>
              </a:spcAft>
            </a:pPr>
            <a:r>
              <a:rPr sz="4000" b="1" i="0">
                <a:solidFill>
                  <a:srgbClr val="FFFFFF"/>
                </a:solidFill>
                <a:latin typeface="Segoe UI"/>
                <a:cs typeface="Segoe UI"/>
              </a:rPr>
              <a:t>التقييم التكويني</a:t>
            </a:r>
          </a:p>
          <a:p>
            <a:pPr algn="r" rtl="1">
              <a:spcBef>
                <a:spcPts val="400"/>
              </a:spcBef>
              <a:spcAft>
                <a:spcPts val="400"/>
              </a:spcAft>
            </a:pPr>
            <a:r>
              <a:rPr sz="1600" b="0" i="0">
                <a:solidFill>
                  <a:srgbClr val="E4F6F6"/>
                </a:solidFill>
                <a:latin typeface="Segoe UI"/>
                <a:cs typeface="Segoe UI"/>
              </a:rPr>
              <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كيف أعرف ما تعلمه الطالب وما يحتاجه بعد ذلك؟</a:t>
            </a:r>
          </a:p>
          <a:p>
            <a:pPr algn="r" rtl="1">
              <a:spcBef>
                <a:spcPts val="400"/>
              </a:spcBef>
            </a:pPr>
            <a:r>
              <a:rPr sz="1600" b="0" i="0">
                <a:solidFill>
                  <a:srgbClr val="FFFFFF"/>
                </a:solidFill>
                <a:latin typeface="Segoe UI"/>
                <a:cs typeface="Segoe UI"/>
              </a:rPr>
              <a:t>◂  ثماني أدوات بسيطة لا تحتاج تصحيحًا طويلًا</a:t>
            </a:r>
          </a:p>
          <a:p>
            <a:pPr algn="r" rtl="1">
              <a:spcBef>
                <a:spcPts val="400"/>
              </a:spcBef>
            </a:pPr>
            <a:r>
              <a:rPr sz="1600" b="0" i="0">
                <a:solidFill>
                  <a:srgbClr val="FFFFFF"/>
                </a:solidFill>
                <a:latin typeface="Segoe UI"/>
                <a:cs typeface="Segoe UI"/>
              </a:rPr>
              <a:t>◂  من الملاحظة إلى القرار: ماذا رأيت؟ ماذا يعني؟ ماذا سأفعل؟</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12</a:t>
            </a:r>
          </a:p>
          <a:p>
            <a:pPr algn="r" rtl="1">
              <a:spcBef>
                <a:spcPts val="0"/>
              </a:spcBef>
              <a:spcAft>
                <a:spcPts val="0"/>
              </a:spcAft>
            </a:pPr>
            <a:r>
              <a:rPr sz="2800" b="1" i="0">
                <a:solidFill>
                  <a:srgbClr val="FFFFFF"/>
                </a:solidFill>
                <a:latin typeface="Segoe UI"/>
                <a:cs typeface="Segoe UI"/>
              </a:rPr>
              <a:t>عيون المعلم داخل الدرس</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40</a:t>
            </a:r>
          </a:p>
        </p:txBody>
      </p:sp>
      <p:sp>
        <p:nvSpPr>
          <p:cNvPr id="9" name="TextBox 8"/>
          <p:cNvSpPr txBox="1"/>
          <p:nvPr/>
        </p:nvSpPr>
        <p:spPr>
          <a:xfrm>
            <a:off x="502920" y="1207008"/>
            <a:ext cx="11183112" cy="777240"/>
          </a:xfrm>
          <a:prstGeom prst="rect">
            <a:avLst/>
          </a:prstGeom>
          <a:noFill/>
        </p:spPr>
        <p:txBody>
          <a:bodyPr wrap="square" anchor="t" lIns="50800" rIns="50800" tIns="25400" bIns="25400">
            <a:spAutoFit/>
          </a:bodyPr>
          <a:lstStyle/>
          <a:p>
            <a:pPr algn="r" rtl="1">
              <a:spcBef>
                <a:spcPts val="400"/>
              </a:spcBef>
              <a:spcAft>
                <a:spcPts val="400"/>
              </a:spcAft>
            </a:pPr>
            <a:r>
              <a:rPr sz="1700" b="1" i="0">
                <a:solidFill>
                  <a:srgbClr val="1F3A93"/>
                </a:solidFill>
                <a:latin typeface="Segoe UI"/>
                <a:cs typeface="Segoe UI"/>
              </a:rPr>
              <a:t>التقييم التكويني </a:t>
            </a:r>
            <a:r>
              <a:rPr sz="1300" b="0" i="0">
                <a:solidFill>
                  <a:srgbClr val="6B7280"/>
                </a:solidFill>
                <a:latin typeface="Segoe UI"/>
                <a:cs typeface="Segoe UI"/>
              </a:rPr>
              <a:t>(Formative Assessment)</a:t>
            </a:r>
            <a:r>
              <a:rPr sz="1500" b="0" i="0">
                <a:solidFill>
                  <a:srgbClr val="2B2F38"/>
                </a:solidFill>
                <a:latin typeface="Segoe UI"/>
                <a:cs typeface="Segoe UI"/>
              </a:rPr>
              <a:t> هو وسيلة سريعة لمعرفة ما تعلمه الطالب وما يحتاج إليه قبل الانتقال إلى الخطوة التالية — أثناء التعلم لا بعد انتهائه.</a:t>
            </a:r>
          </a:p>
        </p:txBody>
      </p:sp>
      <p:sp>
        <p:nvSpPr>
          <p:cNvPr id="10" name="Rounded Rectangle 9"/>
          <p:cNvSpPr/>
          <p:nvPr/>
        </p:nvSpPr>
        <p:spPr>
          <a:xfrm>
            <a:off x="9006840" y="2194560"/>
            <a:ext cx="2670048" cy="1691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400" b="1" i="0">
                <a:solidFill>
                  <a:srgbClr val="1F3A93"/>
                </a:solidFill>
                <a:latin typeface="Segoe UI"/>
                <a:cs typeface="Segoe UI"/>
              </a:rPr>
              <a:t>سؤال سريع</a:t>
            </a:r>
          </a:p>
          <a:p>
            <a:pPr algn="r" rtl="1">
              <a:spcBef>
                <a:spcPts val="200"/>
              </a:spcBef>
              <a:spcAft>
                <a:spcPts val="200"/>
              </a:spcAft>
            </a:pPr>
            <a:r>
              <a:rPr sz="1150" b="0" i="0">
                <a:solidFill>
                  <a:srgbClr val="2B2F38"/>
                </a:solidFill>
                <a:latin typeface="Segoe UI"/>
                <a:cs typeface="Segoe UI"/>
              </a:rPr>
              <a:t>«ارفع إصبعًا واحدًا إن فهمت، اثنين إن احترت»</a:t>
            </a:r>
          </a:p>
        </p:txBody>
      </p:sp>
      <p:sp>
        <p:nvSpPr>
          <p:cNvPr id="11" name="Rounded Rectangle 10"/>
          <p:cNvSpPr/>
          <p:nvPr/>
        </p:nvSpPr>
        <p:spPr>
          <a:xfrm>
            <a:off x="6172200" y="2194560"/>
            <a:ext cx="2670048" cy="16916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400" b="1" i="0">
                <a:solidFill>
                  <a:srgbClr val="1F3A93"/>
                </a:solidFill>
                <a:latin typeface="Segoe UI"/>
                <a:cs typeface="Segoe UI"/>
              </a:rPr>
              <a:t>ملاحظة</a:t>
            </a:r>
          </a:p>
          <a:p>
            <a:pPr algn="r" rtl="1">
              <a:spcBef>
                <a:spcPts val="200"/>
              </a:spcBef>
              <a:spcAft>
                <a:spcPts val="200"/>
              </a:spcAft>
            </a:pPr>
            <a:r>
              <a:rPr sz="1150" b="0" i="0">
                <a:solidFill>
                  <a:srgbClr val="2B2F38"/>
                </a:solidFill>
                <a:latin typeface="Segoe UI"/>
                <a:cs typeface="Segoe UI"/>
              </a:rPr>
              <a:t>تجول وراقب: من بدأ؟ من توقف؟ أين؟</a:t>
            </a:r>
          </a:p>
        </p:txBody>
      </p:sp>
      <p:sp>
        <p:nvSpPr>
          <p:cNvPr id="12" name="Rounded Rectangle 11"/>
          <p:cNvSpPr/>
          <p:nvPr/>
        </p:nvSpPr>
        <p:spPr>
          <a:xfrm>
            <a:off x="3337560" y="2194560"/>
            <a:ext cx="2670048" cy="1691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400" b="1" i="0">
                <a:solidFill>
                  <a:srgbClr val="1F3A93"/>
                </a:solidFill>
                <a:latin typeface="Segoe UI"/>
                <a:cs typeface="Segoe UI"/>
              </a:rPr>
              <a:t>بطاقة خروج</a:t>
            </a:r>
          </a:p>
          <a:p>
            <a:pPr algn="r" rtl="1">
              <a:spcBef>
                <a:spcPts val="200"/>
              </a:spcBef>
              <a:spcAft>
                <a:spcPts val="200"/>
              </a:spcAft>
            </a:pPr>
            <a:r>
              <a:rPr sz="1150" b="0" i="0">
                <a:solidFill>
                  <a:srgbClr val="2B2F38"/>
                </a:solidFill>
                <a:latin typeface="Segoe UI"/>
                <a:cs typeface="Segoe UI"/>
              </a:rPr>
              <a:t>سؤال واحد يجيب عنه الجميع قبل مغادرة الحصة</a:t>
            </a:r>
          </a:p>
        </p:txBody>
      </p:sp>
      <p:sp>
        <p:nvSpPr>
          <p:cNvPr id="13" name="Rounded Rectangle 12"/>
          <p:cNvSpPr/>
          <p:nvPr/>
        </p:nvSpPr>
        <p:spPr>
          <a:xfrm>
            <a:off x="502920" y="2194560"/>
            <a:ext cx="2670048" cy="16916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400" b="1" i="0">
                <a:solidFill>
                  <a:srgbClr val="1F3A93"/>
                </a:solidFill>
                <a:latin typeface="Segoe UI"/>
                <a:cs typeface="Segoe UI"/>
              </a:rPr>
              <a:t>إجابة قصيرة</a:t>
            </a:r>
          </a:p>
          <a:p>
            <a:pPr algn="r" rtl="1">
              <a:spcBef>
                <a:spcPts val="200"/>
              </a:spcBef>
              <a:spcAft>
                <a:spcPts val="200"/>
              </a:spcAft>
            </a:pPr>
            <a:r>
              <a:rPr sz="1150" b="0" i="0">
                <a:solidFill>
                  <a:srgbClr val="2B2F38"/>
                </a:solidFill>
                <a:latin typeface="Segoe UI"/>
                <a:cs typeface="Segoe UI"/>
              </a:rPr>
              <a:t>جملة واحدة: «ما أهم فكرة تعلمتها اليوم؟»</a:t>
            </a:r>
          </a:p>
        </p:txBody>
      </p:sp>
      <p:sp>
        <p:nvSpPr>
          <p:cNvPr id="14" name="Rounded Rectangle 13"/>
          <p:cNvSpPr/>
          <p:nvPr/>
        </p:nvSpPr>
        <p:spPr>
          <a:xfrm>
            <a:off x="9006840" y="4032504"/>
            <a:ext cx="2670048" cy="16916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400" b="1" i="0">
                <a:solidFill>
                  <a:srgbClr val="1F3A93"/>
                </a:solidFill>
                <a:latin typeface="Segoe UI"/>
                <a:cs typeface="Segoe UI"/>
              </a:rPr>
              <a:t>عرض شفهي</a:t>
            </a:r>
          </a:p>
          <a:p>
            <a:pPr algn="r" rtl="1">
              <a:spcBef>
                <a:spcPts val="200"/>
              </a:spcBef>
              <a:spcAft>
                <a:spcPts val="200"/>
              </a:spcAft>
            </a:pPr>
            <a:r>
              <a:rPr sz="1150" b="0" i="0">
                <a:solidFill>
                  <a:srgbClr val="2B2F38"/>
                </a:solidFill>
                <a:latin typeface="Segoe UI"/>
                <a:cs typeface="Segoe UI"/>
              </a:rPr>
              <a:t>اشرح لزميلك — والمعلم يستمع لعينات</a:t>
            </a:r>
          </a:p>
        </p:txBody>
      </p:sp>
      <p:sp>
        <p:nvSpPr>
          <p:cNvPr id="15" name="Rounded Rectangle 14"/>
          <p:cNvSpPr/>
          <p:nvPr/>
        </p:nvSpPr>
        <p:spPr>
          <a:xfrm>
            <a:off x="6172200" y="4032504"/>
            <a:ext cx="2670048" cy="1691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400" b="1" i="0">
                <a:solidFill>
                  <a:srgbClr val="1F3A93"/>
                </a:solidFill>
                <a:latin typeface="Segoe UI"/>
                <a:cs typeface="Segoe UI"/>
              </a:rPr>
              <a:t>ترتيب بطاقات</a:t>
            </a:r>
          </a:p>
          <a:p>
            <a:pPr algn="r" rtl="1">
              <a:spcBef>
                <a:spcPts val="200"/>
              </a:spcBef>
              <a:spcAft>
                <a:spcPts val="200"/>
              </a:spcAft>
            </a:pPr>
            <a:r>
              <a:rPr sz="1150" b="0" i="0">
                <a:solidFill>
                  <a:srgbClr val="2B2F38"/>
                </a:solidFill>
                <a:latin typeface="Segoe UI"/>
                <a:cs typeface="Segoe UI"/>
              </a:rPr>
              <a:t>رتب المراحل/الأحداث — يُرى الفهم في ثوانٍ</a:t>
            </a:r>
          </a:p>
        </p:txBody>
      </p:sp>
      <p:sp>
        <p:nvSpPr>
          <p:cNvPr id="16" name="Rounded Rectangle 15"/>
          <p:cNvSpPr/>
          <p:nvPr/>
        </p:nvSpPr>
        <p:spPr>
          <a:xfrm>
            <a:off x="3337560" y="4032504"/>
            <a:ext cx="2670048" cy="16916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400" b="1" i="0">
                <a:solidFill>
                  <a:srgbClr val="1F3A93"/>
                </a:solidFill>
                <a:latin typeface="Segoe UI"/>
                <a:cs typeface="Segoe UI"/>
              </a:rPr>
              <a:t>رسم</a:t>
            </a:r>
          </a:p>
          <a:p>
            <a:pPr algn="r" rtl="1">
              <a:spcBef>
                <a:spcPts val="200"/>
              </a:spcBef>
              <a:spcAft>
                <a:spcPts val="200"/>
              </a:spcAft>
            </a:pPr>
            <a:r>
              <a:rPr sz="1150" b="0" i="0">
                <a:solidFill>
                  <a:srgbClr val="2B2F38"/>
                </a:solidFill>
                <a:latin typeface="Segoe UI"/>
                <a:cs typeface="Segoe UI"/>
              </a:rPr>
              <a:t>ارسم المفهوم — يكشف الفهم دون حاجز الكتابة</a:t>
            </a:r>
          </a:p>
        </p:txBody>
      </p:sp>
      <p:sp>
        <p:nvSpPr>
          <p:cNvPr id="17" name="Rounded Rectangle 16"/>
          <p:cNvSpPr/>
          <p:nvPr/>
        </p:nvSpPr>
        <p:spPr>
          <a:xfrm>
            <a:off x="502920" y="4032504"/>
            <a:ext cx="2670048" cy="16916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6200" rIns="76200" tIns="50800" bIns="50800"/>
          <a:lstStyle/>
          <a:p>
            <a:pPr algn="r" rtl="1">
              <a:spcBef>
                <a:spcPts val="200"/>
              </a:spcBef>
              <a:spcAft>
                <a:spcPts val="200"/>
              </a:spcAft>
            </a:pPr>
            <a:r>
              <a:rPr sz="1400" b="1" i="0">
                <a:solidFill>
                  <a:srgbClr val="1F3A93"/>
                </a:solidFill>
                <a:latin typeface="Segoe UI"/>
                <a:cs typeface="Segoe UI"/>
              </a:rPr>
              <a:t>أداء عملي</a:t>
            </a:r>
          </a:p>
          <a:p>
            <a:pPr algn="r" rtl="1">
              <a:spcBef>
                <a:spcPts val="200"/>
              </a:spcBef>
              <a:spcAft>
                <a:spcPts val="200"/>
              </a:spcAft>
            </a:pPr>
            <a:r>
              <a:rPr sz="1150" b="0" i="0">
                <a:solidFill>
                  <a:srgbClr val="2B2F38"/>
                </a:solidFill>
                <a:latin typeface="Segoe UI"/>
                <a:cs typeface="Segoe UI"/>
              </a:rPr>
              <a:t>نفّذ الخطوة أمامي — في المهارات العملية</a:t>
            </a:r>
          </a:p>
        </p:txBody>
      </p:sp>
      <p:sp>
        <p:nvSpPr>
          <p:cNvPr id="18" name="TextBox 17"/>
          <p:cNvSpPr txBox="1"/>
          <p:nvPr/>
        </p:nvSpPr>
        <p:spPr>
          <a:xfrm>
            <a:off x="502920" y="5943600"/>
            <a:ext cx="11183112" cy="457200"/>
          </a:xfrm>
          <a:prstGeom prst="rect">
            <a:avLst/>
          </a:prstGeom>
          <a:noFill/>
        </p:spPr>
        <p:txBody>
          <a:bodyPr wrap="square" anchor="t" lIns="50800" rIns="50800" tIns="25400" bIns="25400">
            <a:spAutoFit/>
          </a:bodyPr>
          <a:lstStyle/>
          <a:p>
            <a:pPr algn="ctr" rtl="1">
              <a:spcBef>
                <a:spcPts val="400"/>
              </a:spcBef>
              <a:spcAft>
                <a:spcPts val="400"/>
              </a:spcAft>
            </a:pPr>
            <a:r>
              <a:rPr sz="1450" b="1" i="0">
                <a:solidFill>
                  <a:srgbClr val="1F3A93"/>
                </a:solidFill>
                <a:latin typeface="Segoe UI"/>
                <a:cs typeface="Segoe UI"/>
              </a:rPr>
              <a:t>كل أداة من هذه تستغرق دقائق — ولا تحتاج تصحيحًا منزليًا.</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12 — حلقة القرار</a:t>
            </a:r>
          </a:p>
          <a:p>
            <a:pPr algn="r" rtl="1">
              <a:spcBef>
                <a:spcPts val="0"/>
              </a:spcBef>
              <a:spcAft>
                <a:spcPts val="0"/>
              </a:spcAft>
            </a:pPr>
            <a:r>
              <a:rPr sz="2800" b="1" i="0">
                <a:solidFill>
                  <a:srgbClr val="FFFFFF"/>
                </a:solidFill>
                <a:latin typeface="Segoe UI"/>
                <a:cs typeface="Segoe UI"/>
              </a:rPr>
              <a:t>من الملاحظة إلى القرار</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41</a:t>
            </a:r>
          </a:p>
        </p:txBody>
      </p:sp>
      <p:sp>
        <p:nvSpPr>
          <p:cNvPr id="9" name="Rounded Rectangle 8"/>
          <p:cNvSpPr/>
          <p:nvPr/>
        </p:nvSpPr>
        <p:spPr>
          <a:xfrm>
            <a:off x="914400" y="1463040"/>
            <a:ext cx="10332720" cy="12344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889000"/>
          <a:lstStyle/>
          <a:p>
            <a:pPr algn="r" rtl="1"/>
            <a:r>
              <a:rPr sz="1700" b="1" i="0">
                <a:solidFill>
                  <a:srgbClr val="1F3A93"/>
                </a:solidFill>
                <a:latin typeface="Segoe UI"/>
                <a:cs typeface="Segoe UI"/>
              </a:rPr>
              <a:t>ماذا رأيت؟</a:t>
            </a:r>
          </a:p>
          <a:p>
            <a:pPr algn="r" rtl="1">
              <a:spcBef>
                <a:spcPts val="200"/>
              </a:spcBef>
            </a:pPr>
            <a:r>
              <a:rPr sz="1350" b="0" i="0">
                <a:solidFill>
                  <a:srgbClr val="2B2F38"/>
                </a:solidFill>
                <a:latin typeface="Segoe UI"/>
                <a:cs typeface="Segoe UI"/>
              </a:rPr>
              <a:t>الوقائع فقط: 8 طلاب رتبوا المراحل صحيحة، 5 خلطوا بين التبخر والتكاثف، 3 لم يبدؤوا</a:t>
            </a:r>
          </a:p>
        </p:txBody>
      </p:sp>
      <p:sp>
        <p:nvSpPr>
          <p:cNvPr id="10" name="Oval 9"/>
          <p:cNvSpPr/>
          <p:nvPr/>
        </p:nvSpPr>
        <p:spPr>
          <a:xfrm>
            <a:off x="10561320" y="1755648"/>
            <a:ext cx="640080" cy="6400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1</a:t>
            </a:r>
          </a:p>
        </p:txBody>
      </p:sp>
      <p:sp>
        <p:nvSpPr>
          <p:cNvPr id="11" name="Rounded Rectangle 10"/>
          <p:cNvSpPr/>
          <p:nvPr/>
        </p:nvSpPr>
        <p:spPr>
          <a:xfrm>
            <a:off x="914400" y="2880360"/>
            <a:ext cx="10332720" cy="12344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889000"/>
          <a:lstStyle/>
          <a:p>
            <a:pPr algn="r" rtl="1"/>
            <a:r>
              <a:rPr sz="1700" b="1" i="0">
                <a:solidFill>
                  <a:srgbClr val="1F3A93"/>
                </a:solidFill>
                <a:latin typeface="Segoe UI"/>
                <a:cs typeface="Segoe UI"/>
              </a:rPr>
              <a:t>ماذا يعني ذلك؟</a:t>
            </a:r>
          </a:p>
          <a:p>
            <a:pPr algn="r" rtl="1">
              <a:spcBef>
                <a:spcPts val="200"/>
              </a:spcBef>
            </a:pPr>
            <a:r>
              <a:rPr sz="1350" b="0" i="0">
                <a:solidFill>
                  <a:srgbClr val="2B2F38"/>
                </a:solidFill>
                <a:latin typeface="Segoe UI"/>
                <a:cs typeface="Segoe UI"/>
              </a:rPr>
              <a:t>الخمسة يحتاجون توضيح الفرق بين المرحلتين؛ الثلاثة قد تكون مشكلتهم في فهم المطلوب لا في المفهوم</a:t>
            </a:r>
          </a:p>
        </p:txBody>
      </p:sp>
      <p:sp>
        <p:nvSpPr>
          <p:cNvPr id="12" name="Oval 11"/>
          <p:cNvSpPr/>
          <p:nvPr/>
        </p:nvSpPr>
        <p:spPr>
          <a:xfrm>
            <a:off x="10561320" y="3172968"/>
            <a:ext cx="640080" cy="64008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FFFFFF"/>
                </a:solidFill>
                <a:latin typeface="Segoe UI"/>
                <a:cs typeface="Segoe UI"/>
              </a:rPr>
              <a:t>2</a:t>
            </a:r>
          </a:p>
        </p:txBody>
      </p:sp>
      <p:sp>
        <p:nvSpPr>
          <p:cNvPr id="13" name="Rounded Rectangle 12"/>
          <p:cNvSpPr/>
          <p:nvPr/>
        </p:nvSpPr>
        <p:spPr>
          <a:xfrm>
            <a:off x="914400" y="4297680"/>
            <a:ext cx="10332720" cy="12344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889000"/>
          <a:lstStyle/>
          <a:p>
            <a:pPr algn="r" rtl="1"/>
            <a:r>
              <a:rPr sz="1700" b="1" i="0">
                <a:solidFill>
                  <a:srgbClr val="1F3A93"/>
                </a:solidFill>
                <a:latin typeface="Segoe UI"/>
                <a:cs typeface="Segoe UI"/>
              </a:rPr>
              <a:t>ماذا سأفعل بعد ذلك؟</a:t>
            </a:r>
          </a:p>
          <a:p>
            <a:pPr algn="r" rtl="1">
              <a:spcBef>
                <a:spcPts val="200"/>
              </a:spcBef>
            </a:pPr>
            <a:r>
              <a:rPr sz="1350" b="0" i="0">
                <a:solidFill>
                  <a:srgbClr val="2B2F38"/>
                </a:solidFill>
                <a:latin typeface="Segoe UI"/>
                <a:cs typeface="Segoe UI"/>
              </a:rPr>
              <a:t>غدًا: مجموعة شرح إضافي قصيرة للخمسة بتجربة بخار حية، وجلسة فردية سريعة مع الثلاثة للتشخيص الأدق</a:t>
            </a:r>
          </a:p>
        </p:txBody>
      </p:sp>
      <p:sp>
        <p:nvSpPr>
          <p:cNvPr id="14" name="Oval 13"/>
          <p:cNvSpPr/>
          <p:nvPr/>
        </p:nvSpPr>
        <p:spPr>
          <a:xfrm>
            <a:off x="10561320" y="4590288"/>
            <a:ext cx="640080" cy="64008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800" b="1" i="0">
                <a:solidFill>
                  <a:srgbClr val="162B6B"/>
                </a:solidFill>
                <a:latin typeface="Segoe UI"/>
                <a:cs typeface="Segoe UI"/>
              </a:rPr>
              <a:t>3</a:t>
            </a:r>
          </a:p>
        </p:txBody>
      </p:sp>
      <p:sp>
        <p:nvSpPr>
          <p:cNvPr id="15" name="Rounded Rectangle 14"/>
          <p:cNvSpPr/>
          <p:nvPr/>
        </p:nvSpPr>
        <p:spPr>
          <a:xfrm>
            <a:off x="1188720" y="5806440"/>
            <a:ext cx="9784080" cy="54864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00" b="1" i="0">
                <a:solidFill>
                  <a:srgbClr val="FFFFFF"/>
                </a:solidFill>
                <a:latin typeface="Segoe UI"/>
                <a:cs typeface="Segoe UI"/>
              </a:rPr>
              <a:t>التقييم الذي لا يغيّر شيئًا في تدريسك ليس تقييمًا تكوينيًا — إنه مجرد جمع أوراق.</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13</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13</a:t>
            </a:r>
          </a:p>
          <a:p>
            <a:pPr algn="r" rtl="1">
              <a:spcBef>
                <a:spcPts val="600"/>
              </a:spcBef>
              <a:spcAft>
                <a:spcPts val="400"/>
              </a:spcAft>
            </a:pPr>
            <a:r>
              <a:rPr sz="4000" b="1" i="0">
                <a:solidFill>
                  <a:srgbClr val="FFFFFF"/>
                </a:solidFill>
                <a:latin typeface="Segoe UI"/>
                <a:cs typeface="Segoe UI"/>
              </a:rPr>
              <a:t>حالة صفية: ستة طلاب في صف واحد</a:t>
            </a:r>
          </a:p>
          <a:p>
            <a:pPr algn="r" rtl="1">
              <a:spcBef>
                <a:spcPts val="400"/>
              </a:spcBef>
              <a:spcAft>
                <a:spcPts val="400"/>
              </a:spcAft>
            </a:pPr>
            <a:r>
              <a:rPr sz="1600" b="0" i="0">
                <a:solidFill>
                  <a:srgbClr val="E4F6F6"/>
                </a:solidFill>
                <a:latin typeface="Segoe UI"/>
                <a:cs typeface="Segoe UI"/>
              </a:rPr>
              <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صف افتراضي واقعي بستة متعلمين مختلفين</a:t>
            </a:r>
          </a:p>
          <a:p>
            <a:pPr algn="r" rtl="1">
              <a:spcBef>
                <a:spcPts val="400"/>
              </a:spcBef>
            </a:pPr>
            <a:r>
              <a:rPr sz="1600" b="0" i="0">
                <a:solidFill>
                  <a:srgbClr val="FFFFFF"/>
                </a:solidFill>
                <a:latin typeface="Segoe UI"/>
                <a:cs typeface="Segoe UI"/>
              </a:rPr>
              <a:t>◂  السؤال: ما الذي يمكن أن يغيره المعلم؟</a:t>
            </a:r>
          </a:p>
          <a:p>
            <a:pPr algn="r" rtl="1">
              <a:spcBef>
                <a:spcPts val="400"/>
              </a:spcBef>
            </a:pPr>
            <a:r>
              <a:rPr sz="1600" b="0" i="0">
                <a:solidFill>
                  <a:srgbClr val="FFFFFF"/>
                </a:solidFill>
                <a:latin typeface="Segoe UI"/>
                <a:cs typeface="Segoe UI"/>
              </a:rPr>
              <a:t>◂  إجابة نموذجية تركز على الاستجابة التعليمية لا التصنيف</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13 — حالة صفية (شخصيات افتراضية)</a:t>
            </a:r>
          </a:p>
          <a:p>
            <a:pPr algn="r" rtl="1">
              <a:spcBef>
                <a:spcPts val="0"/>
              </a:spcBef>
              <a:spcAft>
                <a:spcPts val="0"/>
              </a:spcAft>
            </a:pPr>
            <a:r>
              <a:rPr sz="2800" b="1" i="0">
                <a:solidFill>
                  <a:srgbClr val="FFFFFF"/>
                </a:solidFill>
                <a:latin typeface="Segoe UI"/>
                <a:cs typeface="Segoe UI"/>
              </a:rPr>
              <a:t>صف الأستاذة هدى — الصف الخامس، درس الكسور</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43</a:t>
            </a:r>
          </a:p>
        </p:txBody>
      </p:sp>
      <p:sp>
        <p:nvSpPr>
          <p:cNvPr id="9" name="Rounded Rectangle 8"/>
          <p:cNvSpPr/>
          <p:nvPr/>
        </p:nvSpPr>
        <p:spPr>
          <a:xfrm>
            <a:off x="6208776" y="1325880"/>
            <a:ext cx="5477256" cy="14173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50" b="1" i="0">
                <a:solidFill>
                  <a:srgbClr val="1F3A93"/>
                </a:solidFill>
                <a:latin typeface="Segoe UI"/>
                <a:cs typeface="Segoe UI"/>
              </a:rPr>
              <a:t>راكان: </a:t>
            </a:r>
            <a:r>
              <a:rPr sz="1350" b="0" i="0">
                <a:solidFill>
                  <a:srgbClr val="2B2F38"/>
                </a:solidFill>
                <a:latin typeface="Segoe UI"/>
                <a:cs typeface="Segoe UI"/>
              </a:rPr>
              <a:t>لديه معرفة سابقة قوية بالكسور — يجيب قبل أن يكمل غيره قراءة السؤال</a:t>
            </a:r>
          </a:p>
        </p:txBody>
      </p:sp>
      <p:sp>
        <p:nvSpPr>
          <p:cNvPr id="10" name="Rounded Rectangle 9"/>
          <p:cNvSpPr/>
          <p:nvPr/>
        </p:nvSpPr>
        <p:spPr>
          <a:xfrm>
            <a:off x="502920" y="1325880"/>
            <a:ext cx="5477256" cy="141732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50" b="1" i="0">
                <a:solidFill>
                  <a:srgbClr val="1F3A93"/>
                </a:solidFill>
                <a:latin typeface="Segoe UI"/>
                <a:cs typeface="Segoe UI"/>
              </a:rPr>
              <a:t>جود: </a:t>
            </a:r>
            <a:r>
              <a:rPr sz="1350" b="0" i="0">
                <a:solidFill>
                  <a:srgbClr val="2B2F38"/>
                </a:solidFill>
                <a:latin typeface="Segoe UI"/>
                <a:cs typeface="Segoe UI"/>
              </a:rPr>
              <a:t>تحتاج وقتًا أطول من زملائها — تصل إلى الإجابة الصحيحة إذا لم يستعجلها أحد</a:t>
            </a:r>
          </a:p>
        </p:txBody>
      </p:sp>
      <p:sp>
        <p:nvSpPr>
          <p:cNvPr id="11" name="Rounded Rectangle 10"/>
          <p:cNvSpPr/>
          <p:nvPr/>
        </p:nvSpPr>
        <p:spPr>
          <a:xfrm>
            <a:off x="6208776" y="2880360"/>
            <a:ext cx="5477256" cy="14173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50" b="1" i="0">
                <a:solidFill>
                  <a:srgbClr val="1F3A93"/>
                </a:solidFill>
                <a:latin typeface="Segoe UI"/>
                <a:cs typeface="Segoe UI"/>
              </a:rPr>
              <a:t>تالا: </a:t>
            </a:r>
            <a:r>
              <a:rPr sz="1350" b="0" i="0">
                <a:solidFill>
                  <a:srgbClr val="2B2F38"/>
                </a:solidFill>
                <a:latin typeface="Segoe UI"/>
                <a:cs typeface="Segoe UI"/>
              </a:rPr>
              <a:t>تشرح فهمها شفهيًا بوضوح ممتاز، لكن إجاباتها المكتوبة قصيرة ومرتبكة</a:t>
            </a:r>
          </a:p>
        </p:txBody>
      </p:sp>
      <p:sp>
        <p:nvSpPr>
          <p:cNvPr id="12" name="Rounded Rectangle 11"/>
          <p:cNvSpPr/>
          <p:nvPr/>
        </p:nvSpPr>
        <p:spPr>
          <a:xfrm>
            <a:off x="502920" y="2880360"/>
            <a:ext cx="5477256" cy="141732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50" b="1" i="0">
                <a:solidFill>
                  <a:srgbClr val="1F3A93"/>
                </a:solidFill>
                <a:latin typeface="Segoe UI"/>
                <a:cs typeface="Segoe UI"/>
              </a:rPr>
              <a:t>زياد: </a:t>
            </a:r>
            <a:r>
              <a:rPr sz="1350" b="0" i="0">
                <a:solidFill>
                  <a:srgbClr val="2B2F38"/>
                </a:solidFill>
                <a:latin typeface="Segoe UI"/>
                <a:cs typeface="Segoe UI"/>
              </a:rPr>
              <a:t>يتشتت بسهولة في المهام الطويلة — يبدأ بحماس ثم يتوقف في المنتصف</a:t>
            </a:r>
          </a:p>
        </p:txBody>
      </p:sp>
      <p:sp>
        <p:nvSpPr>
          <p:cNvPr id="13" name="Rounded Rectangle 12"/>
          <p:cNvSpPr/>
          <p:nvPr/>
        </p:nvSpPr>
        <p:spPr>
          <a:xfrm>
            <a:off x="6208776" y="4434840"/>
            <a:ext cx="5477256" cy="141732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50" b="1" i="0">
                <a:solidFill>
                  <a:srgbClr val="1F3A93"/>
                </a:solidFill>
                <a:latin typeface="Segoe UI"/>
                <a:cs typeface="Segoe UI"/>
              </a:rPr>
              <a:t>لمى: </a:t>
            </a:r>
            <a:r>
              <a:rPr sz="1350" b="0" i="0">
                <a:solidFill>
                  <a:srgbClr val="2B2F38"/>
                </a:solidFill>
                <a:latin typeface="Segoe UI"/>
                <a:cs typeface="Segoe UI"/>
              </a:rPr>
              <a:t>تحتاج إلى نموذج واضح قبل البدء — إذا رأت مثالًا محلولًا انطلقت بثقة</a:t>
            </a:r>
          </a:p>
        </p:txBody>
      </p:sp>
      <p:sp>
        <p:nvSpPr>
          <p:cNvPr id="14" name="Rounded Rectangle 13"/>
          <p:cNvSpPr/>
          <p:nvPr/>
        </p:nvSpPr>
        <p:spPr>
          <a:xfrm>
            <a:off x="502920" y="4434840"/>
            <a:ext cx="5477256" cy="141732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550" b="1" i="0">
                <a:solidFill>
                  <a:srgbClr val="1F3A93"/>
                </a:solidFill>
                <a:latin typeface="Segoe UI"/>
                <a:cs typeface="Segoe UI"/>
              </a:rPr>
              <a:t>سامي: </a:t>
            </a:r>
            <a:r>
              <a:rPr sz="1350" b="0" i="0">
                <a:solidFill>
                  <a:srgbClr val="2B2F38"/>
                </a:solidFill>
                <a:latin typeface="Segoe UI"/>
                <a:cs typeface="Segoe UI"/>
              </a:rPr>
              <a:t>يتقن المهمة بسرعة ثم ينشغل بإزعاج جيرانه لأنه «خلص»</a:t>
            </a:r>
          </a:p>
        </p:txBody>
      </p:sp>
      <p:sp>
        <p:nvSpPr>
          <p:cNvPr id="15" name="Rounded Rectangle 14"/>
          <p:cNvSpPr/>
          <p:nvPr/>
        </p:nvSpPr>
        <p:spPr>
          <a:xfrm>
            <a:off x="1737360" y="5623560"/>
            <a:ext cx="8686800" cy="68580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700" b="1" i="0">
                <a:solidFill>
                  <a:srgbClr val="FFFFFF"/>
                </a:solidFill>
                <a:latin typeface="Segoe UI"/>
                <a:cs typeface="Segoe UI"/>
              </a:rPr>
              <a:t>السؤال: ما الذي يمكن أن تغيره الأستاذة هدى في درس واحد؟</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13 — الإجابة النموذجية</a:t>
            </a:r>
          </a:p>
          <a:p>
            <a:pPr algn="r" rtl="1">
              <a:spcBef>
                <a:spcPts val="0"/>
              </a:spcBef>
              <a:spcAft>
                <a:spcPts val="0"/>
              </a:spcAft>
            </a:pPr>
            <a:r>
              <a:rPr sz="2800" b="1" i="0">
                <a:solidFill>
                  <a:srgbClr val="FFFFFF"/>
                </a:solidFill>
                <a:latin typeface="Segoe UI"/>
                <a:cs typeface="Segoe UI"/>
              </a:rPr>
              <a:t>إجابة نموذجية: استجابات لا تصنيفات</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44</a:t>
            </a:r>
          </a:p>
        </p:txBody>
      </p:sp>
      <p:sp>
        <p:nvSpPr>
          <p:cNvPr id="9" name="Rounded Rectangle 8"/>
          <p:cNvSpPr/>
          <p:nvPr/>
        </p:nvSpPr>
        <p:spPr>
          <a:xfrm>
            <a:off x="502920" y="1325880"/>
            <a:ext cx="11183112" cy="927201"/>
          </a:xfrm>
          <a:prstGeom prst="roundRect">
            <a:avLst>
              <a:gd name="adj" fmla="val 8000"/>
            </a:avLst>
          </a:prstGeom>
          <a:solidFill>
            <a:srgbClr val="FFFFFF"/>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راكان وسامي — </a:t>
            </a:r>
            <a:r>
              <a:rPr sz="1500" b="1" i="0">
                <a:solidFill>
                  <a:srgbClr val="C9A227"/>
                </a:solidFill>
                <a:latin typeface="Segoe UI"/>
                <a:cs typeface="Segoe UI"/>
              </a:rPr>
              <a:t>إثراء جاهز منذ التخطيط</a:t>
            </a:r>
          </a:p>
          <a:p>
            <a:pPr algn="r" rtl="1">
              <a:spcBef>
                <a:spcPts val="200"/>
              </a:spcBef>
            </a:pPr>
            <a:r>
              <a:rPr sz="1350" b="0" i="0">
                <a:solidFill>
                  <a:srgbClr val="2B2F38"/>
                </a:solidFill>
                <a:latin typeface="Segoe UI"/>
                <a:cs typeface="Segoe UI"/>
              </a:rPr>
              <a:t>سؤال تحدٍّ أعمق معد مسبقًا (مسائل حياتية مركبة على الكسور) ينتقلان إليه فور الإتقان — الملل عندهما مصدر الشغب.</a:t>
            </a:r>
          </a:p>
        </p:txBody>
      </p:sp>
      <p:sp>
        <p:nvSpPr>
          <p:cNvPr id="10" name="Rounded Rectangle 9"/>
          <p:cNvSpPr/>
          <p:nvPr/>
        </p:nvSpPr>
        <p:spPr>
          <a:xfrm>
            <a:off x="502920" y="2362809"/>
            <a:ext cx="11183112" cy="927201"/>
          </a:xfrm>
          <a:prstGeom prst="roundRect">
            <a:avLst>
              <a:gd name="adj" fmla="val 8000"/>
            </a:avLst>
          </a:prstGeom>
          <a:solidFill>
            <a:srgbClr val="FFFFFF"/>
          </a:solidFill>
          <a:ln w="12700">
            <a:solidFill>
              <a:srgbClr val="2BB3B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جود — </a:t>
            </a:r>
            <a:r>
              <a:rPr sz="1500" b="1" i="0">
                <a:solidFill>
                  <a:srgbClr val="2BB3B1"/>
                </a:solidFill>
                <a:latin typeface="Segoe UI"/>
                <a:cs typeface="Segoe UI"/>
              </a:rPr>
              <a:t>وقت مرن دون إحراج</a:t>
            </a:r>
          </a:p>
          <a:p>
            <a:pPr algn="r" rtl="1">
              <a:spcBef>
                <a:spcPts val="200"/>
              </a:spcBef>
            </a:pPr>
            <a:r>
              <a:rPr sz="1350" b="0" i="0">
                <a:solidFill>
                  <a:srgbClr val="2B2F38"/>
                </a:solidFill>
                <a:latin typeface="Segoe UI"/>
                <a:cs typeface="Segoe UI"/>
              </a:rPr>
              <a:t>إعلان عام: «من يحتاج وقتًا إضافيًا فليأخذه» + عمل مفيد جاهز لمن أنهى، فلا يشعر أحد بأنه «متأخر».</a:t>
            </a:r>
          </a:p>
        </p:txBody>
      </p:sp>
      <p:sp>
        <p:nvSpPr>
          <p:cNvPr id="11" name="Rounded Rectangle 10"/>
          <p:cNvSpPr/>
          <p:nvPr/>
        </p:nvSpPr>
        <p:spPr>
          <a:xfrm>
            <a:off x="502920" y="3399739"/>
            <a:ext cx="11183112" cy="927201"/>
          </a:xfrm>
          <a:prstGeom prst="roundRect">
            <a:avLst>
              <a:gd name="adj" fmla="val 8000"/>
            </a:avLst>
          </a:prstGeom>
          <a:solidFill>
            <a:srgbClr val="FFFFFF"/>
          </a:solidFill>
          <a:ln w="12700">
            <a:solidFill>
              <a:srgbClr val="2BB3B1"/>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تالا — </a:t>
            </a:r>
            <a:r>
              <a:rPr sz="1500" b="1" i="0">
                <a:solidFill>
                  <a:srgbClr val="2BB3B1"/>
                </a:solidFill>
                <a:latin typeface="Segoe UI"/>
                <a:cs typeface="Segoe UI"/>
              </a:rPr>
              <a:t>خيار في ناتج التعلم</a:t>
            </a:r>
          </a:p>
          <a:p>
            <a:pPr algn="r" rtl="1">
              <a:spcBef>
                <a:spcPts val="200"/>
              </a:spcBef>
            </a:pPr>
            <a:r>
              <a:rPr sz="1350" b="0" i="0">
                <a:solidFill>
                  <a:srgbClr val="2B2F38"/>
                </a:solidFill>
                <a:latin typeface="Segoe UI"/>
                <a:cs typeface="Segoe UI"/>
              </a:rPr>
              <a:t>السماح بشرح الحل شفهيًا أو بالرسم عندما يكون الهدف فهم الكسور لا الكتابة — مع دعم كتابي تدريجي منفصل.</a:t>
            </a:r>
          </a:p>
        </p:txBody>
      </p:sp>
      <p:sp>
        <p:nvSpPr>
          <p:cNvPr id="12" name="Rounded Rectangle 11"/>
          <p:cNvSpPr/>
          <p:nvPr/>
        </p:nvSpPr>
        <p:spPr>
          <a:xfrm>
            <a:off x="502920" y="4436668"/>
            <a:ext cx="11183112" cy="927201"/>
          </a:xfrm>
          <a:prstGeom prst="roundRect">
            <a:avLst>
              <a:gd name="adj" fmla="val 8000"/>
            </a:avLst>
          </a:prstGeom>
          <a:solidFill>
            <a:srgbClr val="FFFFFF"/>
          </a:solidFill>
          <a:ln w="12700">
            <a:solidFill>
              <a:srgbClr val="1F3A9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زياد — </a:t>
            </a:r>
            <a:r>
              <a:rPr sz="1500" b="1" i="0">
                <a:solidFill>
                  <a:srgbClr val="1F3A93"/>
                </a:solidFill>
                <a:latin typeface="Segoe UI"/>
                <a:cs typeface="Segoe UI"/>
              </a:rPr>
              <a:t>تقسيم المهمة</a:t>
            </a:r>
          </a:p>
          <a:p>
            <a:pPr algn="r" rtl="1">
              <a:spcBef>
                <a:spcPts val="200"/>
              </a:spcBef>
            </a:pPr>
            <a:r>
              <a:rPr sz="1350" b="0" i="0">
                <a:solidFill>
                  <a:srgbClr val="2B2F38"/>
                </a:solidFill>
                <a:latin typeface="Segoe UI"/>
                <a:cs typeface="Segoe UI"/>
              </a:rPr>
              <a:t>المهمة الطويلة تصبح ثلاث خطوات قصيرة مرقمة، مع إشارة «أنجزت الخطوة 1» — نقاط وصول قريبة تحفظ التركيز.</a:t>
            </a:r>
          </a:p>
        </p:txBody>
      </p:sp>
      <p:sp>
        <p:nvSpPr>
          <p:cNvPr id="13" name="Rounded Rectangle 12"/>
          <p:cNvSpPr/>
          <p:nvPr/>
        </p:nvSpPr>
        <p:spPr>
          <a:xfrm>
            <a:off x="502920" y="5473598"/>
            <a:ext cx="11183112" cy="927201"/>
          </a:xfrm>
          <a:prstGeom prst="roundRect">
            <a:avLst>
              <a:gd name="adj" fmla="val 8000"/>
            </a:avLst>
          </a:prstGeom>
          <a:solidFill>
            <a:srgbClr val="FFFFFF"/>
          </a:solidFill>
          <a:ln w="12700">
            <a:solidFill>
              <a:srgbClr val="1F3A93"/>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a:lstStyle/>
          <a:p>
            <a:pPr algn="r" rtl="1"/>
            <a:r>
              <a:rPr sz="1500" b="1" i="0">
                <a:solidFill>
                  <a:srgbClr val="1F3A93"/>
                </a:solidFill>
                <a:latin typeface="Segoe UI"/>
                <a:cs typeface="Segoe UI"/>
              </a:rPr>
              <a:t>لمى — </a:t>
            </a:r>
            <a:r>
              <a:rPr sz="1500" b="1" i="0">
                <a:solidFill>
                  <a:srgbClr val="1F3A93"/>
                </a:solidFill>
                <a:latin typeface="Segoe UI"/>
                <a:cs typeface="Segoe UI"/>
              </a:rPr>
              <a:t>نموذج محلول قبل البدء</a:t>
            </a:r>
          </a:p>
          <a:p>
            <a:pPr algn="r" rtl="1">
              <a:spcBef>
                <a:spcPts val="200"/>
              </a:spcBef>
            </a:pPr>
            <a:r>
              <a:rPr sz="1350" b="0" i="0">
                <a:solidFill>
                  <a:srgbClr val="2B2F38"/>
                </a:solidFill>
                <a:latin typeface="Segoe UI"/>
                <a:cs typeface="Segoe UI"/>
              </a:rPr>
              <a:t>مثال محلول خطوة بخطوة على طاولتها — ثم يُسحب تدريجيًا في الدروس التالية (الدعم المتدرج).</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14 — تطبيق عملي</a:t>
            </a:r>
          </a:p>
          <a:p>
            <a:pPr algn="r" rtl="1">
              <a:spcBef>
                <a:spcPts val="0"/>
              </a:spcBef>
              <a:spcAft>
                <a:spcPts val="0"/>
              </a:spcAft>
            </a:pPr>
            <a:r>
              <a:rPr sz="2800" b="1" i="0">
                <a:solidFill>
                  <a:srgbClr val="FFFFFF"/>
                </a:solidFill>
                <a:latin typeface="Segoe UI"/>
                <a:cs typeface="Segoe UI"/>
              </a:rPr>
              <a:t>المهمة التطبيقية: صمم نشاطك المتمايز</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45</a:t>
            </a:r>
          </a:p>
        </p:txBody>
      </p:sp>
      <p:sp>
        <p:nvSpPr>
          <p:cNvPr id="9" name="Rounded Rectangle 8"/>
          <p:cNvSpPr/>
          <p:nvPr/>
        </p:nvSpPr>
        <p:spPr>
          <a:xfrm>
            <a:off x="4892040" y="1417320"/>
            <a:ext cx="2377440" cy="54864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700" b="1" i="0">
                <a:solidFill>
                  <a:srgbClr val="FFFFFF"/>
                </a:solidFill>
                <a:latin typeface="Segoe UI"/>
                <a:cs typeface="Segoe UI"/>
              </a:rPr>
              <a:t>مهمة تطبيقية</a:t>
            </a:r>
          </a:p>
        </p:txBody>
      </p:sp>
      <p:sp>
        <p:nvSpPr>
          <p:cNvPr id="10" name="Rounded Rectangle 9"/>
          <p:cNvSpPr/>
          <p:nvPr/>
        </p:nvSpPr>
        <p:spPr>
          <a:xfrm>
            <a:off x="1097280" y="2286000"/>
            <a:ext cx="9966960" cy="25603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400"/>
              </a:spcBef>
              <a:spcAft>
                <a:spcPts val="400"/>
              </a:spcAft>
            </a:pPr>
            <a:r>
              <a:rPr sz="2600" b="1" i="0">
                <a:solidFill>
                  <a:srgbClr val="1F3A93"/>
                </a:solidFill>
                <a:latin typeface="Segoe UI"/>
                <a:cs typeface="Segoe UI"/>
              </a:rPr>
              <a:t>خذ نشاطًا حقيقيًا من مادتك وحوّله إلى نشاط متمايز باستخدام مخطط التصميم في ورقة العمل (9)</a:t>
            </a:r>
          </a:p>
        </p:txBody>
      </p:sp>
      <p:sp>
        <p:nvSpPr>
          <p:cNvPr id="11" name="TextBox 10"/>
          <p:cNvSpPr txBox="1"/>
          <p:nvPr/>
        </p:nvSpPr>
        <p:spPr>
          <a:xfrm>
            <a:off x="1097280" y="5029200"/>
            <a:ext cx="9966960" cy="1280160"/>
          </a:xfrm>
          <a:prstGeom prst="rect">
            <a:avLst/>
          </a:prstGeom>
          <a:noFill/>
        </p:spPr>
        <p:txBody>
          <a:bodyPr wrap="square" anchor="t" lIns="50800" rIns="50800" tIns="25400" bIns="25400">
            <a:spAutoFit/>
          </a:bodyPr>
          <a:lstStyle/>
          <a:p>
            <a:pPr algn="ctr" rtl="1">
              <a:spcBef>
                <a:spcPts val="400"/>
              </a:spcBef>
              <a:spcAft>
                <a:spcPts val="400"/>
              </a:spcAft>
            </a:pPr>
            <a:r>
              <a:rPr sz="1600" b="0" i="0">
                <a:solidFill>
                  <a:srgbClr val="6B7280"/>
                </a:solidFill>
                <a:latin typeface="Segoe UI"/>
                <a:cs typeface="Segoe UI"/>
              </a:rPr>
              <a:t>ستحدد: المادة، الصف، الهدف، النشاط الأصلي، الاختلافات المتوقعة، نوع التمايز، مستويات الدعم الثلاثة، الدليل، والقرار. خصص لها 10 دقائق — وهي أهم منتج تخرج به من هذه الدورة.</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15</a:t>
            </a:r>
          </a:p>
          <a:p>
            <a:pPr algn="r" rtl="1">
              <a:spcBef>
                <a:spcPts val="0"/>
              </a:spcBef>
              <a:spcAft>
                <a:spcPts val="0"/>
              </a:spcAft>
            </a:pPr>
            <a:r>
              <a:rPr sz="2800" b="1" i="0">
                <a:solidFill>
                  <a:srgbClr val="FFFFFF"/>
                </a:solidFill>
                <a:latin typeface="Segoe UI"/>
                <a:cs typeface="Segoe UI"/>
              </a:rPr>
              <a:t>من التخطيط إلى التطبيق: ابدأ صغيرًا</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46</a:t>
            </a:r>
          </a:p>
        </p:txBody>
      </p:sp>
      <p:sp>
        <p:nvSpPr>
          <p:cNvPr id="9" name="Rounded Rectangle 8"/>
          <p:cNvSpPr/>
          <p:nvPr/>
        </p:nvSpPr>
        <p:spPr>
          <a:xfrm>
            <a:off x="914400" y="1371600"/>
            <a:ext cx="10332720" cy="841248"/>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812800"/>
          <a:lstStyle/>
          <a:p>
            <a:pPr algn="r" rtl="1"/>
            <a:r>
              <a:rPr sz="1550" b="1" i="0">
                <a:solidFill>
                  <a:srgbClr val="1F3A93"/>
                </a:solidFill>
                <a:latin typeface="Segoe UI"/>
                <a:cs typeface="Segoe UI"/>
              </a:rPr>
              <a:t>درس واحد — </a:t>
            </a:r>
            <a:r>
              <a:rPr sz="1400" b="0" i="0">
                <a:solidFill>
                  <a:srgbClr val="2B2F38"/>
                </a:solidFill>
                <a:latin typeface="Segoe UI"/>
                <a:cs typeface="Segoe UI"/>
              </a:rPr>
              <a:t>هذا الأسبوع سأغير درسًا واحدًا فقط — لا كل دروسي</a:t>
            </a:r>
          </a:p>
        </p:txBody>
      </p:sp>
      <p:sp>
        <p:nvSpPr>
          <p:cNvPr id="10" name="Oval 9"/>
          <p:cNvSpPr/>
          <p:nvPr/>
        </p:nvSpPr>
        <p:spPr>
          <a:xfrm>
            <a:off x="10607040" y="1499616"/>
            <a:ext cx="585216" cy="585216"/>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00" b="1" i="0">
                <a:solidFill>
                  <a:srgbClr val="FFFFFF"/>
                </a:solidFill>
                <a:latin typeface="Segoe UI"/>
                <a:cs typeface="Segoe UI"/>
              </a:rPr>
              <a:t>1</a:t>
            </a:r>
          </a:p>
        </p:txBody>
      </p:sp>
      <p:sp>
        <p:nvSpPr>
          <p:cNvPr id="11" name="Rounded Rectangle 10"/>
          <p:cNvSpPr/>
          <p:nvPr/>
        </p:nvSpPr>
        <p:spPr>
          <a:xfrm>
            <a:off x="914400" y="2322576"/>
            <a:ext cx="10332720" cy="841248"/>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812800"/>
          <a:lstStyle/>
          <a:p>
            <a:pPr algn="r" rtl="1"/>
            <a:r>
              <a:rPr sz="1550" b="1" i="0">
                <a:solidFill>
                  <a:srgbClr val="1F3A93"/>
                </a:solidFill>
                <a:latin typeface="Segoe UI"/>
                <a:cs typeface="Segoe UI"/>
              </a:rPr>
              <a:t>هدف واحد — </a:t>
            </a:r>
            <a:r>
              <a:rPr sz="1400" b="0" i="0">
                <a:solidFill>
                  <a:srgbClr val="2B2F38"/>
                </a:solidFill>
                <a:latin typeface="Segoe UI"/>
                <a:cs typeface="Segoe UI"/>
              </a:rPr>
              <a:t>سأحدد هدفه التعلمي بدقة: ماذا أريد أن يتعلم الطالب؟</a:t>
            </a:r>
          </a:p>
        </p:txBody>
      </p:sp>
      <p:sp>
        <p:nvSpPr>
          <p:cNvPr id="12" name="Oval 11"/>
          <p:cNvSpPr/>
          <p:nvPr/>
        </p:nvSpPr>
        <p:spPr>
          <a:xfrm>
            <a:off x="10607040" y="2450592"/>
            <a:ext cx="585216" cy="58521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00" b="1" i="0">
                <a:solidFill>
                  <a:srgbClr val="162B6B"/>
                </a:solidFill>
                <a:latin typeface="Segoe UI"/>
                <a:cs typeface="Segoe UI"/>
              </a:rPr>
              <a:t>2</a:t>
            </a:r>
          </a:p>
        </p:txBody>
      </p:sp>
      <p:sp>
        <p:nvSpPr>
          <p:cNvPr id="13" name="Rounded Rectangle 12"/>
          <p:cNvSpPr/>
          <p:nvPr/>
        </p:nvSpPr>
        <p:spPr>
          <a:xfrm>
            <a:off x="914400" y="3273552"/>
            <a:ext cx="10332720" cy="841248"/>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812800"/>
          <a:lstStyle/>
          <a:p>
            <a:pPr algn="r" rtl="1"/>
            <a:r>
              <a:rPr sz="1550" b="1" i="0">
                <a:solidFill>
                  <a:srgbClr val="1F3A93"/>
                </a:solidFill>
                <a:latin typeface="Segoe UI"/>
                <a:cs typeface="Segoe UI"/>
              </a:rPr>
              <a:t>نقطة تمايز واحدة — </a:t>
            </a:r>
            <a:r>
              <a:rPr sz="1400" b="0" i="0">
                <a:solidFill>
                  <a:srgbClr val="2B2F38"/>
                </a:solidFill>
                <a:latin typeface="Segoe UI"/>
                <a:cs typeface="Segoe UI"/>
              </a:rPr>
              <a:t>سأختار نقطة واحدة: دعم إضافي، أو خيار في الناتج، أو سؤال إثرائي</a:t>
            </a:r>
          </a:p>
        </p:txBody>
      </p:sp>
      <p:sp>
        <p:nvSpPr>
          <p:cNvPr id="14" name="Oval 13"/>
          <p:cNvSpPr/>
          <p:nvPr/>
        </p:nvSpPr>
        <p:spPr>
          <a:xfrm>
            <a:off x="10607040" y="3401568"/>
            <a:ext cx="585216" cy="585216"/>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00" b="1" i="0">
                <a:solidFill>
                  <a:srgbClr val="FFFFFF"/>
                </a:solidFill>
                <a:latin typeface="Segoe UI"/>
                <a:cs typeface="Segoe UI"/>
              </a:rPr>
              <a:t>3</a:t>
            </a:r>
          </a:p>
        </p:txBody>
      </p:sp>
      <p:sp>
        <p:nvSpPr>
          <p:cNvPr id="15" name="Rounded Rectangle 14"/>
          <p:cNvSpPr/>
          <p:nvPr/>
        </p:nvSpPr>
        <p:spPr>
          <a:xfrm>
            <a:off x="914400" y="4224528"/>
            <a:ext cx="10332720" cy="841248"/>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812800"/>
          <a:lstStyle/>
          <a:p>
            <a:pPr algn="r" rtl="1"/>
            <a:r>
              <a:rPr sz="1550" b="1" i="0">
                <a:solidFill>
                  <a:srgbClr val="1F3A93"/>
                </a:solidFill>
                <a:latin typeface="Segoe UI"/>
                <a:cs typeface="Segoe UI"/>
              </a:rPr>
              <a:t>مراقبة الأثر — </a:t>
            </a:r>
            <a:r>
              <a:rPr sz="1400" b="0" i="0">
                <a:solidFill>
                  <a:srgbClr val="2B2F38"/>
                </a:solidFill>
                <a:latin typeface="Segoe UI"/>
                <a:cs typeface="Segoe UI"/>
              </a:rPr>
              <a:t>سأراقب: من شارك أكثر؟ من وصل إلى الهدف؟ وسأجمع دليلًا بسيطًا</a:t>
            </a:r>
          </a:p>
        </p:txBody>
      </p:sp>
      <p:sp>
        <p:nvSpPr>
          <p:cNvPr id="16" name="Oval 15"/>
          <p:cNvSpPr/>
          <p:nvPr/>
        </p:nvSpPr>
        <p:spPr>
          <a:xfrm>
            <a:off x="10607040" y="4352544"/>
            <a:ext cx="585216" cy="58521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00" b="1" i="0">
                <a:solidFill>
                  <a:srgbClr val="162B6B"/>
                </a:solidFill>
                <a:latin typeface="Segoe UI"/>
                <a:cs typeface="Segoe UI"/>
              </a:rPr>
              <a:t>4</a:t>
            </a:r>
          </a:p>
        </p:txBody>
      </p:sp>
      <p:sp>
        <p:nvSpPr>
          <p:cNvPr id="17" name="Rounded Rectangle 16"/>
          <p:cNvSpPr/>
          <p:nvPr/>
        </p:nvSpPr>
        <p:spPr>
          <a:xfrm>
            <a:off x="914400" y="5175504"/>
            <a:ext cx="10332720" cy="841248"/>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812800"/>
          <a:lstStyle/>
          <a:p>
            <a:pPr algn="r" rtl="1"/>
            <a:r>
              <a:rPr sz="1550" b="1" i="0">
                <a:solidFill>
                  <a:srgbClr val="1F3A93"/>
                </a:solidFill>
                <a:latin typeface="Segoe UI"/>
                <a:cs typeface="Segoe UI"/>
              </a:rPr>
              <a:t>تعديل بالدليل — </a:t>
            </a:r>
            <a:r>
              <a:rPr sz="1400" b="0" i="0">
                <a:solidFill>
                  <a:srgbClr val="2B2F38"/>
                </a:solidFill>
                <a:latin typeface="Segoe UI"/>
                <a:cs typeface="Segoe UI"/>
              </a:rPr>
              <a:t>سأقرر بناءً على ما رأيت: أستمر، أعدّل، أم أجرب نقطة أخرى</a:t>
            </a:r>
          </a:p>
        </p:txBody>
      </p:sp>
      <p:sp>
        <p:nvSpPr>
          <p:cNvPr id="18" name="Oval 17"/>
          <p:cNvSpPr/>
          <p:nvPr/>
        </p:nvSpPr>
        <p:spPr>
          <a:xfrm>
            <a:off x="10607040" y="5303520"/>
            <a:ext cx="585216" cy="585216"/>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00" b="1" i="0">
                <a:solidFill>
                  <a:srgbClr val="FFFFFF"/>
                </a:solidFill>
                <a:latin typeface="Segoe UI"/>
                <a:cs typeface="Segoe UI"/>
              </a:rPr>
              <a:t>5</a:t>
            </a:r>
          </a:p>
        </p:txBody>
      </p:sp>
      <p:sp>
        <p:nvSpPr>
          <p:cNvPr id="19" name="Rounded Rectangle 18"/>
          <p:cNvSpPr/>
          <p:nvPr/>
        </p:nvSpPr>
        <p:spPr>
          <a:xfrm>
            <a:off x="1188720" y="5806440"/>
            <a:ext cx="9784080" cy="566928"/>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550" b="1" i="0">
                <a:solidFill>
                  <a:srgbClr val="FFFFFF"/>
                </a:solidFill>
                <a:latin typeface="Segoe UI"/>
                <a:cs typeface="Segoe UI"/>
              </a:rPr>
              <a:t>الهدف ليس تغيير كل ممارساتك في يوم واحد — بل خطوة واحدة موثوقة كل أسبوع.</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784080" y="822960"/>
            <a:ext cx="1554480" cy="1554480"/>
          </a:xfrm>
          <a:prstGeom prst="ellipse">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400" b="1" i="0">
                <a:solidFill>
                  <a:srgbClr val="FFFFFF"/>
                </a:solidFill>
                <a:latin typeface="Segoe UI"/>
                <a:cs typeface="Segoe UI"/>
              </a:rPr>
              <a:t>16</a:t>
            </a:r>
          </a:p>
        </p:txBody>
      </p:sp>
      <p:sp>
        <p:nvSpPr>
          <p:cNvPr id="5" name="TextBox 4"/>
          <p:cNvSpPr txBox="1"/>
          <p:nvPr/>
        </p:nvSpPr>
        <p:spPr>
          <a:xfrm>
            <a:off x="731520" y="914400"/>
            <a:ext cx="8778240" cy="2377440"/>
          </a:xfrm>
          <a:prstGeom prst="rect">
            <a:avLst/>
          </a:prstGeom>
          <a:noFill/>
        </p:spPr>
        <p:txBody>
          <a:bodyPr wrap="square" anchor="t" lIns="50800" rIns="50800" tIns="25400" bIns="25400">
            <a:spAutoFit/>
          </a:bodyPr>
          <a:lstStyle/>
          <a:p>
            <a:pPr algn="r" rtl="1">
              <a:spcBef>
                <a:spcPts val="400"/>
              </a:spcBef>
              <a:spcAft>
                <a:spcPts val="400"/>
              </a:spcAft>
            </a:pPr>
            <a:r>
              <a:rPr sz="1800" b="1" i="0">
                <a:solidFill>
                  <a:srgbClr val="C9A227"/>
                </a:solidFill>
                <a:latin typeface="Segoe UI"/>
                <a:cs typeface="Segoe UI"/>
              </a:rPr>
              <a:t>الوحدة 16</a:t>
            </a:r>
          </a:p>
          <a:p>
            <a:pPr algn="r" rtl="1">
              <a:spcBef>
                <a:spcPts val="600"/>
              </a:spcBef>
              <a:spcAft>
                <a:spcPts val="400"/>
              </a:spcAft>
            </a:pPr>
            <a:r>
              <a:rPr sz="4000" b="1" i="0">
                <a:solidFill>
                  <a:srgbClr val="FFFFFF"/>
                </a:solidFill>
                <a:latin typeface="Segoe UI"/>
                <a:cs typeface="Segoe UI"/>
              </a:rPr>
              <a:t>اختبار المعرفة النهائي</a:t>
            </a:r>
          </a:p>
          <a:p>
            <a:pPr algn="r" rtl="1">
              <a:spcBef>
                <a:spcPts val="400"/>
              </a:spcBef>
              <a:spcAft>
                <a:spcPts val="400"/>
              </a:spcAft>
            </a:pPr>
            <a:r>
              <a:rPr sz="1600" b="0" i="0">
                <a:solidFill>
                  <a:srgbClr val="E4F6F6"/>
                </a:solidFill>
                <a:latin typeface="Segoe UI"/>
                <a:cs typeface="Segoe UI"/>
              </a:rPr>
              <a:t/>
            </a:r>
          </a:p>
        </p:txBody>
      </p:sp>
      <p:sp>
        <p:nvSpPr>
          <p:cNvPr id="6" name="Rounded Rectangle 5"/>
          <p:cNvSpPr/>
          <p:nvPr/>
        </p:nvSpPr>
        <p:spPr>
          <a:xfrm>
            <a:off x="731520" y="3383280"/>
            <a:ext cx="10607040" cy="265176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rIns="254000"/>
          <a:lstStyle/>
          <a:p>
            <a:pPr algn="r" rtl="1"/>
            <a:r>
              <a:rPr sz="1600" b="1" i="0">
                <a:solidFill>
                  <a:srgbClr val="C9A227"/>
                </a:solidFill>
                <a:latin typeface="Segoe UI"/>
                <a:cs typeface="Segoe UI"/>
              </a:rPr>
              <a:t>في هذه الوحدة:</a:t>
            </a:r>
          </a:p>
          <a:p>
            <a:pPr algn="r" rtl="1">
              <a:spcBef>
                <a:spcPts val="400"/>
              </a:spcBef>
            </a:pPr>
            <a:r>
              <a:rPr sz="1600" b="0" i="0">
                <a:solidFill>
                  <a:srgbClr val="FFFFFF"/>
                </a:solidFill>
                <a:latin typeface="Segoe UI"/>
                <a:cs typeface="Segoe UI"/>
              </a:rPr>
              <a:t>◂  12 سؤالًا تطبيقيًا قائمًا على مواقف صفية</a:t>
            </a:r>
          </a:p>
          <a:p>
            <a:pPr algn="r" rtl="1">
              <a:spcBef>
                <a:spcPts val="400"/>
              </a:spcBef>
            </a:pPr>
            <a:r>
              <a:rPr sz="1600" b="0" i="0">
                <a:solidFill>
                  <a:srgbClr val="FFFFFF"/>
                </a:solidFill>
                <a:latin typeface="Segoe UI"/>
                <a:cs typeface="Segoe UI"/>
              </a:rPr>
              <a:t>◂  اختر أفضل استجابة — لا مجرد تعريف</a:t>
            </a:r>
          </a:p>
          <a:p>
            <a:pPr algn="r" rtl="1">
              <a:spcBef>
                <a:spcPts val="400"/>
              </a:spcBef>
            </a:pPr>
            <a:r>
              <a:rPr sz="1600" b="0" i="0">
                <a:solidFill>
                  <a:srgbClr val="FFFFFF"/>
                </a:solidFill>
                <a:latin typeface="Segoe UI"/>
                <a:cs typeface="Segoe UI"/>
              </a:rPr>
              <a:t>◂  درجة الاجتياز المقترحة: 80%</a:t>
            </a:r>
          </a:p>
        </p:txBody>
      </p:sp>
      <p:sp>
        <p:nvSpPr>
          <p:cNvPr id="7" name="Rectangle 6"/>
          <p:cNvSpPr/>
          <p:nvPr/>
        </p:nvSpPr>
        <p:spPr>
          <a:xfrm>
            <a:off x="0" y="6601968"/>
            <a:ext cx="12191695" cy="256032"/>
          </a:xfrm>
          <a:prstGeom prst="rect">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E4F6F6"/>
                </a:solidFill>
                <a:latin typeface="Segoe UI"/>
                <a:cs typeface="Segoe UI"/>
              </a:rPr>
              <a:t>MASAR | مسار</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16 — اختبار المعرفة النهائي</a:t>
            </a:r>
          </a:p>
          <a:p>
            <a:pPr algn="r" rtl="1">
              <a:spcBef>
                <a:spcPts val="0"/>
              </a:spcBef>
              <a:spcAft>
                <a:spcPts val="0"/>
              </a:spcAft>
            </a:pPr>
            <a:r>
              <a:rPr sz="2800" b="1" i="0">
                <a:solidFill>
                  <a:srgbClr val="FFFFFF"/>
                </a:solidFill>
                <a:latin typeface="Segoe UI"/>
                <a:cs typeface="Segoe UI"/>
              </a:rPr>
              <a:t>اختبار المعرفة (1 من 4)</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48</a:t>
            </a:r>
          </a:p>
        </p:txBody>
      </p:sp>
      <p:sp>
        <p:nvSpPr>
          <p:cNvPr id="9" name="Rounded Rectangle 8"/>
          <p:cNvSpPr/>
          <p:nvPr/>
        </p:nvSpPr>
        <p:spPr>
          <a:xfrm>
            <a:off x="502920" y="1325880"/>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400" b="1" i="0">
                <a:solidFill>
                  <a:srgbClr val="C9A227"/>
                </a:solidFill>
                <a:latin typeface="Segoe UI"/>
                <a:cs typeface="Segoe UI"/>
              </a:rPr>
              <a:t>س1. </a:t>
            </a:r>
            <a:r>
              <a:rPr sz="1400" b="1" i="0">
                <a:solidFill>
                  <a:srgbClr val="1F3A93"/>
                </a:solidFill>
                <a:latin typeface="Segoe UI"/>
                <a:cs typeface="Segoe UI"/>
              </a:rPr>
              <a:t>التعليم المتمايز يعني في جوهره:</a:t>
            </a:r>
          </a:p>
          <a:p>
            <a:pPr algn="r" rtl="1">
              <a:spcBef>
                <a:spcPts val="300"/>
              </a:spcBef>
            </a:pPr>
            <a:r>
              <a:rPr sz="1250" b="0" i="0">
                <a:solidFill>
                  <a:srgbClr val="2B2F38"/>
                </a:solidFill>
                <a:latin typeface="Segoe UI"/>
                <a:cs typeface="Segoe UI"/>
              </a:rPr>
              <a:t>أ) إعداد درس مختلف لكل طالب   ب) تصميم تعليم مرن يوصل الطلاب المختلفين إلى الهدف نفسه بطرق ودعم مناسب   ج) تقسيم الطلاب حسب مستوياتهم بشكل دائم   د) تقليل المطلوب من الطلاب المتعثرين</a:t>
            </a:r>
          </a:p>
        </p:txBody>
      </p:sp>
      <p:sp>
        <p:nvSpPr>
          <p:cNvPr id="10" name="Rounded Rectangle 9"/>
          <p:cNvSpPr/>
          <p:nvPr/>
        </p:nvSpPr>
        <p:spPr>
          <a:xfrm>
            <a:off x="502920" y="3044952"/>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400" b="1" i="0">
                <a:solidFill>
                  <a:srgbClr val="C9A227"/>
                </a:solidFill>
                <a:latin typeface="Segoe UI"/>
                <a:cs typeface="Segoe UI"/>
              </a:rPr>
              <a:t>س2. </a:t>
            </a:r>
            <a:r>
              <a:rPr sz="1400" b="1" i="0">
                <a:solidFill>
                  <a:srgbClr val="1F3A93"/>
                </a:solidFill>
                <a:latin typeface="Segoe UI"/>
                <a:cs typeface="Segoe UI"/>
              </a:rPr>
              <a:t>لاحظ المعلم أن بعض الطلاب أتقنوا الهدف بسرعة بينما ما زال آخرون يحتاجون إلى نموذج إضافي. ما أفضل استجابة؟</a:t>
            </a:r>
          </a:p>
          <a:p>
            <a:pPr algn="r" rtl="1">
              <a:spcBef>
                <a:spcPts val="300"/>
              </a:spcBef>
            </a:pPr>
            <a:r>
              <a:rPr sz="1250" b="0" i="0">
                <a:solidFill>
                  <a:srgbClr val="2B2F38"/>
                </a:solidFill>
                <a:latin typeface="Segoe UI"/>
                <a:cs typeface="Segoe UI"/>
              </a:rPr>
              <a:t>أ) إبطاء الصف كله حتى يلحق الجميع   ب) مهمة إثرائية أعمق للمتقنين ومجموعة شرح قصيرة بنموذج لمن يحتاج   ج) واجب إضافي من نفس النوع للمتقنين   د) الانتقال للدرس التالي فورًا</a:t>
            </a:r>
          </a:p>
        </p:txBody>
      </p:sp>
      <p:sp>
        <p:nvSpPr>
          <p:cNvPr id="11" name="Rounded Rectangle 10"/>
          <p:cNvSpPr/>
          <p:nvPr/>
        </p:nvSpPr>
        <p:spPr>
          <a:xfrm>
            <a:off x="502920" y="4764024"/>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400" b="1" i="0">
                <a:solidFill>
                  <a:srgbClr val="C9A227"/>
                </a:solidFill>
                <a:latin typeface="Segoe UI"/>
                <a:cs typeface="Segoe UI"/>
              </a:rPr>
              <a:t>س3. </a:t>
            </a:r>
            <a:r>
              <a:rPr sz="1400" b="1" i="0">
                <a:solidFill>
                  <a:srgbClr val="1F3A93"/>
                </a:solidFill>
                <a:latin typeface="Segoe UI"/>
                <a:cs typeface="Segoe UI"/>
              </a:rPr>
              <a:t>أي مما يلي «هدف تعلمي» وليس نشاطًا؟</a:t>
            </a:r>
          </a:p>
          <a:p>
            <a:pPr algn="r" rtl="1">
              <a:spcBef>
                <a:spcPts val="300"/>
              </a:spcBef>
            </a:pPr>
            <a:r>
              <a:rPr sz="1250" b="0" i="0">
                <a:solidFill>
                  <a:srgbClr val="2B2F38"/>
                </a:solidFill>
                <a:latin typeface="Segoe UI"/>
                <a:cs typeface="Segoe UI"/>
              </a:rPr>
              <a:t>أ) أن يحل الطالب ورقة العمل   ب) أن يشاهد الطالب فيلمًا عن دورة الماء   ج) أن يحدد الطالب مراحل دورة الماء ويشرح العلاقة بينها   د) أن يعمل الطالب في مجموعة</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16 — اختبار المعرفة النهائي</a:t>
            </a:r>
          </a:p>
          <a:p>
            <a:pPr algn="r" rtl="1">
              <a:spcBef>
                <a:spcPts val="0"/>
              </a:spcBef>
              <a:spcAft>
                <a:spcPts val="0"/>
              </a:spcAft>
            </a:pPr>
            <a:r>
              <a:rPr sz="2800" b="1" i="0">
                <a:solidFill>
                  <a:srgbClr val="FFFFFF"/>
                </a:solidFill>
                <a:latin typeface="Segoe UI"/>
                <a:cs typeface="Segoe UI"/>
              </a:rPr>
              <a:t>اختبار المعرفة (2 من 4)</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49</a:t>
            </a:r>
          </a:p>
        </p:txBody>
      </p:sp>
      <p:sp>
        <p:nvSpPr>
          <p:cNvPr id="9" name="Rounded Rectangle 8"/>
          <p:cNvSpPr/>
          <p:nvPr/>
        </p:nvSpPr>
        <p:spPr>
          <a:xfrm>
            <a:off x="502920" y="1325880"/>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400" b="1" i="0">
                <a:solidFill>
                  <a:srgbClr val="C9A227"/>
                </a:solidFill>
                <a:latin typeface="Segoe UI"/>
                <a:cs typeface="Segoe UI"/>
              </a:rPr>
              <a:t>س4. </a:t>
            </a:r>
            <a:r>
              <a:rPr sz="1400" b="1" i="0">
                <a:solidFill>
                  <a:srgbClr val="1F3A93"/>
                </a:solidFill>
                <a:latin typeface="Segoe UI"/>
                <a:cs typeface="Segoe UI"/>
              </a:rPr>
              <a:t>طالبة تفهم الدرس جيدًا لكنها تتعثر في التعبير الكتابي. الهدف هو فهم المفهوم. ما أفضل استجابة؟</a:t>
            </a:r>
          </a:p>
          <a:p>
            <a:pPr algn="r" rtl="1">
              <a:spcBef>
                <a:spcPts val="300"/>
              </a:spcBef>
            </a:pPr>
            <a:r>
              <a:rPr sz="1250" b="0" i="0">
                <a:solidFill>
                  <a:srgbClr val="2B2F38"/>
                </a:solidFill>
                <a:latin typeface="Segoe UI"/>
                <a:cs typeface="Segoe UI"/>
              </a:rPr>
              <a:t>أ) خفض درجاتها لضعف الكتابة   ب) إعفاؤها من المهمة   ج) إتاحة إظهار فهمها شفهيًا أو بالرسم، مع دعم كتابي تدريجي منفصل   د) إجبارها على الكتابة حتى تتحسن</a:t>
            </a:r>
          </a:p>
        </p:txBody>
      </p:sp>
      <p:sp>
        <p:nvSpPr>
          <p:cNvPr id="10" name="Rounded Rectangle 9"/>
          <p:cNvSpPr/>
          <p:nvPr/>
        </p:nvSpPr>
        <p:spPr>
          <a:xfrm>
            <a:off x="502920" y="3044952"/>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400" b="1" i="0">
                <a:solidFill>
                  <a:srgbClr val="C9A227"/>
                </a:solidFill>
                <a:latin typeface="Segoe UI"/>
                <a:cs typeface="Segoe UI"/>
              </a:rPr>
              <a:t>س5. </a:t>
            </a:r>
            <a:r>
              <a:rPr sz="1400" b="1" i="0">
                <a:solidFill>
                  <a:srgbClr val="1F3A93"/>
                </a:solidFill>
                <a:latin typeface="Segoe UI"/>
                <a:cs typeface="Segoe UI"/>
              </a:rPr>
              <a:t>«مجموعة الضعاف تجلس في الركن طوال العام» — هذه الممارسة:</a:t>
            </a:r>
          </a:p>
          <a:p>
            <a:pPr algn="r" rtl="1">
              <a:spcBef>
                <a:spcPts val="300"/>
              </a:spcBef>
            </a:pPr>
            <a:r>
              <a:rPr sz="1250" b="0" i="0">
                <a:solidFill>
                  <a:srgbClr val="2B2F38"/>
                </a:solidFill>
                <a:latin typeface="Segoe UI"/>
                <a:cs typeface="Segoe UI"/>
              </a:rPr>
              <a:t>أ) تجميع مرن سليم   ب) مجموعة ثابتة تصنيفية تضر الطلاب وتخفض التوقعات   ج) ضرورية للتنظيم   د) تمايز في بيئة التعلم</a:t>
            </a:r>
          </a:p>
        </p:txBody>
      </p:sp>
      <p:sp>
        <p:nvSpPr>
          <p:cNvPr id="11" name="Rounded Rectangle 10"/>
          <p:cNvSpPr/>
          <p:nvPr/>
        </p:nvSpPr>
        <p:spPr>
          <a:xfrm>
            <a:off x="502920" y="4764024"/>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400" b="1" i="0">
                <a:solidFill>
                  <a:srgbClr val="C9A227"/>
                </a:solidFill>
                <a:latin typeface="Segoe UI"/>
                <a:cs typeface="Segoe UI"/>
              </a:rPr>
              <a:t>س6. </a:t>
            </a:r>
            <a:r>
              <a:rPr sz="1400" b="1" i="0">
                <a:solidFill>
                  <a:srgbClr val="1F3A93"/>
                </a:solidFill>
                <a:latin typeface="Segoe UI"/>
                <a:cs typeface="Segoe UI"/>
              </a:rPr>
              <a:t>متى يكون تغيير طريقة الإجابة (شفهي بدل كتابي) غير مناسب؟</a:t>
            </a:r>
          </a:p>
          <a:p>
            <a:pPr algn="r" rtl="1">
              <a:spcBef>
                <a:spcPts val="300"/>
              </a:spcBef>
            </a:pPr>
            <a:r>
              <a:rPr sz="1250" b="0" i="0">
                <a:solidFill>
                  <a:srgbClr val="2B2F38"/>
                </a:solidFill>
                <a:latin typeface="Segoe UI"/>
                <a:cs typeface="Segoe UI"/>
              </a:rPr>
              <a:t>أ) دائمًا غير مناسب   ب) عندما يكون الهدف التعلمي نفسه هو الكتابة   ج) عندما يطلبه الطالب   د) في المرحلة الابتدائية فقط</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16 — اختبار المعرفة النهائي</a:t>
            </a:r>
          </a:p>
          <a:p>
            <a:pPr algn="r" rtl="1">
              <a:spcBef>
                <a:spcPts val="0"/>
              </a:spcBef>
              <a:spcAft>
                <a:spcPts val="0"/>
              </a:spcAft>
            </a:pPr>
            <a:r>
              <a:rPr sz="2800" b="1" i="0">
                <a:solidFill>
                  <a:srgbClr val="FFFFFF"/>
                </a:solidFill>
                <a:latin typeface="Segoe UI"/>
                <a:cs typeface="Segoe UI"/>
              </a:rPr>
              <a:t>اختبار المعرفة (3 من 4)</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50</a:t>
            </a:r>
          </a:p>
        </p:txBody>
      </p:sp>
      <p:sp>
        <p:nvSpPr>
          <p:cNvPr id="9" name="Rounded Rectangle 8"/>
          <p:cNvSpPr/>
          <p:nvPr/>
        </p:nvSpPr>
        <p:spPr>
          <a:xfrm>
            <a:off x="502920" y="1325880"/>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400" b="1" i="0">
                <a:solidFill>
                  <a:srgbClr val="C9A227"/>
                </a:solidFill>
                <a:latin typeface="Segoe UI"/>
                <a:cs typeface="Segoe UI"/>
              </a:rPr>
              <a:t>س7. </a:t>
            </a:r>
            <a:r>
              <a:rPr sz="1400" b="1" i="0">
                <a:solidFill>
                  <a:srgbClr val="1F3A93"/>
                </a:solidFill>
                <a:latin typeface="Segoe UI"/>
                <a:cs typeface="Segoe UI"/>
              </a:rPr>
              <a:t>أنهى ثلث الصف المهمة مبكرًا. أفضل نشاط إثرائي هو:</a:t>
            </a:r>
          </a:p>
          <a:p>
            <a:pPr algn="r" rtl="1">
              <a:spcBef>
                <a:spcPts val="300"/>
              </a:spcBef>
            </a:pPr>
            <a:r>
              <a:rPr sz="1250" b="0" i="0">
                <a:solidFill>
                  <a:srgbClr val="2B2F38"/>
                </a:solidFill>
                <a:latin typeface="Segoe UI"/>
                <a:cs typeface="Segoe UI"/>
              </a:rPr>
              <a:t>أ) 15 مسألة إضافية من النوع نفسه   ب) مساعدة المعلم في التصحيح   ج) سؤال تطبيقي أعمق يبني على الهدف نفسه   د) وقت حر</a:t>
            </a:r>
          </a:p>
        </p:txBody>
      </p:sp>
      <p:sp>
        <p:nvSpPr>
          <p:cNvPr id="10" name="Rounded Rectangle 9"/>
          <p:cNvSpPr/>
          <p:nvPr/>
        </p:nvSpPr>
        <p:spPr>
          <a:xfrm>
            <a:off x="502920" y="3044952"/>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400" b="1" i="0">
                <a:solidFill>
                  <a:srgbClr val="C9A227"/>
                </a:solidFill>
                <a:latin typeface="Segoe UI"/>
                <a:cs typeface="Segoe UI"/>
              </a:rPr>
              <a:t>س8. </a:t>
            </a:r>
            <a:r>
              <a:rPr sz="1400" b="1" i="0">
                <a:solidFill>
                  <a:srgbClr val="1F3A93"/>
                </a:solidFill>
                <a:latin typeface="Segoe UI"/>
                <a:cs typeface="Segoe UI"/>
              </a:rPr>
              <a:t>في بطاقة الخروج، خلط 5 طلاب بين التبخر والتكاثف. الاستخدام التكويني الصحيح لهذه المعلومة:</a:t>
            </a:r>
          </a:p>
          <a:p>
            <a:pPr algn="r" rtl="1">
              <a:spcBef>
                <a:spcPts val="300"/>
              </a:spcBef>
            </a:pPr>
            <a:r>
              <a:rPr sz="1250" b="0" i="0">
                <a:solidFill>
                  <a:srgbClr val="2B2F38"/>
                </a:solidFill>
                <a:latin typeface="Segoe UI"/>
                <a:cs typeface="Segoe UI"/>
              </a:rPr>
              <a:t>أ) رصد درجات منخفضة للخمسة   ب) إعادة شرح الدرس كاملًا للصف كله   ج) مجموعة شرح إضافي قصيرة للخمسة في الحصة التالية مع تجربة توضيحية   د) إهمالها لأنها ليست اختبارًا رسميًا</a:t>
            </a:r>
          </a:p>
        </p:txBody>
      </p:sp>
      <p:sp>
        <p:nvSpPr>
          <p:cNvPr id="11" name="Rounded Rectangle 10"/>
          <p:cNvSpPr/>
          <p:nvPr/>
        </p:nvSpPr>
        <p:spPr>
          <a:xfrm>
            <a:off x="502920" y="4764024"/>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400" b="1" i="0">
                <a:solidFill>
                  <a:srgbClr val="C9A227"/>
                </a:solidFill>
                <a:latin typeface="Segoe UI"/>
                <a:cs typeface="Segoe UI"/>
              </a:rPr>
              <a:t>س9. </a:t>
            </a:r>
            <a:r>
              <a:rPr sz="1400" b="1" i="0">
                <a:solidFill>
                  <a:srgbClr val="1F3A93"/>
                </a:solidFill>
                <a:latin typeface="Segoe UI"/>
                <a:cs typeface="Segoe UI"/>
              </a:rPr>
              <a:t>المسارات الثلاثة في الدرس المتمايز (دعم — أساسي — إثراء):</a:t>
            </a:r>
          </a:p>
          <a:p>
            <a:pPr algn="r" rtl="1">
              <a:spcBef>
                <a:spcPts val="300"/>
              </a:spcBef>
            </a:pPr>
            <a:r>
              <a:rPr sz="1250" b="0" i="0">
                <a:solidFill>
                  <a:srgbClr val="2B2F38"/>
                </a:solidFill>
                <a:latin typeface="Segoe UI"/>
                <a:cs typeface="Segoe UI"/>
              </a:rPr>
              <a:t>أ) مستويات ثابتة يوضع فيها الطالب طوال العام   ب) تشكيلات مؤقتة ينتقل الطالب بينها حسب حاجته وتقدمه   ج) تصنيف رسمي يُعلن للأسر   د) خاصة بذوي الاحتياجات فقط</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16 — اختبار المعرفة النهائي</a:t>
            </a:r>
          </a:p>
          <a:p>
            <a:pPr algn="r" rtl="1">
              <a:spcBef>
                <a:spcPts val="0"/>
              </a:spcBef>
              <a:spcAft>
                <a:spcPts val="0"/>
              </a:spcAft>
            </a:pPr>
            <a:r>
              <a:rPr sz="2800" b="1" i="0">
                <a:solidFill>
                  <a:srgbClr val="FFFFFF"/>
                </a:solidFill>
                <a:latin typeface="Segoe UI"/>
                <a:cs typeface="Segoe UI"/>
              </a:rPr>
              <a:t>اختبار المعرفة (4 من 4)</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51</a:t>
            </a:r>
          </a:p>
        </p:txBody>
      </p:sp>
      <p:sp>
        <p:nvSpPr>
          <p:cNvPr id="9" name="Rounded Rectangle 8"/>
          <p:cNvSpPr/>
          <p:nvPr/>
        </p:nvSpPr>
        <p:spPr>
          <a:xfrm>
            <a:off x="502920" y="1325880"/>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400" b="1" i="0">
                <a:solidFill>
                  <a:srgbClr val="C9A227"/>
                </a:solidFill>
                <a:latin typeface="Segoe UI"/>
                <a:cs typeface="Segoe UI"/>
              </a:rPr>
              <a:t>س10. </a:t>
            </a:r>
            <a:r>
              <a:rPr sz="1400" b="1" i="0">
                <a:solidFill>
                  <a:srgbClr val="1F3A93"/>
                </a:solidFill>
                <a:latin typeface="Segoe UI"/>
                <a:cs typeface="Segoe UI"/>
              </a:rPr>
              <a:t>معلم يريد البدء بالتمايز لكنه يخشى ضياع النظام. أفضل نصيحة:</a:t>
            </a:r>
          </a:p>
          <a:p>
            <a:pPr algn="r" rtl="1">
              <a:spcBef>
                <a:spcPts val="300"/>
              </a:spcBef>
            </a:pPr>
            <a:r>
              <a:rPr sz="1250" b="0" i="0">
                <a:solidFill>
                  <a:srgbClr val="2B2F38"/>
                </a:solidFill>
                <a:latin typeface="Segoe UI"/>
                <a:cs typeface="Segoe UI"/>
              </a:rPr>
              <a:t>أ) لا تبدأ حتى يصغر عدد الصف   ب) ثبّت الروتين أولًا: تعليمات مكتوبة، إشارة انتقال، قاعدة «اسأل ثلاثة قبلي» — ثم مايز تدريجيًا   ج) طبق كل الاستراتيجيات دفعة واحدة   د) اجعل التمايز في الواجبات المنزلية فقط</a:t>
            </a:r>
          </a:p>
        </p:txBody>
      </p:sp>
      <p:sp>
        <p:nvSpPr>
          <p:cNvPr id="10" name="Rounded Rectangle 9"/>
          <p:cNvSpPr/>
          <p:nvPr/>
        </p:nvSpPr>
        <p:spPr>
          <a:xfrm>
            <a:off x="502920" y="3044952"/>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400" b="1" i="0">
                <a:solidFill>
                  <a:srgbClr val="C9A227"/>
                </a:solidFill>
                <a:latin typeface="Segoe UI"/>
                <a:cs typeface="Segoe UI"/>
              </a:rPr>
              <a:t>س11. </a:t>
            </a:r>
            <a:r>
              <a:rPr sz="1400" b="1" i="0">
                <a:solidFill>
                  <a:srgbClr val="1F3A93"/>
                </a:solidFill>
                <a:latin typeface="Segoe UI"/>
                <a:cs typeface="Segoe UI"/>
              </a:rPr>
              <a:t>«زياد يتوقف في منتصف المهام الطويلة». الاستجابة التعليمية الأنسب:</a:t>
            </a:r>
          </a:p>
          <a:p>
            <a:pPr algn="r" rtl="1">
              <a:spcBef>
                <a:spcPts val="300"/>
              </a:spcBef>
            </a:pPr>
            <a:r>
              <a:rPr sz="1250" b="0" i="0">
                <a:solidFill>
                  <a:srgbClr val="2B2F38"/>
                </a:solidFill>
                <a:latin typeface="Segoe UI"/>
                <a:cs typeface="Segoe UI"/>
              </a:rPr>
              <a:t>أ) وصفه بضعف التركيز في تقريره   ب) تقسيم المهمة إلى خطوات قصيرة مرقمة بنقاط وصول قريبة   ج) إعفاؤه من المهام الطويلة نهائيًا   د) نقله من الصف</a:t>
            </a:r>
          </a:p>
        </p:txBody>
      </p:sp>
      <p:sp>
        <p:nvSpPr>
          <p:cNvPr id="11" name="Rounded Rectangle 10"/>
          <p:cNvSpPr/>
          <p:nvPr/>
        </p:nvSpPr>
        <p:spPr>
          <a:xfrm>
            <a:off x="502920" y="4764024"/>
            <a:ext cx="11183112" cy="1591056"/>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400" b="1" i="0">
                <a:solidFill>
                  <a:srgbClr val="C9A227"/>
                </a:solidFill>
                <a:latin typeface="Segoe UI"/>
                <a:cs typeface="Segoe UI"/>
              </a:rPr>
              <a:t>س12. </a:t>
            </a:r>
            <a:r>
              <a:rPr sz="1400" b="1" i="0">
                <a:solidFill>
                  <a:srgbClr val="1F3A93"/>
                </a:solidFill>
                <a:latin typeface="Segoe UI"/>
                <a:cs typeface="Segoe UI"/>
              </a:rPr>
              <a:t>بعد أسبوعين من تجربة نقطة تمايز، ما الأساس الصحيح لقرار الاستمرار أو التعديل؟</a:t>
            </a:r>
          </a:p>
          <a:p>
            <a:pPr algn="r" rtl="1">
              <a:spcBef>
                <a:spcPts val="300"/>
              </a:spcBef>
            </a:pPr>
            <a:r>
              <a:rPr sz="1250" b="0" i="0">
                <a:solidFill>
                  <a:srgbClr val="2B2F38"/>
                </a:solidFill>
                <a:latin typeface="Segoe UI"/>
                <a:cs typeface="Segoe UI"/>
              </a:rPr>
              <a:t>أ) شعور المعلم العام   ب) رأي زملاء المعلم   ج) الأدلة المجموعة: المشاركة، بطاقات الخروج، عينات أعمال الطلاب   د) مرور الوقت وحده</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16</a:t>
            </a:r>
          </a:p>
          <a:p>
            <a:pPr algn="r" rtl="1">
              <a:spcBef>
                <a:spcPts val="0"/>
              </a:spcBef>
              <a:spcAft>
                <a:spcPts val="0"/>
              </a:spcAft>
            </a:pPr>
            <a:r>
              <a:rPr sz="2800" b="1" i="0">
                <a:solidFill>
                  <a:srgbClr val="FFFFFF"/>
                </a:solidFill>
                <a:latin typeface="Segoe UI"/>
                <a:cs typeface="Segoe UI"/>
              </a:rPr>
              <a:t>مفتاح إجابة الاختبار</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52</a:t>
            </a:r>
          </a:p>
        </p:txBody>
      </p:sp>
      <p:sp>
        <p:nvSpPr>
          <p:cNvPr id="9" name="Rounded Rectangle 8"/>
          <p:cNvSpPr/>
          <p:nvPr/>
        </p:nvSpPr>
        <p:spPr>
          <a:xfrm>
            <a:off x="6190488" y="1325880"/>
            <a:ext cx="5486400" cy="7772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س1: </a:t>
            </a:r>
            <a:r>
              <a:rPr sz="1350" b="1" i="0">
                <a:solidFill>
                  <a:srgbClr val="2BB3B1"/>
                </a:solidFill>
                <a:latin typeface="Segoe UI"/>
                <a:cs typeface="Segoe UI"/>
              </a:rPr>
              <a:t>ب — </a:t>
            </a:r>
            <a:r>
              <a:rPr sz="1250" b="0" i="0">
                <a:solidFill>
                  <a:srgbClr val="2B2F38"/>
                </a:solidFill>
                <a:latin typeface="Segoe UI"/>
                <a:cs typeface="Segoe UI"/>
              </a:rPr>
              <a:t>تعليم مرن يوصل الجميع إلى الهدف نفسه</a:t>
            </a:r>
          </a:p>
        </p:txBody>
      </p:sp>
      <p:sp>
        <p:nvSpPr>
          <p:cNvPr id="10" name="Rounded Rectangle 9"/>
          <p:cNvSpPr/>
          <p:nvPr/>
        </p:nvSpPr>
        <p:spPr>
          <a:xfrm>
            <a:off x="502920" y="1325880"/>
            <a:ext cx="5486400" cy="7772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س2: </a:t>
            </a:r>
            <a:r>
              <a:rPr sz="1350" b="1" i="0">
                <a:solidFill>
                  <a:srgbClr val="C9A227"/>
                </a:solidFill>
                <a:latin typeface="Segoe UI"/>
                <a:cs typeface="Segoe UI"/>
              </a:rPr>
              <a:t>ب — </a:t>
            </a:r>
            <a:r>
              <a:rPr sz="1250" b="0" i="0">
                <a:solidFill>
                  <a:srgbClr val="2B2F38"/>
                </a:solidFill>
                <a:latin typeface="Segoe UI"/>
                <a:cs typeface="Segoe UI"/>
              </a:rPr>
              <a:t>إثراء أعمق + مجموعة شرح بنموذج — معًا</a:t>
            </a:r>
          </a:p>
        </p:txBody>
      </p:sp>
      <p:sp>
        <p:nvSpPr>
          <p:cNvPr id="11" name="Rounded Rectangle 10"/>
          <p:cNvSpPr/>
          <p:nvPr/>
        </p:nvSpPr>
        <p:spPr>
          <a:xfrm>
            <a:off x="6190488" y="2171700"/>
            <a:ext cx="5486400" cy="7772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س3: </a:t>
            </a:r>
            <a:r>
              <a:rPr sz="1350" b="1" i="0">
                <a:solidFill>
                  <a:srgbClr val="2BB3B1"/>
                </a:solidFill>
                <a:latin typeface="Segoe UI"/>
                <a:cs typeface="Segoe UI"/>
              </a:rPr>
              <a:t>ج — </a:t>
            </a:r>
            <a:r>
              <a:rPr sz="1250" b="0" i="0">
                <a:solidFill>
                  <a:srgbClr val="2B2F38"/>
                </a:solidFill>
                <a:latin typeface="Segoe UI"/>
                <a:cs typeface="Segoe UI"/>
              </a:rPr>
              <a:t>الهدف = التعلم المقصود، لا الفعل الظاهري</a:t>
            </a:r>
          </a:p>
        </p:txBody>
      </p:sp>
      <p:sp>
        <p:nvSpPr>
          <p:cNvPr id="12" name="Rounded Rectangle 11"/>
          <p:cNvSpPr/>
          <p:nvPr/>
        </p:nvSpPr>
        <p:spPr>
          <a:xfrm>
            <a:off x="502920" y="2171700"/>
            <a:ext cx="5486400" cy="7772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س4: </a:t>
            </a:r>
            <a:r>
              <a:rPr sz="1350" b="1" i="0">
                <a:solidFill>
                  <a:srgbClr val="C9A227"/>
                </a:solidFill>
                <a:latin typeface="Segoe UI"/>
                <a:cs typeface="Segoe UI"/>
              </a:rPr>
              <a:t>ج — </a:t>
            </a:r>
            <a:r>
              <a:rPr sz="1250" b="0" i="0">
                <a:solidFill>
                  <a:srgbClr val="2B2F38"/>
                </a:solidFill>
                <a:latin typeface="Segoe UI"/>
                <a:cs typeface="Segoe UI"/>
              </a:rPr>
              <a:t>الناتج يتنوع ما دام الهدف هو الفهم</a:t>
            </a:r>
          </a:p>
        </p:txBody>
      </p:sp>
      <p:sp>
        <p:nvSpPr>
          <p:cNvPr id="13" name="Rounded Rectangle 12"/>
          <p:cNvSpPr/>
          <p:nvPr/>
        </p:nvSpPr>
        <p:spPr>
          <a:xfrm>
            <a:off x="6190488" y="3017520"/>
            <a:ext cx="5486400" cy="7772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س5: </a:t>
            </a:r>
            <a:r>
              <a:rPr sz="1350" b="1" i="0">
                <a:solidFill>
                  <a:srgbClr val="2BB3B1"/>
                </a:solidFill>
                <a:latin typeface="Segoe UI"/>
                <a:cs typeface="Segoe UI"/>
              </a:rPr>
              <a:t>ب — </a:t>
            </a:r>
            <a:r>
              <a:rPr sz="1250" b="0" i="0">
                <a:solidFill>
                  <a:srgbClr val="2B2F38"/>
                </a:solidFill>
                <a:latin typeface="Segoe UI"/>
                <a:cs typeface="Segoe UI"/>
              </a:rPr>
              <a:t>مجموعة ثابتة تصنيفية — عكس التجميع المرن</a:t>
            </a:r>
          </a:p>
        </p:txBody>
      </p:sp>
      <p:sp>
        <p:nvSpPr>
          <p:cNvPr id="14" name="Rounded Rectangle 13"/>
          <p:cNvSpPr/>
          <p:nvPr/>
        </p:nvSpPr>
        <p:spPr>
          <a:xfrm>
            <a:off x="502920" y="3017520"/>
            <a:ext cx="5486400" cy="7772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س6: </a:t>
            </a:r>
            <a:r>
              <a:rPr sz="1350" b="1" i="0">
                <a:solidFill>
                  <a:srgbClr val="C9A227"/>
                </a:solidFill>
                <a:latin typeface="Segoe UI"/>
                <a:cs typeface="Segoe UI"/>
              </a:rPr>
              <a:t>ب — </a:t>
            </a:r>
            <a:r>
              <a:rPr sz="1250" b="0" i="0">
                <a:solidFill>
                  <a:srgbClr val="2B2F38"/>
                </a:solidFill>
                <a:latin typeface="Segoe UI"/>
                <a:cs typeface="Segoe UI"/>
              </a:rPr>
              <a:t>المواءمة تسقط إذا مست الهدف المقيس نفسه</a:t>
            </a:r>
          </a:p>
        </p:txBody>
      </p:sp>
      <p:sp>
        <p:nvSpPr>
          <p:cNvPr id="15" name="Rounded Rectangle 14"/>
          <p:cNvSpPr/>
          <p:nvPr/>
        </p:nvSpPr>
        <p:spPr>
          <a:xfrm>
            <a:off x="6190488" y="3863339"/>
            <a:ext cx="5486400" cy="7772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س7: </a:t>
            </a:r>
            <a:r>
              <a:rPr sz="1350" b="1" i="0">
                <a:solidFill>
                  <a:srgbClr val="2BB3B1"/>
                </a:solidFill>
                <a:latin typeface="Segoe UI"/>
                <a:cs typeface="Segoe UI"/>
              </a:rPr>
              <a:t>ج — </a:t>
            </a:r>
            <a:r>
              <a:rPr sz="1250" b="0" i="0">
                <a:solidFill>
                  <a:srgbClr val="2B2F38"/>
                </a:solidFill>
                <a:latin typeface="Segoe UI"/>
                <a:cs typeface="Segoe UI"/>
              </a:rPr>
              <a:t>الإثراء عمق لا كم</a:t>
            </a:r>
          </a:p>
        </p:txBody>
      </p:sp>
      <p:sp>
        <p:nvSpPr>
          <p:cNvPr id="16" name="Rounded Rectangle 15"/>
          <p:cNvSpPr/>
          <p:nvPr/>
        </p:nvSpPr>
        <p:spPr>
          <a:xfrm>
            <a:off x="502920" y="3863339"/>
            <a:ext cx="5486400" cy="7772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س8: </a:t>
            </a:r>
            <a:r>
              <a:rPr sz="1350" b="1" i="0">
                <a:solidFill>
                  <a:srgbClr val="C9A227"/>
                </a:solidFill>
                <a:latin typeface="Segoe UI"/>
                <a:cs typeface="Segoe UI"/>
              </a:rPr>
              <a:t>ج — </a:t>
            </a:r>
            <a:r>
              <a:rPr sz="1250" b="0" i="0">
                <a:solidFill>
                  <a:srgbClr val="2B2F38"/>
                </a:solidFill>
                <a:latin typeface="Segoe UI"/>
                <a:cs typeface="Segoe UI"/>
              </a:rPr>
              <a:t>التقييم التكويني يقود إجراء اليوم التالي</a:t>
            </a:r>
          </a:p>
        </p:txBody>
      </p:sp>
      <p:sp>
        <p:nvSpPr>
          <p:cNvPr id="17" name="Rounded Rectangle 16"/>
          <p:cNvSpPr/>
          <p:nvPr/>
        </p:nvSpPr>
        <p:spPr>
          <a:xfrm>
            <a:off x="6190488" y="4709159"/>
            <a:ext cx="5486400" cy="7772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س9: </a:t>
            </a:r>
            <a:r>
              <a:rPr sz="1350" b="1" i="0">
                <a:solidFill>
                  <a:srgbClr val="2BB3B1"/>
                </a:solidFill>
                <a:latin typeface="Segoe UI"/>
                <a:cs typeface="Segoe UI"/>
              </a:rPr>
              <a:t>ب — </a:t>
            </a:r>
            <a:r>
              <a:rPr sz="1250" b="0" i="0">
                <a:solidFill>
                  <a:srgbClr val="2B2F38"/>
                </a:solidFill>
                <a:latin typeface="Segoe UI"/>
                <a:cs typeface="Segoe UI"/>
              </a:rPr>
              <a:t>المسارات مؤقتة والطالب ينتقل بينها</a:t>
            </a:r>
          </a:p>
        </p:txBody>
      </p:sp>
      <p:sp>
        <p:nvSpPr>
          <p:cNvPr id="18" name="Rounded Rectangle 17"/>
          <p:cNvSpPr/>
          <p:nvPr/>
        </p:nvSpPr>
        <p:spPr>
          <a:xfrm>
            <a:off x="502920" y="4709159"/>
            <a:ext cx="5486400" cy="7772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س10: </a:t>
            </a:r>
            <a:r>
              <a:rPr sz="1350" b="1" i="0">
                <a:solidFill>
                  <a:srgbClr val="C9A227"/>
                </a:solidFill>
                <a:latin typeface="Segoe UI"/>
                <a:cs typeface="Segoe UI"/>
              </a:rPr>
              <a:t>ب — </a:t>
            </a:r>
            <a:r>
              <a:rPr sz="1250" b="0" i="0">
                <a:solidFill>
                  <a:srgbClr val="2B2F38"/>
                </a:solidFill>
                <a:latin typeface="Segoe UI"/>
                <a:cs typeface="Segoe UI"/>
              </a:rPr>
              <a:t>الروتين أولًا ثم التمايز التدريجي</a:t>
            </a:r>
          </a:p>
        </p:txBody>
      </p:sp>
      <p:sp>
        <p:nvSpPr>
          <p:cNvPr id="19" name="Rounded Rectangle 18"/>
          <p:cNvSpPr/>
          <p:nvPr/>
        </p:nvSpPr>
        <p:spPr>
          <a:xfrm>
            <a:off x="6190488" y="5554980"/>
            <a:ext cx="5486400" cy="777240"/>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س11: </a:t>
            </a:r>
            <a:r>
              <a:rPr sz="1350" b="1" i="0">
                <a:solidFill>
                  <a:srgbClr val="2BB3B1"/>
                </a:solidFill>
                <a:latin typeface="Segoe UI"/>
                <a:cs typeface="Segoe UI"/>
              </a:rPr>
              <a:t>ب — </a:t>
            </a:r>
            <a:r>
              <a:rPr sz="1250" b="0" i="0">
                <a:solidFill>
                  <a:srgbClr val="2B2F38"/>
                </a:solidFill>
                <a:latin typeface="Segoe UI"/>
                <a:cs typeface="Segoe UI"/>
              </a:rPr>
              <a:t>استجابة تعليمية لا وصف وتصنيف</a:t>
            </a:r>
          </a:p>
        </p:txBody>
      </p:sp>
      <p:sp>
        <p:nvSpPr>
          <p:cNvPr id="20" name="Rounded Rectangle 19"/>
          <p:cNvSpPr/>
          <p:nvPr/>
        </p:nvSpPr>
        <p:spPr>
          <a:xfrm>
            <a:off x="502920" y="5554980"/>
            <a:ext cx="5486400" cy="777240"/>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27000"/>
          <a:lstStyle/>
          <a:p>
            <a:pPr algn="r" rtl="1"/>
            <a:r>
              <a:rPr sz="1350" b="1" i="0">
                <a:solidFill>
                  <a:srgbClr val="1F3A93"/>
                </a:solidFill>
                <a:latin typeface="Segoe UI"/>
                <a:cs typeface="Segoe UI"/>
              </a:rPr>
              <a:t>س12: </a:t>
            </a:r>
            <a:r>
              <a:rPr sz="1350" b="1" i="0">
                <a:solidFill>
                  <a:srgbClr val="C9A227"/>
                </a:solidFill>
                <a:latin typeface="Segoe UI"/>
                <a:cs typeface="Segoe UI"/>
              </a:rPr>
              <a:t>ج — </a:t>
            </a:r>
            <a:r>
              <a:rPr sz="1250" b="0" i="0">
                <a:solidFill>
                  <a:srgbClr val="2B2F38"/>
                </a:solidFill>
                <a:latin typeface="Segoe UI"/>
                <a:cs typeface="Segoe UI"/>
              </a:rPr>
              <a:t>القرار يُبنى على الأدلة</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17</a:t>
            </a:r>
          </a:p>
          <a:p>
            <a:pPr algn="r" rtl="1">
              <a:spcBef>
                <a:spcPts val="0"/>
              </a:spcBef>
              <a:spcAft>
                <a:spcPts val="0"/>
              </a:spcAft>
            </a:pPr>
            <a:r>
              <a:rPr sz="2800" b="1" i="0">
                <a:solidFill>
                  <a:srgbClr val="FFFFFF"/>
                </a:solidFill>
                <a:latin typeface="Segoe UI"/>
                <a:cs typeface="Segoe UI"/>
              </a:rPr>
              <a:t>التأمل النهائي</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53</a:t>
            </a:r>
          </a:p>
        </p:txBody>
      </p:sp>
      <p:sp>
        <p:nvSpPr>
          <p:cNvPr id="9" name="Rounded Rectangle 8"/>
          <p:cNvSpPr/>
          <p:nvPr/>
        </p:nvSpPr>
        <p:spPr>
          <a:xfrm>
            <a:off x="9326880" y="1234440"/>
            <a:ext cx="2331720" cy="50292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600" b="1" i="0">
                <a:solidFill>
                  <a:srgbClr val="FFFFFF"/>
                </a:solidFill>
                <a:latin typeface="Segoe UI"/>
                <a:cs typeface="Segoe UI"/>
              </a:rPr>
              <a:t>تأمل فردي</a:t>
            </a:r>
          </a:p>
        </p:txBody>
      </p:sp>
      <p:sp>
        <p:nvSpPr>
          <p:cNvPr id="10" name="Rounded Rectangle 9"/>
          <p:cNvSpPr/>
          <p:nvPr/>
        </p:nvSpPr>
        <p:spPr>
          <a:xfrm>
            <a:off x="502920" y="1828800"/>
            <a:ext cx="11183112" cy="804672"/>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600" b="1" i="0">
                <a:solidFill>
                  <a:srgbClr val="C9A227"/>
                </a:solidFill>
                <a:latin typeface="Segoe UI"/>
                <a:cs typeface="Segoe UI"/>
              </a:rPr>
              <a:t>1. </a:t>
            </a:r>
            <a:r>
              <a:rPr sz="1600" b="1" i="0">
                <a:solidFill>
                  <a:srgbClr val="1F3A93"/>
                </a:solidFill>
                <a:latin typeface="Segoe UI"/>
                <a:cs typeface="Segoe UI"/>
              </a:rPr>
              <a:t>ما الفكرة التي تغيرت لدي حول التعليم المتمايز؟</a:t>
            </a:r>
          </a:p>
        </p:txBody>
      </p:sp>
      <p:sp>
        <p:nvSpPr>
          <p:cNvPr id="11" name="Rounded Rectangle 10"/>
          <p:cNvSpPr/>
          <p:nvPr/>
        </p:nvSpPr>
        <p:spPr>
          <a:xfrm>
            <a:off x="502920" y="2743200"/>
            <a:ext cx="11183112" cy="804672"/>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600" b="1" i="0">
                <a:solidFill>
                  <a:srgbClr val="2BB3B1"/>
                </a:solidFill>
                <a:latin typeface="Segoe UI"/>
                <a:cs typeface="Segoe UI"/>
              </a:rPr>
              <a:t>2. </a:t>
            </a:r>
            <a:r>
              <a:rPr sz="1600" b="1" i="0">
                <a:solidFill>
                  <a:srgbClr val="1F3A93"/>
                </a:solidFill>
                <a:latin typeface="Segoe UI"/>
                <a:cs typeface="Segoe UI"/>
              </a:rPr>
              <a:t>ما أكثر اختلاف بين طلابي أحتاج إلى الاستجابة له؟</a:t>
            </a:r>
          </a:p>
        </p:txBody>
      </p:sp>
      <p:sp>
        <p:nvSpPr>
          <p:cNvPr id="12" name="Rounded Rectangle 11"/>
          <p:cNvSpPr/>
          <p:nvPr/>
        </p:nvSpPr>
        <p:spPr>
          <a:xfrm>
            <a:off x="502920" y="3657600"/>
            <a:ext cx="11183112" cy="804672"/>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600" b="1" i="0">
                <a:solidFill>
                  <a:srgbClr val="C9A227"/>
                </a:solidFill>
                <a:latin typeface="Segoe UI"/>
                <a:cs typeface="Segoe UI"/>
              </a:rPr>
              <a:t>3. </a:t>
            </a:r>
            <a:r>
              <a:rPr sz="1600" b="1" i="0">
                <a:solidFill>
                  <a:srgbClr val="1F3A93"/>
                </a:solidFill>
                <a:latin typeface="Segoe UI"/>
                <a:cs typeface="Segoe UI"/>
              </a:rPr>
              <a:t>ما الشيء الواحد الذي سأغيره في درسي القادم؟</a:t>
            </a:r>
          </a:p>
        </p:txBody>
      </p:sp>
      <p:sp>
        <p:nvSpPr>
          <p:cNvPr id="13" name="Rounded Rectangle 12"/>
          <p:cNvSpPr/>
          <p:nvPr/>
        </p:nvSpPr>
        <p:spPr>
          <a:xfrm>
            <a:off x="502920" y="4572000"/>
            <a:ext cx="11183112" cy="804672"/>
          </a:xfrm>
          <a:prstGeom prst="roundRect">
            <a:avLst>
              <a:gd name="adj" fmla="val 8000"/>
            </a:avLst>
          </a:prstGeom>
          <a:solidFill>
            <a:srgbClr val="F7E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600" b="1" i="0">
                <a:solidFill>
                  <a:srgbClr val="2BB3B1"/>
                </a:solidFill>
                <a:latin typeface="Segoe UI"/>
                <a:cs typeface="Segoe UI"/>
              </a:rPr>
              <a:t>4. </a:t>
            </a:r>
            <a:r>
              <a:rPr sz="1600" b="1" i="0">
                <a:solidFill>
                  <a:srgbClr val="1F3A93"/>
                </a:solidFill>
                <a:latin typeface="Segoe UI"/>
                <a:cs typeface="Segoe UI"/>
              </a:rPr>
              <a:t>كيف سأعرف أن التغيير نجح؟</a:t>
            </a:r>
          </a:p>
        </p:txBody>
      </p:sp>
      <p:sp>
        <p:nvSpPr>
          <p:cNvPr id="14" name="Rounded Rectangle 13"/>
          <p:cNvSpPr/>
          <p:nvPr/>
        </p:nvSpPr>
        <p:spPr>
          <a:xfrm>
            <a:off x="502920" y="5486400"/>
            <a:ext cx="11183112" cy="804672"/>
          </a:xfrm>
          <a:prstGeom prst="roundRect">
            <a:avLst>
              <a:gd name="adj" fmla="val 8000"/>
            </a:avLst>
          </a:prstGeom>
          <a:solidFill>
            <a:srgbClr val="E4F6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52400"/>
          <a:lstStyle/>
          <a:p>
            <a:pPr algn="r" rtl="1"/>
            <a:r>
              <a:rPr sz="1600" b="1" i="0">
                <a:solidFill>
                  <a:srgbClr val="C9A227"/>
                </a:solidFill>
                <a:latin typeface="Segoe UI"/>
                <a:cs typeface="Segoe UI"/>
              </a:rPr>
              <a:t>5. </a:t>
            </a:r>
            <a:r>
              <a:rPr sz="1600" b="1" i="0">
                <a:solidFill>
                  <a:srgbClr val="1F3A93"/>
                </a:solidFill>
                <a:latin typeface="Segoe UI"/>
                <a:cs typeface="Segoe UI"/>
              </a:rPr>
              <a:t>ما الدليل الذي سأستخدمه لاتخاذ القرار؟</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9984"/>
            <a:ext cx="12191695" cy="12801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13248" y="731520"/>
            <a:ext cx="1371600" cy="1371600"/>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4000" b="1" i="0">
                <a:solidFill>
                  <a:srgbClr val="162B6B"/>
                </a:solidFill>
                <a:latin typeface="Segoe UI"/>
                <a:cs typeface="Segoe UI"/>
              </a:rPr>
              <a:t>✓</a:t>
            </a:r>
          </a:p>
        </p:txBody>
      </p:sp>
      <p:sp>
        <p:nvSpPr>
          <p:cNvPr id="6" name="TextBox 5"/>
          <p:cNvSpPr txBox="1"/>
          <p:nvPr/>
        </p:nvSpPr>
        <p:spPr>
          <a:xfrm>
            <a:off x="822960" y="2286000"/>
            <a:ext cx="10515600" cy="1371600"/>
          </a:xfrm>
          <a:prstGeom prst="rect">
            <a:avLst/>
          </a:prstGeom>
          <a:noFill/>
        </p:spPr>
        <p:txBody>
          <a:bodyPr wrap="square" anchor="t" lIns="50800" rIns="50800" tIns="25400" bIns="25400">
            <a:spAutoFit/>
          </a:bodyPr>
          <a:lstStyle/>
          <a:p>
            <a:pPr algn="ctr" rtl="1">
              <a:spcBef>
                <a:spcPts val="400"/>
              </a:spcBef>
              <a:spcAft>
                <a:spcPts val="400"/>
              </a:spcAft>
            </a:pPr>
            <a:r>
              <a:rPr sz="3800" b="1" i="0">
                <a:solidFill>
                  <a:srgbClr val="FFFFFF"/>
                </a:solidFill>
                <a:latin typeface="Segoe UI"/>
                <a:cs typeface="Segoe UI"/>
              </a:rPr>
              <a:t>أتممت دورة الصف المتمايز</a:t>
            </a:r>
          </a:p>
        </p:txBody>
      </p:sp>
      <p:sp>
        <p:nvSpPr>
          <p:cNvPr id="7" name="Rounded Rectangle 6"/>
          <p:cNvSpPr/>
          <p:nvPr/>
        </p:nvSpPr>
        <p:spPr>
          <a:xfrm>
            <a:off x="1463040" y="3794760"/>
            <a:ext cx="9235440" cy="1463040"/>
          </a:xfrm>
          <a:prstGeom prst="roundRect">
            <a:avLst>
              <a:gd name="adj" fmla="val 8000"/>
            </a:avLst>
          </a:prstGeom>
          <a:solidFill>
            <a:srgbClr val="162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300"/>
              </a:spcAft>
            </a:pPr>
            <a:r>
              <a:rPr sz="1500" b="1" i="0">
                <a:solidFill>
                  <a:srgbClr val="C9A227"/>
                </a:solidFill>
                <a:latin typeface="Segoe UI"/>
                <a:cs typeface="Segoe UI"/>
              </a:rPr>
              <a:t>الرسالة الختامية</a:t>
            </a:r>
          </a:p>
          <a:p>
            <a:pPr algn="ctr" rtl="1">
              <a:spcBef>
                <a:spcPts val="200"/>
              </a:spcBef>
              <a:spcAft>
                <a:spcPts val="200"/>
              </a:spcAft>
            </a:pPr>
            <a:r>
              <a:rPr sz="1600" b="0" i="0">
                <a:solidFill>
                  <a:srgbClr val="FFFFFF"/>
                </a:solidFill>
                <a:latin typeface="Segoe UI"/>
                <a:cs typeface="Segoe UI"/>
              </a:rPr>
              <a:t>التعليم المتمايز ليس إضافة منفصلة إلى عمل المعلم، بل طريقة أكثر مرونة لتصميم التعلم والاستجابة لاختلاف الطلاب.</a:t>
            </a:r>
          </a:p>
        </p:txBody>
      </p:sp>
      <p:sp>
        <p:nvSpPr>
          <p:cNvPr id="8" name="TextBox 7"/>
          <p:cNvSpPr txBox="1"/>
          <p:nvPr/>
        </p:nvSpPr>
        <p:spPr>
          <a:xfrm>
            <a:off x="822960" y="5486400"/>
            <a:ext cx="10515600" cy="1005840"/>
          </a:xfrm>
          <a:prstGeom prst="rect">
            <a:avLst/>
          </a:prstGeom>
          <a:noFill/>
        </p:spPr>
        <p:txBody>
          <a:bodyPr wrap="square" anchor="t" lIns="50800" rIns="50800" tIns="25400" bIns="25400">
            <a:spAutoFit/>
          </a:bodyPr>
          <a:lstStyle/>
          <a:p>
            <a:pPr algn="ctr" rtl="1">
              <a:spcBef>
                <a:spcPts val="400"/>
              </a:spcBef>
              <a:spcAft>
                <a:spcPts val="400"/>
              </a:spcAft>
            </a:pPr>
            <a:r>
              <a:rPr sz="1450" b="0" i="0">
                <a:solidFill>
                  <a:srgbClr val="E4F6F6"/>
                </a:solidFill>
                <a:latin typeface="Segoe UI"/>
                <a:cs typeface="Segoe UI"/>
              </a:rPr>
              <a:t>أصبحت الآن قادرًا على أن تقول: «آخذ درسًا عاديًا، أحدد هدفه، أتعرف على الاختلافات المؤثرة،</a:t>
            </a:r>
          </a:p>
          <a:p>
            <a:pPr algn="ctr" rtl="1">
              <a:spcBef>
                <a:spcPts val="100"/>
              </a:spcBef>
              <a:spcAft>
                <a:spcPts val="400"/>
              </a:spcAft>
            </a:pPr>
            <a:r>
              <a:rPr sz="1450" b="0" i="0">
                <a:solidFill>
                  <a:srgbClr val="E4F6F6"/>
                </a:solidFill>
                <a:latin typeface="Segoe UI"/>
                <a:cs typeface="Segoe UI"/>
              </a:rPr>
              <a:t>أضيف مستوى مناسبًا من الدعم أو التنويع، أراقب الأثر، وأقرر ما سأفعله بعد ذلك.»</a:t>
            </a:r>
          </a:p>
        </p:txBody>
      </p:sp>
      <p:sp>
        <p:nvSpPr>
          <p:cNvPr id="9" name="Rectangle 8"/>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11" name="TextBox 10"/>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24128"/>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24128"/>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
            <a:ext cx="11183112" cy="914400"/>
          </a:xfrm>
          <a:prstGeom prst="rect">
            <a:avLst/>
          </a:prstGeom>
          <a:noFill/>
        </p:spPr>
        <p:txBody>
          <a:bodyPr wrap="square" anchor="ctr" lIns="50800" rIns="50800" tIns="25400" bIns="25400">
            <a:spAutoFit/>
          </a:bodyPr>
          <a:lstStyle/>
          <a:p>
            <a:pPr algn="r" rtl="1">
              <a:spcBef>
                <a:spcPts val="0"/>
              </a:spcBef>
              <a:spcAft>
                <a:spcPts val="0"/>
              </a:spcAft>
            </a:pPr>
            <a:r>
              <a:rPr sz="1300" b="1" i="0">
                <a:solidFill>
                  <a:srgbClr val="2BB3B1"/>
                </a:solidFill>
                <a:latin typeface="Segoe UI"/>
                <a:cs typeface="Segoe UI"/>
              </a:rPr>
              <a:t>الوحدة 18</a:t>
            </a:r>
          </a:p>
          <a:p>
            <a:pPr algn="r" rtl="1">
              <a:spcBef>
                <a:spcPts val="0"/>
              </a:spcBef>
              <a:spcAft>
                <a:spcPts val="0"/>
              </a:spcAft>
            </a:pPr>
            <a:r>
              <a:rPr sz="2800" b="1" i="0">
                <a:solidFill>
                  <a:srgbClr val="FFFFFF"/>
                </a:solidFill>
                <a:latin typeface="Segoe UI"/>
                <a:cs typeface="Segoe UI"/>
              </a:rPr>
              <a:t>موقعك في منظومة مسار... وخطوتك التالية</a:t>
            </a:r>
          </a:p>
        </p:txBody>
      </p:sp>
      <p:sp>
        <p:nvSpPr>
          <p:cNvPr id="6" name="Rectangle 5"/>
          <p:cNvSpPr/>
          <p:nvPr/>
        </p:nvSpPr>
        <p:spPr>
          <a:xfrm>
            <a:off x="0" y="6601968"/>
            <a:ext cx="12191695" cy="256032"/>
          </a:xfrm>
          <a:prstGeom prst="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83680"/>
            <a:ext cx="11612880" cy="274320"/>
          </a:xfrm>
          <a:prstGeom prst="rect">
            <a:avLst/>
          </a:prstGeom>
          <a:noFill/>
        </p:spPr>
        <p:txBody>
          <a:bodyPr wrap="square" anchor="t" lIns="50800" rIns="50800" tIns="25400" bIns="25400">
            <a:spAutoFit/>
          </a:bodyPr>
          <a:lstStyle/>
          <a:p>
            <a:pPr algn="l" rtl="1">
              <a:spcBef>
                <a:spcPts val="0"/>
              </a:spcBef>
              <a:spcAft>
                <a:spcPts val="0"/>
              </a:spcAft>
            </a:pPr>
            <a:r>
              <a:rPr sz="1000" b="0" i="0">
                <a:solidFill>
                  <a:srgbClr val="FFFFFF"/>
                </a:solidFill>
                <a:latin typeface="Segoe UI"/>
                <a:cs typeface="Segoe UI"/>
              </a:rPr>
              <a:t>MASAR | مسار — الصف المتمايز</a:t>
            </a:r>
          </a:p>
        </p:txBody>
      </p:sp>
      <p:sp>
        <p:nvSpPr>
          <p:cNvPr id="8" name="TextBox 7"/>
          <p:cNvSpPr txBox="1"/>
          <p:nvPr/>
        </p:nvSpPr>
        <p:spPr>
          <a:xfrm>
            <a:off x="274320" y="6583680"/>
            <a:ext cx="11612880" cy="274320"/>
          </a:xfrm>
          <a:prstGeom prst="rect">
            <a:avLst/>
          </a:prstGeom>
          <a:noFill/>
        </p:spPr>
        <p:txBody>
          <a:bodyPr wrap="square" anchor="t" lIns="50800" rIns="50800" tIns="25400" bIns="25400">
            <a:spAutoFit/>
          </a:bodyPr>
          <a:lstStyle/>
          <a:p>
            <a:pPr algn="r" rtl="1">
              <a:spcBef>
                <a:spcPts val="0"/>
              </a:spcBef>
              <a:spcAft>
                <a:spcPts val="0"/>
              </a:spcAft>
            </a:pPr>
            <a:r>
              <a:rPr sz="1000" b="0" i="0">
                <a:solidFill>
                  <a:srgbClr val="FFFFFF"/>
                </a:solidFill>
                <a:latin typeface="Segoe UI"/>
                <a:cs typeface="Segoe UI"/>
              </a:rPr>
              <a:t>55</a:t>
            </a:r>
          </a:p>
        </p:txBody>
      </p:sp>
      <p:sp>
        <p:nvSpPr>
          <p:cNvPr id="9" name="Rounded Rectangle 8"/>
          <p:cNvSpPr/>
          <p:nvPr/>
        </p:nvSpPr>
        <p:spPr>
          <a:xfrm>
            <a:off x="10164927" y="1417320"/>
            <a:ext cx="1517904" cy="91440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300" b="1" i="0">
                <a:solidFill>
                  <a:srgbClr val="FFFFFF"/>
                </a:solidFill>
                <a:latin typeface="Segoe UI"/>
                <a:cs typeface="Segoe UI"/>
              </a:rPr>
              <a:t>فهم المتعلم</a:t>
            </a:r>
          </a:p>
        </p:txBody>
      </p:sp>
      <p:sp>
        <p:nvSpPr>
          <p:cNvPr id="10" name="Left Arrow 9"/>
          <p:cNvSpPr/>
          <p:nvPr/>
        </p:nvSpPr>
        <p:spPr>
          <a:xfrm>
            <a:off x="10073487" y="1755648"/>
            <a:ext cx="91440" cy="237744"/>
          </a:xfrm>
          <a:prstGeom prst="left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555583" y="1417320"/>
            <a:ext cx="1517904" cy="91440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300" b="1" i="0">
                <a:solidFill>
                  <a:srgbClr val="FFFFFF"/>
                </a:solidFill>
                <a:latin typeface="Segoe UI"/>
                <a:cs typeface="Segoe UI"/>
              </a:rPr>
              <a:t>تحديد الاحتياج</a:t>
            </a:r>
          </a:p>
        </p:txBody>
      </p:sp>
      <p:sp>
        <p:nvSpPr>
          <p:cNvPr id="12" name="Left Arrow 11"/>
          <p:cNvSpPr/>
          <p:nvPr/>
        </p:nvSpPr>
        <p:spPr>
          <a:xfrm>
            <a:off x="8464143" y="1755648"/>
            <a:ext cx="91440" cy="237744"/>
          </a:xfrm>
          <a:prstGeom prst="left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946239" y="1417320"/>
            <a:ext cx="1517904" cy="91440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300" b="1" i="0">
                <a:solidFill>
                  <a:srgbClr val="FFFFFF"/>
                </a:solidFill>
                <a:latin typeface="Segoe UI"/>
                <a:cs typeface="Segoe UI"/>
              </a:rPr>
              <a:t>التخطيط</a:t>
            </a:r>
          </a:p>
        </p:txBody>
      </p:sp>
      <p:sp>
        <p:nvSpPr>
          <p:cNvPr id="14" name="Left Arrow 13"/>
          <p:cNvSpPr/>
          <p:nvPr/>
        </p:nvSpPr>
        <p:spPr>
          <a:xfrm>
            <a:off x="6854799" y="1755648"/>
            <a:ext cx="91440" cy="237744"/>
          </a:xfrm>
          <a:prstGeom prst="left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336895" y="1417320"/>
            <a:ext cx="1517904" cy="91440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300" b="1" i="0">
                <a:solidFill>
                  <a:srgbClr val="FFFFFF"/>
                </a:solidFill>
                <a:latin typeface="Segoe UI"/>
                <a:cs typeface="Segoe UI"/>
              </a:rPr>
              <a:t>التنفيذ</a:t>
            </a:r>
          </a:p>
        </p:txBody>
      </p:sp>
      <p:sp>
        <p:nvSpPr>
          <p:cNvPr id="16" name="Left Arrow 15"/>
          <p:cNvSpPr/>
          <p:nvPr/>
        </p:nvSpPr>
        <p:spPr>
          <a:xfrm>
            <a:off x="5245455" y="1755648"/>
            <a:ext cx="91440" cy="237744"/>
          </a:xfrm>
          <a:prstGeom prst="left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727551" y="1417320"/>
            <a:ext cx="1517904" cy="91440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300" b="1" i="0">
                <a:solidFill>
                  <a:srgbClr val="FFFFFF"/>
                </a:solidFill>
                <a:latin typeface="Segoe UI"/>
                <a:cs typeface="Segoe UI"/>
              </a:rPr>
              <a:t>جمع الأدلة</a:t>
            </a:r>
          </a:p>
        </p:txBody>
      </p:sp>
      <p:sp>
        <p:nvSpPr>
          <p:cNvPr id="18" name="Left Arrow 17"/>
          <p:cNvSpPr/>
          <p:nvPr/>
        </p:nvSpPr>
        <p:spPr>
          <a:xfrm>
            <a:off x="3636111" y="1755648"/>
            <a:ext cx="91440" cy="237744"/>
          </a:xfrm>
          <a:prstGeom prst="left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118207" y="1417320"/>
            <a:ext cx="1517904" cy="914400"/>
          </a:xfrm>
          <a:prstGeom prst="roundRect">
            <a:avLst>
              <a:gd name="adj" fmla="val 8000"/>
            </a:avLst>
          </a:prstGeom>
          <a:solidFill>
            <a:srgbClr val="2BB3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300" b="1" i="0">
                <a:solidFill>
                  <a:srgbClr val="FFFFFF"/>
                </a:solidFill>
                <a:latin typeface="Segoe UI"/>
                <a:cs typeface="Segoe UI"/>
              </a:rPr>
              <a:t>المتابعة</a:t>
            </a:r>
          </a:p>
        </p:txBody>
      </p:sp>
      <p:sp>
        <p:nvSpPr>
          <p:cNvPr id="20" name="Left Arrow 19"/>
          <p:cNvSpPr/>
          <p:nvPr/>
        </p:nvSpPr>
        <p:spPr>
          <a:xfrm>
            <a:off x="2026767" y="1755648"/>
            <a:ext cx="91440" cy="237744"/>
          </a:xfrm>
          <a:prstGeom prst="left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08863" y="1417320"/>
            <a:ext cx="1517904" cy="914400"/>
          </a:xfrm>
          <a:prstGeom prst="roundRect">
            <a:avLst>
              <a:gd name="adj" fmla="val 8000"/>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ctr" rtl="1">
              <a:spcBef>
                <a:spcPts val="200"/>
              </a:spcBef>
              <a:spcAft>
                <a:spcPts val="200"/>
              </a:spcAft>
            </a:pPr>
            <a:r>
              <a:rPr sz="1300" b="1" i="0">
                <a:solidFill>
                  <a:srgbClr val="FFFFFF"/>
                </a:solidFill>
                <a:latin typeface="Segoe UI"/>
                <a:cs typeface="Segoe UI"/>
              </a:rPr>
              <a:t>التعديل</a:t>
            </a:r>
          </a:p>
        </p:txBody>
      </p:sp>
      <p:sp>
        <p:nvSpPr>
          <p:cNvPr id="22" name="TextBox 21"/>
          <p:cNvSpPr txBox="1"/>
          <p:nvPr/>
        </p:nvSpPr>
        <p:spPr>
          <a:xfrm>
            <a:off x="502920" y="2606040"/>
            <a:ext cx="11183112" cy="822960"/>
          </a:xfrm>
          <a:prstGeom prst="rect">
            <a:avLst/>
          </a:prstGeom>
          <a:noFill/>
        </p:spPr>
        <p:txBody>
          <a:bodyPr wrap="square" anchor="t" lIns="50800" rIns="50800" tIns="25400" bIns="25400">
            <a:spAutoFit/>
          </a:bodyPr>
          <a:lstStyle/>
          <a:p>
            <a:pPr algn="ctr" rtl="1">
              <a:spcBef>
                <a:spcPts val="400"/>
              </a:spcBef>
              <a:spcAft>
                <a:spcPts val="400"/>
              </a:spcAft>
            </a:pPr>
            <a:r>
              <a:rPr sz="1450" b="0" i="0">
                <a:solidFill>
                  <a:srgbClr val="2B2F38"/>
                </a:solidFill>
                <a:latin typeface="Segoe UI"/>
                <a:cs typeface="Segoe UI"/>
              </a:rPr>
              <a:t>كل ما تدربت عليه اليوم — الملاحظة، تحديد الاحتياج، الدعم، الأدلة، القرار — هو المسار نفسه الذي تدعمه أدوات منظومة مسار في عمل المدرسة اليومي.</a:t>
            </a:r>
          </a:p>
        </p:txBody>
      </p:sp>
      <p:sp>
        <p:nvSpPr>
          <p:cNvPr id="23" name="Rounded Rectangle 22"/>
          <p:cNvSpPr/>
          <p:nvPr/>
        </p:nvSpPr>
        <p:spPr>
          <a:xfrm>
            <a:off x="6208776" y="3657600"/>
            <a:ext cx="5477256" cy="2011680"/>
          </a:xfrm>
          <a:prstGeom prst="roundRect">
            <a:avLst>
              <a:gd name="adj" fmla="val 8000"/>
            </a:avLst>
          </a:prstGeom>
          <a:solidFill>
            <a:srgbClr val="FFFFFF"/>
          </a:solidFill>
          <a:ln w="12700">
            <a:solidFill>
              <a:srgbClr val="1F3A93"/>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r" rtl="1">
              <a:spcBef>
                <a:spcPts val="200"/>
              </a:spcBef>
              <a:spcAft>
                <a:spcPts val="200"/>
              </a:spcAft>
            </a:pPr>
            <a:r>
              <a:rPr sz="1350" b="1" i="0">
                <a:solidFill>
                  <a:srgbClr val="C9A227"/>
                </a:solidFill>
                <a:latin typeface="Segoe UI"/>
                <a:cs typeface="Segoe UI"/>
              </a:rPr>
              <a:t>الدورة التالية</a:t>
            </a:r>
          </a:p>
          <a:p>
            <a:pPr algn="r" rtl="1">
              <a:spcBef>
                <a:spcPts val="200"/>
              </a:spcBef>
              <a:spcAft>
                <a:spcPts val="300"/>
              </a:spcAft>
            </a:pPr>
            <a:r>
              <a:rPr sz="1650" b="1" i="0">
                <a:solidFill>
                  <a:srgbClr val="1F3A93"/>
                </a:solidFill>
                <a:latin typeface="Segoe UI"/>
                <a:cs typeface="Segoe UI"/>
              </a:rPr>
              <a:t>التسهيلات والتعديلات التعليمية
(Accommodations &amp; Modifications)</a:t>
            </a:r>
          </a:p>
          <a:p>
            <a:pPr algn="r" rtl="1">
              <a:spcBef>
                <a:spcPts val="200"/>
              </a:spcBef>
              <a:spcAft>
                <a:spcPts val="200"/>
              </a:spcAft>
            </a:pPr>
            <a:r>
              <a:rPr sz="1350" b="0" i="0">
                <a:solidFill>
                  <a:srgbClr val="2B2F38"/>
                </a:solidFill>
                <a:latin typeface="Segoe UI"/>
                <a:cs typeface="Segoe UI"/>
              </a:rPr>
              <a:t>متى نغير الوسيلة؟ ومتى نعدل الهدف نفسه؟ وكيف نوثق ذلك؟</a:t>
            </a:r>
          </a:p>
        </p:txBody>
      </p:sp>
      <p:sp>
        <p:nvSpPr>
          <p:cNvPr id="24" name="Rounded Rectangle 23"/>
          <p:cNvSpPr/>
          <p:nvPr/>
        </p:nvSpPr>
        <p:spPr>
          <a:xfrm>
            <a:off x="502920" y="3657600"/>
            <a:ext cx="5477256" cy="2011680"/>
          </a:xfrm>
          <a:prstGeom prst="roundRect">
            <a:avLst>
              <a:gd name="adj" fmla="val 8000"/>
            </a:avLst>
          </a:prstGeom>
          <a:solidFill>
            <a:srgbClr val="FFFFFF"/>
          </a:solidFill>
          <a:ln w="12700">
            <a:solidFill>
              <a:srgbClr val="2BB3B1"/>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50800" bIns="50800"/>
          <a:lstStyle/>
          <a:p>
            <a:pPr algn="r" rtl="1">
              <a:spcBef>
                <a:spcPts val="200"/>
              </a:spcBef>
              <a:spcAft>
                <a:spcPts val="200"/>
              </a:spcAft>
            </a:pPr>
            <a:r>
              <a:rPr sz="1350" b="1" i="0">
                <a:solidFill>
                  <a:srgbClr val="C9A227"/>
                </a:solidFill>
                <a:latin typeface="Segoe UI"/>
                <a:cs typeface="Segoe UI"/>
              </a:rPr>
              <a:t>مورد داعم</a:t>
            </a:r>
          </a:p>
          <a:p>
            <a:pPr algn="r" rtl="1">
              <a:spcBef>
                <a:spcPts val="200"/>
              </a:spcBef>
              <a:spcAft>
                <a:spcPts val="300"/>
              </a:spcAft>
            </a:pPr>
            <a:r>
              <a:rPr sz="1650" b="1" i="0">
                <a:solidFill>
                  <a:srgbClr val="1F3A93"/>
                </a:solidFill>
                <a:latin typeface="Segoe UI"/>
                <a:cs typeface="Segoe UI"/>
              </a:rPr>
              <a:t>حزمة دعم المعلم من MASAR | مسار</a:t>
            </a:r>
          </a:p>
          <a:p>
            <a:pPr algn="r" rtl="1">
              <a:spcBef>
                <a:spcPts val="200"/>
              </a:spcBef>
              <a:spcAft>
                <a:spcPts val="200"/>
              </a:spcAft>
            </a:pPr>
            <a:r>
              <a:rPr sz="1350" b="0" i="0">
                <a:solidFill>
                  <a:srgbClr val="2B2F38"/>
                </a:solidFill>
                <a:latin typeface="Segoe UI"/>
                <a:cs typeface="Segoe UI"/>
              </a:rPr>
              <a:t>أدوات جاهزة للملاحظة وخطط الدعم ومتابعة التقدم — تساعدك على تطبيق ما تعلمته اليوم.</a:t>
            </a:r>
          </a:p>
        </p:txBody>
      </p:sp>
      <p:sp>
        <p:nvSpPr>
          <p:cNvPr id="25" name="TextBox 24"/>
          <p:cNvSpPr txBox="1"/>
          <p:nvPr/>
        </p:nvSpPr>
        <p:spPr>
          <a:xfrm>
            <a:off x="502920" y="5852160"/>
            <a:ext cx="11183112" cy="548640"/>
          </a:xfrm>
          <a:prstGeom prst="rect">
            <a:avLst/>
          </a:prstGeom>
          <a:noFill/>
        </p:spPr>
        <p:txBody>
          <a:bodyPr wrap="square" anchor="t" lIns="50800" rIns="50800" tIns="25400" bIns="25400">
            <a:spAutoFit/>
          </a:bodyPr>
          <a:lstStyle/>
          <a:p>
            <a:pPr algn="ctr" rtl="1">
              <a:spcBef>
                <a:spcPts val="400"/>
              </a:spcBef>
              <a:spcAft>
                <a:spcPts val="400"/>
              </a:spcAft>
            </a:pPr>
            <a:r>
              <a:rPr sz="1500" b="1" i="0">
                <a:solidFill>
                  <a:srgbClr val="1F3A93"/>
                </a:solidFill>
                <a:latin typeface="Segoe UI"/>
                <a:cs typeface="Segoe UI"/>
              </a:rPr>
              <a:t>شكرًا لك — درسك القادم هو ميدان التطبيق الحقيقي. | MASAR | مسار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