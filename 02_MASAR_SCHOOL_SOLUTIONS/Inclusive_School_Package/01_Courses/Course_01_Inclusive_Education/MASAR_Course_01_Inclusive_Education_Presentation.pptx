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شريحة الغلاف — دقيقة واحدة</a:t>
            </a:r>
          </a:p>
          <a:p>
            <a:r>
              <a:rPr sz="1200">
                <a:latin typeface="Segoe UI"/>
              </a:rPr>
              <a:t>ما يشرحه المدرّب: رحّب بالمشاركين أثناء انضمامهم، واقرأ عنوان الدورة بوضوح.</a:t>
            </a:r>
          </a:p>
          <a:p>
            <a:r>
              <a:rPr sz="1200">
                <a:latin typeface="Segoe UI"/>
              </a:rPr>
              <a:t>الرسالة الأساسية: هذه دورة عملية لجميع العاملين في المدرسة، وليست دورة نظرية للمتخصصين فقط.</a:t>
            </a:r>
          </a:p>
          <a:p>
            <a:r>
              <a:rPr sz="1200">
                <a:latin typeface="Segoe UI"/>
              </a:rPr>
              <a:t>تنبيه مهم: تأكد أن الجميع حصل على كراسة عمل المشارك (ورقية أو رقمية) قبل البدء.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الترحيب — 2 دقيقة</a:t>
            </a:r>
          </a:p>
          <a:p>
            <a:r>
              <a:rPr sz="1200">
                <a:latin typeface="Segoe UI"/>
              </a:rPr>
              <a:t>ما يشرحه المدرّب: عرّف بنفسك وبعلامة مسار باختصار، ووضّح أن الدورة موجهة لكل من يعمل في المدرسة بغضّ النظر عن دوره.</a:t>
            </a:r>
          </a:p>
          <a:p>
            <a:r>
              <a:rPr sz="1200">
                <a:latin typeface="Segoe UI"/>
              </a:rPr>
              <a:t>الرسالة الأساسية: الشمول قضية مدرسية يومية تخص الجميع، وليست ملفًا إداريًا أو تخصصًا ضيقًا.</a:t>
            </a:r>
          </a:p>
          <a:p>
            <a:r>
              <a:rPr sz="1200">
                <a:latin typeface="Segoe UI"/>
              </a:rPr>
              <a:t>مثال مقترح: اذكر موقفًا يوميًا بسيطًا (طالب لا يشارك في الطابور أو النشاط) لتقريب الفكرة.</a:t>
            </a:r>
          </a:p>
          <a:p>
            <a:r>
              <a:rPr sz="1200">
                <a:latin typeface="Segoe UI"/>
              </a:rPr>
              <a:t>سؤال للمشاركين: من منكم يتعامل يوميًا مع طلاب يختلفون في طريقة تعلمهم؟ (الجواب المتوقع: الجميع).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أهداف التعلم — 2 دقيقة</a:t>
            </a:r>
          </a:p>
          <a:p>
            <a:r>
              <a:rPr sz="1200">
                <a:latin typeface="Segoe UI"/>
              </a:rPr>
              <a:t>ما يشرحه المدرّب: اقرأ الأهداف بسرعة دون تفصيل، وأكد أنها عملية وقابلة للقياس.</a:t>
            </a:r>
          </a:p>
          <a:p>
            <a:r>
              <a:rPr sz="1200">
                <a:latin typeface="Segoe UI"/>
              </a:rPr>
              <a:t>الرسالة الأساسية: في نهاية الدورة سيغادر كل مشارك ولديه فهم واضح وإجراء عملي واحد على الأقل يبدأ به.</a:t>
            </a:r>
          </a:p>
          <a:p>
            <a:r>
              <a:rPr sz="1200">
                <a:latin typeface="Segoe UI"/>
              </a:rPr>
              <a:t>تنبيه: لا تتوقف طويلًا هنا؛ الأهداف ستتضح عمليًا عبر الوحدات.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رحلة التعلم — 1 دقيقة</a:t>
            </a:r>
          </a:p>
          <a:p>
            <a:r>
              <a:rPr sz="1200">
                <a:latin typeface="Segoe UI"/>
              </a:rPr>
              <a:t>ما يشرحه المدرّب: وضّح أن الدورة تتدرج من الوعي إلى الالتزام العملي، وأن كل وحدة تبني على ما قبلها.</a:t>
            </a:r>
          </a:p>
          <a:p>
            <a:r>
              <a:rPr sz="1200">
                <a:latin typeface="Segoe UI"/>
              </a:rPr>
              <a:t>الرسالة الأساسية: الهدف النهائي ليس المعرفة فقط، بل تغيير صغير وملموس في الممارسة اليومية.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النشاط الافتتاحي — 3 دقائق</a:t>
            </a:r>
          </a:p>
          <a:p>
            <a:r>
              <a:rPr sz="1200">
                <a:latin typeface="Segoe UI"/>
              </a:rPr>
              <a:t>ما يفعله المدرّب: اطرح السؤال واترك 60 ثانية للكتابة الفردية في ورقة العمل (1)، ثم اجمع 3–4 إجابات شفهية أو عبر المحادثة إن كانت الجلسة عن بُعد.</a:t>
            </a:r>
          </a:p>
          <a:p>
            <a:r>
              <a:rPr sz="1200">
                <a:latin typeface="Segoe UI"/>
              </a:rPr>
              <a:t>الرسالة الأساسية: لا تصحّح الإجابات الآن؛ اكتبها أمام الجميع وسنعود إليها في نهاية الدورة لملاحظة تغيّر الفهم.</a:t>
            </a:r>
          </a:p>
          <a:p>
            <a:r>
              <a:rPr sz="1200">
                <a:latin typeface="Segoe UI"/>
              </a:rPr>
              <a:t>توقّع إجابات مثل: «ذوو الإعاقة»، «الدمج»، «صعب التطبيق». هذه مداخل ممتازة للوحدة التالية.</a:t>
            </a:r>
          </a:p>
          <a:p>
            <a:r>
              <a:rPr sz="1200">
                <a:latin typeface="Segoe UI"/>
              </a:rPr>
              <a:t>سؤال متابعة: هل التعليم الشامل يخص فئة محددة من الطلاب فقط؟ (اتركه معلقًا بلا إجابة).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2 — 30 ثانية</a:t>
            </a:r>
          </a:p>
          <a:p>
            <a:r>
              <a:rPr sz="1200">
                <a:latin typeface="Segoe UI"/>
              </a:rPr>
              <a:t>انتقل مباشرة. اربط بإجابات النشاط الافتتاحي: «سنرى الآن ماذا يعني المفهوم فعلًا».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تعريف التعليم الشامل — 3 دقائق</a:t>
            </a:r>
          </a:p>
          <a:p>
            <a:r>
              <a:rPr sz="1200">
                <a:latin typeface="Segoe UI"/>
              </a:rPr>
              <a:t>ما يشرحه المدرّب: اقرأ التعريف المبسّط ثم اشرح النقاط الأربع بأمثلة مدرسية، وتجنّب التعريفات الأكاديمية.</a:t>
            </a:r>
          </a:p>
          <a:p>
            <a:r>
              <a:rPr sz="1200">
                <a:latin typeface="Segoe UI"/>
              </a:rPr>
              <a:t>الرسالة الأساسية: الشمول يعني أن تتكيف المدرسة مع تنوع طلابها، لا العكس.</a:t>
            </a:r>
          </a:p>
          <a:p>
            <a:r>
              <a:rPr sz="1200">
                <a:latin typeface="Segoe UI"/>
              </a:rPr>
              <a:t>مثال مقترح: معلم يشرح درسًا بالصوت فقط؛ إضافة صور وكلمات مفتاحية على السبورة تساعد الطالب الذي يجد صعوبة في المتابعة السمعية — وتفيد بقية الصف أيضًا.</a:t>
            </a:r>
          </a:p>
          <a:p>
            <a:r>
              <a:rPr sz="1200">
                <a:latin typeface="Segoe UI"/>
              </a:rPr>
              <a:t>سؤال للمشاركين: ما الفرق بين «طالب لديه مشكلة» و«حاجز في بيئة التعلم»؟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لمن التعليم الشامل؟ — 3 دقائق</a:t>
            </a:r>
          </a:p>
          <a:p>
            <a:r>
              <a:rPr sz="1200">
                <a:latin typeface="Segoe UI"/>
              </a:rPr>
              <a:t>ما يشرحه المدرّب: صحّح المفهوم الشائع بأن الشمول = الإعاقة فقط. الإعاقة جزء مهم من الصورة، لكن الحواجز تواجه فئات متعددة.</a:t>
            </a:r>
          </a:p>
          <a:p>
            <a:r>
              <a:rPr sz="1200">
                <a:latin typeface="Segoe UI"/>
              </a:rPr>
              <a:t>الرسالة الأساسية: أي طالب قد يواجه حاجزًا في مرحلة ما؛ المدرسة الشاملة مستعدة للجميع.</a:t>
            </a:r>
          </a:p>
          <a:p>
            <a:r>
              <a:rPr sz="1200">
                <a:latin typeface="Segoe UI"/>
              </a:rPr>
              <a:t>مثال مقترح: طالب انتقل من مدرسة أخرى منتصف العام ولديه فجوة في الرياضيات — لا إعاقة لديه، لكنه يحتاج دعمًا مؤقتًا.</a:t>
            </a:r>
          </a:p>
          <a:p>
            <a:r>
              <a:rPr sz="1200">
                <a:latin typeface="Segoe UI"/>
              </a:rPr>
              <a:t>سؤال للمشاركين: اذكروا فئة أخرى قد تواجه حواجز في مدارسنا لم تظهر على الشريحة.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المفاتيح الأربعة — 3 دقائق</a:t>
            </a:r>
          </a:p>
          <a:p>
            <a:r>
              <a:rPr sz="1200">
                <a:latin typeface="Segoe UI"/>
              </a:rPr>
              <a:t>ما يشرحه المدرّب: هذه المفاتيح الأربعة هي «نظارة» سنستخدمها طوال الدورة لتقييم أي ممارسة مدرسية.</a:t>
            </a:r>
          </a:p>
          <a:p>
            <a:r>
              <a:rPr sz="1200">
                <a:latin typeface="Segoe UI"/>
              </a:rPr>
              <a:t>الرسالة الأساسية: الحضور الجسدي وحده ليس شمولًا؛ نحتاج مشاركة فعلية وشعورًا بالانتماء ووصولًا حقيقيًا للتعلم.</a:t>
            </a:r>
          </a:p>
          <a:p>
            <a:r>
              <a:rPr sz="1200">
                <a:latin typeface="Segoe UI"/>
              </a:rPr>
              <a:t>مثال مقترح: طالب يجلس في الصف طوال الحصة دون أن يُطلب منه المشاركة أبدًا — حاضر لكنه غير مشمول فعليًا.</a:t>
            </a:r>
          </a:p>
          <a:p>
            <a:r>
              <a:rPr sz="1200">
                <a:latin typeface="Segoe UI"/>
              </a:rPr>
              <a:t>سؤال للمشاركين: أي المفاتيح الأربعة تظنه الأكثر إهمالًا في الممارسة اليومية؟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نشاط «هل هذا شمول؟» — 5 دقائق</a:t>
            </a:r>
          </a:p>
          <a:p>
            <a:r>
              <a:rPr sz="1200">
                <a:latin typeface="Segoe UI"/>
              </a:rPr>
              <a:t>ما يفعله المدرّب: اعرض المواقف الخمسة، وامنح المشاركين دقيقتين للتصنيف الفردي في ورقة العمل (2)، ثم دقيقتين للنقاش الثنائي أو عبر التصويت في الجلسات عن بُعد.</a:t>
            </a:r>
          </a:p>
          <a:p>
            <a:r>
              <a:rPr sz="1200">
                <a:latin typeface="Segoe UI"/>
              </a:rPr>
              <a:t>الرسالة الأساسية: استخدم المفاتيح الأربعة (التنوع، المشاركة، الانتماء، الوصول والدعم) معيارًا للحكم.</a:t>
            </a:r>
          </a:p>
          <a:p>
            <a:r>
              <a:rPr sz="1200">
                <a:latin typeface="Segoe UI"/>
              </a:rPr>
              <a:t>تنبيه: لا تكشف الإجابات قبل انتهاء الجميع؛ الاختلاف في التصنيف مادة نقاش ممتازة.</a:t>
            </a:r>
          </a:p>
          <a:p>
            <a:r>
              <a:rPr sz="1200">
                <a:latin typeface="Segoe UI"/>
              </a:rPr>
              <a:t>الوقت التقريبي: 5 دقائق شاملة النقاش.</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إجابات النشاط — 4 دقائق</a:t>
            </a:r>
          </a:p>
          <a:p>
            <a:r>
              <a:rPr sz="1200">
                <a:latin typeface="Segoe UI"/>
              </a:rPr>
              <a:t>ما يفعله المدرّب: اعرض الإجابات واحدة واحدة، واسأل قبل كشف كل إجابة: «ماذا اخترتم ولماذا؟».</a:t>
            </a:r>
          </a:p>
          <a:p>
            <a:r>
              <a:rPr sz="1200">
                <a:latin typeface="Segoe UI"/>
              </a:rPr>
              <a:t>الرسالة الأساسية: الممارسة قد تكون شاملة جزئيًا — تعالج حاجزًا وتُبقي آخر. المطلوب هو النظر إلى المشاركة والانتماء معًا، لا إلى الدعم وحده.</a:t>
            </a:r>
          </a:p>
          <a:p>
            <a:r>
              <a:rPr sz="1200">
                <a:latin typeface="Segoe UI"/>
              </a:rPr>
              <a:t>توضيح مهم: الموقف 3 لا يعني أن الدعم خارج الصف خطأ دائمًا؛ المشكلة في مقداره وأثره على مشاركة الطالب مع أقرانه.</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3 — 30 ثانية. اربط: «عرفنا ما هو الشمول، فلماذا يستحق الجهد؟»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فوائد الشمول — 4 دقائق</a:t>
            </a:r>
          </a:p>
          <a:p>
            <a:r>
              <a:rPr sz="1200">
                <a:latin typeface="Segoe UI"/>
              </a:rPr>
              <a:t>ما يشرحه المدرّب: مرّ على المجموعات الأربع، وركّز على أن الفائدة متبادلة وليست «تضحية» لصالح فئة.</a:t>
            </a:r>
          </a:p>
          <a:p>
            <a:r>
              <a:rPr sz="1200">
                <a:latin typeface="Segoe UI"/>
              </a:rPr>
              <a:t>الرسالة الأساسية: المدرسة الشاملة ليست عبئًا إضافيًا؛ هي مدرسة أفضل للجميع.</a:t>
            </a:r>
          </a:p>
          <a:p>
            <a:r>
              <a:rPr sz="1200">
                <a:latin typeface="Segoe UI"/>
              </a:rPr>
              <a:t>مثال مقترح: عندما يبدأ معلم باستخدام تعليمات مرئية لطالب واحد، يلاحظ غالبًا أن أخطاء تنفيذ المهام تقل لدى الصف كله.</a:t>
            </a:r>
          </a:p>
          <a:p>
            <a:r>
              <a:rPr sz="1200">
                <a:latin typeface="Segoe UI"/>
              </a:rPr>
              <a:t>سؤال للمشاركين: أي فائدة من هذه الفوائد لمستموها فعلًا في تجربتكم؟</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حلقة المشاركة والانتماء والتعلم — 3 دقائق</a:t>
            </a:r>
          </a:p>
          <a:p>
            <a:r>
              <a:rPr sz="1200">
                <a:latin typeface="Segoe UI"/>
              </a:rPr>
              <a:t>ما يشرحه المدرّب: اشرح الحلقة في الاتجاهين: الإيجابي (مشاركة ← انتماء ← تعلم) والسلبي (استبعاد ← انسحاب ← تراجع).</a:t>
            </a:r>
          </a:p>
          <a:p>
            <a:r>
              <a:rPr sz="1200">
                <a:latin typeface="Segoe UI"/>
              </a:rPr>
              <a:t>الرسالة الأساسية: إزالة حاجز واحد كثيرًا ما تفيد طلابًا عديدين، لا الطالب المستهدف وحده.</a:t>
            </a:r>
          </a:p>
          <a:p>
            <a:r>
              <a:rPr sz="1200">
                <a:latin typeface="Segoe UI"/>
              </a:rPr>
              <a:t>مثال مقترح: المنحدر (الرامب) صُمم للكراسي المتحركة لكنه يخدم عربات الأطفال وعمال النقل والجميع — نفس المنطق داخل الصف.</a:t>
            </a:r>
          </a:p>
          <a:p>
            <a:r>
              <a:rPr sz="1200">
                <a:latin typeface="Segoe UI"/>
              </a:rPr>
              <a:t>سؤال للمشاركين: ما «المنحدرات التعليمية» الموجودة في صفوفكم اليوم؟</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التأمل — 4 دقائق</a:t>
            </a:r>
          </a:p>
          <a:p>
            <a:r>
              <a:rPr sz="1200">
                <a:latin typeface="Segoe UI"/>
              </a:rPr>
              <a:t>ما يفعله المدرّب: امنح 3 دقائق كتابة صامتة في ورقة العمل (3). أكد على السرية: لا أسماء، ولا تشخيص.</a:t>
            </a:r>
          </a:p>
          <a:p>
            <a:r>
              <a:rPr sz="1200">
                <a:latin typeface="Segoe UI"/>
              </a:rPr>
              <a:t>الرسالة الأساسية: انقل التفكير من «ما مشكلة الطالب؟» إلى «ما الحاجز الذي يقف أمامه؟».</a:t>
            </a:r>
          </a:p>
          <a:p>
            <a:r>
              <a:rPr sz="1200">
                <a:latin typeface="Segoe UI"/>
              </a:rPr>
              <a:t>تنبيه مهم: لو ذكر مشارك تشخيصًا طبيًا (مثل: عنده توحد)، أعد التوجيه بلطف: نحن نصف الحواجز والاحتياجات، والتشخيص شأن المختصين.</a:t>
            </a:r>
          </a:p>
          <a:p>
            <a:r>
              <a:rPr sz="1200">
                <a:latin typeface="Segoe UI"/>
              </a:rPr>
              <a:t>سؤال متابعة: من يود مشاركة حاجز واحد لاحظه — دون ذكر تفاصيل تكشف هوية الطالب؟</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4 — 30 ثانية. اربط: «الحواجز تظهر عندما نتجاهل التنوع — فلنفهم التنوع أولًا».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أبعاد التنوع — 3 دقائق</a:t>
            </a:r>
          </a:p>
          <a:p>
            <a:r>
              <a:rPr sz="1200">
                <a:latin typeface="Segoe UI"/>
              </a:rPr>
              <a:t>ما يشرحه المدرّب: مرّ سريعًا على الأبعاد الاثني عشر واطلب من المشاركين اختيار البعدين الأكثر تأثيرًا في صفوفهم.</a:t>
            </a:r>
          </a:p>
          <a:p>
            <a:r>
              <a:rPr sz="1200">
                <a:latin typeface="Segoe UI"/>
              </a:rPr>
              <a:t>الرسالة الأساسية: التنوع سمة طبيعية لكل صف؛ التخطيط الجيد يبدأ من افتراض وجوده لا من تمنّي غيابه.</a:t>
            </a:r>
          </a:p>
          <a:p>
            <a:r>
              <a:rPr sz="1200">
                <a:latin typeface="Segoe UI"/>
              </a:rPr>
              <a:t>سؤال للمشاركين: أي بُعد من هذه الأبعاد نغفل عنه عادة عند إعداد الدروس؟ (غالبًا: الاحتياجات الحسية والانفعالية).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المصطلحات الأربعة — 4 دقائق</a:t>
            </a:r>
          </a:p>
          <a:p>
            <a:r>
              <a:rPr sz="1200">
                <a:latin typeface="Segoe UI"/>
              </a:rPr>
              <a:t>ما يشرحه المدرّب: اشرح الفروق الأربعة بهدوء؛ هذه من أهم شرائح الدورة.</a:t>
            </a:r>
          </a:p>
          <a:p>
            <a:r>
              <a:rPr sz="1200">
                <a:latin typeface="Segoe UI"/>
              </a:rPr>
              <a:t>الرسالة الأساسية: نحن في المدرسة نصف الاحتياج ونزيل الحواجز؛ التشخيص الطبي ليس دورنا وليس شرطًا لتقديم الدعم.</a:t>
            </a:r>
          </a:p>
          <a:p>
            <a:r>
              <a:rPr sz="1200">
                <a:latin typeface="Segoe UI"/>
              </a:rPr>
              <a:t>توضيح مهم: عدم وجود تشخيص لا يعني عدم وجود حاجة؛ ووجود تشخيص لا يحدد وحده نوع الدعم المطلوب.</a:t>
            </a:r>
          </a:p>
          <a:p>
            <a:r>
              <a:rPr sz="1200">
                <a:latin typeface="Segoe UI"/>
              </a:rPr>
              <a:t>مثال مقترح: طالب بطيء في النسخ من السبورة — لا نقول «لديه مشكلة»، بل «يحتاج نسخة ورقية أو وقتًا أطول» ثم نلاحظ الأثر.</a:t>
            </a:r>
          </a:p>
          <a:p>
            <a:r>
              <a:rPr sz="1200">
                <a:latin typeface="Segoe UI"/>
              </a:rPr>
              <a:t>سؤال للمشاركين: لماذا يُعد قول «الطالب يحتاج إلى...» أكثر أمانًا وفائدة من قول «الطالب يعاني من...»؟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نشاط صف الأستاذة نور — 5 دقائق</a:t>
            </a:r>
          </a:p>
          <a:p>
            <a:r>
              <a:rPr sz="1200">
                <a:latin typeface="Segoe UI"/>
              </a:rPr>
              <a:t>ما يفعله المدرّب: امنح 3 دقائق للعمل في ورقة العمل (4) — فرديًا أو في مجموعات صغيرة، ثم اجمع الأفكار.</a:t>
            </a:r>
          </a:p>
          <a:p>
            <a:r>
              <a:rPr sz="1200">
                <a:latin typeface="Segoe UI"/>
              </a:rPr>
              <a:t>الرسالة الأساسية: التخطيط للتنوع يبدأ بمعرفة المتعلمين، وليس كل اختلاف «مشكلة» — سالم وليان يختلفان دون أي صعوبة.</a:t>
            </a:r>
          </a:p>
          <a:p>
            <a:r>
              <a:rPr sz="1200">
                <a:latin typeface="Segoe UI"/>
              </a:rPr>
              <a:t>تنبيه: امنع محاولات التشخيص («مريم عندها فرط حركة») وأعد التوجيه نحو وصف الاحتياج.</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إجابات مقترحة — 3 دقائق</a:t>
            </a:r>
          </a:p>
          <a:p>
            <a:r>
              <a:rPr sz="1200">
                <a:latin typeface="Segoe UI"/>
              </a:rPr>
              <a:t>ما يشرحه المدرّب: قارن إجابات المشاركين بالمقترحات — أي إجابة معقولة تعالج الاحتياج مقبولة.</a:t>
            </a:r>
          </a:p>
          <a:p>
            <a:r>
              <a:rPr sz="1200">
                <a:latin typeface="Segoe UI"/>
              </a:rPr>
              <a:t>الرسالة الأساسية: خطوات صغيرة في التخطيط (تعليمات، قنوات مشاركة، تقسيم الوقت) تكفي لمعالجة معظم هذه الاختلافات دون برامج معقدة.</a:t>
            </a:r>
          </a:p>
          <a:p>
            <a:r>
              <a:rPr sz="1200">
                <a:latin typeface="Segoe UI"/>
              </a:rPr>
              <a:t>توضيح: لاحظ أن أحدًا من الخمسة لم يحتج «تشخيصًا» لكي نخطط له جيدًا.</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5 — 30 ثانية. اربط: «إذا كان الطلاب مختلفين، فهل نعطيهم جميعًا الشيء نفسه؟»</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المساواة والإنصاف — 4 دقائق</a:t>
            </a:r>
          </a:p>
          <a:p>
            <a:r>
              <a:rPr sz="1200">
                <a:latin typeface="Segoe UI"/>
              </a:rPr>
              <a:t>ما يشرحه المدرّب: استخدم مثال النص المطبوع؛ فهو قريب من الواقع اليومي ولا يحتاج شرحًا معقدًا.</a:t>
            </a:r>
          </a:p>
          <a:p>
            <a:r>
              <a:rPr sz="1200">
                <a:latin typeface="Segoe UI"/>
              </a:rPr>
              <a:t>الرسالة الأساسية: الإنصاف لا يعني تمييزًا أو ظلمًا للبقية؛ الهدف التعليمي واحد، والوسيلة تتكيف مع الحاجة.</a:t>
            </a:r>
          </a:p>
          <a:p>
            <a:r>
              <a:rPr sz="1200">
                <a:latin typeface="Segoe UI"/>
              </a:rPr>
              <a:t>توضيح مهم: تجنّب الرسالة الخاطئة «المساواة سيئة» — المساواة مناسبة عندما تكون الاحتياجات متشابهة (الاحترام، الأمان، الفرص متساوية للجميع دائمًا).</a:t>
            </a:r>
          </a:p>
          <a:p>
            <a:r>
              <a:rPr sz="1200">
                <a:latin typeface="Segoe UI"/>
              </a:rPr>
              <a:t>سؤال للمشاركين: النظارة الطبية — هل هي امتياز غير عادل لمن يلبسها؟ لماذا نقبلها ونتردد في الوقت الإضافي؟</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نشاط مساواة أم إنصاف — 4 دقائق</a:t>
            </a:r>
          </a:p>
          <a:p>
            <a:r>
              <a:rPr sz="1200">
                <a:latin typeface="Segoe UI"/>
              </a:rPr>
              <a:t>ما يفعله المدرّب: دقيقتان للتصنيف الفردي في ورقة العمل (5) ثم نقاش سريع. في الجلسات عن بُعد استخدم التصويت.</a:t>
            </a:r>
          </a:p>
          <a:p>
            <a:r>
              <a:rPr sz="1200">
                <a:latin typeface="Segoe UI"/>
              </a:rPr>
              <a:t>الرسالة الأساسية: الموقف 4 هو الفخ التعليمي؛ خفض التوقعات الدائم ليس إنصافًا بل استبعاد ناعم.</a:t>
            </a:r>
          </a:p>
          <a:p>
            <a:r>
              <a:rPr sz="1200">
                <a:latin typeface="Segoe UI"/>
              </a:rPr>
              <a:t>تنبيه: قد يختلف المشاركون حول الموقف 2 — استغل الخلاف للنقاش.</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الإجابات — 3 دقائق</a:t>
            </a:r>
          </a:p>
          <a:p>
            <a:r>
              <a:rPr sz="1200">
                <a:latin typeface="Segoe UI"/>
              </a:rPr>
              <a:t>الرسالة الأساسية: قاعدة ذهبية — الإنصاف يعدّل الوسيلة والدعم، ويحافظ على الهدف التعليمي والتوقعات العالية.</a:t>
            </a:r>
          </a:p>
          <a:p>
            <a:r>
              <a:rPr sz="1200">
                <a:latin typeface="Segoe UI"/>
              </a:rPr>
              <a:t>توضيح مهم: الشفقة التي تُخفض التوقعات شكل من أشكال الاستبعاد، حتى لو كانت بنية طيبة.</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6 — 30 ثانية. هذه الوحدة المحورية في الدورة؛ اضبط وقتك جيدًا.</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المجالات السبعة — 3 دقائق</a:t>
            </a:r>
          </a:p>
          <a:p>
            <a:r>
              <a:rPr sz="1200">
                <a:latin typeface="Segoe UI"/>
              </a:rPr>
              <a:t>ما يشرحه المدرّب: قدّم الخريطة الكاملة أولًا قبل الدخول في التفاصيل، وبيّن الترابط بين المجالات.</a:t>
            </a:r>
          </a:p>
          <a:p>
            <a:r>
              <a:rPr sz="1200">
                <a:latin typeface="Segoe UI"/>
              </a:rPr>
              <a:t>الرسالة الأساسية: المدرسة الشاملة منظومة متكاملة، لا مبادرة معلم واحد مهما كان متميزًا.</a:t>
            </a:r>
          </a:p>
          <a:p>
            <a:r>
              <a:rPr sz="1200">
                <a:latin typeface="Segoe UI"/>
              </a:rPr>
              <a:t>ربط بمسار: هذه المجالات هي نفسها محاور أداة مسار لجاهزية المدرسة للشمول — سنشير إليها في نهاية الدورة كخطوة تالية.</a:t>
            </a:r>
          </a:p>
          <a:p>
            <a:r>
              <a:rPr sz="1200">
                <a:latin typeface="Segoe UI"/>
              </a:rPr>
              <a:t>الوقت التقريبي للوحدة كاملة: 8–9 دقائق.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المجالان 1 و2 — دقيقتان</a:t>
            </a:r>
          </a:p>
          <a:p>
            <a:r>
              <a:rPr sz="1200">
                <a:latin typeface="Segoe UI"/>
              </a:rPr>
              <a:t>الرسالة الأساسية: القيادة تحدد السقف؛ إن لم يكن الشمول أولوية معلنة للقيادة، تبقى الجهود فردية وهشة.</a:t>
            </a:r>
          </a:p>
          <a:p>
            <a:r>
              <a:rPr sz="1200">
                <a:latin typeface="Segoe UI"/>
              </a:rPr>
              <a:t>مثال مقترح: مدير يفتتح العام بجملة «كل طالب في هذه المدرسة مسؤوليتنا جميعًا» ثم يترجمها في توزيع الموارد والجدول.</a:t>
            </a:r>
          </a:p>
          <a:p>
            <a:r>
              <a:rPr sz="1200">
                <a:latin typeface="Segoe UI"/>
              </a:rPr>
              <a:t>سؤال: ما أول حاجز مادي يواجه زائرًا يستخدم كرسيًا متحركًا لو زار مدرستكم غدًا؟</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المجالان 3 و4 — دقيقتان</a:t>
            </a:r>
          </a:p>
          <a:p>
            <a:r>
              <a:rPr sz="1200">
                <a:latin typeface="Segoe UI"/>
              </a:rPr>
              <a:t>الرسالة الأساسية: الدعم يتدرج — يبدأ داخل الصف بإجراءات بسيطة، ولا ينتقل للدعم الفردي المكثف إلا عند الحاجة وبقرار مدروس.</a:t>
            </a:r>
          </a:p>
          <a:p>
            <a:r>
              <a:rPr sz="1200">
                <a:latin typeface="Segoe UI"/>
              </a:rPr>
              <a:t>توضيح: التقويم التكويني (الملاحظة، الأسئلة، المهام القصيرة) هو رادار المعلم لاكتشاف التعثر قبل تراكمه.</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المجالان 5 و6 — دقيقتان</a:t>
            </a:r>
          </a:p>
          <a:p>
            <a:r>
              <a:rPr sz="1200">
                <a:latin typeface="Segoe UI"/>
              </a:rPr>
              <a:t>الرسالة الأساسية: الأسرة شريك معلومات لا خصم؛ والمعلم يحتاج بناء قدرات مستمرًا لا لومًا عند التعثر.</a:t>
            </a:r>
          </a:p>
          <a:p>
            <a:r>
              <a:rPr sz="1200">
                <a:latin typeface="Segoe UI"/>
              </a:rPr>
              <a:t>مثال مقترح: رسالة قصيرة إيجابية للأسرة في بداية العام تفتح بابًا يسهل الطرق عليه لاحقًا عند ظهور تحدٍ.</a:t>
            </a:r>
          </a:p>
          <a:p>
            <a:r>
              <a:rPr sz="1200">
                <a:latin typeface="Segoe UI"/>
              </a:rPr>
              <a:t>سؤال: متى كانت آخر مرة تواصلنا فيها مع أسرة لنقل خبر جيد عن ابنها؟</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 7 وأداة مسار — دقيقتان</a:t>
            </a:r>
          </a:p>
          <a:p>
            <a:r>
              <a:rPr sz="1200">
                <a:latin typeface="Segoe UI"/>
              </a:rPr>
              <a:t>الرسالة الأساسية: بدون متابعة وأدلة يتحول الشمول إلى شعارات؛ التحسين المستمر هو ما يحوّل النوايا إلى نظام.</a:t>
            </a:r>
          </a:p>
          <a:p>
            <a:r>
              <a:rPr sz="1200">
                <a:latin typeface="Segoe UI"/>
              </a:rPr>
              <a:t>ربط بمسار: قدّم الأداة كخطوة تالية اختيارية للمدرسة، دون الدخول في تفاصيل تقنية.</a:t>
            </a:r>
          </a:p>
          <a:p>
            <a:r>
              <a:rPr sz="1200">
                <a:latin typeface="Segoe UI"/>
              </a:rPr>
              <a:t>سؤال: ما البيانات المتوفرة لدينا اليوم والتي يمكن أن تخبرنا شيئًا عن مشاركة الطلاب؟ (الحضور، السلوك، الدرجات، الأنشطة).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وقفة التأمل — 3 دقائق</a:t>
            </a:r>
          </a:p>
          <a:p>
            <a:r>
              <a:rPr sz="1200">
                <a:latin typeface="Segoe UI"/>
              </a:rPr>
              <a:t>ما يفعله المدرّب: وجّه المشاركين إلى ورقة العمل (6) لتقييم سريع للمجالات السبعة (قوي / متوسط / يحتاج تطويرًا).</a:t>
            </a:r>
          </a:p>
          <a:p>
            <a:r>
              <a:rPr sz="1200">
                <a:latin typeface="Segoe UI"/>
              </a:rPr>
              <a:t>الرسالة الأساسية: التقييم الصادق للواقع هو أول خطوات التحسين — لا توجد مدرسة كاملة في المجالات السبعة.</a:t>
            </a:r>
          </a:p>
          <a:p>
            <a:r>
              <a:rPr sz="1200">
                <a:latin typeface="Segoe UI"/>
              </a:rPr>
              <a:t>تنبيه: أكد أن هذا تأمل شخصي وليس تقييمًا رسميًا للمدرسة.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7 — 30 ثانية. اربط: «من مستوى المدرسة إلى مستوى اليوم الدراسي العادي».</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قبل الدرس — دقيقتان</a:t>
            </a:r>
          </a:p>
          <a:p>
            <a:r>
              <a:rPr sz="1200">
                <a:latin typeface="Segoe UI"/>
              </a:rPr>
              <a:t>الرسالة الأساسية: معظم الشمول يحدث في التخطيط قبل أن يبدأ الدرس؛ سؤال «من قد يجد هذا صعبًا؟» يغيّر جودة التحضير كله.</a:t>
            </a:r>
          </a:p>
          <a:p>
            <a:r>
              <a:rPr sz="1200">
                <a:latin typeface="Segoe UI"/>
              </a:rPr>
              <a:t>مثال مقترح: معلمة تخطط درس الكسور فتجهّز قطع بيتزا ورقية للمثال المحسوس — قرار تخطيطي بسيط يخدم الصف كله.</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أثناء الدرس — 3 دقائق</a:t>
            </a:r>
          </a:p>
          <a:p>
            <a:r>
              <a:rPr sz="1200">
                <a:latin typeface="Segoe UI"/>
              </a:rPr>
              <a:t>الرسالة الأساسية: هذه ممارسات لا تحتاج موارد ولا موافقات — تحتاج وعيًا وقرارًا فقط.</a:t>
            </a:r>
          </a:p>
          <a:p>
            <a:r>
              <a:rPr sz="1200">
                <a:latin typeface="Segoe UI"/>
              </a:rPr>
              <a:t>مثال مقترح: «وقت التفكير»: بعد طرح السؤال انتظر 5 ثوانٍ قبل استقبال الإجابات — سيشارك طلاب لم يكونوا يشاركون.</a:t>
            </a:r>
          </a:p>
          <a:p>
            <a:r>
              <a:rPr sz="1200">
                <a:latin typeface="Segoe UI"/>
              </a:rPr>
              <a:t>سؤال للمشاركين: أي ممارسة من هذه تفعلونها بالفعل؟ وأيها الأسهل للبدء غدًا؟</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التقويم — دقيقتان</a:t>
            </a:r>
          </a:p>
          <a:p>
            <a:r>
              <a:rPr sz="1200">
                <a:latin typeface="Segoe UI"/>
              </a:rPr>
              <a:t>الرسالة الأساسية: المواءمة في التقويم لا تعني تسهيل المحتوى؛ تعني إزالة حاجز لا علاقة له بالهدف المقيس.</a:t>
            </a:r>
          </a:p>
          <a:p>
            <a:r>
              <a:rPr sz="1200">
                <a:latin typeface="Segoe UI"/>
              </a:rPr>
              <a:t>توضيح مهم: إذا كان الهدف قياس الفهم القرائي فتغيير النص إخلال بالهدف؛ أما إذا كان الهدف فهم مفهوم علمي فالقراءة وسيلة يمكن مواءمتها.</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خارج الصف — دقيقتان</a:t>
            </a:r>
          </a:p>
          <a:p>
            <a:r>
              <a:rPr sz="1200">
                <a:latin typeface="Segoe UI"/>
              </a:rPr>
              <a:t>الرسالة الأساسية: كثير من الاستبعاد يحدث خارج الصف: في الفسحة والرحلات والممرات — حيث لا يراه أحد.</a:t>
            </a:r>
          </a:p>
          <a:p>
            <a:r>
              <a:rPr sz="1200">
                <a:latin typeface="Segoe UI"/>
              </a:rPr>
              <a:t>مثال مقترح: موظف المقصف الذي يعرف أن طالبًا يحتاج وقتًا أطول للطلب دون استعجاله — هذا شمول أيضًا.</a:t>
            </a:r>
          </a:p>
          <a:p>
            <a:r>
              <a:rPr sz="1200">
                <a:latin typeface="Segoe UI"/>
              </a:rPr>
              <a:t>سؤال: من في مدرستنا يرى الطلاب في أوقات لا يراهم فيها المعلمون؟ (حراس، سائقون، عمال المقصف) — كيف نشركهم؟</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8 — 30 ثانية. اربط: «رأينا الممارسات — فمن يفعل ماذا؟»</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القيادة والمعلمون — دقيقتان</a:t>
            </a:r>
          </a:p>
          <a:p>
            <a:r>
              <a:rPr sz="1200">
                <a:latin typeface="Segoe UI"/>
              </a:rPr>
              <a:t>الرسالة الأساسية: القيادة تصنع الظروف، والمعلم يصنع الممارسة اليومية — كلاهما لا يغني عن الآخر.</a:t>
            </a:r>
          </a:p>
          <a:p>
            <a:r>
              <a:rPr sz="1200">
                <a:latin typeface="Segoe UI"/>
              </a:rPr>
              <a:t>سؤال: ما الذي يحتاجه المعلم من قيادته ليمارس الشمول فعليًا؟ (وقت، تدريب، مساندة في القرارات).</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الاختصاصيون والأسر — دقيقتان</a:t>
            </a:r>
          </a:p>
          <a:p>
            <a:r>
              <a:rPr sz="1200">
                <a:latin typeface="Segoe UI"/>
              </a:rPr>
              <a:t>الرسالة الأساسية: الاختصاصي يقوّي يد المعلم ولا يستبدلها؛ والأسرة أغنى مصدر معلومات عن الطالب.</a:t>
            </a:r>
          </a:p>
          <a:p>
            <a:r>
              <a:rPr sz="1200">
                <a:latin typeface="Segoe UI"/>
              </a:rPr>
              <a:t>مثال مقترح: أم تخبر المعلمة أن ابنها يركز أفضل بعد الحركة — معلومة منزلية بسيطة غيّرت إدارة الحصة الأولى.</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الطلاب والمسؤولية المشتركة — دقيقتان</a:t>
            </a:r>
          </a:p>
          <a:p>
            <a:r>
              <a:rPr sz="1200">
                <a:latin typeface="Segoe UI"/>
              </a:rPr>
              <a:t>الرسالة الأساسية: أقوى جملة في هذه الوحدة: الشمول ليس مسؤولية شخص واحد؛ إنه الطريقة التي تعمل بها المدرسة كلها.</a:t>
            </a:r>
          </a:p>
          <a:p>
            <a:r>
              <a:rPr sz="1200">
                <a:latin typeface="Segoe UI"/>
              </a:rPr>
              <a:t>سؤال ختامي للوحدة: في دورك أنت تحديدًا — ما أول مساهمة يمكنك تقديمها؟ (سيجيبون كتابيًا في ورقة العمل 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نشاط دوري — 3 دقائق</a:t>
            </a:r>
          </a:p>
          <a:p>
            <a:r>
              <a:rPr sz="1200">
                <a:latin typeface="Segoe UI"/>
              </a:rPr>
              <a:t>ما يفعله المدرّب: وجّه إلى ورقة العمل (7). اطلب مسؤوليات واقعية وصغيرة، لا شعارات.</a:t>
            </a:r>
          </a:p>
          <a:p>
            <a:r>
              <a:rPr sz="1200">
                <a:latin typeface="Segoe UI"/>
              </a:rPr>
              <a:t>مثال جيد: «سأتأكد من أن تعليمات مهامي مكتوبة ومسموعة» — مثال ضعيف: «سأدعم جميع الطلاب دائمًا».</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9 — 30 ثانية. اربط: «كيف نحوّل كل ما سبق إلى طريقة عمل منظمة؟»</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الدورة العملية — 4 دقائق</a:t>
            </a:r>
          </a:p>
          <a:p>
            <a:r>
              <a:rPr sz="1200">
                <a:latin typeface="Segoe UI"/>
              </a:rPr>
              <a:t>ما يشرحه المدرّب: اشرح الخطوات الخمس عبر مثال فارس خطوة بخطوة — لا تشرح الدورة نظريًا ثم المثال، بل اشرحهما معًا.</a:t>
            </a:r>
          </a:p>
          <a:p>
            <a:r>
              <a:rPr sz="1200">
                <a:latin typeface="Segoe UI"/>
              </a:rPr>
              <a:t>الرسالة الأساسية: هذه الدورة تصلح لأي معلم مع أي طالب غدًا صباحًا — لا تحتاج نماذج ولا موافقات.</a:t>
            </a:r>
          </a:p>
          <a:p>
            <a:r>
              <a:rPr sz="1200">
                <a:latin typeface="Segoe UI"/>
              </a:rPr>
              <a:t>توضيح مهم: «قرر» لا تعني قرارًا نهائيًا؛ قد تعني العودة إلى الملاحظة من جديد. الدورة حلقة مستمرة.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منهجية مسار — 3 دقائق</a:t>
            </a:r>
          </a:p>
          <a:p>
            <a:r>
              <a:rPr sz="1200">
                <a:latin typeface="Segoe UI"/>
              </a:rPr>
              <a:t>ما يشرحه المدرّب: اعرض التسلسل دون الدخول في تفاصيل المنتجات أو الأدوات؛ الهدف إظهار الفلسفة العملية: قرارات مبنية على أدلة وبمشاركة الجميع.</a:t>
            </a:r>
          </a:p>
          <a:p>
            <a:r>
              <a:rPr sz="1200">
                <a:latin typeface="Segoe UI"/>
              </a:rPr>
              <a:t>الرسالة الأساسية: ما تعلمته اليوم كأفراد هو نفسه ما تفعله المدرسة الشاملة كمنظومة.</a:t>
            </a:r>
          </a:p>
          <a:p>
            <a:r>
              <a:rPr sz="1200">
                <a:latin typeface="Segoe UI"/>
              </a:rPr>
              <a:t>تنبيه: لا تحوّل الشريحة إلى عرض تسويقي؛ اكتفِ بالربط المفاهيمي.</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دراسة الحالة — 30 ثانية. هذه ذروة الدورة التطبيقية؛ خصص لها 8 دقائق كاملة.</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عرض الحالة — دقيقتان</a:t>
            </a:r>
          </a:p>
          <a:p>
            <a:r>
              <a:rPr sz="1200">
                <a:latin typeface="Segoe UI"/>
              </a:rPr>
              <a:t>ما يفعله المدرّب: اقرأ الملاحظات ونقاط القوة بصوت مسموع. أكّد أن آدم شخصية افتراضية وأن أي تشابه هو لأن هذا النمط شائع فعلًا في المدارس.</a:t>
            </a:r>
          </a:p>
          <a:p>
            <a:r>
              <a:rPr sz="1200">
                <a:latin typeface="Segoe UI"/>
              </a:rPr>
              <a:t>الرسالة الأساسية: نبدأ دائمًا من نقاط القوة — فهي أدوات الحل، لا مجرد مجاملة.</a:t>
            </a:r>
          </a:p>
          <a:p>
            <a:r>
              <a:rPr sz="1200">
                <a:latin typeface="Segoe UI"/>
              </a:rPr>
              <a:t>تنبيه حاسم: أوقف فورًا أي محاولة لتشخيص آدم (تشتت انتباه، صعوبات تعلم...) — نحن نصف الملاحظات فقط.</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أسئلة النقاش — 4 دقائق</a:t>
            </a:r>
          </a:p>
          <a:p>
            <a:r>
              <a:rPr sz="1200">
                <a:latin typeface="Segoe UI"/>
              </a:rPr>
              <a:t>ما يفعله المدرّب: قسّم المشاركين إلى مجموعات صغيرة (أو غرف فرعية عن بُعد)، كل مجموعة تناقش الأسئلة الستة وتدوّن في ورقة العمل (8).</a:t>
            </a:r>
          </a:p>
          <a:p>
            <a:r>
              <a:rPr sz="1200">
                <a:latin typeface="Segoe UI"/>
              </a:rPr>
              <a:t>الرسالة الأساسية: التزم بترتيب الأسئلة — فهو يطبق دورة (لاحظ ← افهم ← ادعم ← تابع ← قرر) عمليًا.</a:t>
            </a:r>
          </a:p>
          <a:p>
            <a:r>
              <a:rPr sz="1200">
                <a:latin typeface="Segoe UI"/>
              </a:rPr>
              <a:t>إدارة الوقت: 3 دقائق نقاش + دقيقة لجمع أبرز الأفكار.</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نموذج المناقشة 1 — دقيقتان</a:t>
            </a:r>
          </a:p>
          <a:p>
            <a:r>
              <a:rPr sz="1200">
                <a:latin typeface="Segoe UI"/>
              </a:rPr>
              <a:t>الرسالة الأساسية: لاحظ صياغة الحواجز — كلها في البيئة وطريقة التقديم، وليست «عيوبًا» في آدم.</a:t>
            </a:r>
          </a:p>
          <a:p>
            <a:r>
              <a:rPr sz="1200">
                <a:latin typeface="Segoe UI"/>
              </a:rPr>
              <a:t>قارن مع إجابات المجموعات وأبرز أي صياغات وصفية جيدة ذكروها.</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نموذج المناقشة 2 — دقيقتان</a:t>
            </a:r>
          </a:p>
          <a:p>
            <a:r>
              <a:rPr sz="1200">
                <a:latin typeface="Segoe UI"/>
              </a:rPr>
              <a:t>الرسالة الأساسية: الدعم بدأ داخل الصف بأدوات بسيطة، والأسرة شريك منذ البداية، والقرار مبني على أدلة موثقة.</a:t>
            </a:r>
          </a:p>
          <a:p>
            <a:r>
              <a:rPr sz="1200">
                <a:latin typeface="Segoe UI"/>
              </a:rPr>
              <a:t>توضيح: طلب دعم الاختصاصي ليس فشلًا للمعلمة — بل الخطوة المهنية الصحيحة عندما تشير الأدلة إلى الحاجة.</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11 — 30 ثانية. اربط: «كل ما سبق يساوي صفرًا بلا خطوة عملية».</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القرارات الأربعة — 4 دقائق</a:t>
            </a:r>
          </a:p>
          <a:p>
            <a:r>
              <a:rPr sz="1200">
                <a:latin typeface="Segoe UI"/>
              </a:rPr>
              <a:t>ما يفعله المدرّب: اشرح الإطار ثم امنح 3 دقائق للكتابة الفردية في ورقة العمل (9) — خطة العمل الشخصية الكاملة.</a:t>
            </a:r>
          </a:p>
          <a:p>
            <a:r>
              <a:rPr sz="1200">
                <a:latin typeface="Segoe UI"/>
              </a:rPr>
              <a:t>الرسالة الأساسية: اطلب التزامات صغيرة محددة يمكن البدء بها غدًا حرفيًا؛ الالتزام الصغير المنفذ خير من الخطة الطموحة المؤجلة.</a:t>
            </a:r>
          </a:p>
          <a:p>
            <a:r>
              <a:rPr sz="1200">
                <a:latin typeface="Segoe UI"/>
              </a:rPr>
              <a:t>تلميح: القرار الأصعب عادة هو «سأتوقف» — شجع الصدق مع النفس.</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خطة العمل — 3 دقائق</a:t>
            </a:r>
          </a:p>
          <a:p>
            <a:r>
              <a:rPr sz="1200">
                <a:latin typeface="Segoe UI"/>
              </a:rPr>
              <a:t>ما يفعله المدرّب: وقت كتابة صامت. ثم اطلب من 2–3 متطوعين مشاركة التزام «سأبدأ» فقط — المشاركة العلنية ترفع نسبة الالتزام.</a:t>
            </a:r>
          </a:p>
          <a:p>
            <a:r>
              <a:rPr sz="1200">
                <a:latin typeface="Segoe UI"/>
              </a:rPr>
              <a:t>تلميح للجلسات الحضورية: اقترح على المشاركين تبادل خططهم مع زميل ليكون «شريك متابعة».</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الاختبار — 30 ثانية. طمئن المشاركين: الاختبار قصير ويقيس الفهم العملي، والإجابات ستُناقش فورًا.</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1 — 3 دقائق</a:t>
            </a:r>
          </a:p>
          <a:p>
            <a:r>
              <a:rPr sz="1200">
                <a:latin typeface="Segoe UI"/>
              </a:rPr>
              <a:t>اعرض الأسئلة واطلب الإجابة في كراسة المشارك أو عبر أداة تصويت. لا تكشف الإجابات إلا بعد انتهاء الأسئلة الاثني عشر (أو بعد كل شريحة حسب الوقت).</a:t>
            </a:r>
          </a:p>
          <a:p>
            <a:r>
              <a:rPr sz="1200">
                <a:latin typeface="Segoe UI"/>
              </a:rPr>
              <a:t>الإجابات: س1: ب — س2: خطأ — س3: ج.</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2 — 3 دقائق</a:t>
            </a:r>
          </a:p>
          <a:p>
            <a:r>
              <a:rPr sz="1200">
                <a:latin typeface="Segoe UI"/>
              </a:rPr>
              <a:t>الإجابات: س4: ب — س5: خطأ (التنوع هو الوضع الطبيعي) — س6: ب.</a:t>
            </a:r>
          </a:p>
          <a:p>
            <a:r>
              <a:rPr sz="1200">
                <a:latin typeface="Segoe UI"/>
              </a:rPr>
              <a:t>س6 مهم: يختبر مبدأ «صِف ولا تشخّص» ومبدأ الدعم الصفي أولًا.</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3 — 3 دقائق</a:t>
            </a:r>
          </a:p>
          <a:p>
            <a:r>
              <a:rPr sz="1200">
                <a:latin typeface="Segoe UI"/>
              </a:rPr>
              <a:t>الإجابات: س7: ج — س8: د — س9: خطأ (الإنصاف يغيّر الوسيلة والدعم لا سقف التوقعات).</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4 — 3 دقائق</a:t>
            </a:r>
          </a:p>
          <a:p>
            <a:r>
              <a:rPr sz="1200">
                <a:latin typeface="Segoe UI"/>
              </a:rPr>
              <a:t>الإجابات: س10: ب — س11: ج — س12: أ.</a:t>
            </a:r>
          </a:p>
          <a:p>
            <a:r>
              <a:rPr sz="1200">
                <a:latin typeface="Segoe UI"/>
              </a:rPr>
              <a:t>بعد الانتهاء اعرض شريحة الإجابات وناقش الأسئلة التي أخطأ فيها كثيرون.</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مفتاح الإجابة — 3 دقائق</a:t>
            </a:r>
          </a:p>
          <a:p>
            <a:r>
              <a:rPr sz="1200">
                <a:latin typeface="Segoe UI"/>
              </a:rPr>
              <a:t>اعرض الإجابات وركز النقاش على الأسئلة التي كثر الخطأ فيها.</a:t>
            </a:r>
          </a:p>
          <a:p>
            <a:r>
              <a:rPr sz="1200">
                <a:latin typeface="Segoe UI"/>
              </a:rPr>
              <a:t>درجة الاجتياز المقترحة: 80% (10 من 12). من لم يجتز: وجّهه لمراجعة الوحدات ذات الصلة وإعادة المحاولة — الهدف الفهم لا الرسوب.</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التأمل الختامي — 3 دقائق</a:t>
            </a:r>
          </a:p>
          <a:p>
            <a:r>
              <a:rPr sz="1200">
                <a:latin typeface="Segoe UI"/>
              </a:rPr>
              <a:t>ما يفعله المدرّب: وقت كتابة صامت في ورقة العمل (10). ثم اعرض إجابات النشاط الافتتاحي («ما أول ما يخطر في ذهنك؟») واسأل: هل تغيّر شيء في فهمكم؟</a:t>
            </a:r>
          </a:p>
          <a:p>
            <a:r>
              <a:rPr sz="1200">
                <a:latin typeface="Segoe UI"/>
              </a:rPr>
              <a:t>الرسالة الأساسية: المقارنة بين إجابة البداية وإجابة النهاية هي أفضل دليل على أثر الدورة.</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شريحة الإتمام — دقيقة واحدة</a:t>
            </a:r>
          </a:p>
          <a:p>
            <a:r>
              <a:rPr sz="1200">
                <a:latin typeface="Segoe UI"/>
              </a:rPr>
              <a:t>هنّئ المشاركين بحرارة، واقرأ بيان الإتمام، وأكد بوضوح أن الدورة توعوية ولا تشكل اعتمادًا رسميًا.</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الخطوات التالية — دقيقتان</a:t>
            </a:r>
          </a:p>
          <a:p>
            <a:r>
              <a:rPr sz="1200">
                <a:latin typeface="Segoe UI"/>
              </a:rPr>
              <a:t>قدّم الدورتين التاليتين بجملة واحدة لكل منهما، وأشر إلى الحقيبتين كموارد اختيارية.</a:t>
            </a:r>
          </a:p>
          <a:p>
            <a:r>
              <a:rPr sz="1200">
                <a:latin typeface="Segoe UI"/>
              </a:rPr>
              <a:t>اختم بتذكير المشاركين بخطة عملهم الشخصية وموعد مراجعتها الذي حددوه بأنفسهم.</a:t>
            </a:r>
          </a:p>
          <a:p>
            <a:r>
              <a:rPr sz="1200">
                <a:latin typeface="Segoe UI"/>
              </a:rPr>
              <a:t>أغلق الجلسة بشكر المشاركين.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4846320"/>
            <a:ext cx="2926080" cy="2926080"/>
          </a:xfrm>
          <a:prstGeom prst="ellipse">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 y="-1280160"/>
            <a:ext cx="2743200" cy="2743200"/>
          </a:xfrm>
          <a:prstGeom prst="ellipse">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837176" y="685800"/>
            <a:ext cx="2514600" cy="7772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MASAR | مسار</a:t>
            </a:r>
          </a:p>
        </p:txBody>
      </p:sp>
      <p:sp>
        <p:nvSpPr>
          <p:cNvPr id="8" name="TextBox 7"/>
          <p:cNvSpPr txBox="1"/>
          <p:nvPr/>
        </p:nvSpPr>
        <p:spPr>
          <a:xfrm>
            <a:off x="822960" y="1874519"/>
            <a:ext cx="10515600" cy="2377440"/>
          </a:xfrm>
          <a:prstGeom prst="rect">
            <a:avLst/>
          </a:prstGeom>
          <a:noFill/>
        </p:spPr>
        <p:txBody>
          <a:bodyPr wrap="square" anchor="ctr" lIns="50800" rIns="50800" tIns="25400" bIns="25400">
            <a:spAutoFit/>
          </a:bodyPr>
          <a:lstStyle/>
          <a:p>
            <a:pPr algn="ctr" rtl="1">
              <a:spcBef>
                <a:spcPts val="400"/>
              </a:spcBef>
              <a:spcAft>
                <a:spcPts val="400"/>
              </a:spcAft>
            </a:pPr>
            <a:r>
              <a:rPr sz="4800" b="1" i="0">
                <a:solidFill>
                  <a:srgbClr val="FFFFFF"/>
                </a:solidFill>
                <a:latin typeface="Segoe UI"/>
                <a:cs typeface="Segoe UI"/>
              </a:rPr>
              <a:t>التعليم الشامل والمدرسة الشاملة</a:t>
            </a:r>
          </a:p>
          <a:p>
            <a:pPr algn="ctr" rtl="1">
              <a:spcBef>
                <a:spcPts val="800"/>
              </a:spcBef>
              <a:spcAft>
                <a:spcPts val="400"/>
              </a:spcAft>
            </a:pPr>
            <a:r>
              <a:rPr sz="2000" b="0" i="0">
                <a:solidFill>
                  <a:srgbClr val="E4F6F6"/>
                </a:solidFill>
                <a:latin typeface="Segoe UI"/>
                <a:cs typeface="Segoe UI"/>
              </a:rPr>
              <a:t>Understanding Inclusive Education &amp; The Inclusive School</a:t>
            </a:r>
          </a:p>
        </p:txBody>
      </p:sp>
      <p:sp>
        <p:nvSpPr>
          <p:cNvPr id="9" name="Rounded Rectangle 8"/>
          <p:cNvSpPr/>
          <p:nvPr/>
        </p:nvSpPr>
        <p:spPr>
          <a:xfrm>
            <a:off x="2194560" y="4343400"/>
            <a:ext cx="7772400" cy="64008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162B6B"/>
                </a:solidFill>
                <a:latin typeface="Segoe UI"/>
                <a:cs typeface="Segoe UI"/>
              </a:rPr>
              <a:t>الدورة التدريبية الأولى — حزمة المدرسة الشاملة</a:t>
            </a:r>
          </a:p>
        </p:txBody>
      </p:sp>
      <p:sp>
        <p:nvSpPr>
          <p:cNvPr id="10" name="TextBox 9"/>
          <p:cNvSpPr txBox="1"/>
          <p:nvPr/>
        </p:nvSpPr>
        <p:spPr>
          <a:xfrm>
            <a:off x="822960" y="5257800"/>
            <a:ext cx="10515600" cy="1188720"/>
          </a:xfrm>
          <a:prstGeom prst="rect">
            <a:avLst/>
          </a:prstGeom>
          <a:noFill/>
        </p:spPr>
        <p:txBody>
          <a:bodyPr wrap="square" anchor="t" lIns="50800" rIns="50800" tIns="25400" bIns="25400">
            <a:spAutoFit/>
          </a:bodyPr>
          <a:lstStyle/>
          <a:p>
            <a:pPr algn="ctr" rtl="1">
              <a:spcBef>
                <a:spcPts val="400"/>
              </a:spcBef>
              <a:spcAft>
                <a:spcPts val="400"/>
              </a:spcAft>
            </a:pPr>
            <a:r>
              <a:rPr sz="1700" b="0" i="0">
                <a:solidFill>
                  <a:srgbClr val="FFFFFF"/>
                </a:solidFill>
                <a:latin typeface="Segoe UI"/>
                <a:cs typeface="Segoe UI"/>
              </a:rPr>
              <a:t>دورة توعوية وتطبيقية لجميع العاملين في المدرسة</a:t>
            </a:r>
          </a:p>
          <a:p>
            <a:pPr algn="ctr" rtl="1">
              <a:spcBef>
                <a:spcPts val="200"/>
              </a:spcBef>
              <a:spcAft>
                <a:spcPts val="400"/>
              </a:spcAft>
            </a:pPr>
            <a:r>
              <a:rPr sz="1500" b="0" i="0">
                <a:solidFill>
                  <a:srgbClr val="E4F6F6"/>
                </a:solidFill>
                <a:latin typeface="Segoe UI"/>
                <a:cs typeface="Segoe UI"/>
              </a:rPr>
              <a:t>المدة: 45–60 دقيقة  |  التقديم: عن بُعد / بقيادة مدرّب / تعلّم ذاتي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 — الترحيب ولماذا نحن هنا؟</a:t>
            </a:r>
          </a:p>
          <a:p>
            <a:pPr algn="r" rtl="1">
              <a:spcBef>
                <a:spcPts val="0"/>
              </a:spcBef>
              <a:spcAft>
                <a:spcPts val="0"/>
              </a:spcAft>
            </a:pPr>
            <a:r>
              <a:rPr sz="2800" b="1" i="0">
                <a:solidFill>
                  <a:srgbClr val="FFFFFF"/>
                </a:solidFill>
                <a:latin typeface="Segoe UI"/>
                <a:cs typeface="Segoe UI"/>
              </a:rPr>
              <a:t>أهلًا بكم في مسار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a:t>
            </a:r>
          </a:p>
        </p:txBody>
      </p:sp>
      <p:sp>
        <p:nvSpPr>
          <p:cNvPr id="9" name="TextBox 8"/>
          <p:cNvSpPr txBox="1"/>
          <p:nvPr/>
        </p:nvSpPr>
        <p:spPr>
          <a:xfrm>
            <a:off x="502920" y="1371600"/>
            <a:ext cx="11183112" cy="1554480"/>
          </a:xfrm>
          <a:prstGeom prst="rect">
            <a:avLst/>
          </a:prstGeom>
          <a:noFill/>
        </p:spPr>
        <p:txBody>
          <a:bodyPr wrap="square" anchor="t" lIns="50800" rIns="50800" tIns="25400" bIns="25400">
            <a:spAutoFit/>
          </a:bodyPr>
          <a:lstStyle/>
          <a:p>
            <a:pPr algn="r" rtl="1">
              <a:spcBef>
                <a:spcPts val="400"/>
              </a:spcBef>
              <a:spcAft>
                <a:spcPts val="400"/>
              </a:spcAft>
            </a:pPr>
            <a:r>
              <a:rPr sz="2200" b="1" i="0">
                <a:solidFill>
                  <a:srgbClr val="1F3A93"/>
                </a:solidFill>
                <a:latin typeface="Segoe UI"/>
                <a:cs typeface="Segoe UI"/>
              </a:rPr>
              <a:t>لماذا نحن هنا اليوم؟</a:t>
            </a:r>
          </a:p>
          <a:p>
            <a:pPr algn="r" rtl="1">
              <a:spcBef>
                <a:spcPts val="600"/>
              </a:spcBef>
              <a:spcAft>
                <a:spcPts val="400"/>
              </a:spcAft>
            </a:pPr>
            <a:r>
              <a:rPr sz="1700" b="0" i="0">
                <a:solidFill>
                  <a:srgbClr val="2B2F38"/>
                </a:solidFill>
                <a:latin typeface="Segoe UI"/>
                <a:cs typeface="Segoe UI"/>
              </a:rPr>
              <a:t>كل يوم دراسي يدخل إلى مدارسنا طلاب يختلفون في قدراتهم وخبراتهم واحتياجاتهم. السؤال الذي تجيب عنه هذه الدورة بسيط وعميق في آن واحد:</a:t>
            </a:r>
          </a:p>
        </p:txBody>
      </p:sp>
      <p:sp>
        <p:nvSpPr>
          <p:cNvPr id="10" name="Rounded Rectangle 9"/>
          <p:cNvSpPr/>
          <p:nvPr/>
        </p:nvSpPr>
        <p:spPr>
          <a:xfrm>
            <a:off x="1371600" y="2880360"/>
            <a:ext cx="9418320" cy="9601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100" b="1" i="0">
                <a:solidFill>
                  <a:srgbClr val="1F3A93"/>
                </a:solidFill>
                <a:latin typeface="Segoe UI"/>
                <a:cs typeface="Segoe UI"/>
              </a:rPr>
              <a:t>كيف نجعل مدرستنا مكانًا يتعلّم فيه كل طالب ويشعر فيه بالانتماء؟</a:t>
            </a:r>
          </a:p>
        </p:txBody>
      </p:sp>
      <p:sp>
        <p:nvSpPr>
          <p:cNvPr id="11" name="Rounded Rectangle 10"/>
          <p:cNvSpPr/>
          <p:nvPr/>
        </p:nvSpPr>
        <p:spPr>
          <a:xfrm>
            <a:off x="8074152" y="4114800"/>
            <a:ext cx="3602736" cy="21031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700" b="1" i="0">
                <a:solidFill>
                  <a:srgbClr val="1F3A93"/>
                </a:solidFill>
                <a:latin typeface="Segoe UI"/>
                <a:cs typeface="Segoe UI"/>
              </a:rPr>
              <a:t>لمن هذه الدورة؟</a:t>
            </a:r>
          </a:p>
          <a:p>
            <a:pPr algn="r" rtl="1">
              <a:spcBef>
                <a:spcPts val="200"/>
              </a:spcBef>
              <a:spcAft>
                <a:spcPts val="200"/>
              </a:spcAft>
            </a:pPr>
            <a:r>
              <a:rPr sz="1400" b="0" i="0">
                <a:solidFill>
                  <a:srgbClr val="2B2F38"/>
                </a:solidFill>
                <a:latin typeface="Segoe UI"/>
                <a:cs typeface="Segoe UI"/>
              </a:rPr>
              <a:t>لجميع العاملين في المدرسة: القيادة، المعلمون، الاختصاصيون، الكادر المساند</a:t>
            </a:r>
          </a:p>
        </p:txBody>
      </p:sp>
      <p:sp>
        <p:nvSpPr>
          <p:cNvPr id="12" name="Rounded Rectangle 11"/>
          <p:cNvSpPr/>
          <p:nvPr/>
        </p:nvSpPr>
        <p:spPr>
          <a:xfrm>
            <a:off x="4288536" y="4114800"/>
            <a:ext cx="3602736" cy="21031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700" b="1" i="0">
                <a:solidFill>
                  <a:srgbClr val="1F3A93"/>
                </a:solidFill>
                <a:latin typeface="Segoe UI"/>
                <a:cs typeface="Segoe UI"/>
              </a:rPr>
              <a:t>ماذا ستحتاج؟</a:t>
            </a:r>
          </a:p>
          <a:p>
            <a:pPr algn="r" rtl="1">
              <a:spcBef>
                <a:spcPts val="200"/>
              </a:spcBef>
              <a:spcAft>
                <a:spcPts val="200"/>
              </a:spcAft>
            </a:pPr>
            <a:r>
              <a:rPr sz="1400" b="0" i="0">
                <a:solidFill>
                  <a:srgbClr val="2B2F38"/>
                </a:solidFill>
                <a:latin typeface="Segoe UI"/>
                <a:cs typeface="Segoe UI"/>
              </a:rPr>
              <a:t>كراسة عمل المشارك، وقلم، واستعداد للتأمل في ممارساتك اليومية</a:t>
            </a:r>
          </a:p>
        </p:txBody>
      </p:sp>
      <p:sp>
        <p:nvSpPr>
          <p:cNvPr id="13" name="Rounded Rectangle 12"/>
          <p:cNvSpPr/>
          <p:nvPr/>
        </p:nvSpPr>
        <p:spPr>
          <a:xfrm>
            <a:off x="502920" y="4114800"/>
            <a:ext cx="3602736" cy="21031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700" b="1" i="0">
                <a:solidFill>
                  <a:srgbClr val="1F3A93"/>
                </a:solidFill>
                <a:latin typeface="Segoe UI"/>
                <a:cs typeface="Segoe UI"/>
              </a:rPr>
              <a:t>كيف نعمل؟</a:t>
            </a:r>
          </a:p>
          <a:p>
            <a:pPr algn="r" rtl="1">
              <a:spcBef>
                <a:spcPts val="200"/>
              </a:spcBef>
              <a:spcAft>
                <a:spcPts val="200"/>
              </a:spcAft>
            </a:pPr>
            <a:r>
              <a:rPr sz="1400" b="0" i="0">
                <a:solidFill>
                  <a:srgbClr val="2B2F38"/>
                </a:solidFill>
                <a:latin typeface="Segoe UI"/>
                <a:cs typeface="Segoe UI"/>
              </a:rPr>
              <a:t>شرح قصير، ثم أنشطة وسيناريوهات واقعية، ثم خطة عمل شخصية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أهداف التعلم</a:t>
            </a:r>
          </a:p>
          <a:p>
            <a:pPr algn="r" rtl="1">
              <a:spcBef>
                <a:spcPts val="0"/>
              </a:spcBef>
              <a:spcAft>
                <a:spcPts val="0"/>
              </a:spcAft>
            </a:pPr>
            <a:r>
              <a:rPr sz="2800" b="1" i="0">
                <a:solidFill>
                  <a:srgbClr val="FFFFFF"/>
                </a:solidFill>
                <a:latin typeface="Segoe UI"/>
                <a:cs typeface="Segoe UI"/>
              </a:rPr>
              <a:t>ماذا ستتعلم في هذه الدورة؟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a:t>
            </a:r>
          </a:p>
        </p:txBody>
      </p:sp>
      <p:sp>
        <p:nvSpPr>
          <p:cNvPr id="9" name="Rounded Rectangle 8"/>
          <p:cNvSpPr/>
          <p:nvPr/>
        </p:nvSpPr>
        <p:spPr>
          <a:xfrm>
            <a:off x="6190488" y="1325880"/>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1. </a:t>
            </a:r>
            <a:r>
              <a:rPr sz="1550" b="0" i="0">
                <a:solidFill>
                  <a:srgbClr val="2B2F38"/>
                </a:solidFill>
                <a:latin typeface="Segoe UI"/>
                <a:cs typeface="Segoe UI"/>
              </a:rPr>
              <a:t>أن تشرح مفهوم التعليم الشامل بلغة بسيطة وواضحة</a:t>
            </a:r>
          </a:p>
        </p:txBody>
      </p:sp>
      <p:sp>
        <p:nvSpPr>
          <p:cNvPr id="10" name="Rounded Rectangle 9"/>
          <p:cNvSpPr/>
          <p:nvPr/>
        </p:nvSpPr>
        <p:spPr>
          <a:xfrm>
            <a:off x="502920" y="1325880"/>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2. </a:t>
            </a:r>
            <a:r>
              <a:rPr sz="1550" b="0" i="0">
                <a:solidFill>
                  <a:srgbClr val="2B2F38"/>
                </a:solidFill>
                <a:latin typeface="Segoe UI"/>
                <a:cs typeface="Segoe UI"/>
              </a:rPr>
              <a:t>أن تدرك أن تنوع المتعلمين سمة طبيعية في كل مدرسة</a:t>
            </a:r>
          </a:p>
        </p:txBody>
      </p:sp>
      <p:sp>
        <p:nvSpPr>
          <p:cNvPr id="11" name="Rounded Rectangle 10"/>
          <p:cNvSpPr/>
          <p:nvPr/>
        </p:nvSpPr>
        <p:spPr>
          <a:xfrm>
            <a:off x="6190488" y="2615184"/>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3. </a:t>
            </a:r>
            <a:r>
              <a:rPr sz="1550" b="0" i="0">
                <a:solidFill>
                  <a:srgbClr val="2B2F38"/>
                </a:solidFill>
                <a:latin typeface="Segoe UI"/>
                <a:cs typeface="Segoe UI"/>
              </a:rPr>
              <a:t>أن توضّح الفرق بين المساواة والإنصاف</a:t>
            </a:r>
          </a:p>
        </p:txBody>
      </p:sp>
      <p:sp>
        <p:nvSpPr>
          <p:cNvPr id="12" name="Rounded Rectangle 11"/>
          <p:cNvSpPr/>
          <p:nvPr/>
        </p:nvSpPr>
        <p:spPr>
          <a:xfrm>
            <a:off x="502920" y="2615184"/>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4. </a:t>
            </a:r>
            <a:r>
              <a:rPr sz="1550" b="0" i="0">
                <a:solidFill>
                  <a:srgbClr val="2B2F38"/>
                </a:solidFill>
                <a:latin typeface="Segoe UI"/>
                <a:cs typeface="Segoe UI"/>
              </a:rPr>
              <a:t>أن تحدد الخصائص الأساسية للمدرسة الشاملة</a:t>
            </a:r>
          </a:p>
        </p:txBody>
      </p:sp>
      <p:sp>
        <p:nvSpPr>
          <p:cNvPr id="13" name="Rounded Rectangle 12"/>
          <p:cNvSpPr/>
          <p:nvPr/>
        </p:nvSpPr>
        <p:spPr>
          <a:xfrm>
            <a:off x="6190488" y="3904488"/>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5. </a:t>
            </a:r>
            <a:r>
              <a:rPr sz="1550" b="0" i="0">
                <a:solidFill>
                  <a:srgbClr val="2B2F38"/>
                </a:solidFill>
                <a:latin typeface="Segoe UI"/>
                <a:cs typeface="Segoe UI"/>
              </a:rPr>
              <a:t>أن تتعرف على الحواجز الشائعة أمام المشاركة والتعلم</a:t>
            </a:r>
          </a:p>
        </p:txBody>
      </p:sp>
      <p:sp>
        <p:nvSpPr>
          <p:cNvPr id="14" name="Rounded Rectangle 13"/>
          <p:cNvSpPr/>
          <p:nvPr/>
        </p:nvSpPr>
        <p:spPr>
          <a:xfrm>
            <a:off x="502920" y="3904488"/>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6. </a:t>
            </a:r>
            <a:r>
              <a:rPr sz="1550" b="0" i="0">
                <a:solidFill>
                  <a:srgbClr val="2B2F38"/>
                </a:solidFill>
                <a:latin typeface="Segoe UI"/>
                <a:cs typeface="Segoe UI"/>
              </a:rPr>
              <a:t>أن تفهم أدوار القيادة والمعلمين والاختصاصيين والأسر</a:t>
            </a:r>
          </a:p>
        </p:txBody>
      </p:sp>
      <p:sp>
        <p:nvSpPr>
          <p:cNvPr id="15" name="Rounded Rectangle 14"/>
          <p:cNvSpPr/>
          <p:nvPr/>
        </p:nvSpPr>
        <p:spPr>
          <a:xfrm>
            <a:off x="6190488" y="5193792"/>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7. </a:t>
            </a:r>
            <a:r>
              <a:rPr sz="1550" b="0" i="0">
                <a:solidFill>
                  <a:srgbClr val="2B2F38"/>
                </a:solidFill>
                <a:latin typeface="Segoe UI"/>
                <a:cs typeface="Segoe UI"/>
              </a:rPr>
              <a:t>أن تحدد أمثلة عملية للممارسة الشاملة في الحياة المدرسية اليومية</a:t>
            </a:r>
          </a:p>
        </p:txBody>
      </p:sp>
      <p:sp>
        <p:nvSpPr>
          <p:cNvPr id="16" name="Rounded Rectangle 15"/>
          <p:cNvSpPr/>
          <p:nvPr/>
        </p:nvSpPr>
        <p:spPr>
          <a:xfrm>
            <a:off x="502920" y="5193792"/>
            <a:ext cx="5486400" cy="117043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600" b="1" i="0">
                <a:solidFill>
                  <a:srgbClr val="C9A227"/>
                </a:solidFill>
                <a:latin typeface="Segoe UI"/>
                <a:cs typeface="Segoe UI"/>
              </a:rPr>
              <a:t>8. </a:t>
            </a:r>
            <a:r>
              <a:rPr sz="1550" b="0" i="0">
                <a:solidFill>
                  <a:srgbClr val="2B2F38"/>
                </a:solidFill>
                <a:latin typeface="Segoe UI"/>
                <a:cs typeface="Segoe UI"/>
              </a:rPr>
              <a:t>أن تحدد إجراءً واحدًا على الأقل يمكنك تنفيذه في دورك لدعم الشمول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كيف سنتقدم معًا؟</a:t>
            </a:r>
          </a:p>
          <a:p>
            <a:pPr algn="r" rtl="1">
              <a:spcBef>
                <a:spcPts val="0"/>
              </a:spcBef>
              <a:spcAft>
                <a:spcPts val="0"/>
              </a:spcAft>
            </a:pPr>
            <a:r>
              <a:rPr sz="2800" b="1" i="0">
                <a:solidFill>
                  <a:srgbClr val="FFFFFF"/>
                </a:solidFill>
                <a:latin typeface="Segoe UI"/>
                <a:cs typeface="Segoe UI"/>
              </a:rPr>
              <a:t>رحلة التعلم في هذه الدورة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a:t>
            </a:r>
          </a:p>
        </p:txBody>
      </p:sp>
      <p:sp>
        <p:nvSpPr>
          <p:cNvPr id="9" name="Oval 8"/>
          <p:cNvSpPr/>
          <p:nvPr/>
        </p:nvSpPr>
        <p:spPr>
          <a:xfrm>
            <a:off x="10265511" y="1828800"/>
            <a:ext cx="768096" cy="768096"/>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1</a:t>
            </a:r>
          </a:p>
        </p:txBody>
      </p:sp>
      <p:sp>
        <p:nvSpPr>
          <p:cNvPr id="10" name="Rounded Rectangle 9"/>
          <p:cNvSpPr/>
          <p:nvPr/>
        </p:nvSpPr>
        <p:spPr>
          <a:xfrm>
            <a:off x="9620859" y="2834640"/>
            <a:ext cx="2057400" cy="17373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800" b="1" i="0">
                <a:solidFill>
                  <a:srgbClr val="1F3A93"/>
                </a:solidFill>
                <a:latin typeface="Segoe UI"/>
                <a:cs typeface="Segoe UI"/>
              </a:rPr>
              <a:t>الوعي</a:t>
            </a:r>
          </a:p>
          <a:p>
            <a:pPr algn="ctr" rtl="1">
              <a:spcBef>
                <a:spcPts val="200"/>
              </a:spcBef>
              <a:spcAft>
                <a:spcPts val="200"/>
              </a:spcAft>
            </a:pPr>
            <a:r>
              <a:rPr sz="1250" b="0" i="0">
                <a:solidFill>
                  <a:srgbClr val="2B2F38"/>
                </a:solidFill>
                <a:latin typeface="Segoe UI"/>
                <a:cs typeface="Segoe UI"/>
              </a:rPr>
              <a:t>ماذا يعني التعليم الشامل؟</a:t>
            </a:r>
          </a:p>
        </p:txBody>
      </p:sp>
      <p:sp>
        <p:nvSpPr>
          <p:cNvPr id="11" name="Oval 10"/>
          <p:cNvSpPr/>
          <p:nvPr/>
        </p:nvSpPr>
        <p:spPr>
          <a:xfrm>
            <a:off x="7988655" y="1828800"/>
            <a:ext cx="768096" cy="768096"/>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2</a:t>
            </a:r>
          </a:p>
        </p:txBody>
      </p:sp>
      <p:sp>
        <p:nvSpPr>
          <p:cNvPr id="12" name="Rounded Rectangle 11"/>
          <p:cNvSpPr/>
          <p:nvPr/>
        </p:nvSpPr>
        <p:spPr>
          <a:xfrm>
            <a:off x="7344003" y="2834640"/>
            <a:ext cx="2057400" cy="17373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800" b="1" i="0">
                <a:solidFill>
                  <a:srgbClr val="1F3A93"/>
                </a:solidFill>
                <a:latin typeface="Segoe UI"/>
                <a:cs typeface="Segoe UI"/>
              </a:rPr>
              <a:t>الفهم</a:t>
            </a:r>
          </a:p>
          <a:p>
            <a:pPr algn="ctr" rtl="1">
              <a:spcBef>
                <a:spcPts val="200"/>
              </a:spcBef>
              <a:spcAft>
                <a:spcPts val="200"/>
              </a:spcAft>
            </a:pPr>
            <a:r>
              <a:rPr sz="1250" b="0" i="0">
                <a:solidFill>
                  <a:srgbClr val="2B2F38"/>
                </a:solidFill>
                <a:latin typeface="Segoe UI"/>
                <a:cs typeface="Segoe UI"/>
              </a:rPr>
              <a:t>لماذا يهمنا؟ وكيف تبدو المدرسة الشاملة؟</a:t>
            </a:r>
          </a:p>
        </p:txBody>
      </p:sp>
      <p:sp>
        <p:nvSpPr>
          <p:cNvPr id="13" name="Oval 12"/>
          <p:cNvSpPr/>
          <p:nvPr/>
        </p:nvSpPr>
        <p:spPr>
          <a:xfrm>
            <a:off x="5711799" y="1828800"/>
            <a:ext cx="768096" cy="768096"/>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3</a:t>
            </a:r>
          </a:p>
        </p:txBody>
      </p:sp>
      <p:sp>
        <p:nvSpPr>
          <p:cNvPr id="14" name="Rounded Rectangle 13"/>
          <p:cNvSpPr/>
          <p:nvPr/>
        </p:nvSpPr>
        <p:spPr>
          <a:xfrm>
            <a:off x="5067147" y="2834640"/>
            <a:ext cx="2057400" cy="17373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800" b="1" i="0">
                <a:solidFill>
                  <a:srgbClr val="1F3A93"/>
                </a:solidFill>
                <a:latin typeface="Segoe UI"/>
                <a:cs typeface="Segoe UI"/>
              </a:rPr>
              <a:t>التأمل</a:t>
            </a:r>
          </a:p>
          <a:p>
            <a:pPr algn="ctr" rtl="1">
              <a:spcBef>
                <a:spcPts val="200"/>
              </a:spcBef>
              <a:spcAft>
                <a:spcPts val="200"/>
              </a:spcAft>
            </a:pPr>
            <a:r>
              <a:rPr sz="1250" b="0" i="0">
                <a:solidFill>
                  <a:srgbClr val="2B2F38"/>
                </a:solidFill>
                <a:latin typeface="Segoe UI"/>
                <a:cs typeface="Segoe UI"/>
              </a:rPr>
              <a:t>أين نحن اليوم؟ وما الحواجز حولنا؟</a:t>
            </a:r>
          </a:p>
        </p:txBody>
      </p:sp>
      <p:sp>
        <p:nvSpPr>
          <p:cNvPr id="15" name="Oval 14"/>
          <p:cNvSpPr/>
          <p:nvPr/>
        </p:nvSpPr>
        <p:spPr>
          <a:xfrm>
            <a:off x="3434943" y="1828800"/>
            <a:ext cx="768096" cy="768096"/>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4</a:t>
            </a:r>
          </a:p>
        </p:txBody>
      </p:sp>
      <p:sp>
        <p:nvSpPr>
          <p:cNvPr id="16" name="Rounded Rectangle 15"/>
          <p:cNvSpPr/>
          <p:nvPr/>
        </p:nvSpPr>
        <p:spPr>
          <a:xfrm>
            <a:off x="2790291" y="2834640"/>
            <a:ext cx="2057400" cy="17373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800" b="1" i="0">
                <a:solidFill>
                  <a:srgbClr val="1F3A93"/>
                </a:solidFill>
                <a:latin typeface="Segoe UI"/>
                <a:cs typeface="Segoe UI"/>
              </a:rPr>
              <a:t>التطبيق</a:t>
            </a:r>
          </a:p>
          <a:p>
            <a:pPr algn="ctr" rtl="1">
              <a:spcBef>
                <a:spcPts val="200"/>
              </a:spcBef>
              <a:spcAft>
                <a:spcPts val="200"/>
              </a:spcAft>
            </a:pPr>
            <a:r>
              <a:rPr sz="1250" b="0" i="0">
                <a:solidFill>
                  <a:srgbClr val="2B2F38"/>
                </a:solidFill>
                <a:latin typeface="Segoe UI"/>
                <a:cs typeface="Segoe UI"/>
              </a:rPr>
              <a:t>ممارسات يومية ودراسة حالة</a:t>
            </a:r>
          </a:p>
        </p:txBody>
      </p:sp>
      <p:sp>
        <p:nvSpPr>
          <p:cNvPr id="17" name="Oval 16"/>
          <p:cNvSpPr/>
          <p:nvPr/>
        </p:nvSpPr>
        <p:spPr>
          <a:xfrm>
            <a:off x="1158087" y="1828800"/>
            <a:ext cx="768096" cy="7680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5</a:t>
            </a:r>
          </a:p>
        </p:txBody>
      </p:sp>
      <p:sp>
        <p:nvSpPr>
          <p:cNvPr id="18" name="Rounded Rectangle 17"/>
          <p:cNvSpPr/>
          <p:nvPr/>
        </p:nvSpPr>
        <p:spPr>
          <a:xfrm>
            <a:off x="513435" y="2834640"/>
            <a:ext cx="2057400" cy="17373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800" b="1" i="0">
                <a:solidFill>
                  <a:srgbClr val="1F3A93"/>
                </a:solidFill>
                <a:latin typeface="Segoe UI"/>
                <a:cs typeface="Segoe UI"/>
              </a:rPr>
              <a:t>الالتزام</a:t>
            </a:r>
          </a:p>
          <a:p>
            <a:pPr algn="ctr" rtl="1">
              <a:spcBef>
                <a:spcPts val="200"/>
              </a:spcBef>
              <a:spcAft>
                <a:spcPts val="200"/>
              </a:spcAft>
            </a:pPr>
            <a:r>
              <a:rPr sz="1250" b="0" i="0">
                <a:solidFill>
                  <a:srgbClr val="2B2F38"/>
                </a:solidFill>
                <a:latin typeface="Segoe UI"/>
                <a:cs typeface="Segoe UI"/>
              </a:rPr>
              <a:t>خطة عملي الشخصية: ماذا سأفعل غدًا؟</a:t>
            </a:r>
          </a:p>
        </p:txBody>
      </p:sp>
      <p:sp>
        <p:nvSpPr>
          <p:cNvPr id="19" name="TextBox 18"/>
          <p:cNvSpPr txBox="1"/>
          <p:nvPr/>
        </p:nvSpPr>
        <p:spPr>
          <a:xfrm>
            <a:off x="502920" y="5029200"/>
            <a:ext cx="11183112" cy="1188720"/>
          </a:xfrm>
          <a:prstGeom prst="rect">
            <a:avLst/>
          </a:prstGeom>
          <a:noFill/>
        </p:spPr>
        <p:txBody>
          <a:bodyPr wrap="square" anchor="t" lIns="50800" rIns="50800" tIns="25400" bIns="25400">
            <a:spAutoFit/>
          </a:bodyPr>
          <a:lstStyle/>
          <a:p>
            <a:pPr algn="ctr" rtl="1">
              <a:spcBef>
                <a:spcPts val="400"/>
              </a:spcBef>
              <a:spcAft>
                <a:spcPts val="400"/>
              </a:spcAft>
            </a:pPr>
            <a:r>
              <a:rPr sz="1700" b="1" i="0">
                <a:solidFill>
                  <a:srgbClr val="1F3A93"/>
                </a:solidFill>
                <a:latin typeface="Segoe UI"/>
                <a:cs typeface="Segoe UI"/>
              </a:rPr>
              <a:t>من الوعي إلى الالتزام بالعمل — هذه ليست دورة للاستماع فقط، بل للتفكير والتطبيق.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 — نشاط تأملي</a:t>
            </a:r>
          </a:p>
          <a:p>
            <a:pPr algn="r" rtl="1">
              <a:spcBef>
                <a:spcPts val="0"/>
              </a:spcBef>
              <a:spcAft>
                <a:spcPts val="0"/>
              </a:spcAft>
            </a:pPr>
            <a:r>
              <a:rPr sz="2800" b="1" i="0">
                <a:solidFill>
                  <a:srgbClr val="FFFFFF"/>
                </a:solidFill>
                <a:latin typeface="Segoe UI"/>
                <a:cs typeface="Segoe UI"/>
              </a:rPr>
              <a:t>سؤال افتتاحي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تأمل وشارك</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عندما تسمع عبارة «التعليم الشامل»، ما أول ما يخطر في ذهنك؟</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اكتب إجابتك في ورقة العمل رقم (1) في كراسة المشارك — كلمة أو جملة أو صورة ذهنية. لا توجد إجابة صحيحة أو خاطئة.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2</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2</a:t>
            </a:r>
          </a:p>
          <a:p>
            <a:pPr algn="r" rtl="1">
              <a:spcBef>
                <a:spcPts val="600"/>
              </a:spcBef>
              <a:spcAft>
                <a:spcPts val="400"/>
              </a:spcAft>
            </a:pPr>
            <a:r>
              <a:rPr sz="4000" b="1" i="0">
                <a:solidFill>
                  <a:srgbClr val="FFFFFF"/>
                </a:solidFill>
                <a:latin typeface="Segoe UI"/>
                <a:cs typeface="Segoe UI"/>
              </a:rPr>
              <a:t>ما هو التعليم الشامل؟</a:t>
            </a:r>
          </a:p>
          <a:p>
            <a:pPr algn="r" rtl="1">
              <a:spcBef>
                <a:spcPts val="400"/>
              </a:spcBef>
              <a:spcAft>
                <a:spcPts val="400"/>
              </a:spcAft>
            </a:pPr>
            <a:r>
              <a:rPr sz="1600" b="0" i="0">
                <a:solidFill>
                  <a:srgbClr val="E4F6F6"/>
                </a:solidFill>
                <a:latin typeface="Segoe UI"/>
                <a:cs typeface="Segoe UI"/>
              </a:rPr>
              <a:t>What Is Inclusive Education?</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معنى التعليم الشامل بلغة بسيطة</a:t>
            </a:r>
          </a:p>
          <a:p>
            <a:pPr algn="r" rtl="1">
              <a:spcBef>
                <a:spcPts val="400"/>
              </a:spcBef>
            </a:pPr>
            <a:r>
              <a:rPr sz="1600" b="0" i="0">
                <a:solidFill>
                  <a:srgbClr val="FFFFFF"/>
                </a:solidFill>
                <a:latin typeface="Segoe UI"/>
                <a:cs typeface="Segoe UI"/>
              </a:rPr>
              <a:t>◂  لمن التعليم الشامل؟ ولماذا هو أوسع من الإعاقة؟</a:t>
            </a:r>
          </a:p>
          <a:p>
            <a:pPr algn="r" rtl="1">
              <a:spcBef>
                <a:spcPts val="400"/>
              </a:spcBef>
            </a:pPr>
            <a:r>
              <a:rPr sz="1600" b="0" i="0">
                <a:solidFill>
                  <a:srgbClr val="FFFFFF"/>
                </a:solidFill>
                <a:latin typeface="Segoe UI"/>
                <a:cs typeface="Segoe UI"/>
              </a:rPr>
              <a:t>◂  أربعة مفاتيح: التنوع، المشاركة، الانتماء، الوصول إلى التعلم</a:t>
            </a:r>
          </a:p>
          <a:p>
            <a:pPr algn="r" rtl="1">
              <a:spcBef>
                <a:spcPts val="400"/>
              </a:spcBef>
            </a:pPr>
            <a:r>
              <a:rPr sz="1600" b="0" i="0">
                <a:solidFill>
                  <a:srgbClr val="FFFFFF"/>
                </a:solidFill>
                <a:latin typeface="Segoe UI"/>
                <a:cs typeface="Segoe UI"/>
              </a:rPr>
              <a:t>◂  نشاط: هل هذا شمول؟</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a:t>
            </a:r>
          </a:p>
          <a:p>
            <a:pPr algn="r" rtl="1">
              <a:spcBef>
                <a:spcPts val="0"/>
              </a:spcBef>
              <a:spcAft>
                <a:spcPts val="0"/>
              </a:spcAft>
            </a:pPr>
            <a:r>
              <a:rPr sz="2800" b="1" i="0">
                <a:solidFill>
                  <a:srgbClr val="FFFFFF"/>
                </a:solidFill>
                <a:latin typeface="Segoe UI"/>
                <a:cs typeface="Segoe UI"/>
              </a:rPr>
              <a:t>التعليم الشامل ببساطة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7</a:t>
            </a:r>
          </a:p>
        </p:txBody>
      </p:sp>
      <p:sp>
        <p:nvSpPr>
          <p:cNvPr id="9" name="Rounded Rectangle 8"/>
          <p:cNvSpPr/>
          <p:nvPr/>
        </p:nvSpPr>
        <p:spPr>
          <a:xfrm>
            <a:off x="914400" y="1371600"/>
            <a:ext cx="10332720" cy="13716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التعليم الشامل هو أن يجد كل طالب مكانه في المدرسة:</a:t>
            </a:r>
          </a:p>
          <a:p>
            <a:pPr algn="ctr" rtl="1">
              <a:spcBef>
                <a:spcPts val="200"/>
              </a:spcBef>
              <a:spcAft>
                <a:spcPts val="200"/>
              </a:spcAft>
            </a:pPr>
            <a:r>
              <a:rPr sz="1800" b="0" i="0">
                <a:solidFill>
                  <a:srgbClr val="E4F6F6"/>
                </a:solidFill>
                <a:latin typeface="Segoe UI"/>
                <a:cs typeface="Segoe UI"/>
              </a:rPr>
              <a:t>يتعلم مع أقرانه، ويشارك في الحياة المدرسية، ويحصل على الدعم الذي يحتاجه ليتقدم.</a:t>
            </a:r>
          </a:p>
        </p:txBody>
      </p:sp>
      <p:sp>
        <p:nvSpPr>
          <p:cNvPr id="10" name="TextBox 9"/>
          <p:cNvSpPr txBox="1"/>
          <p:nvPr/>
        </p:nvSpPr>
        <p:spPr>
          <a:xfrm>
            <a:off x="502920" y="2971800"/>
            <a:ext cx="11183112" cy="3108960"/>
          </a:xfrm>
          <a:prstGeom prst="rect">
            <a:avLst/>
          </a:prstGeom>
          <a:noFill/>
        </p:spPr>
        <p:txBody>
          <a:bodyPr wrap="square" anchor="t" lIns="50800" rIns="50800" tIns="25400" bIns="25400">
            <a:spAutoFit/>
          </a:bodyPr>
          <a:lstStyle/>
          <a:p>
            <a:pPr algn="r" rtl="1">
              <a:spcBef>
                <a:spcPts val="400"/>
              </a:spcBef>
              <a:spcAft>
                <a:spcPts val="400"/>
              </a:spcAft>
            </a:pPr>
            <a:r>
              <a:rPr sz="1900" b="1" i="0">
                <a:solidFill>
                  <a:srgbClr val="1F3A93"/>
                </a:solidFill>
                <a:latin typeface="Segoe UI"/>
                <a:cs typeface="Segoe UI"/>
              </a:rPr>
              <a:t>ماذا يعني ذلك عمليًا في مدرستنا؟</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المدرسة تتكيّف مع الطلاب، لا أن يُطلب من الطلاب وحدهم التكيّف مع المدرسة.</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التركيز على إزالة الحواجز أمام التعلم والمشاركة، لا على «إصلاح» الطالب.</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الدعم يُقدَّم حسب الحاجة داخل الصف قدر الإمكان، وليس بعزل الطالب عن أقرانه.</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الاختلاف بين الطلاب أمر طبيعي ومتوقع، ونخطط له مسبقًا بدل أن نتفاجأ به.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 — أوسع من الإعاقة</a:t>
            </a:r>
          </a:p>
          <a:p>
            <a:pPr algn="r" rtl="1">
              <a:spcBef>
                <a:spcPts val="0"/>
              </a:spcBef>
              <a:spcAft>
                <a:spcPts val="0"/>
              </a:spcAft>
            </a:pPr>
            <a:r>
              <a:rPr sz="2800" b="1" i="0">
                <a:solidFill>
                  <a:srgbClr val="FFFFFF"/>
                </a:solidFill>
                <a:latin typeface="Segoe UI"/>
                <a:cs typeface="Segoe UI"/>
              </a:rPr>
              <a:t>لمن التعليم الشامل؟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8</a:t>
            </a:r>
          </a:p>
        </p:txBody>
      </p:sp>
      <p:sp>
        <p:nvSpPr>
          <p:cNvPr id="9" name="Rounded Rectangle 8"/>
          <p:cNvSpPr/>
          <p:nvPr/>
        </p:nvSpPr>
        <p:spPr>
          <a:xfrm>
            <a:off x="2011680" y="1325880"/>
            <a:ext cx="8138160" cy="7772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162B6B"/>
                </a:solidFill>
                <a:latin typeface="Segoe UI"/>
                <a:cs typeface="Segoe UI"/>
              </a:rPr>
              <a:t>التعليم الشامل لجميع الطلاب — وليس لفئة واحدة فقط</a:t>
            </a:r>
          </a:p>
        </p:txBody>
      </p:sp>
      <p:sp>
        <p:nvSpPr>
          <p:cNvPr id="10" name="TextBox 9"/>
          <p:cNvSpPr txBox="1"/>
          <p:nvPr/>
        </p:nvSpPr>
        <p:spPr>
          <a:xfrm>
            <a:off x="502920" y="2286000"/>
            <a:ext cx="11183112" cy="914400"/>
          </a:xfrm>
          <a:prstGeom prst="rect">
            <a:avLst/>
          </a:prstGeom>
          <a:noFill/>
        </p:spPr>
        <p:txBody>
          <a:bodyPr wrap="square" anchor="t" lIns="50800" rIns="50800" tIns="25400" bIns="25400">
            <a:spAutoFit/>
          </a:bodyPr>
          <a:lstStyle/>
          <a:p>
            <a:pPr algn="r" rtl="1">
              <a:spcBef>
                <a:spcPts val="400"/>
              </a:spcBef>
              <a:spcAft>
                <a:spcPts val="400"/>
              </a:spcAft>
            </a:pPr>
            <a:r>
              <a:rPr sz="1700" b="1" i="0">
                <a:solidFill>
                  <a:srgbClr val="1F3A93"/>
                </a:solidFill>
                <a:latin typeface="Segoe UI"/>
                <a:cs typeface="Segoe UI"/>
              </a:rPr>
              <a:t>يشمل ذلك — على سبيل المثال لا الحصر — الطلاب الذين قد يواجهون حواجز بسبب:</a:t>
            </a:r>
          </a:p>
        </p:txBody>
      </p:sp>
      <p:sp>
        <p:nvSpPr>
          <p:cNvPr id="11" name="Rounded Rectangle 10"/>
          <p:cNvSpPr/>
          <p:nvPr/>
        </p:nvSpPr>
        <p:spPr>
          <a:xfrm>
            <a:off x="8092440" y="306324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إعاقة أو صعوبات تعلم</a:t>
            </a:r>
          </a:p>
          <a:p>
            <a:pPr algn="r" rtl="1">
              <a:spcBef>
                <a:spcPts val="200"/>
              </a:spcBef>
              <a:spcAft>
                <a:spcPts val="200"/>
              </a:spcAft>
            </a:pPr>
            <a:r>
              <a:rPr sz="1250" b="0" i="0">
                <a:solidFill>
                  <a:srgbClr val="2B2F38"/>
                </a:solidFill>
                <a:latin typeface="Segoe UI"/>
                <a:cs typeface="Segoe UI"/>
              </a:rPr>
              <a:t>حركية، حسية، صعوبات قراءة أو كتابة أو حساب</a:t>
            </a:r>
          </a:p>
        </p:txBody>
      </p:sp>
      <p:sp>
        <p:nvSpPr>
          <p:cNvPr id="12" name="Rounded Rectangle 11"/>
          <p:cNvSpPr/>
          <p:nvPr/>
        </p:nvSpPr>
        <p:spPr>
          <a:xfrm>
            <a:off x="4297680" y="306324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اللغة</a:t>
            </a:r>
          </a:p>
          <a:p>
            <a:pPr algn="r" rtl="1">
              <a:spcBef>
                <a:spcPts val="200"/>
              </a:spcBef>
              <a:spcAft>
                <a:spcPts val="200"/>
              </a:spcAft>
            </a:pPr>
            <a:r>
              <a:rPr sz="1250" b="0" i="0">
                <a:solidFill>
                  <a:srgbClr val="2B2F38"/>
                </a:solidFill>
                <a:latin typeface="Segoe UI"/>
                <a:cs typeface="Segoe UI"/>
              </a:rPr>
              <a:t>لغة المنزل تختلف عن لغة التدريس</a:t>
            </a:r>
          </a:p>
        </p:txBody>
      </p:sp>
      <p:sp>
        <p:nvSpPr>
          <p:cNvPr id="13" name="Rounded Rectangle 12"/>
          <p:cNvSpPr/>
          <p:nvPr/>
        </p:nvSpPr>
        <p:spPr>
          <a:xfrm>
            <a:off x="502920" y="306324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ظروف اجتماعية أو اقتصادية</a:t>
            </a:r>
          </a:p>
          <a:p>
            <a:pPr algn="r" rtl="1">
              <a:spcBef>
                <a:spcPts val="200"/>
              </a:spcBef>
              <a:spcAft>
                <a:spcPts val="200"/>
              </a:spcAft>
            </a:pPr>
            <a:r>
              <a:rPr sz="1250" b="0" i="0">
                <a:solidFill>
                  <a:srgbClr val="2B2F38"/>
                </a:solidFill>
                <a:latin typeface="Segoe UI"/>
                <a:cs typeface="Segoe UI"/>
              </a:rPr>
              <a:t>تنقل متكرر، غياب طويل، ظروف أسرية</a:t>
            </a:r>
          </a:p>
        </p:txBody>
      </p:sp>
      <p:sp>
        <p:nvSpPr>
          <p:cNvPr id="14" name="Rounded Rectangle 13"/>
          <p:cNvSpPr/>
          <p:nvPr/>
        </p:nvSpPr>
        <p:spPr>
          <a:xfrm>
            <a:off x="8092440" y="461772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فجوات تعلم سابقة</a:t>
            </a:r>
          </a:p>
          <a:p>
            <a:pPr algn="r" rtl="1">
              <a:spcBef>
                <a:spcPts val="200"/>
              </a:spcBef>
              <a:spcAft>
                <a:spcPts val="200"/>
              </a:spcAft>
            </a:pPr>
            <a:r>
              <a:rPr sz="1250" b="0" i="0">
                <a:solidFill>
                  <a:srgbClr val="2B2F38"/>
                </a:solidFill>
                <a:latin typeface="Segoe UI"/>
                <a:cs typeface="Segoe UI"/>
              </a:rPr>
              <a:t>معرفة سابقة أقل من مستوى الصف</a:t>
            </a:r>
          </a:p>
        </p:txBody>
      </p:sp>
      <p:sp>
        <p:nvSpPr>
          <p:cNvPr id="15" name="Rounded Rectangle 14"/>
          <p:cNvSpPr/>
          <p:nvPr/>
        </p:nvSpPr>
        <p:spPr>
          <a:xfrm>
            <a:off x="4297680" y="461772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احتياجات انفعالية أو سلوكية</a:t>
            </a:r>
          </a:p>
          <a:p>
            <a:pPr algn="r" rtl="1">
              <a:spcBef>
                <a:spcPts val="200"/>
              </a:spcBef>
              <a:spcAft>
                <a:spcPts val="200"/>
              </a:spcAft>
            </a:pPr>
            <a:r>
              <a:rPr sz="1250" b="0" i="0">
                <a:solidFill>
                  <a:srgbClr val="2B2F38"/>
                </a:solidFill>
                <a:latin typeface="Segoe UI"/>
                <a:cs typeface="Segoe UI"/>
              </a:rPr>
              <a:t>قلق، انسحاب، صعوبة في تنظيم الانفعالات</a:t>
            </a:r>
          </a:p>
        </p:txBody>
      </p:sp>
      <p:sp>
        <p:nvSpPr>
          <p:cNvPr id="16" name="Rounded Rectangle 15"/>
          <p:cNvSpPr/>
          <p:nvPr/>
        </p:nvSpPr>
        <p:spPr>
          <a:xfrm>
            <a:off x="502920" y="4617720"/>
            <a:ext cx="360273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موهبة وتفوّق</a:t>
            </a:r>
          </a:p>
          <a:p>
            <a:pPr algn="r" rtl="1">
              <a:spcBef>
                <a:spcPts val="200"/>
              </a:spcBef>
              <a:spcAft>
                <a:spcPts val="200"/>
              </a:spcAft>
            </a:pPr>
            <a:r>
              <a:rPr sz="1250" b="0" i="0">
                <a:solidFill>
                  <a:srgbClr val="2B2F38"/>
                </a:solidFill>
                <a:latin typeface="Segoe UI"/>
                <a:cs typeface="Segoe UI"/>
              </a:rPr>
              <a:t>طلاب يحتاجون تحديًا أكبر حتى لا يفقدوا الدافعية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a:t>
            </a:r>
          </a:p>
          <a:p>
            <a:pPr algn="r" rtl="1">
              <a:spcBef>
                <a:spcPts val="0"/>
              </a:spcBef>
              <a:spcAft>
                <a:spcPts val="0"/>
              </a:spcAft>
            </a:pPr>
            <a:r>
              <a:rPr sz="2800" b="1" i="0">
                <a:solidFill>
                  <a:srgbClr val="FFFFFF"/>
                </a:solidFill>
                <a:latin typeface="Segoe UI"/>
                <a:cs typeface="Segoe UI"/>
              </a:rPr>
              <a:t>أربعة مفاتيح لفهم الشمول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9</a:t>
            </a:r>
          </a:p>
        </p:txBody>
      </p:sp>
      <p:sp>
        <p:nvSpPr>
          <p:cNvPr id="9" name="Rounded Rectangle 8"/>
          <p:cNvSpPr/>
          <p:nvPr/>
        </p:nvSpPr>
        <p:spPr>
          <a:xfrm>
            <a:off x="6208776" y="1371600"/>
            <a:ext cx="5477256" cy="23774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2000" b="1" i="0">
                <a:solidFill>
                  <a:srgbClr val="1F3A93"/>
                </a:solidFill>
                <a:latin typeface="Segoe UI"/>
                <a:cs typeface="Segoe UI"/>
              </a:rPr>
              <a:t>التنوع</a:t>
            </a:r>
          </a:p>
          <a:p>
            <a:pPr algn="r" rtl="1">
              <a:spcBef>
                <a:spcPts val="400"/>
              </a:spcBef>
            </a:pPr>
            <a:r>
              <a:rPr sz="1500" b="0" i="0">
                <a:solidFill>
                  <a:srgbClr val="2B2F38"/>
                </a:solidFill>
                <a:latin typeface="Segoe UI"/>
                <a:cs typeface="Segoe UI"/>
              </a:rPr>
              <a:t>الطلاب يختلفون في قدراتهم وخلفياتهم وطرق تعلمهم — وهذا هو الوضع الطبيعي في أي صف.</a:t>
            </a:r>
          </a:p>
        </p:txBody>
      </p:sp>
      <p:sp>
        <p:nvSpPr>
          <p:cNvPr id="10" name="Oval 9"/>
          <p:cNvSpPr/>
          <p:nvPr/>
        </p:nvSpPr>
        <p:spPr>
          <a:xfrm>
            <a:off x="10908792" y="1572768"/>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1</a:t>
            </a:r>
          </a:p>
        </p:txBody>
      </p:sp>
      <p:sp>
        <p:nvSpPr>
          <p:cNvPr id="11" name="Rounded Rectangle 10"/>
          <p:cNvSpPr/>
          <p:nvPr/>
        </p:nvSpPr>
        <p:spPr>
          <a:xfrm>
            <a:off x="502920" y="1371600"/>
            <a:ext cx="5477256" cy="23774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2000" b="1" i="0">
                <a:solidFill>
                  <a:srgbClr val="1F3A93"/>
                </a:solidFill>
                <a:latin typeface="Segoe UI"/>
                <a:cs typeface="Segoe UI"/>
              </a:rPr>
              <a:t>المشاركة</a:t>
            </a:r>
          </a:p>
          <a:p>
            <a:pPr algn="r" rtl="1">
              <a:spcBef>
                <a:spcPts val="400"/>
              </a:spcBef>
            </a:pPr>
            <a:r>
              <a:rPr sz="1500" b="0" i="0">
                <a:solidFill>
                  <a:srgbClr val="2B2F38"/>
                </a:solidFill>
                <a:latin typeface="Segoe UI"/>
                <a:cs typeface="Segoe UI"/>
              </a:rPr>
              <a:t>أن يكون الطالب حاضرًا ومنخرطًا فعليًا في التعلم والأنشطة، لا موجودًا في المقعد فقط.</a:t>
            </a:r>
          </a:p>
        </p:txBody>
      </p:sp>
      <p:sp>
        <p:nvSpPr>
          <p:cNvPr id="12" name="Oval 11"/>
          <p:cNvSpPr/>
          <p:nvPr/>
        </p:nvSpPr>
        <p:spPr>
          <a:xfrm>
            <a:off x="5202936" y="1572768"/>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2</a:t>
            </a:r>
          </a:p>
        </p:txBody>
      </p:sp>
      <p:sp>
        <p:nvSpPr>
          <p:cNvPr id="13" name="Rounded Rectangle 12"/>
          <p:cNvSpPr/>
          <p:nvPr/>
        </p:nvSpPr>
        <p:spPr>
          <a:xfrm>
            <a:off x="6208776" y="3950208"/>
            <a:ext cx="5477256" cy="23774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2000" b="1" i="0">
                <a:solidFill>
                  <a:srgbClr val="1F3A93"/>
                </a:solidFill>
                <a:latin typeface="Segoe UI"/>
                <a:cs typeface="Segoe UI"/>
              </a:rPr>
              <a:t>الانتماء</a:t>
            </a:r>
          </a:p>
          <a:p>
            <a:pPr algn="r" rtl="1">
              <a:spcBef>
                <a:spcPts val="400"/>
              </a:spcBef>
            </a:pPr>
            <a:r>
              <a:rPr sz="1500" b="0" i="0">
                <a:solidFill>
                  <a:srgbClr val="2B2F38"/>
                </a:solidFill>
                <a:latin typeface="Segoe UI"/>
                <a:cs typeface="Segoe UI"/>
              </a:rPr>
              <a:t>أن يشعر الطالب بأنه مقبول ومرحَّب به وعضو حقيقي في مجتمع الصف والمدرسة.</a:t>
            </a:r>
          </a:p>
        </p:txBody>
      </p:sp>
      <p:sp>
        <p:nvSpPr>
          <p:cNvPr id="14" name="Oval 13"/>
          <p:cNvSpPr/>
          <p:nvPr/>
        </p:nvSpPr>
        <p:spPr>
          <a:xfrm>
            <a:off x="10908792" y="4151376"/>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3</a:t>
            </a:r>
          </a:p>
        </p:txBody>
      </p:sp>
      <p:sp>
        <p:nvSpPr>
          <p:cNvPr id="15" name="Rounded Rectangle 14"/>
          <p:cNvSpPr/>
          <p:nvPr/>
        </p:nvSpPr>
        <p:spPr>
          <a:xfrm>
            <a:off x="502920" y="3950208"/>
            <a:ext cx="5477256" cy="23774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2000" b="1" i="0">
                <a:solidFill>
                  <a:srgbClr val="1F3A93"/>
                </a:solidFill>
                <a:latin typeface="Segoe UI"/>
                <a:cs typeface="Segoe UI"/>
              </a:rPr>
              <a:t>الوصول والدعم</a:t>
            </a:r>
          </a:p>
          <a:p>
            <a:pPr algn="r" rtl="1">
              <a:spcBef>
                <a:spcPts val="400"/>
              </a:spcBef>
            </a:pPr>
            <a:r>
              <a:rPr sz="1500" b="0" i="0">
                <a:solidFill>
                  <a:srgbClr val="2B2F38"/>
                </a:solidFill>
                <a:latin typeface="Segoe UI"/>
                <a:cs typeface="Segoe UI"/>
              </a:rPr>
              <a:t>أن يصل كل طالب إلى المنهج والأنشطة والمرافق، ويحصل على الدعم بحسب حاجته.</a:t>
            </a:r>
          </a:p>
        </p:txBody>
      </p:sp>
      <p:sp>
        <p:nvSpPr>
          <p:cNvPr id="16" name="Oval 15"/>
          <p:cNvSpPr/>
          <p:nvPr/>
        </p:nvSpPr>
        <p:spPr>
          <a:xfrm>
            <a:off x="5202936" y="4151376"/>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 — نشاط</a:t>
            </a:r>
          </a:p>
          <a:p>
            <a:pPr algn="r" rtl="1">
              <a:spcBef>
                <a:spcPts val="0"/>
              </a:spcBef>
              <a:spcAft>
                <a:spcPts val="0"/>
              </a:spcAft>
            </a:pPr>
            <a:r>
              <a:rPr sz="2800" b="1" i="0">
                <a:solidFill>
                  <a:srgbClr val="FFFFFF"/>
                </a:solidFill>
                <a:latin typeface="Segoe UI"/>
                <a:cs typeface="Segoe UI"/>
              </a:rPr>
              <a:t>نشاط: هل هذا شمول؟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10</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نشاط تفاعلي</a:t>
            </a:r>
          </a:p>
        </p:txBody>
      </p:sp>
      <p:sp>
        <p:nvSpPr>
          <p:cNvPr id="10" name="TextBox 9"/>
          <p:cNvSpPr txBox="1"/>
          <p:nvPr/>
        </p:nvSpPr>
        <p:spPr>
          <a:xfrm>
            <a:off x="502920" y="1234440"/>
            <a:ext cx="8595360" cy="685800"/>
          </a:xfrm>
          <a:prstGeom prst="rect">
            <a:avLst/>
          </a:prstGeom>
          <a:noFill/>
        </p:spPr>
        <p:txBody>
          <a:bodyPr wrap="square" anchor="t" lIns="50800" rIns="50800" tIns="25400" bIns="25400">
            <a:spAutoFit/>
          </a:bodyPr>
          <a:lstStyle/>
          <a:p>
            <a:pPr algn="r" rtl="1">
              <a:spcBef>
                <a:spcPts val="400"/>
              </a:spcBef>
              <a:spcAft>
                <a:spcPts val="400"/>
              </a:spcAft>
            </a:pPr>
            <a:r>
              <a:rPr sz="1600" b="1" i="0">
                <a:solidFill>
                  <a:srgbClr val="1F3A93"/>
                </a:solidFill>
                <a:latin typeface="Segoe UI"/>
                <a:cs typeface="Segoe UI"/>
              </a:rPr>
              <a:t>لكل موقف: قرر — ممارسة شاملة؟ شاملة جزئيًا؟ غير شاملة؟ سجّل إجابتك في ورقة العمل (2).</a:t>
            </a:r>
          </a:p>
        </p:txBody>
      </p:sp>
      <p:sp>
        <p:nvSpPr>
          <p:cNvPr id="11" name="Rounded Rectangle 10"/>
          <p:cNvSpPr/>
          <p:nvPr/>
        </p:nvSpPr>
        <p:spPr>
          <a:xfrm>
            <a:off x="502920" y="1965960"/>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1:  </a:t>
            </a:r>
            <a:r>
              <a:rPr sz="1500" b="0" i="0">
                <a:solidFill>
                  <a:srgbClr val="2B2F38"/>
                </a:solidFill>
                <a:latin typeface="Segoe UI"/>
                <a:cs typeface="Segoe UI"/>
              </a:rPr>
              <a:t>طالب لديه ضعف بصري يجلس في المقاعد الخلفية، والمعلم يكتب على السبورة بخط صغير دون قراءة ما يكتبه بصوت مسموع.</a:t>
            </a:r>
          </a:p>
        </p:txBody>
      </p:sp>
      <p:sp>
        <p:nvSpPr>
          <p:cNvPr id="12" name="Rounded Rectangle 11"/>
          <p:cNvSpPr/>
          <p:nvPr/>
        </p:nvSpPr>
        <p:spPr>
          <a:xfrm>
            <a:off x="502920" y="286572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2:  </a:t>
            </a:r>
            <a:r>
              <a:rPr sz="1500" b="0" i="0">
                <a:solidFill>
                  <a:srgbClr val="2B2F38"/>
                </a:solidFill>
                <a:latin typeface="Segoe UI"/>
                <a:cs typeface="Segoe UI"/>
              </a:rPr>
              <a:t>معلمة تقدّم التعليمات شفهيًا ثم تعرضها مكتوبة بنقاط قصيرة، وتتأكد من الفهم قبل بدء المهمة.</a:t>
            </a:r>
          </a:p>
        </p:txBody>
      </p:sp>
      <p:sp>
        <p:nvSpPr>
          <p:cNvPr id="13" name="Rounded Rectangle 12"/>
          <p:cNvSpPr/>
          <p:nvPr/>
        </p:nvSpPr>
        <p:spPr>
          <a:xfrm>
            <a:off x="502920" y="376549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3:  </a:t>
            </a:r>
            <a:r>
              <a:rPr sz="1500" b="0" i="0">
                <a:solidFill>
                  <a:srgbClr val="2B2F38"/>
                </a:solidFill>
                <a:latin typeface="Segoe UI"/>
                <a:cs typeface="Segoe UI"/>
              </a:rPr>
              <a:t>طالب يتلقى دعمًا فرديًا في القراءة خارج الصف طوال اليوم الدراسي كل يوم، ولا يشارك أقرانه إلا في الطابور.</a:t>
            </a:r>
          </a:p>
        </p:txBody>
      </p:sp>
      <p:sp>
        <p:nvSpPr>
          <p:cNvPr id="14" name="Rounded Rectangle 13"/>
          <p:cNvSpPr/>
          <p:nvPr/>
        </p:nvSpPr>
        <p:spPr>
          <a:xfrm>
            <a:off x="502920" y="466526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4:  </a:t>
            </a:r>
            <a:r>
              <a:rPr sz="1500" b="0" i="0">
                <a:solidFill>
                  <a:srgbClr val="2B2F38"/>
                </a:solidFill>
                <a:latin typeface="Segoe UI"/>
                <a:cs typeface="Segoe UI"/>
              </a:rPr>
              <a:t>المدرسة تنظم رحلة، وتختار مكانًا مناسبًا للجميع وتخطط مسبقًا لمشاركة طالب يستخدم كرسيًا متحركًا في الأنشطة.</a:t>
            </a:r>
          </a:p>
        </p:txBody>
      </p:sp>
      <p:sp>
        <p:nvSpPr>
          <p:cNvPr id="15" name="Rounded Rectangle 14"/>
          <p:cNvSpPr/>
          <p:nvPr/>
        </p:nvSpPr>
        <p:spPr>
          <a:xfrm>
            <a:off x="502920" y="556503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5:  </a:t>
            </a:r>
            <a:r>
              <a:rPr sz="1500" b="0" i="0">
                <a:solidFill>
                  <a:srgbClr val="2B2F38"/>
                </a:solidFill>
                <a:latin typeface="Segoe UI"/>
                <a:cs typeface="Segoe UI"/>
              </a:rPr>
              <a:t>معلم يمنح طالبًا بطيء الكتابة وقتًا إضافيًا في المهام الكتابية، لكنه لا يتيح له المشاركة الشفهية في النقاش «حتى لا يتأخر الصف».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 — تغذية راجعة</a:t>
            </a:r>
          </a:p>
          <a:p>
            <a:pPr algn="r" rtl="1">
              <a:spcBef>
                <a:spcPts val="0"/>
              </a:spcBef>
              <a:spcAft>
                <a:spcPts val="0"/>
              </a:spcAft>
            </a:pPr>
            <a:r>
              <a:rPr sz="2800" b="1" i="0">
                <a:solidFill>
                  <a:srgbClr val="FFFFFF"/>
                </a:solidFill>
                <a:latin typeface="Segoe UI"/>
                <a:cs typeface="Segoe UI"/>
              </a:rPr>
              <a:t>هل هذا شمول؟ — الإجابات والتفسير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11</a:t>
            </a:r>
          </a:p>
        </p:txBody>
      </p:sp>
      <p:sp>
        <p:nvSpPr>
          <p:cNvPr id="9" name="Rounded Rectangle 8"/>
          <p:cNvSpPr/>
          <p:nvPr/>
        </p:nvSpPr>
        <p:spPr>
          <a:xfrm>
            <a:off x="502920" y="1325880"/>
            <a:ext cx="11183112" cy="927201"/>
          </a:xfrm>
          <a:prstGeom prst="roundRect">
            <a:avLst>
              <a:gd name="adj" fmla="val 8000"/>
            </a:avLst>
          </a:prstGeom>
          <a:solidFill>
            <a:srgbClr val="FFFFFF"/>
          </a:solidFill>
          <a:ln w="12700">
            <a:solidFill>
              <a:srgbClr val="B0333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1 — </a:t>
            </a:r>
            <a:r>
              <a:rPr sz="1500" b="1" i="0">
                <a:solidFill>
                  <a:srgbClr val="B03333"/>
                </a:solidFill>
                <a:latin typeface="Segoe UI"/>
                <a:cs typeface="Segoe UI"/>
              </a:rPr>
              <a:t>غير شاملة</a:t>
            </a:r>
          </a:p>
          <a:p>
            <a:pPr algn="r" rtl="1">
              <a:spcBef>
                <a:spcPts val="200"/>
              </a:spcBef>
            </a:pPr>
            <a:r>
              <a:rPr sz="1350" b="0" i="0">
                <a:solidFill>
                  <a:srgbClr val="2B2F38"/>
                </a:solidFill>
                <a:latin typeface="Segoe UI"/>
                <a:cs typeface="Segoe UI"/>
              </a:rPr>
              <a:t>حاجز مزدوج: مكان الجلوس وطريقة العرض يمنعان الوصول إلى المحتوى. الحل بسيط: مقعد أمامي، خط أكبر، وقراءة ما يُكتب بصوت مسموع.</a:t>
            </a:r>
          </a:p>
        </p:txBody>
      </p:sp>
      <p:sp>
        <p:nvSpPr>
          <p:cNvPr id="10" name="Rounded Rectangle 9"/>
          <p:cNvSpPr/>
          <p:nvPr/>
        </p:nvSpPr>
        <p:spPr>
          <a:xfrm>
            <a:off x="502920" y="2362809"/>
            <a:ext cx="11183112" cy="927201"/>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2 — </a:t>
            </a:r>
            <a:r>
              <a:rPr sz="1500" b="1" i="0">
                <a:solidFill>
                  <a:srgbClr val="2BB3B1"/>
                </a:solidFill>
                <a:latin typeface="Segoe UI"/>
                <a:cs typeface="Segoe UI"/>
              </a:rPr>
              <a:t>ممارسة شاملة</a:t>
            </a:r>
          </a:p>
          <a:p>
            <a:pPr algn="r" rtl="1">
              <a:spcBef>
                <a:spcPts val="200"/>
              </a:spcBef>
            </a:pPr>
            <a:r>
              <a:rPr sz="1350" b="0" i="0">
                <a:solidFill>
                  <a:srgbClr val="2B2F38"/>
                </a:solidFill>
                <a:latin typeface="Segoe UI"/>
                <a:cs typeface="Segoe UI"/>
              </a:rPr>
              <a:t>تعليمات متعددة القنوات (سمعية + بصرية) مع التحقق من الفهم — تفيد الجميع ولا تكلف شيئًا.</a:t>
            </a:r>
          </a:p>
        </p:txBody>
      </p:sp>
      <p:sp>
        <p:nvSpPr>
          <p:cNvPr id="11" name="Rounded Rectangle 10"/>
          <p:cNvSpPr/>
          <p:nvPr/>
        </p:nvSpPr>
        <p:spPr>
          <a:xfrm>
            <a:off x="502920" y="3399739"/>
            <a:ext cx="11183112" cy="927201"/>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3 — </a:t>
            </a:r>
            <a:r>
              <a:rPr sz="1500" b="1" i="0">
                <a:solidFill>
                  <a:srgbClr val="C9A227"/>
                </a:solidFill>
                <a:latin typeface="Segoe UI"/>
                <a:cs typeface="Segoe UI"/>
              </a:rPr>
              <a:t>شاملة جزئيًا</a:t>
            </a:r>
          </a:p>
          <a:p>
            <a:pPr algn="r" rtl="1">
              <a:spcBef>
                <a:spcPts val="200"/>
              </a:spcBef>
            </a:pPr>
            <a:r>
              <a:rPr sz="1350" b="0" i="0">
                <a:solidFill>
                  <a:srgbClr val="2B2F38"/>
                </a:solidFill>
                <a:latin typeface="Segoe UI"/>
                <a:cs typeface="Segoe UI"/>
              </a:rPr>
              <a:t>الدعم الفردي جيد، لكن العزل شبه الكامل عن الأقران يضعف الانتماء والمشاركة. الأفضل: دعم مركّز محدود الوقت مع بقاء الطالب مع صفه معظم اليوم.</a:t>
            </a:r>
          </a:p>
        </p:txBody>
      </p:sp>
      <p:sp>
        <p:nvSpPr>
          <p:cNvPr id="12" name="Rounded Rectangle 11"/>
          <p:cNvSpPr/>
          <p:nvPr/>
        </p:nvSpPr>
        <p:spPr>
          <a:xfrm>
            <a:off x="502920" y="4436668"/>
            <a:ext cx="11183112" cy="927201"/>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4 — </a:t>
            </a:r>
            <a:r>
              <a:rPr sz="1500" b="1" i="0">
                <a:solidFill>
                  <a:srgbClr val="2BB3B1"/>
                </a:solidFill>
                <a:latin typeface="Segoe UI"/>
                <a:cs typeface="Segoe UI"/>
              </a:rPr>
              <a:t>ممارسة شاملة</a:t>
            </a:r>
          </a:p>
          <a:p>
            <a:pPr algn="r" rtl="1">
              <a:spcBef>
                <a:spcPts val="200"/>
              </a:spcBef>
            </a:pPr>
            <a:r>
              <a:rPr sz="1350" b="0" i="0">
                <a:solidFill>
                  <a:srgbClr val="2B2F38"/>
                </a:solidFill>
                <a:latin typeface="Segoe UI"/>
                <a:cs typeface="Segoe UI"/>
              </a:rPr>
              <a:t>تخطيط مسبق لمشاركة الجميع — الشمول هنا قرار اتُّخذ قبل الرحلة، لا ترقيع بعد وقوع المشكلة.</a:t>
            </a:r>
          </a:p>
        </p:txBody>
      </p:sp>
      <p:sp>
        <p:nvSpPr>
          <p:cNvPr id="13" name="Rounded Rectangle 12"/>
          <p:cNvSpPr/>
          <p:nvPr/>
        </p:nvSpPr>
        <p:spPr>
          <a:xfrm>
            <a:off x="502920" y="5473598"/>
            <a:ext cx="11183112" cy="927201"/>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5 — </a:t>
            </a:r>
            <a:r>
              <a:rPr sz="1500" b="1" i="0">
                <a:solidFill>
                  <a:srgbClr val="C9A227"/>
                </a:solidFill>
                <a:latin typeface="Segoe UI"/>
                <a:cs typeface="Segoe UI"/>
              </a:rPr>
              <a:t>شاملة جزئيًا</a:t>
            </a:r>
          </a:p>
          <a:p>
            <a:pPr algn="r" rtl="1">
              <a:spcBef>
                <a:spcPts val="200"/>
              </a:spcBef>
            </a:pPr>
            <a:r>
              <a:rPr sz="1350" b="0" i="0">
                <a:solidFill>
                  <a:srgbClr val="2B2F38"/>
                </a:solidFill>
                <a:latin typeface="Segoe UI"/>
                <a:cs typeface="Segoe UI"/>
              </a:rPr>
              <a:t>الوقت الإضافي إنصاف جيد، لكن حرمان الطالب من المشاركة الشفهية يستبعده من التعلم مع أقرانه ويضعف انتماءه.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3</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3</a:t>
            </a:r>
          </a:p>
          <a:p>
            <a:pPr algn="r" rtl="1">
              <a:spcBef>
                <a:spcPts val="600"/>
              </a:spcBef>
              <a:spcAft>
                <a:spcPts val="400"/>
              </a:spcAft>
            </a:pPr>
            <a:r>
              <a:rPr sz="4000" b="1" i="0">
                <a:solidFill>
                  <a:srgbClr val="FFFFFF"/>
                </a:solidFill>
                <a:latin typeface="Segoe UI"/>
                <a:cs typeface="Segoe UI"/>
              </a:rPr>
              <a:t>لماذا يهمنا التعليم الشامل؟</a:t>
            </a:r>
          </a:p>
          <a:p>
            <a:pPr algn="r" rtl="1">
              <a:spcBef>
                <a:spcPts val="400"/>
              </a:spcBef>
              <a:spcAft>
                <a:spcPts val="400"/>
              </a:spcAft>
            </a:pPr>
            <a:r>
              <a:rPr sz="1600" b="0" i="0">
                <a:solidFill>
                  <a:srgbClr val="E4F6F6"/>
                </a:solidFill>
                <a:latin typeface="Segoe UI"/>
                <a:cs typeface="Segoe UI"/>
              </a:rPr>
              <a:t>Why Does Inclusive Education Matter?</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فوائد الشمول للطلاب والمعلمين والأسر والمدرسة</a:t>
            </a:r>
          </a:p>
          <a:p>
            <a:pPr algn="r" rtl="1">
              <a:spcBef>
                <a:spcPts val="400"/>
              </a:spcBef>
            </a:pPr>
            <a:r>
              <a:rPr sz="1600" b="0" i="0">
                <a:solidFill>
                  <a:srgbClr val="FFFFFF"/>
                </a:solidFill>
                <a:latin typeface="Segoe UI"/>
                <a:cs typeface="Segoe UI"/>
              </a:rPr>
              <a:t>◂  العلاقة بين المشاركة والانتماء والتعلم</a:t>
            </a:r>
          </a:p>
          <a:p>
            <a:pPr algn="r" rtl="1">
              <a:spcBef>
                <a:spcPts val="400"/>
              </a:spcBef>
            </a:pPr>
            <a:r>
              <a:rPr sz="1600" b="0" i="0">
                <a:solidFill>
                  <a:srgbClr val="FFFFFF"/>
                </a:solidFill>
                <a:latin typeface="Segoe UI"/>
                <a:cs typeface="Segoe UI"/>
              </a:rPr>
              <a:t>◂  لماذا تفيد إزالة الحواجز كثيرًا من الطلاب؟</a:t>
            </a:r>
          </a:p>
          <a:p>
            <a:pPr algn="r" rtl="1">
              <a:spcBef>
                <a:spcPts val="400"/>
              </a:spcBef>
            </a:pPr>
            <a:r>
              <a:rPr sz="1600" b="0" i="0">
                <a:solidFill>
                  <a:srgbClr val="FFFFFF"/>
                </a:solidFill>
                <a:latin typeface="Segoe UI"/>
                <a:cs typeface="Segoe UI"/>
              </a:rPr>
              <a:t>◂  نشاط تأملي: طالب في مدرستك</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3</a:t>
            </a:r>
          </a:p>
          <a:p>
            <a:pPr algn="r" rtl="1">
              <a:spcBef>
                <a:spcPts val="0"/>
              </a:spcBef>
              <a:spcAft>
                <a:spcPts val="0"/>
              </a:spcAft>
            </a:pPr>
            <a:r>
              <a:rPr sz="2800" b="1" i="0">
                <a:solidFill>
                  <a:srgbClr val="FFFFFF"/>
                </a:solidFill>
                <a:latin typeface="Segoe UI"/>
                <a:cs typeface="Segoe UI"/>
              </a:rPr>
              <a:t>من يستفيد من المدرسة الشاملة؟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13</a:t>
            </a:r>
          </a:p>
        </p:txBody>
      </p:sp>
      <p:sp>
        <p:nvSpPr>
          <p:cNvPr id="9" name="Rounded Rectangle 8"/>
          <p:cNvSpPr/>
          <p:nvPr/>
        </p:nvSpPr>
        <p:spPr>
          <a:xfrm>
            <a:off x="6195059"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الطلاب</a:t>
            </a:r>
          </a:p>
          <a:p>
            <a:pPr algn="r" rtl="1">
              <a:spcBef>
                <a:spcPts val="100"/>
              </a:spcBef>
              <a:spcAft>
                <a:spcPts val="100"/>
              </a:spcAft>
            </a:pPr>
            <a:r>
              <a:rPr sz="1350" b="0" i="0">
                <a:solidFill>
                  <a:srgbClr val="2B2F38"/>
                </a:solidFill>
                <a:latin typeface="Segoe UI"/>
                <a:cs typeface="Segoe UI"/>
              </a:rPr>
              <a:t>فرص تعلم أفضل لكل المستويات</a:t>
            </a:r>
          </a:p>
          <a:p>
            <a:pPr algn="r" rtl="1">
              <a:spcBef>
                <a:spcPts val="100"/>
              </a:spcBef>
              <a:spcAft>
                <a:spcPts val="100"/>
              </a:spcAft>
            </a:pPr>
            <a:r>
              <a:rPr sz="1350" b="0" i="0">
                <a:solidFill>
                  <a:srgbClr val="2B2F38"/>
                </a:solidFill>
                <a:latin typeface="Segoe UI"/>
                <a:cs typeface="Segoe UI"/>
              </a:rPr>
              <a:t>ثقة بالنفس وشعور بالانتماء</a:t>
            </a:r>
          </a:p>
          <a:p>
            <a:pPr algn="r" rtl="1">
              <a:spcBef>
                <a:spcPts val="100"/>
              </a:spcBef>
              <a:spcAft>
                <a:spcPts val="100"/>
              </a:spcAft>
            </a:pPr>
            <a:r>
              <a:rPr sz="1350" b="0" i="0">
                <a:solidFill>
                  <a:srgbClr val="2B2F38"/>
                </a:solidFill>
                <a:latin typeface="Segoe UI"/>
                <a:cs typeface="Segoe UI"/>
              </a:rPr>
              <a:t>مهارات اجتماعية وتقبّل للاختلاف</a:t>
            </a:r>
          </a:p>
          <a:p>
            <a:pPr algn="r" rtl="1">
              <a:spcBef>
                <a:spcPts val="100"/>
              </a:spcBef>
              <a:spcAft>
                <a:spcPts val="100"/>
              </a:spcAft>
            </a:pPr>
            <a:r>
              <a:rPr sz="1350" b="0" i="0">
                <a:solidFill>
                  <a:srgbClr val="2B2F38"/>
                </a:solidFill>
                <a:latin typeface="Segoe UI"/>
                <a:cs typeface="Segoe UI"/>
              </a:rPr>
              <a:t>دعم مبكر قبل أن تتراكم الفجوات</a:t>
            </a:r>
          </a:p>
        </p:txBody>
      </p:sp>
      <p:sp>
        <p:nvSpPr>
          <p:cNvPr id="10" name="Rounded Rectangle 9"/>
          <p:cNvSpPr/>
          <p:nvPr/>
        </p:nvSpPr>
        <p:spPr>
          <a:xfrm>
            <a:off x="502920"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المعلمون</a:t>
            </a:r>
          </a:p>
          <a:p>
            <a:pPr algn="r" rtl="1">
              <a:spcBef>
                <a:spcPts val="100"/>
              </a:spcBef>
              <a:spcAft>
                <a:spcPts val="100"/>
              </a:spcAft>
            </a:pPr>
            <a:r>
              <a:rPr sz="1350" b="0" i="0">
                <a:solidFill>
                  <a:srgbClr val="2B2F38"/>
                </a:solidFill>
                <a:latin typeface="Segoe UI"/>
                <a:cs typeface="Segoe UI"/>
              </a:rPr>
              <a:t>أدوات تدريس أكثر مرونة وفاعلية</a:t>
            </a:r>
          </a:p>
          <a:p>
            <a:pPr algn="r" rtl="1">
              <a:spcBef>
                <a:spcPts val="100"/>
              </a:spcBef>
              <a:spcAft>
                <a:spcPts val="100"/>
              </a:spcAft>
            </a:pPr>
            <a:r>
              <a:rPr sz="1350" b="0" i="0">
                <a:solidFill>
                  <a:srgbClr val="2B2F38"/>
                </a:solidFill>
                <a:latin typeface="Segoe UI"/>
                <a:cs typeface="Segoe UI"/>
              </a:rPr>
              <a:t>فهم أعمق لطلابهم وأسباب تعثرهم</a:t>
            </a:r>
          </a:p>
          <a:p>
            <a:pPr algn="r" rtl="1">
              <a:spcBef>
                <a:spcPts val="100"/>
              </a:spcBef>
              <a:spcAft>
                <a:spcPts val="100"/>
              </a:spcAft>
            </a:pPr>
            <a:r>
              <a:rPr sz="1350" b="0" i="0">
                <a:solidFill>
                  <a:srgbClr val="2B2F38"/>
                </a:solidFill>
                <a:latin typeface="Segoe UI"/>
                <a:cs typeface="Segoe UI"/>
              </a:rPr>
              <a:t>عمل جماعي بدل مواجهة التحديات وحدهم</a:t>
            </a:r>
          </a:p>
          <a:p>
            <a:pPr algn="r" rtl="1">
              <a:spcBef>
                <a:spcPts val="100"/>
              </a:spcBef>
              <a:spcAft>
                <a:spcPts val="100"/>
              </a:spcAft>
            </a:pPr>
            <a:r>
              <a:rPr sz="1350" b="0" i="0">
                <a:solidFill>
                  <a:srgbClr val="2B2F38"/>
                </a:solidFill>
                <a:latin typeface="Segoe UI"/>
                <a:cs typeface="Segoe UI"/>
              </a:rPr>
              <a:t>رضا مهني أكبر عند رؤية تقدم الطلاب</a:t>
            </a:r>
          </a:p>
        </p:txBody>
      </p:sp>
      <p:sp>
        <p:nvSpPr>
          <p:cNvPr id="11" name="Rounded Rectangle 10"/>
          <p:cNvSpPr/>
          <p:nvPr/>
        </p:nvSpPr>
        <p:spPr>
          <a:xfrm>
            <a:off x="6195059"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الأسر</a:t>
            </a:r>
          </a:p>
          <a:p>
            <a:pPr algn="r" rtl="1">
              <a:spcBef>
                <a:spcPts val="100"/>
              </a:spcBef>
              <a:spcAft>
                <a:spcPts val="100"/>
              </a:spcAft>
            </a:pPr>
            <a:r>
              <a:rPr sz="1350" b="0" i="0">
                <a:solidFill>
                  <a:srgbClr val="2B2F38"/>
                </a:solidFill>
                <a:latin typeface="Segoe UI"/>
                <a:cs typeface="Segoe UI"/>
              </a:rPr>
              <a:t>ثقة بأن المدرسة ترى طفلهم وتفهمه</a:t>
            </a:r>
          </a:p>
          <a:p>
            <a:pPr algn="r" rtl="1">
              <a:spcBef>
                <a:spcPts val="100"/>
              </a:spcBef>
              <a:spcAft>
                <a:spcPts val="100"/>
              </a:spcAft>
            </a:pPr>
            <a:r>
              <a:rPr sz="1350" b="0" i="0">
                <a:solidFill>
                  <a:srgbClr val="2B2F38"/>
                </a:solidFill>
                <a:latin typeface="Segoe UI"/>
                <a:cs typeface="Segoe UI"/>
              </a:rPr>
              <a:t>شراكة حقيقية بدل استدعاءات الشكوى</a:t>
            </a:r>
          </a:p>
          <a:p>
            <a:pPr algn="r" rtl="1">
              <a:spcBef>
                <a:spcPts val="100"/>
              </a:spcBef>
              <a:spcAft>
                <a:spcPts val="100"/>
              </a:spcAft>
            </a:pPr>
            <a:r>
              <a:rPr sz="1350" b="0" i="0">
                <a:solidFill>
                  <a:srgbClr val="2B2F38"/>
                </a:solidFill>
                <a:latin typeface="Segoe UI"/>
                <a:cs typeface="Segoe UI"/>
              </a:rPr>
              <a:t>معلومات واضحة عن تقدم أبنائهم</a:t>
            </a:r>
          </a:p>
          <a:p>
            <a:pPr algn="r" rtl="1">
              <a:spcBef>
                <a:spcPts val="100"/>
              </a:spcBef>
              <a:spcAft>
                <a:spcPts val="100"/>
              </a:spcAft>
            </a:pPr>
            <a:r>
              <a:rPr sz="1350" b="0" i="0">
                <a:solidFill>
                  <a:srgbClr val="2B2F38"/>
                </a:solidFill>
                <a:latin typeface="Segoe UI"/>
                <a:cs typeface="Segoe UI"/>
              </a:rPr>
              <a:t>شعور بأنهم جزء من الحل</a:t>
            </a:r>
          </a:p>
        </p:txBody>
      </p:sp>
      <p:sp>
        <p:nvSpPr>
          <p:cNvPr id="12" name="Rounded Rectangle 11"/>
          <p:cNvSpPr/>
          <p:nvPr/>
        </p:nvSpPr>
        <p:spPr>
          <a:xfrm>
            <a:off x="502920"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المدرسة</a:t>
            </a:r>
          </a:p>
          <a:p>
            <a:pPr algn="r" rtl="1">
              <a:spcBef>
                <a:spcPts val="100"/>
              </a:spcBef>
              <a:spcAft>
                <a:spcPts val="100"/>
              </a:spcAft>
            </a:pPr>
            <a:r>
              <a:rPr sz="1350" b="0" i="0">
                <a:solidFill>
                  <a:srgbClr val="2B2F38"/>
                </a:solidFill>
                <a:latin typeface="Segoe UI"/>
                <a:cs typeface="Segoe UI"/>
              </a:rPr>
              <a:t>مناخ مدرسي أكثر أمانًا وإيجابية</a:t>
            </a:r>
          </a:p>
          <a:p>
            <a:pPr algn="r" rtl="1">
              <a:spcBef>
                <a:spcPts val="100"/>
              </a:spcBef>
              <a:spcAft>
                <a:spcPts val="100"/>
              </a:spcAft>
            </a:pPr>
            <a:r>
              <a:rPr sz="1350" b="0" i="0">
                <a:solidFill>
                  <a:srgbClr val="2B2F38"/>
                </a:solidFill>
                <a:latin typeface="Segoe UI"/>
                <a:cs typeface="Segoe UI"/>
              </a:rPr>
              <a:t>تحسن في الحضور والسلوك والمشاركة</a:t>
            </a:r>
          </a:p>
          <a:p>
            <a:pPr algn="r" rtl="1">
              <a:spcBef>
                <a:spcPts val="100"/>
              </a:spcBef>
              <a:spcAft>
                <a:spcPts val="100"/>
              </a:spcAft>
            </a:pPr>
            <a:r>
              <a:rPr sz="1350" b="0" i="0">
                <a:solidFill>
                  <a:srgbClr val="2B2F38"/>
                </a:solidFill>
                <a:latin typeface="Segoe UI"/>
                <a:cs typeface="Segoe UI"/>
              </a:rPr>
              <a:t>سمعة مجتمعية قوية وثقة أولياء الأمور</a:t>
            </a:r>
          </a:p>
          <a:p>
            <a:pPr algn="r" rtl="1">
              <a:spcBef>
                <a:spcPts val="100"/>
              </a:spcBef>
              <a:spcAft>
                <a:spcPts val="100"/>
              </a:spcAft>
            </a:pPr>
            <a:r>
              <a:rPr sz="1350" b="0" i="0">
                <a:solidFill>
                  <a:srgbClr val="2B2F38"/>
                </a:solidFill>
                <a:latin typeface="Segoe UI"/>
                <a:cs typeface="Segoe UI"/>
              </a:rPr>
              <a:t>ثقافة تحسين مستمر تخدم الجميع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3</a:t>
            </a:r>
          </a:p>
          <a:p>
            <a:pPr algn="r" rtl="1">
              <a:spcBef>
                <a:spcPts val="0"/>
              </a:spcBef>
              <a:spcAft>
                <a:spcPts val="0"/>
              </a:spcAft>
            </a:pPr>
            <a:r>
              <a:rPr sz="2800" b="1" i="0">
                <a:solidFill>
                  <a:srgbClr val="FFFFFF"/>
                </a:solidFill>
                <a:latin typeface="Segoe UI"/>
                <a:cs typeface="Segoe UI"/>
              </a:rPr>
              <a:t>المشاركة والانتماء والتعلم: حلقة واحدة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14</a:t>
            </a:r>
          </a:p>
        </p:txBody>
      </p:sp>
      <p:sp>
        <p:nvSpPr>
          <p:cNvPr id="9" name="Oval 8"/>
          <p:cNvSpPr/>
          <p:nvPr/>
        </p:nvSpPr>
        <p:spPr>
          <a:xfrm>
            <a:off x="8503920" y="1463040"/>
            <a:ext cx="2286000" cy="228600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900" b="1" i="0">
                <a:solidFill>
                  <a:srgbClr val="FFFFFF"/>
                </a:solidFill>
                <a:latin typeface="Segoe UI"/>
                <a:cs typeface="Segoe UI"/>
              </a:rPr>
              <a:t>مشاركة أكبر</a:t>
            </a:r>
          </a:p>
        </p:txBody>
      </p:sp>
      <p:sp>
        <p:nvSpPr>
          <p:cNvPr id="10" name="Left Arrow 9"/>
          <p:cNvSpPr/>
          <p:nvPr/>
        </p:nvSpPr>
        <p:spPr>
          <a:xfrm>
            <a:off x="7360920" y="2377440"/>
            <a:ext cx="1005840" cy="45720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937760" y="1463040"/>
            <a:ext cx="2286000" cy="228600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900" b="1" i="0">
                <a:solidFill>
                  <a:srgbClr val="FFFFFF"/>
                </a:solidFill>
                <a:latin typeface="Segoe UI"/>
                <a:cs typeface="Segoe UI"/>
              </a:rPr>
              <a:t>انتماء أقوى</a:t>
            </a:r>
          </a:p>
        </p:txBody>
      </p:sp>
      <p:sp>
        <p:nvSpPr>
          <p:cNvPr id="12" name="Left Arrow 11"/>
          <p:cNvSpPr/>
          <p:nvPr/>
        </p:nvSpPr>
        <p:spPr>
          <a:xfrm>
            <a:off x="3794760" y="2377440"/>
            <a:ext cx="1005840" cy="45720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1600" y="1463040"/>
            <a:ext cx="2286000" cy="2286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900" b="1" i="0">
                <a:solidFill>
                  <a:srgbClr val="FFFFFF"/>
                </a:solidFill>
                <a:latin typeface="Segoe UI"/>
                <a:cs typeface="Segoe UI"/>
              </a:rPr>
              <a:t>تعلم أفضل</a:t>
            </a:r>
          </a:p>
        </p:txBody>
      </p:sp>
      <p:sp>
        <p:nvSpPr>
          <p:cNvPr id="14" name="Bent-Up Arrow 13"/>
          <p:cNvSpPr/>
          <p:nvPr/>
        </p:nvSpPr>
        <p:spPr>
          <a:xfrm>
            <a:off x="2011680" y="3931920"/>
            <a:ext cx="822960" cy="640080"/>
          </a:xfrm>
          <a:prstGeom prst="bentUp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114800"/>
            <a:ext cx="11183112" cy="2194560"/>
          </a:xfrm>
          <a:prstGeom prst="rect">
            <a:avLst/>
          </a:prstGeom>
          <a:noFill/>
        </p:spPr>
        <p:txBody>
          <a:bodyPr wrap="square" anchor="t" lIns="50800" rIns="50800" tIns="25400" bIns="25400">
            <a:spAutoFit/>
          </a:bodyPr>
          <a:lstStyle/>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الطالب الذي يشارك أكثر يشعر بانتماء أقوى، والانتماء يدفعه إلى تعلم أعمق — والعكس صحيح تمامًا: الاستبعاد يُضعف الحلقة كلها.</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الحاجز الذي يُزال لطالب واحد يفيد كثيرين: التعليمات الواضحة، والأمثلة البصرية، والوقت الكافي تخدم معظم الصف.</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الاستثمار في الشمول استثمار في جودة التعليم نفسها، لا خدمة جانبية لفئة صغيرة.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3 — تأمل</a:t>
            </a:r>
          </a:p>
          <a:p>
            <a:pPr algn="r" rtl="1">
              <a:spcBef>
                <a:spcPts val="0"/>
              </a:spcBef>
              <a:spcAft>
                <a:spcPts val="0"/>
              </a:spcAft>
            </a:pPr>
            <a:r>
              <a:rPr sz="2800" b="1" i="0">
                <a:solidFill>
                  <a:srgbClr val="FFFFFF"/>
                </a:solidFill>
                <a:latin typeface="Segoe UI"/>
                <a:cs typeface="Segoe UI"/>
              </a:rPr>
              <a:t>نشاط تأملي: طالب في مدرستك</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15</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تأمل وشارك</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فكّر في طالب قد يشارك أقل، أو يتعثر أكثر، أو يحتاج دعمًا إضافيًا في مدرستك.
ما الذي قد يمنع هذا الطالب من المشاركة الكاملة؟</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اكتب تأملك في ورقة العمل (3). فكّر في حواجز البيئة، وطريقة التدريس، والمواد، والتواصل، والجانب الاجتماعي — لا تذكر اسم الطالب.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4</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4</a:t>
            </a:r>
          </a:p>
          <a:p>
            <a:pPr algn="r" rtl="1">
              <a:spcBef>
                <a:spcPts val="600"/>
              </a:spcBef>
              <a:spcAft>
                <a:spcPts val="400"/>
              </a:spcAft>
            </a:pPr>
            <a:r>
              <a:rPr sz="4000" b="1" i="0">
                <a:solidFill>
                  <a:srgbClr val="FFFFFF"/>
                </a:solidFill>
                <a:latin typeface="Segoe UI"/>
                <a:cs typeface="Segoe UI"/>
              </a:rPr>
              <a:t>فهم تنوع المتعلمين</a:t>
            </a:r>
          </a:p>
          <a:p>
            <a:pPr algn="r" rtl="1">
              <a:spcBef>
                <a:spcPts val="400"/>
              </a:spcBef>
              <a:spcAft>
                <a:spcPts val="400"/>
              </a:spcAft>
            </a:pPr>
            <a:r>
              <a:rPr sz="1600" b="0" i="0">
                <a:solidFill>
                  <a:srgbClr val="E4F6F6"/>
                </a:solidFill>
                <a:latin typeface="Segoe UI"/>
                <a:cs typeface="Segoe UI"/>
              </a:rPr>
              <a:t>Understanding Learner Diversity</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فيمَ يختلف الطلاب؟ 12 بعدًا للتنوع</a:t>
            </a:r>
          </a:p>
          <a:p>
            <a:pPr algn="r" rtl="1">
              <a:spcBef>
                <a:spcPts val="400"/>
              </a:spcBef>
            </a:pPr>
            <a:r>
              <a:rPr sz="1600" b="0" i="0">
                <a:solidFill>
                  <a:srgbClr val="FFFFFF"/>
                </a:solidFill>
                <a:latin typeface="Segoe UI"/>
                <a:cs typeface="Segoe UI"/>
              </a:rPr>
              <a:t>◂  مختلف لا يعني ناقصًا</a:t>
            </a:r>
          </a:p>
          <a:p>
            <a:pPr algn="r" rtl="1">
              <a:spcBef>
                <a:spcPts val="400"/>
              </a:spcBef>
            </a:pPr>
            <a:r>
              <a:rPr sz="1600" b="0" i="0">
                <a:solidFill>
                  <a:srgbClr val="FFFFFF"/>
                </a:solidFill>
                <a:latin typeface="Segoe UI"/>
                <a:cs typeface="Segoe UI"/>
              </a:rPr>
              <a:t>◂  الفرق بين: الاختلاف، الصعوبة، الإعاقة، والحاجة إلى الدعم</a:t>
            </a:r>
          </a:p>
          <a:p>
            <a:pPr algn="r" rtl="1">
              <a:spcBef>
                <a:spcPts val="400"/>
              </a:spcBef>
            </a:pPr>
            <a:r>
              <a:rPr sz="1600" b="0" i="0">
                <a:solidFill>
                  <a:srgbClr val="FFFFFF"/>
                </a:solidFill>
                <a:latin typeface="Segoe UI"/>
                <a:cs typeface="Segoe UI"/>
              </a:rPr>
              <a:t>◂  نشاط: صف افتراضي بخمسة متعلمين</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أبعاد التنوع</a:t>
            </a:r>
          </a:p>
          <a:p>
            <a:pPr algn="r" rtl="1">
              <a:spcBef>
                <a:spcPts val="0"/>
              </a:spcBef>
              <a:spcAft>
                <a:spcPts val="0"/>
              </a:spcAft>
            </a:pPr>
            <a:r>
              <a:rPr sz="2800" b="1" i="0">
                <a:solidFill>
                  <a:srgbClr val="FFFFFF"/>
                </a:solidFill>
                <a:latin typeface="Segoe UI"/>
                <a:cs typeface="Segoe UI"/>
              </a:rPr>
              <a:t>فيمَ يختلف طلابنا؟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17</a:t>
            </a:r>
          </a:p>
        </p:txBody>
      </p:sp>
      <p:sp>
        <p:nvSpPr>
          <p:cNvPr id="9" name="Rounded Rectangle 8"/>
          <p:cNvSpPr/>
          <p:nvPr/>
        </p:nvSpPr>
        <p:spPr>
          <a:xfrm>
            <a:off x="9006840" y="1371600"/>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سرعة التعلم</a:t>
            </a:r>
          </a:p>
        </p:txBody>
      </p:sp>
      <p:sp>
        <p:nvSpPr>
          <p:cNvPr id="10" name="Rounded Rectangle 9"/>
          <p:cNvSpPr/>
          <p:nvPr/>
        </p:nvSpPr>
        <p:spPr>
          <a:xfrm>
            <a:off x="6172200" y="1371600"/>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المعرفة السابقة</a:t>
            </a:r>
          </a:p>
        </p:txBody>
      </p:sp>
      <p:sp>
        <p:nvSpPr>
          <p:cNvPr id="11" name="Rounded Rectangle 10"/>
          <p:cNvSpPr/>
          <p:nvPr/>
        </p:nvSpPr>
        <p:spPr>
          <a:xfrm>
            <a:off x="3337560" y="1371600"/>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التواصل</a:t>
            </a:r>
          </a:p>
        </p:txBody>
      </p:sp>
      <p:sp>
        <p:nvSpPr>
          <p:cNvPr id="12" name="Rounded Rectangle 11"/>
          <p:cNvSpPr/>
          <p:nvPr/>
        </p:nvSpPr>
        <p:spPr>
          <a:xfrm>
            <a:off x="502920" y="1371600"/>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الانتباه والتركيز</a:t>
            </a:r>
          </a:p>
        </p:txBody>
      </p:sp>
      <p:sp>
        <p:nvSpPr>
          <p:cNvPr id="13" name="Rounded Rectangle 12"/>
          <p:cNvSpPr/>
          <p:nvPr/>
        </p:nvSpPr>
        <p:spPr>
          <a:xfrm>
            <a:off x="9006840" y="2487168"/>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الاحتياجات الحسية</a:t>
            </a:r>
          </a:p>
        </p:txBody>
      </p:sp>
      <p:sp>
        <p:nvSpPr>
          <p:cNvPr id="14" name="Rounded Rectangle 13"/>
          <p:cNvSpPr/>
          <p:nvPr/>
        </p:nvSpPr>
        <p:spPr>
          <a:xfrm>
            <a:off x="6172200" y="2487168"/>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اللغة</a:t>
            </a:r>
          </a:p>
        </p:txBody>
      </p:sp>
      <p:sp>
        <p:nvSpPr>
          <p:cNvPr id="15" name="Rounded Rectangle 14"/>
          <p:cNvSpPr/>
          <p:nvPr/>
        </p:nvSpPr>
        <p:spPr>
          <a:xfrm>
            <a:off x="3337560" y="2487168"/>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الدافعية</a:t>
            </a:r>
          </a:p>
        </p:txBody>
      </p:sp>
      <p:sp>
        <p:nvSpPr>
          <p:cNvPr id="16" name="Rounded Rectangle 15"/>
          <p:cNvSpPr/>
          <p:nvPr/>
        </p:nvSpPr>
        <p:spPr>
          <a:xfrm>
            <a:off x="502920" y="2487168"/>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التفاعل الاجتماعي</a:t>
            </a:r>
          </a:p>
        </p:txBody>
      </p:sp>
      <p:sp>
        <p:nvSpPr>
          <p:cNvPr id="17" name="Rounded Rectangle 16"/>
          <p:cNvSpPr/>
          <p:nvPr/>
        </p:nvSpPr>
        <p:spPr>
          <a:xfrm>
            <a:off x="9006840" y="3602736"/>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القدرات الجسدية</a:t>
            </a:r>
          </a:p>
        </p:txBody>
      </p:sp>
      <p:sp>
        <p:nvSpPr>
          <p:cNvPr id="18" name="Rounded Rectangle 17"/>
          <p:cNvSpPr/>
          <p:nvPr/>
        </p:nvSpPr>
        <p:spPr>
          <a:xfrm>
            <a:off x="6172200" y="3602736"/>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المهارات الأكاديمية</a:t>
            </a:r>
          </a:p>
        </p:txBody>
      </p:sp>
      <p:sp>
        <p:nvSpPr>
          <p:cNvPr id="19" name="Rounded Rectangle 18"/>
          <p:cNvSpPr/>
          <p:nvPr/>
        </p:nvSpPr>
        <p:spPr>
          <a:xfrm>
            <a:off x="3337560" y="3602736"/>
            <a:ext cx="2670048" cy="969264"/>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الاحتياجات الانفعالية</a:t>
            </a:r>
          </a:p>
        </p:txBody>
      </p:sp>
      <p:sp>
        <p:nvSpPr>
          <p:cNvPr id="20" name="Rounded Rectangle 19"/>
          <p:cNvSpPr/>
          <p:nvPr/>
        </p:nvSpPr>
        <p:spPr>
          <a:xfrm>
            <a:off x="502920" y="3602736"/>
            <a:ext cx="2670048" cy="969264"/>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الميول ونقاط القوة</a:t>
            </a:r>
          </a:p>
        </p:txBody>
      </p:sp>
      <p:sp>
        <p:nvSpPr>
          <p:cNvPr id="21" name="Rounded Rectangle 20"/>
          <p:cNvSpPr/>
          <p:nvPr/>
        </p:nvSpPr>
        <p:spPr>
          <a:xfrm>
            <a:off x="1645920" y="4892040"/>
            <a:ext cx="8869680" cy="12344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كل صف دراسي — بلا استثناء — يجمع هذه الاختلافات.</a:t>
            </a:r>
          </a:p>
          <a:p>
            <a:pPr algn="ctr" rtl="1">
              <a:spcBef>
                <a:spcPts val="200"/>
              </a:spcBef>
              <a:spcAft>
                <a:spcPts val="200"/>
              </a:spcAft>
            </a:pPr>
            <a:r>
              <a:rPr sz="1500" b="0" i="0">
                <a:solidFill>
                  <a:srgbClr val="E4F6F6"/>
                </a:solidFill>
                <a:latin typeface="Segoe UI"/>
                <a:cs typeface="Segoe UI"/>
              </a:rPr>
              <a:t>التنوع ليس استثناءً نتعامل معه عند الضرورة، بل القاعدة التي نخطط لها منذ البداية.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دقة المصطلحات</a:t>
            </a:r>
          </a:p>
          <a:p>
            <a:pPr algn="r" rtl="1">
              <a:spcBef>
                <a:spcPts val="0"/>
              </a:spcBef>
              <a:spcAft>
                <a:spcPts val="0"/>
              </a:spcAft>
            </a:pPr>
            <a:r>
              <a:rPr sz="2800" b="1" i="0">
                <a:solidFill>
                  <a:srgbClr val="FFFFFF"/>
                </a:solidFill>
                <a:latin typeface="Segoe UI"/>
                <a:cs typeface="Segoe UI"/>
              </a:rPr>
              <a:t>مختلف ≠ ناقص</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18</a:t>
            </a:r>
          </a:p>
        </p:txBody>
      </p:sp>
      <p:sp>
        <p:nvSpPr>
          <p:cNvPr id="9" name="Rounded Rectangle 8"/>
          <p:cNvSpPr/>
          <p:nvPr/>
        </p:nvSpPr>
        <p:spPr>
          <a:xfrm>
            <a:off x="2286000" y="1280160"/>
            <a:ext cx="7589520" cy="7315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162B6B"/>
                </a:solidFill>
                <a:latin typeface="Segoe UI"/>
                <a:cs typeface="Segoe UI"/>
              </a:rPr>
              <a:t>الاختلاف لا يعني النقص — والدقة في الوصف تحمي الطالب</a:t>
            </a:r>
          </a:p>
        </p:txBody>
      </p:sp>
      <p:sp>
        <p:nvSpPr>
          <p:cNvPr id="10" name="Rounded Rectangle 9"/>
          <p:cNvSpPr/>
          <p:nvPr/>
        </p:nvSpPr>
        <p:spPr>
          <a:xfrm>
            <a:off x="6208776" y="2240280"/>
            <a:ext cx="5477256" cy="1920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700" b="1" i="0">
                <a:solidFill>
                  <a:srgbClr val="1F3A93"/>
                </a:solidFill>
                <a:latin typeface="Segoe UI"/>
                <a:cs typeface="Segoe UI"/>
              </a:rPr>
              <a:t>الاختلاف</a:t>
            </a:r>
          </a:p>
          <a:p>
            <a:pPr algn="r" rtl="1">
              <a:spcBef>
                <a:spcPts val="200"/>
              </a:spcBef>
              <a:spcAft>
                <a:spcPts val="200"/>
              </a:spcAft>
            </a:pPr>
            <a:r>
              <a:rPr sz="1350" b="0" i="0">
                <a:solidFill>
                  <a:srgbClr val="2B2F38"/>
                </a:solidFill>
                <a:latin typeface="Segoe UI"/>
                <a:cs typeface="Segoe UI"/>
              </a:rPr>
              <a:t>تنوع طبيعي في طرق التعلم والاهتمامات والسرعة. لا يستدعي قلقًا ولا تدخلًا خاصًا — بل تدريسًا مرنًا.</a:t>
            </a:r>
          </a:p>
        </p:txBody>
      </p:sp>
      <p:sp>
        <p:nvSpPr>
          <p:cNvPr id="11" name="Rounded Rectangle 10"/>
          <p:cNvSpPr/>
          <p:nvPr/>
        </p:nvSpPr>
        <p:spPr>
          <a:xfrm>
            <a:off x="502920" y="2240280"/>
            <a:ext cx="5477256" cy="1920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700" b="1" i="0">
                <a:solidFill>
                  <a:srgbClr val="1F3A93"/>
                </a:solidFill>
                <a:latin typeface="Segoe UI"/>
                <a:cs typeface="Segoe UI"/>
              </a:rPr>
              <a:t>الصعوبة</a:t>
            </a:r>
          </a:p>
          <a:p>
            <a:pPr algn="r" rtl="1">
              <a:spcBef>
                <a:spcPts val="200"/>
              </a:spcBef>
              <a:spcAft>
                <a:spcPts val="200"/>
              </a:spcAft>
            </a:pPr>
            <a:r>
              <a:rPr sz="1350" b="0" i="0">
                <a:solidFill>
                  <a:srgbClr val="2B2F38"/>
                </a:solidFill>
                <a:latin typeface="Segoe UI"/>
                <a:cs typeface="Segoe UI"/>
              </a:rPr>
              <a:t>تحدٍّ في جانب محدد (كالقراءة أو التنظيم) قد يكون مؤقتًا أو مرتبطًا بسياق معين، ويستجيب غالبًا للدعم داخل الصف.</a:t>
            </a:r>
          </a:p>
        </p:txBody>
      </p:sp>
      <p:sp>
        <p:nvSpPr>
          <p:cNvPr id="12" name="Rounded Rectangle 11"/>
          <p:cNvSpPr/>
          <p:nvPr/>
        </p:nvSpPr>
        <p:spPr>
          <a:xfrm>
            <a:off x="6208776" y="4343400"/>
            <a:ext cx="5477256" cy="1920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700" b="1" i="0">
                <a:solidFill>
                  <a:srgbClr val="1F3A93"/>
                </a:solidFill>
                <a:latin typeface="Segoe UI"/>
                <a:cs typeface="Segoe UI"/>
              </a:rPr>
              <a:t>الإعاقة</a:t>
            </a:r>
          </a:p>
          <a:p>
            <a:pPr algn="r" rtl="1">
              <a:spcBef>
                <a:spcPts val="200"/>
              </a:spcBef>
              <a:spcAft>
                <a:spcPts val="200"/>
              </a:spcAft>
            </a:pPr>
            <a:r>
              <a:rPr sz="1350" b="0" i="0">
                <a:solidFill>
                  <a:srgbClr val="2B2F38"/>
                </a:solidFill>
                <a:latin typeface="Segoe UI"/>
                <a:cs typeface="Segoe UI"/>
              </a:rPr>
              <a:t>حالة يشخّصها المختصون فقط. دورنا في المدرسة: ملاحظة الأثر على التعلم وإزالة الحواجز — لا إطلاق التسميات.</a:t>
            </a:r>
          </a:p>
        </p:txBody>
      </p:sp>
      <p:sp>
        <p:nvSpPr>
          <p:cNvPr id="13" name="Rounded Rectangle 12"/>
          <p:cNvSpPr/>
          <p:nvPr/>
        </p:nvSpPr>
        <p:spPr>
          <a:xfrm>
            <a:off x="502920" y="4343400"/>
            <a:ext cx="5477256" cy="1920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700" b="1" i="0">
                <a:solidFill>
                  <a:srgbClr val="1F3A93"/>
                </a:solidFill>
                <a:latin typeface="Segoe UI"/>
                <a:cs typeface="Segoe UI"/>
              </a:rPr>
              <a:t>الحاجة إلى الدعم</a:t>
            </a:r>
          </a:p>
          <a:p>
            <a:pPr algn="r" rtl="1">
              <a:spcBef>
                <a:spcPts val="200"/>
              </a:spcBef>
              <a:spcAft>
                <a:spcPts val="200"/>
              </a:spcAft>
            </a:pPr>
            <a:r>
              <a:rPr sz="1350" b="0" i="0">
                <a:solidFill>
                  <a:srgbClr val="2B2F38"/>
                </a:solidFill>
                <a:latin typeface="Segoe UI"/>
                <a:cs typeface="Segoe UI"/>
              </a:rPr>
              <a:t>ما يحتاجه الطالب فعليًا ليشارك ويتعلم — بغضّ النظر عن وجود تشخيص أو عدمه. هذه لغة العمل المدرسي اليومي.</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نشاط</a:t>
            </a:r>
          </a:p>
          <a:p>
            <a:pPr algn="r" rtl="1">
              <a:spcBef>
                <a:spcPts val="0"/>
              </a:spcBef>
              <a:spcAft>
                <a:spcPts val="0"/>
              </a:spcAft>
            </a:pPr>
            <a:r>
              <a:rPr sz="2800" b="1" i="0">
                <a:solidFill>
                  <a:srgbClr val="FFFFFF"/>
                </a:solidFill>
                <a:latin typeface="Segoe UI"/>
                <a:cs typeface="Segoe UI"/>
              </a:rPr>
              <a:t>نشاط: صف الأستاذة نور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19</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نشاط تطبيقي</a:t>
            </a:r>
          </a:p>
        </p:txBody>
      </p:sp>
      <p:sp>
        <p:nvSpPr>
          <p:cNvPr id="10" name="TextBox 9"/>
          <p:cNvSpPr txBox="1"/>
          <p:nvPr/>
        </p:nvSpPr>
        <p:spPr>
          <a:xfrm>
            <a:off x="502920" y="1234440"/>
            <a:ext cx="8595360" cy="685800"/>
          </a:xfrm>
          <a:prstGeom prst="rect">
            <a:avLst/>
          </a:prstGeom>
          <a:noFill/>
        </p:spPr>
        <p:txBody>
          <a:bodyPr wrap="square" anchor="t" lIns="50800" rIns="50800" tIns="25400" bIns="25400">
            <a:spAutoFit/>
          </a:bodyPr>
          <a:lstStyle/>
          <a:p>
            <a:pPr algn="r" rtl="1">
              <a:spcBef>
                <a:spcPts val="400"/>
              </a:spcBef>
              <a:spcAft>
                <a:spcPts val="400"/>
              </a:spcAft>
            </a:pPr>
            <a:r>
              <a:rPr sz="1600" b="1" i="0">
                <a:solidFill>
                  <a:srgbClr val="1F3A93"/>
                </a:solidFill>
                <a:latin typeface="Segoe UI"/>
                <a:cs typeface="Segoe UI"/>
              </a:rPr>
              <a:t>صف افتراضي في الصف الخامس. اقرأ وصف المتعلمين الخمسة ثم أجب في ورقة العمل (4): ما الاختلافات التي يجب أن تراعيها المعلمة عند التخطيط للتعلم؟</a:t>
            </a:r>
          </a:p>
        </p:txBody>
      </p:sp>
      <p:sp>
        <p:nvSpPr>
          <p:cNvPr id="11" name="Rounded Rectangle 10"/>
          <p:cNvSpPr/>
          <p:nvPr/>
        </p:nvSpPr>
        <p:spPr>
          <a:xfrm>
            <a:off x="502920" y="1965960"/>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سالم:  </a:t>
            </a:r>
            <a:r>
              <a:rPr sz="1500" b="0" i="0">
                <a:solidFill>
                  <a:srgbClr val="2B2F38"/>
                </a:solidFill>
                <a:latin typeface="Segoe UI"/>
                <a:cs typeface="Segoe UI"/>
              </a:rPr>
              <a:t>يفهم بسرعة ويُنهي المهام قبل الجميع، ثم يبدأ بمقاطعة زملائه من شدة الملل.</a:t>
            </a:r>
          </a:p>
        </p:txBody>
      </p:sp>
      <p:sp>
        <p:nvSpPr>
          <p:cNvPr id="12" name="Rounded Rectangle 11"/>
          <p:cNvSpPr/>
          <p:nvPr/>
        </p:nvSpPr>
        <p:spPr>
          <a:xfrm>
            <a:off x="502920" y="286572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ليان:  </a:t>
            </a:r>
            <a:r>
              <a:rPr sz="1500" b="0" i="0">
                <a:solidFill>
                  <a:srgbClr val="2B2F38"/>
                </a:solidFill>
                <a:latin typeface="Segoe UI"/>
                <a:cs typeface="Segoe UI"/>
              </a:rPr>
              <a:t>هادئة ونادرًا ما تشارك شفهيًا، لكن إجاباتها الكتابية من الأفضل في الصف.</a:t>
            </a:r>
          </a:p>
        </p:txBody>
      </p:sp>
      <p:sp>
        <p:nvSpPr>
          <p:cNvPr id="13" name="Rounded Rectangle 12"/>
          <p:cNvSpPr/>
          <p:nvPr/>
        </p:nvSpPr>
        <p:spPr>
          <a:xfrm>
            <a:off x="502920" y="376549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يوسف:  </a:t>
            </a:r>
            <a:r>
              <a:rPr sz="1500" b="0" i="0">
                <a:solidFill>
                  <a:srgbClr val="2B2F38"/>
                </a:solidFill>
                <a:latin typeface="Segoe UI"/>
                <a:cs typeface="Segoe UI"/>
              </a:rPr>
              <a:t>انضم حديثًا من مدرسة تُدرّس بلغة أخرى؛ يفهم الشرح جزئيًا ويتردد في السؤال.</a:t>
            </a:r>
          </a:p>
        </p:txBody>
      </p:sp>
      <p:sp>
        <p:nvSpPr>
          <p:cNvPr id="14" name="Rounded Rectangle 13"/>
          <p:cNvSpPr/>
          <p:nvPr/>
        </p:nvSpPr>
        <p:spPr>
          <a:xfrm>
            <a:off x="502920" y="466526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مريم:  </a:t>
            </a:r>
            <a:r>
              <a:rPr sz="1500" b="0" i="0">
                <a:solidFill>
                  <a:srgbClr val="2B2F38"/>
                </a:solidFill>
                <a:latin typeface="Segoe UI"/>
                <a:cs typeface="Segoe UI"/>
              </a:rPr>
              <a:t>تفقد تركيزها بعد دقائق قليلة من الشرح المتواصل، وتحتاج إلى تحريك يديها أو جسمها.</a:t>
            </a:r>
          </a:p>
        </p:txBody>
      </p:sp>
      <p:sp>
        <p:nvSpPr>
          <p:cNvPr id="15" name="Rounded Rectangle 14"/>
          <p:cNvSpPr/>
          <p:nvPr/>
        </p:nvSpPr>
        <p:spPr>
          <a:xfrm>
            <a:off x="502920" y="556503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عمر:  </a:t>
            </a:r>
            <a:r>
              <a:rPr sz="1500" b="0" i="0">
                <a:solidFill>
                  <a:srgbClr val="2B2F38"/>
                </a:solidFill>
                <a:latin typeface="Segoe UI"/>
                <a:cs typeface="Segoe UI"/>
              </a:rPr>
              <a:t>يقرأ ببطء شديد مقارنة بأقرانه ويتجنب القراءة الجهرية، لكنه ممتاز في النقاش الشفهي.</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تغذية راجعة</a:t>
            </a:r>
          </a:p>
          <a:p>
            <a:pPr algn="r" rtl="1">
              <a:spcBef>
                <a:spcPts val="0"/>
              </a:spcBef>
              <a:spcAft>
                <a:spcPts val="0"/>
              </a:spcAft>
            </a:pPr>
            <a:r>
              <a:rPr sz="2800" b="1" i="0">
                <a:solidFill>
                  <a:srgbClr val="FFFFFF"/>
                </a:solidFill>
                <a:latin typeface="Segoe UI"/>
                <a:cs typeface="Segoe UI"/>
              </a:rPr>
              <a:t>صف الأستاذة نور — إجابات مقترحة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20</a:t>
            </a:r>
          </a:p>
        </p:txBody>
      </p:sp>
      <p:sp>
        <p:nvSpPr>
          <p:cNvPr id="9" name="Rounded Rectangle 8"/>
          <p:cNvSpPr/>
          <p:nvPr/>
        </p:nvSpPr>
        <p:spPr>
          <a:xfrm>
            <a:off x="502920" y="1325880"/>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سالم — </a:t>
            </a:r>
            <a:r>
              <a:rPr sz="1500" b="1" i="0">
                <a:solidFill>
                  <a:srgbClr val="1F3A93"/>
                </a:solidFill>
                <a:latin typeface="Segoe UI"/>
                <a:cs typeface="Segoe UI"/>
              </a:rPr>
              <a:t>الإثراء والتحدي</a:t>
            </a:r>
          </a:p>
          <a:p>
            <a:pPr algn="r" rtl="1">
              <a:spcBef>
                <a:spcPts val="200"/>
              </a:spcBef>
            </a:pPr>
            <a:r>
              <a:rPr sz="1350" b="0" i="0">
                <a:solidFill>
                  <a:srgbClr val="2B2F38"/>
                </a:solidFill>
                <a:latin typeface="Segoe UI"/>
                <a:cs typeface="Segoe UI"/>
              </a:rPr>
              <a:t>مهام إثرائية جاهزة، دور «مساعد» منظم، أسئلة أعمق — حتى لا تتحول سرعته إلى مصدر تشويش.</a:t>
            </a:r>
          </a:p>
        </p:txBody>
      </p:sp>
      <p:sp>
        <p:nvSpPr>
          <p:cNvPr id="10" name="Rounded Rectangle 9"/>
          <p:cNvSpPr/>
          <p:nvPr/>
        </p:nvSpPr>
        <p:spPr>
          <a:xfrm>
            <a:off x="502920" y="2362809"/>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ليان — </a:t>
            </a:r>
            <a:r>
              <a:rPr sz="1500" b="1" i="0">
                <a:solidFill>
                  <a:srgbClr val="1F3A93"/>
                </a:solidFill>
                <a:latin typeface="Segoe UI"/>
                <a:cs typeface="Segoe UI"/>
              </a:rPr>
              <a:t>قنوات مشاركة متعددة</a:t>
            </a:r>
          </a:p>
          <a:p>
            <a:pPr algn="r" rtl="1">
              <a:spcBef>
                <a:spcPts val="200"/>
              </a:spcBef>
            </a:pPr>
            <a:r>
              <a:rPr sz="1350" b="0" i="0">
                <a:solidFill>
                  <a:srgbClr val="2B2F38"/>
                </a:solidFill>
                <a:latin typeface="Segoe UI"/>
                <a:cs typeface="Segoe UI"/>
              </a:rPr>
              <a:t>إتاحة المشاركة كتابيًا وفي مجموعات صغيرة، وبناء الثقة تدريجيًا — المشاركة ليست شفهية فقط.</a:t>
            </a:r>
          </a:p>
        </p:txBody>
      </p:sp>
      <p:sp>
        <p:nvSpPr>
          <p:cNvPr id="11" name="Rounded Rectangle 10"/>
          <p:cNvSpPr/>
          <p:nvPr/>
        </p:nvSpPr>
        <p:spPr>
          <a:xfrm>
            <a:off x="502920" y="3399739"/>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يوسف — </a:t>
            </a:r>
            <a:r>
              <a:rPr sz="1500" b="1" i="0">
                <a:solidFill>
                  <a:srgbClr val="1F3A93"/>
                </a:solidFill>
                <a:latin typeface="Segoe UI"/>
                <a:cs typeface="Segoe UI"/>
              </a:rPr>
              <a:t>دعم لغوي مؤقت</a:t>
            </a:r>
          </a:p>
          <a:p>
            <a:pPr algn="r" rtl="1">
              <a:spcBef>
                <a:spcPts val="200"/>
              </a:spcBef>
            </a:pPr>
            <a:r>
              <a:rPr sz="1350" b="0" i="0">
                <a:solidFill>
                  <a:srgbClr val="2B2F38"/>
                </a:solidFill>
                <a:latin typeface="Segoe UI"/>
                <a:cs typeface="Segoe UI"/>
              </a:rPr>
              <a:t>كلمات مفتاحية مكتوبة، صور وأمثلة بصرية، زميل داعم، وتقبّل الإجابات القصيرة في البداية.</a:t>
            </a:r>
          </a:p>
        </p:txBody>
      </p:sp>
      <p:sp>
        <p:nvSpPr>
          <p:cNvPr id="12" name="Rounded Rectangle 11"/>
          <p:cNvSpPr/>
          <p:nvPr/>
        </p:nvSpPr>
        <p:spPr>
          <a:xfrm>
            <a:off x="502920" y="4436668"/>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مريم — </a:t>
            </a:r>
            <a:r>
              <a:rPr sz="1500" b="1" i="0">
                <a:solidFill>
                  <a:srgbClr val="1F3A93"/>
                </a:solidFill>
                <a:latin typeface="Segoe UI"/>
                <a:cs typeface="Segoe UI"/>
              </a:rPr>
              <a:t>تقسيم الشرح وتنويع النشاط</a:t>
            </a:r>
          </a:p>
          <a:p>
            <a:pPr algn="r" rtl="1">
              <a:spcBef>
                <a:spcPts val="200"/>
              </a:spcBef>
            </a:pPr>
            <a:r>
              <a:rPr sz="1350" b="0" i="0">
                <a:solidFill>
                  <a:srgbClr val="2B2F38"/>
                </a:solidFill>
                <a:latin typeface="Segoe UI"/>
                <a:cs typeface="Segoe UI"/>
              </a:rPr>
              <a:t>شرح قصير متقطع، مهام حركية أو عملية، وإشارات متفق عليها لإعادة الانتباه دون إحراج.</a:t>
            </a:r>
          </a:p>
        </p:txBody>
      </p:sp>
      <p:sp>
        <p:nvSpPr>
          <p:cNvPr id="13" name="Rounded Rectangle 12"/>
          <p:cNvSpPr/>
          <p:nvPr/>
        </p:nvSpPr>
        <p:spPr>
          <a:xfrm>
            <a:off x="502920" y="5473598"/>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عمر — </a:t>
            </a:r>
            <a:r>
              <a:rPr sz="1500" b="1" i="0">
                <a:solidFill>
                  <a:srgbClr val="1F3A93"/>
                </a:solidFill>
                <a:latin typeface="Segoe UI"/>
                <a:cs typeface="Segoe UI"/>
              </a:rPr>
              <a:t>مواءمة في القراءة</a:t>
            </a:r>
          </a:p>
          <a:p>
            <a:pPr algn="r" rtl="1">
              <a:spcBef>
                <a:spcPts val="200"/>
              </a:spcBef>
            </a:pPr>
            <a:r>
              <a:rPr sz="1350" b="0" i="0">
                <a:solidFill>
                  <a:srgbClr val="2B2F38"/>
                </a:solidFill>
                <a:latin typeface="Segoe UI"/>
                <a:cs typeface="Segoe UI"/>
              </a:rPr>
              <a:t>عدم إجباره على القراءة الجهرية أمام الجميع، إتاحة إظهار الفهم شفهيًا، ودعم قرائي مركّز.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5</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5</a:t>
            </a:r>
          </a:p>
          <a:p>
            <a:pPr algn="r" rtl="1">
              <a:spcBef>
                <a:spcPts val="600"/>
              </a:spcBef>
              <a:spcAft>
                <a:spcPts val="400"/>
              </a:spcAft>
            </a:pPr>
            <a:r>
              <a:rPr sz="4000" b="1" i="0">
                <a:solidFill>
                  <a:srgbClr val="FFFFFF"/>
                </a:solidFill>
                <a:latin typeface="Segoe UI"/>
                <a:cs typeface="Segoe UI"/>
              </a:rPr>
              <a:t>المساواة والإنصاف</a:t>
            </a:r>
          </a:p>
          <a:p>
            <a:pPr algn="r" rtl="1">
              <a:spcBef>
                <a:spcPts val="400"/>
              </a:spcBef>
              <a:spcAft>
                <a:spcPts val="400"/>
              </a:spcAft>
            </a:pPr>
            <a:r>
              <a:rPr sz="1600" b="0" i="0">
                <a:solidFill>
                  <a:srgbClr val="E4F6F6"/>
                </a:solidFill>
                <a:latin typeface="Segoe UI"/>
                <a:cs typeface="Segoe UI"/>
              </a:rPr>
              <a:t>Equality vs. Equity</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الفرق بين المساواة والإنصاف بمثال مدرسي بسيط</a:t>
            </a:r>
          </a:p>
          <a:p>
            <a:pPr algn="r" rtl="1">
              <a:spcBef>
                <a:spcPts val="400"/>
              </a:spcBef>
            </a:pPr>
            <a:r>
              <a:rPr sz="1600" b="0" i="0">
                <a:solidFill>
                  <a:srgbClr val="FFFFFF"/>
                </a:solidFill>
                <a:latin typeface="Segoe UI"/>
                <a:cs typeface="Segoe UI"/>
              </a:rPr>
              <a:t>◂  لماذا لا تكفي المساواة وحدها أحيانًا؟</a:t>
            </a:r>
          </a:p>
          <a:p>
            <a:pPr algn="r" rtl="1">
              <a:spcBef>
                <a:spcPts val="400"/>
              </a:spcBef>
            </a:pPr>
            <a:r>
              <a:rPr sz="1600" b="0" i="0">
                <a:solidFill>
                  <a:srgbClr val="FFFFFF"/>
                </a:solidFill>
                <a:latin typeface="Segoe UI"/>
                <a:cs typeface="Segoe UI"/>
              </a:rPr>
              <a:t>◂  نشاط: مساواة أم إنصاف؟</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5</a:t>
            </a:r>
          </a:p>
          <a:p>
            <a:pPr algn="r" rtl="1">
              <a:spcBef>
                <a:spcPts val="0"/>
              </a:spcBef>
              <a:spcAft>
                <a:spcPts val="0"/>
              </a:spcAft>
            </a:pPr>
            <a:r>
              <a:rPr sz="2800" b="1" i="0">
                <a:solidFill>
                  <a:srgbClr val="FFFFFF"/>
                </a:solidFill>
                <a:latin typeface="Segoe UI"/>
                <a:cs typeface="Segoe UI"/>
              </a:rPr>
              <a:t>المساواة ليست دائمًا إنصافًا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22</a:t>
            </a:r>
          </a:p>
        </p:txBody>
      </p:sp>
      <p:sp>
        <p:nvSpPr>
          <p:cNvPr id="9" name="Rounded Rectangle 8"/>
          <p:cNvSpPr/>
          <p:nvPr/>
        </p:nvSpPr>
        <p:spPr>
          <a:xfrm>
            <a:off x="6263640" y="1325880"/>
            <a:ext cx="5422392" cy="2834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2000" b="1" i="0">
                <a:solidFill>
                  <a:srgbClr val="1F3A93"/>
                </a:solidFill>
                <a:latin typeface="Segoe UI"/>
                <a:cs typeface="Segoe UI"/>
              </a:rPr>
              <a:t>المساواة</a:t>
            </a:r>
          </a:p>
          <a:p>
            <a:pPr algn="r" rtl="1">
              <a:spcBef>
                <a:spcPts val="200"/>
              </a:spcBef>
              <a:spcAft>
                <a:spcPts val="600"/>
              </a:spcAft>
            </a:pPr>
            <a:r>
              <a:rPr sz="1500" b="1" i="0">
                <a:solidFill>
                  <a:srgbClr val="2B2F38"/>
                </a:solidFill>
                <a:latin typeface="Segoe UI"/>
                <a:cs typeface="Segoe UI"/>
              </a:rPr>
              <a:t>أن نعطي الجميع الشيء نفسه</a:t>
            </a:r>
          </a:p>
          <a:p>
            <a:pPr algn="r" rtl="1">
              <a:spcBef>
                <a:spcPts val="200"/>
              </a:spcBef>
              <a:spcAft>
                <a:spcPts val="200"/>
              </a:spcAft>
            </a:pPr>
            <a:r>
              <a:rPr sz="1350" b="0" i="0">
                <a:solidFill>
                  <a:srgbClr val="2B2F38"/>
                </a:solidFill>
                <a:latin typeface="Segoe UI"/>
                <a:cs typeface="Segoe UI"/>
              </a:rPr>
              <a:t>مثال: المعلم يعرض النص نفسه بالخط نفسه على الجميع، ويمنح الجميع الوقت نفسه — بمن فيهم طالب لديه ضعف بصري وطالب بطيء القراءة.</a:t>
            </a:r>
          </a:p>
        </p:txBody>
      </p:sp>
      <p:sp>
        <p:nvSpPr>
          <p:cNvPr id="10" name="Rounded Rectangle 9"/>
          <p:cNvSpPr/>
          <p:nvPr/>
        </p:nvSpPr>
        <p:spPr>
          <a:xfrm>
            <a:off x="502920" y="1325880"/>
            <a:ext cx="5422392" cy="2834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2000" b="1" i="0">
                <a:solidFill>
                  <a:srgbClr val="1F3A93"/>
                </a:solidFill>
                <a:latin typeface="Segoe UI"/>
                <a:cs typeface="Segoe UI"/>
              </a:rPr>
              <a:t>الإنصاف</a:t>
            </a:r>
          </a:p>
          <a:p>
            <a:pPr algn="r" rtl="1">
              <a:spcBef>
                <a:spcPts val="200"/>
              </a:spcBef>
              <a:spcAft>
                <a:spcPts val="600"/>
              </a:spcAft>
            </a:pPr>
            <a:r>
              <a:rPr sz="1500" b="1" i="0">
                <a:solidFill>
                  <a:srgbClr val="2B2F38"/>
                </a:solidFill>
                <a:latin typeface="Segoe UI"/>
                <a:cs typeface="Segoe UI"/>
              </a:rPr>
              <a:t>أن نوفر لكل متعلم ما يحتاجه ليشارك ويتعلم</a:t>
            </a:r>
          </a:p>
          <a:p>
            <a:pPr algn="r" rtl="1">
              <a:spcBef>
                <a:spcPts val="200"/>
              </a:spcBef>
              <a:spcAft>
                <a:spcPts val="200"/>
              </a:spcAft>
            </a:pPr>
            <a:r>
              <a:rPr sz="1350" b="0" i="0">
                <a:solidFill>
                  <a:srgbClr val="2B2F38"/>
                </a:solidFill>
                <a:latin typeface="Segoe UI"/>
                <a:cs typeface="Segoe UI"/>
              </a:rPr>
              <a:t>مثال: النص نفسه للجميع، لكن بخط مكبّر لمن يحتاجه، ووقت إضافي لمن يقرأ ببطء — فيصل الجميع إلى الهدف التعليمي نفسه.</a:t>
            </a:r>
          </a:p>
        </p:txBody>
      </p:sp>
      <p:sp>
        <p:nvSpPr>
          <p:cNvPr id="11" name="TextBox 10"/>
          <p:cNvSpPr txBox="1"/>
          <p:nvPr/>
        </p:nvSpPr>
        <p:spPr>
          <a:xfrm>
            <a:off x="502920" y="4343400"/>
            <a:ext cx="11183112" cy="457200"/>
          </a:xfrm>
          <a:prstGeom prst="rect">
            <a:avLst/>
          </a:prstGeom>
          <a:noFill/>
        </p:spPr>
        <p:txBody>
          <a:bodyPr wrap="square" anchor="t" lIns="50800" rIns="50800" tIns="25400" bIns="25400">
            <a:spAutoFit/>
          </a:bodyPr>
          <a:lstStyle/>
          <a:p>
            <a:pPr algn="ctr" rtl="1">
              <a:spcBef>
                <a:spcPts val="400"/>
              </a:spcBef>
              <a:spcAft>
                <a:spcPts val="400"/>
              </a:spcAft>
            </a:pPr>
            <a:r>
              <a:rPr sz="1700" b="1" i="0">
                <a:solidFill>
                  <a:srgbClr val="1F3A93"/>
                </a:solidFill>
                <a:latin typeface="Segoe UI"/>
                <a:cs typeface="Segoe UI"/>
              </a:rPr>
              <a:t>الهدف واحد للجميع — والطريق إليه قد يختلف</a:t>
            </a:r>
          </a:p>
        </p:txBody>
      </p:sp>
      <p:sp>
        <p:nvSpPr>
          <p:cNvPr id="12" name="Rounded Rectangle 11"/>
          <p:cNvSpPr/>
          <p:nvPr/>
        </p:nvSpPr>
        <p:spPr>
          <a:xfrm>
            <a:off x="1554480" y="4983480"/>
            <a:ext cx="9052560" cy="12344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0" i="0">
                <a:solidFill>
                  <a:srgbClr val="E4F6F6"/>
                </a:solidFill>
                <a:latin typeface="Segoe UI"/>
                <a:cs typeface="Segoe UI"/>
              </a:rPr>
              <a:t>المساواة نقطة بداية جيدة، لكن عندما تختلف الاحتياجات،</a:t>
            </a:r>
          </a:p>
          <a:p>
            <a:pPr algn="ctr" rtl="1">
              <a:spcBef>
                <a:spcPts val="200"/>
              </a:spcBef>
              <a:spcAft>
                <a:spcPts val="200"/>
              </a:spcAft>
            </a:pPr>
            <a:r>
              <a:rPr sz="1800" b="1" i="0">
                <a:solidFill>
                  <a:srgbClr val="FFFFFF"/>
                </a:solidFill>
                <a:latin typeface="Segoe UI"/>
                <a:cs typeface="Segoe UI"/>
              </a:rPr>
              <a:t>يصبح الإنصاف هو الطريق الحقيقي لتكافؤ الفرص.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5 — نشاط</a:t>
            </a:r>
          </a:p>
          <a:p>
            <a:pPr algn="r" rtl="1">
              <a:spcBef>
                <a:spcPts val="0"/>
              </a:spcBef>
              <a:spcAft>
                <a:spcPts val="0"/>
              </a:spcAft>
            </a:pPr>
            <a:r>
              <a:rPr sz="2800" b="1" i="0">
                <a:solidFill>
                  <a:srgbClr val="FFFFFF"/>
                </a:solidFill>
                <a:latin typeface="Segoe UI"/>
                <a:cs typeface="Segoe UI"/>
              </a:rPr>
              <a:t>نشاط: مساواة أم إنصاف؟</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23</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نشاط تفاعلي</a:t>
            </a:r>
          </a:p>
        </p:txBody>
      </p:sp>
      <p:sp>
        <p:nvSpPr>
          <p:cNvPr id="10" name="TextBox 9"/>
          <p:cNvSpPr txBox="1"/>
          <p:nvPr/>
        </p:nvSpPr>
        <p:spPr>
          <a:xfrm>
            <a:off x="502920" y="1234440"/>
            <a:ext cx="8595360" cy="685800"/>
          </a:xfrm>
          <a:prstGeom prst="rect">
            <a:avLst/>
          </a:prstGeom>
          <a:noFill/>
        </p:spPr>
        <p:txBody>
          <a:bodyPr wrap="square" anchor="t" lIns="50800" rIns="50800" tIns="25400" bIns="25400">
            <a:spAutoFit/>
          </a:bodyPr>
          <a:lstStyle/>
          <a:p>
            <a:pPr algn="r" rtl="1">
              <a:spcBef>
                <a:spcPts val="400"/>
              </a:spcBef>
              <a:spcAft>
                <a:spcPts val="400"/>
              </a:spcAft>
            </a:pPr>
            <a:r>
              <a:rPr sz="1600" b="1" i="0">
                <a:solidFill>
                  <a:srgbClr val="1F3A93"/>
                </a:solidFill>
                <a:latin typeface="Segoe UI"/>
                <a:cs typeface="Segoe UI"/>
              </a:rPr>
              <a:t>لكل موقف قرر: هل الاستجابة تمثل مساواة، أم إنصافًا، أم لا هذا ولا ذاك؟ سجّل في ورقة العمل (5).</a:t>
            </a:r>
          </a:p>
        </p:txBody>
      </p:sp>
      <p:sp>
        <p:nvSpPr>
          <p:cNvPr id="11" name="Rounded Rectangle 10"/>
          <p:cNvSpPr/>
          <p:nvPr/>
        </p:nvSpPr>
        <p:spPr>
          <a:xfrm>
            <a:off x="502920" y="1965960"/>
            <a:ext cx="11183112" cy="868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1:  </a:t>
            </a:r>
            <a:r>
              <a:rPr sz="1500" b="0" i="0">
                <a:solidFill>
                  <a:srgbClr val="2B2F38"/>
                </a:solidFill>
                <a:latin typeface="Segoe UI"/>
                <a:cs typeface="Segoe UI"/>
              </a:rPr>
              <a:t>في اختبار الفهم القرائي، تمنح المعلمة جميع الطلاب 40 دقيقة، وتمنح طالبًا يقرأ ببطء شديد 55 دقيقة لإكمال الاختبار نفسه.</a:t>
            </a:r>
          </a:p>
        </p:txBody>
      </p:sp>
      <p:sp>
        <p:nvSpPr>
          <p:cNvPr id="12" name="Rounded Rectangle 11"/>
          <p:cNvSpPr/>
          <p:nvPr/>
        </p:nvSpPr>
        <p:spPr>
          <a:xfrm>
            <a:off x="502920" y="2944368"/>
            <a:ext cx="11183112" cy="868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2:  </a:t>
            </a:r>
            <a:r>
              <a:rPr sz="1500" b="0" i="0">
                <a:solidFill>
                  <a:srgbClr val="2B2F38"/>
                </a:solidFill>
                <a:latin typeface="Segoe UI"/>
                <a:cs typeface="Segoe UI"/>
              </a:rPr>
              <a:t>توزع المدرسة الكتب نفسها على جميع طلاب الصف في بداية العام.</a:t>
            </a:r>
          </a:p>
        </p:txBody>
      </p:sp>
      <p:sp>
        <p:nvSpPr>
          <p:cNvPr id="13" name="Rounded Rectangle 12"/>
          <p:cNvSpPr/>
          <p:nvPr/>
        </p:nvSpPr>
        <p:spPr>
          <a:xfrm>
            <a:off x="502920" y="3922775"/>
            <a:ext cx="11183112" cy="868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3:  </a:t>
            </a:r>
            <a:r>
              <a:rPr sz="1500" b="0" i="0">
                <a:solidFill>
                  <a:srgbClr val="2B2F38"/>
                </a:solidFill>
                <a:latin typeface="Segoe UI"/>
                <a:cs typeface="Segoe UI"/>
              </a:rPr>
              <a:t>يطلب معلم من طالب يجد صعوبة كبيرة في الكتابة أن يقدّم المشروع شفهيًا، بينما يكتب زملاؤه تقريرًا — والهدف التعليمي هو فهم المحتوى.</a:t>
            </a:r>
          </a:p>
        </p:txBody>
      </p:sp>
      <p:sp>
        <p:nvSpPr>
          <p:cNvPr id="14" name="Rounded Rectangle 13"/>
          <p:cNvSpPr/>
          <p:nvPr/>
        </p:nvSpPr>
        <p:spPr>
          <a:xfrm>
            <a:off x="502920" y="4901183"/>
            <a:ext cx="11183112" cy="868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الموقف 4:  </a:t>
            </a:r>
            <a:r>
              <a:rPr sz="1500" b="0" i="0">
                <a:solidFill>
                  <a:srgbClr val="2B2F38"/>
                </a:solidFill>
                <a:latin typeface="Segoe UI"/>
                <a:cs typeface="Segoe UI"/>
              </a:rPr>
              <a:t>طالب يواجه صعوبة واضحة في متابعة الدروس، فيقرر المعلم إعفاءه من معظم المهام وخفض توقعاته عنه بشكل دائم «رفقًا به».</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5 — تغذية راجعة</a:t>
            </a:r>
          </a:p>
          <a:p>
            <a:pPr algn="r" rtl="1">
              <a:spcBef>
                <a:spcPts val="0"/>
              </a:spcBef>
              <a:spcAft>
                <a:spcPts val="0"/>
              </a:spcAft>
            </a:pPr>
            <a:r>
              <a:rPr sz="2800" b="1" i="0">
                <a:solidFill>
                  <a:srgbClr val="FFFFFF"/>
                </a:solidFill>
                <a:latin typeface="Segoe UI"/>
                <a:cs typeface="Segoe UI"/>
              </a:rPr>
              <a:t>مساواة أم إنصاف؟ — الإجابات</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24</a:t>
            </a:r>
          </a:p>
        </p:txBody>
      </p:sp>
      <p:sp>
        <p:nvSpPr>
          <p:cNvPr id="9" name="Rounded Rectangle 8"/>
          <p:cNvSpPr/>
          <p:nvPr/>
        </p:nvSpPr>
        <p:spPr>
          <a:xfrm>
            <a:off x="502920" y="1325880"/>
            <a:ext cx="11183112" cy="1024128"/>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1 — </a:t>
            </a:r>
            <a:r>
              <a:rPr sz="1500" b="1" i="0">
                <a:solidFill>
                  <a:srgbClr val="2BB3B1"/>
                </a:solidFill>
                <a:latin typeface="Segoe UI"/>
                <a:cs typeface="Segoe UI"/>
              </a:rPr>
              <a:t>إنصاف</a:t>
            </a:r>
          </a:p>
          <a:p>
            <a:pPr algn="r" rtl="1">
              <a:spcBef>
                <a:spcPts val="200"/>
              </a:spcBef>
            </a:pPr>
            <a:r>
              <a:rPr sz="1350" b="0" i="0">
                <a:solidFill>
                  <a:srgbClr val="2B2F38"/>
                </a:solidFill>
                <a:latin typeface="Segoe UI"/>
                <a:cs typeface="Segoe UI"/>
              </a:rPr>
              <a:t>الهدف قياس الفهم لا سرعة القراءة؛ الوقت الإضافي يزيل حاجزًا دون تغيير مستوى التحدي.</a:t>
            </a:r>
          </a:p>
        </p:txBody>
      </p:sp>
      <p:sp>
        <p:nvSpPr>
          <p:cNvPr id="10" name="Rounded Rectangle 9"/>
          <p:cNvSpPr/>
          <p:nvPr/>
        </p:nvSpPr>
        <p:spPr>
          <a:xfrm>
            <a:off x="502920" y="2459736"/>
            <a:ext cx="11183112" cy="1024128"/>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2 — </a:t>
            </a:r>
            <a:r>
              <a:rPr sz="1500" b="1" i="0">
                <a:solidFill>
                  <a:srgbClr val="1F3A93"/>
                </a:solidFill>
                <a:latin typeface="Segoe UI"/>
                <a:cs typeface="Segoe UI"/>
              </a:rPr>
              <a:t>مساواة</a:t>
            </a:r>
          </a:p>
          <a:p>
            <a:pPr algn="r" rtl="1">
              <a:spcBef>
                <a:spcPts val="200"/>
              </a:spcBef>
            </a:pPr>
            <a:r>
              <a:rPr sz="1350" b="0" i="0">
                <a:solidFill>
                  <a:srgbClr val="2B2F38"/>
                </a:solidFill>
                <a:latin typeface="Segoe UI"/>
                <a:cs typeface="Segoe UI"/>
              </a:rPr>
              <a:t>الجميع يحصل على الشيء نفسه. مناسبة هنا كنقطة بداية — وتصبح غير كافية إذا احتاج طالب نسخة مكبرة أو مواد ميسّرة.</a:t>
            </a:r>
          </a:p>
        </p:txBody>
      </p:sp>
      <p:sp>
        <p:nvSpPr>
          <p:cNvPr id="11" name="Rounded Rectangle 10"/>
          <p:cNvSpPr/>
          <p:nvPr/>
        </p:nvSpPr>
        <p:spPr>
          <a:xfrm>
            <a:off x="502920" y="3593592"/>
            <a:ext cx="11183112" cy="1024128"/>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3 — </a:t>
            </a:r>
            <a:r>
              <a:rPr sz="1500" b="1" i="0">
                <a:solidFill>
                  <a:srgbClr val="2BB3B1"/>
                </a:solidFill>
                <a:latin typeface="Segoe UI"/>
                <a:cs typeface="Segoe UI"/>
              </a:rPr>
              <a:t>إنصاف</a:t>
            </a:r>
          </a:p>
          <a:p>
            <a:pPr algn="r" rtl="1">
              <a:spcBef>
                <a:spcPts val="200"/>
              </a:spcBef>
            </a:pPr>
            <a:r>
              <a:rPr sz="1350" b="0" i="0">
                <a:solidFill>
                  <a:srgbClr val="2B2F38"/>
                </a:solidFill>
                <a:latin typeface="Segoe UI"/>
                <a:cs typeface="Segoe UI"/>
              </a:rPr>
              <a:t>وسيلة مختلفة لإظهار التعلم نفسه؛ الهدف التعليمي (فهم المحتوى) لم يتغير — تغيّرت طريقة إثباته فقط.</a:t>
            </a:r>
          </a:p>
        </p:txBody>
      </p:sp>
      <p:sp>
        <p:nvSpPr>
          <p:cNvPr id="12" name="Rounded Rectangle 11"/>
          <p:cNvSpPr/>
          <p:nvPr/>
        </p:nvSpPr>
        <p:spPr>
          <a:xfrm>
            <a:off x="502920" y="4727448"/>
            <a:ext cx="11183112" cy="1024128"/>
          </a:xfrm>
          <a:prstGeom prst="roundRect">
            <a:avLst>
              <a:gd name="adj" fmla="val 8000"/>
            </a:avLst>
          </a:prstGeom>
          <a:solidFill>
            <a:srgbClr val="FFFFFF"/>
          </a:solidFill>
          <a:ln w="12700">
            <a:solidFill>
              <a:srgbClr val="B0333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الموقف 4 — </a:t>
            </a:r>
            <a:r>
              <a:rPr sz="1500" b="1" i="0">
                <a:solidFill>
                  <a:srgbClr val="B03333"/>
                </a:solidFill>
                <a:latin typeface="Segoe UI"/>
                <a:cs typeface="Segoe UI"/>
              </a:rPr>
              <a:t>لا هذا ولا ذاك</a:t>
            </a:r>
          </a:p>
          <a:p>
            <a:pPr algn="r" rtl="1">
              <a:spcBef>
                <a:spcPts val="200"/>
              </a:spcBef>
            </a:pPr>
            <a:r>
              <a:rPr sz="1350" b="0" i="0">
                <a:solidFill>
                  <a:srgbClr val="2B2F38"/>
                </a:solidFill>
                <a:latin typeface="Segoe UI"/>
                <a:cs typeface="Segoe UI"/>
              </a:rPr>
              <a:t>خفض التوقعات الدائم يحرم الطالب من حقه في التعلم والتحدي. الإنصاف يغيّر الدعم والوسيلة، لا سقف الطموح.</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6</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6</a:t>
            </a:r>
          </a:p>
          <a:p>
            <a:pPr algn="r" rtl="1">
              <a:spcBef>
                <a:spcPts val="600"/>
              </a:spcBef>
              <a:spcAft>
                <a:spcPts val="400"/>
              </a:spcAft>
            </a:pPr>
            <a:r>
              <a:rPr sz="4000" b="1" i="0">
                <a:solidFill>
                  <a:srgbClr val="FFFFFF"/>
                </a:solidFill>
                <a:latin typeface="Segoe UI"/>
                <a:cs typeface="Segoe UI"/>
              </a:rPr>
              <a:t>ما الذي يجعل المدرسة شاملة؟</a:t>
            </a:r>
          </a:p>
          <a:p>
            <a:pPr algn="r" rtl="1">
              <a:spcBef>
                <a:spcPts val="400"/>
              </a:spcBef>
              <a:spcAft>
                <a:spcPts val="400"/>
              </a:spcAft>
            </a:pPr>
            <a:r>
              <a:rPr sz="1600" b="0" i="0">
                <a:solidFill>
                  <a:srgbClr val="E4F6F6"/>
                </a:solidFill>
                <a:latin typeface="Segoe UI"/>
                <a:cs typeface="Segoe UI"/>
              </a:rPr>
              <a:t>What Makes a School Inclusive?</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سبعة مجالات مترابطة تصنع المدرسة الشاملة</a:t>
            </a:r>
          </a:p>
          <a:p>
            <a:pPr algn="r" rtl="1">
              <a:spcBef>
                <a:spcPts val="400"/>
              </a:spcBef>
            </a:pPr>
            <a:r>
              <a:rPr sz="1600" b="0" i="0">
                <a:solidFill>
                  <a:srgbClr val="FFFFFF"/>
                </a:solidFill>
                <a:latin typeface="Segoe UI"/>
                <a:cs typeface="Segoe UI"/>
              </a:rPr>
              <a:t>◂  القيادة، البيئة، التعليم، دعم الطلاب</a:t>
            </a:r>
          </a:p>
          <a:p>
            <a:pPr algn="r" rtl="1">
              <a:spcBef>
                <a:spcPts val="400"/>
              </a:spcBef>
            </a:pPr>
            <a:r>
              <a:rPr sz="1600" b="0" i="0">
                <a:solidFill>
                  <a:srgbClr val="FFFFFF"/>
                </a:solidFill>
                <a:latin typeface="Segoe UI"/>
                <a:cs typeface="Segoe UI"/>
              </a:rPr>
              <a:t>◂  الأسرة، قدرات المعلمين، المتابعة والتحسين</a:t>
            </a:r>
          </a:p>
          <a:p>
            <a:pPr algn="r" rtl="1">
              <a:spcBef>
                <a:spcPts val="400"/>
              </a:spcBef>
            </a:pPr>
            <a:r>
              <a:rPr sz="1600" b="0" i="0">
                <a:solidFill>
                  <a:srgbClr val="FFFFFF"/>
                </a:solidFill>
                <a:latin typeface="Segoe UI"/>
                <a:cs typeface="Segoe UI"/>
              </a:rPr>
              <a:t>◂  أداة مسار لجاهزية المدرسة للشمول</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 — نظرة عامة</a:t>
            </a:r>
          </a:p>
          <a:p>
            <a:pPr algn="r" rtl="1">
              <a:spcBef>
                <a:spcPts val="0"/>
              </a:spcBef>
              <a:spcAft>
                <a:spcPts val="0"/>
              </a:spcAft>
            </a:pPr>
            <a:r>
              <a:rPr sz="2800" b="1" i="0">
                <a:solidFill>
                  <a:srgbClr val="FFFFFF"/>
                </a:solidFill>
                <a:latin typeface="Segoe UI"/>
                <a:cs typeface="Segoe UI"/>
              </a:rPr>
              <a:t>سبعة مجالات تصنع المدرسة الشاملة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26</a:t>
            </a:r>
          </a:p>
        </p:txBody>
      </p:sp>
      <p:sp>
        <p:nvSpPr>
          <p:cNvPr id="9" name="Rounded Rectangle 8"/>
          <p:cNvSpPr/>
          <p:nvPr/>
        </p:nvSpPr>
        <p:spPr>
          <a:xfrm>
            <a:off x="9006840" y="1417320"/>
            <a:ext cx="2743200" cy="13716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1</a:t>
            </a:r>
          </a:p>
          <a:p>
            <a:pPr algn="ctr" rtl="1">
              <a:spcBef>
                <a:spcPts val="200"/>
              </a:spcBef>
              <a:spcAft>
                <a:spcPts val="200"/>
              </a:spcAft>
            </a:pPr>
            <a:r>
              <a:rPr sz="1600" b="1" i="0">
                <a:solidFill>
                  <a:srgbClr val="FFFFFF"/>
                </a:solidFill>
                <a:latin typeface="Segoe UI"/>
                <a:cs typeface="Segoe UI"/>
              </a:rPr>
              <a:t>القيادة والسياسات</a:t>
            </a:r>
          </a:p>
        </p:txBody>
      </p:sp>
      <p:sp>
        <p:nvSpPr>
          <p:cNvPr id="10" name="Rounded Rectangle 9"/>
          <p:cNvSpPr/>
          <p:nvPr/>
        </p:nvSpPr>
        <p:spPr>
          <a:xfrm>
            <a:off x="6172200" y="1417320"/>
            <a:ext cx="2743200" cy="13716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2</a:t>
            </a:r>
          </a:p>
          <a:p>
            <a:pPr algn="ctr" rtl="1">
              <a:spcBef>
                <a:spcPts val="200"/>
              </a:spcBef>
              <a:spcAft>
                <a:spcPts val="200"/>
              </a:spcAft>
            </a:pPr>
            <a:r>
              <a:rPr sz="1600" b="1" i="0">
                <a:solidFill>
                  <a:srgbClr val="FFFFFF"/>
                </a:solidFill>
                <a:latin typeface="Segoe UI"/>
                <a:cs typeface="Segoe UI"/>
              </a:rPr>
              <a:t>البيئة المادية والتعليمية</a:t>
            </a:r>
          </a:p>
        </p:txBody>
      </p:sp>
      <p:sp>
        <p:nvSpPr>
          <p:cNvPr id="11" name="Rounded Rectangle 10"/>
          <p:cNvSpPr/>
          <p:nvPr/>
        </p:nvSpPr>
        <p:spPr>
          <a:xfrm>
            <a:off x="3337560" y="1417320"/>
            <a:ext cx="2743200" cy="13716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3</a:t>
            </a:r>
          </a:p>
          <a:p>
            <a:pPr algn="ctr" rtl="1">
              <a:spcBef>
                <a:spcPts val="200"/>
              </a:spcBef>
              <a:spcAft>
                <a:spcPts val="200"/>
              </a:spcAft>
            </a:pPr>
            <a:r>
              <a:rPr sz="1600" b="1" i="0">
                <a:solidFill>
                  <a:srgbClr val="FFFFFF"/>
                </a:solidFill>
                <a:latin typeface="Segoe UI"/>
                <a:cs typeface="Segoe UI"/>
              </a:rPr>
              <a:t>التعليم والتعلم</a:t>
            </a:r>
          </a:p>
        </p:txBody>
      </p:sp>
      <p:sp>
        <p:nvSpPr>
          <p:cNvPr id="12" name="Rounded Rectangle 11"/>
          <p:cNvSpPr/>
          <p:nvPr/>
        </p:nvSpPr>
        <p:spPr>
          <a:xfrm>
            <a:off x="502920" y="1417320"/>
            <a:ext cx="2743200" cy="137160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62B6B"/>
                </a:solidFill>
                <a:latin typeface="Segoe UI"/>
                <a:cs typeface="Segoe UI"/>
              </a:rPr>
              <a:t>4</a:t>
            </a:r>
          </a:p>
          <a:p>
            <a:pPr algn="ctr" rtl="1">
              <a:spcBef>
                <a:spcPts val="200"/>
              </a:spcBef>
              <a:spcAft>
                <a:spcPts val="200"/>
              </a:spcAft>
            </a:pPr>
            <a:r>
              <a:rPr sz="1600" b="1" i="0">
                <a:solidFill>
                  <a:srgbClr val="162B6B"/>
                </a:solidFill>
                <a:latin typeface="Segoe UI"/>
                <a:cs typeface="Segoe UI"/>
              </a:rPr>
              <a:t>دعم الطلاب</a:t>
            </a:r>
          </a:p>
        </p:txBody>
      </p:sp>
      <p:sp>
        <p:nvSpPr>
          <p:cNvPr id="13" name="Rounded Rectangle 12"/>
          <p:cNvSpPr/>
          <p:nvPr/>
        </p:nvSpPr>
        <p:spPr>
          <a:xfrm>
            <a:off x="7589520" y="3017520"/>
            <a:ext cx="2743200" cy="13716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5</a:t>
            </a:r>
          </a:p>
          <a:p>
            <a:pPr algn="ctr" rtl="1">
              <a:spcBef>
                <a:spcPts val="200"/>
              </a:spcBef>
              <a:spcAft>
                <a:spcPts val="200"/>
              </a:spcAft>
            </a:pPr>
            <a:r>
              <a:rPr sz="1600" b="1" i="0">
                <a:solidFill>
                  <a:srgbClr val="FFFFFF"/>
                </a:solidFill>
                <a:latin typeface="Segoe UI"/>
                <a:cs typeface="Segoe UI"/>
              </a:rPr>
              <a:t>مشاركة الأسرة</a:t>
            </a:r>
          </a:p>
        </p:txBody>
      </p:sp>
      <p:sp>
        <p:nvSpPr>
          <p:cNvPr id="14" name="Rounded Rectangle 13"/>
          <p:cNvSpPr/>
          <p:nvPr/>
        </p:nvSpPr>
        <p:spPr>
          <a:xfrm>
            <a:off x="4754880" y="3017520"/>
            <a:ext cx="2743200" cy="13716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6</a:t>
            </a:r>
          </a:p>
          <a:p>
            <a:pPr algn="ctr" rtl="1">
              <a:spcBef>
                <a:spcPts val="200"/>
              </a:spcBef>
              <a:spcAft>
                <a:spcPts val="200"/>
              </a:spcAft>
            </a:pPr>
            <a:r>
              <a:rPr sz="1600" b="1" i="0">
                <a:solidFill>
                  <a:srgbClr val="FFFFFF"/>
                </a:solidFill>
                <a:latin typeface="Segoe UI"/>
                <a:cs typeface="Segoe UI"/>
              </a:rPr>
              <a:t>قدرات المعلمين</a:t>
            </a:r>
          </a:p>
        </p:txBody>
      </p:sp>
      <p:sp>
        <p:nvSpPr>
          <p:cNvPr id="15" name="Rounded Rectangle 14"/>
          <p:cNvSpPr/>
          <p:nvPr/>
        </p:nvSpPr>
        <p:spPr>
          <a:xfrm>
            <a:off x="1920240" y="3017520"/>
            <a:ext cx="2743200" cy="13716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7EFD8"/>
                </a:solidFill>
                <a:latin typeface="Segoe UI"/>
                <a:cs typeface="Segoe UI"/>
              </a:rPr>
              <a:t>7</a:t>
            </a:r>
          </a:p>
          <a:p>
            <a:pPr algn="ctr" rtl="1">
              <a:spcBef>
                <a:spcPts val="200"/>
              </a:spcBef>
              <a:spcAft>
                <a:spcPts val="200"/>
              </a:spcAft>
            </a:pPr>
            <a:r>
              <a:rPr sz="1600" b="1" i="0">
                <a:solidFill>
                  <a:srgbClr val="FFFFFF"/>
                </a:solidFill>
                <a:latin typeface="Segoe UI"/>
                <a:cs typeface="Segoe UI"/>
              </a:rPr>
              <a:t>المتابعة والتحسين</a:t>
            </a:r>
          </a:p>
        </p:txBody>
      </p:sp>
      <p:sp>
        <p:nvSpPr>
          <p:cNvPr id="16" name="Rounded Rectangle 15"/>
          <p:cNvSpPr/>
          <p:nvPr/>
        </p:nvSpPr>
        <p:spPr>
          <a:xfrm>
            <a:off x="1188720" y="4663440"/>
            <a:ext cx="9784080"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1F3A93"/>
                </a:solidFill>
                <a:latin typeface="Segoe UI"/>
                <a:cs typeface="Segoe UI"/>
              </a:rPr>
              <a:t>المجالات السبعة مترابطة: ضعف أحدها يُضعف البقية، وتقويته يرفعها جميعًا.</a:t>
            </a:r>
          </a:p>
          <a:p>
            <a:pPr algn="ctr" rtl="1">
              <a:spcBef>
                <a:spcPts val="200"/>
              </a:spcBef>
              <a:spcAft>
                <a:spcPts val="200"/>
              </a:spcAft>
            </a:pPr>
            <a:r>
              <a:rPr sz="1400" b="0" i="0">
                <a:solidFill>
                  <a:srgbClr val="2B2F38"/>
                </a:solidFill>
                <a:latin typeface="Segoe UI"/>
                <a:cs typeface="Segoe UI"/>
              </a:rPr>
              <a:t>هذه المجالات نفسها هي محاور «أداة مسار لجاهزية المدرسة للشمول» التي تساعد المدرسة على تقييم واقعها وتحديد أولويات تطويرها.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a:t>
            </a:r>
          </a:p>
          <a:p>
            <a:pPr algn="r" rtl="1">
              <a:spcBef>
                <a:spcPts val="0"/>
              </a:spcBef>
              <a:spcAft>
                <a:spcPts val="0"/>
              </a:spcAft>
            </a:pPr>
            <a:r>
              <a:rPr sz="2800" b="1" i="0">
                <a:solidFill>
                  <a:srgbClr val="FFFFFF"/>
                </a:solidFill>
                <a:latin typeface="Segoe UI"/>
                <a:cs typeface="Segoe UI"/>
              </a:rPr>
              <a:t>المجال 1 و 2: القيادة والبيئة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27</a:t>
            </a:r>
          </a:p>
        </p:txBody>
      </p:sp>
      <p:sp>
        <p:nvSpPr>
          <p:cNvPr id="9" name="Rounded Rectangle 8"/>
          <p:cNvSpPr/>
          <p:nvPr/>
        </p:nvSpPr>
        <p:spPr>
          <a:xfrm>
            <a:off x="6195059"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1. القيادة والسياسات</a:t>
            </a:r>
          </a:p>
          <a:p>
            <a:pPr algn="r" rtl="1">
              <a:spcBef>
                <a:spcPts val="100"/>
              </a:spcBef>
              <a:spcAft>
                <a:spcPts val="100"/>
              </a:spcAft>
            </a:pPr>
            <a:r>
              <a:rPr sz="1450" b="0" i="0">
                <a:solidFill>
                  <a:srgbClr val="2B2F38"/>
                </a:solidFill>
                <a:latin typeface="Segoe UI"/>
                <a:cs typeface="Segoe UI"/>
              </a:rPr>
              <a:t>التزام معلن من القيادة بأن الشمول أولوية مدرسية</a:t>
            </a:r>
          </a:p>
          <a:p>
            <a:pPr algn="r" rtl="1">
              <a:spcBef>
                <a:spcPts val="100"/>
              </a:spcBef>
              <a:spcAft>
                <a:spcPts val="100"/>
              </a:spcAft>
            </a:pPr>
            <a:r>
              <a:rPr sz="1450" b="0" i="0">
                <a:solidFill>
                  <a:srgbClr val="2B2F38"/>
                </a:solidFill>
                <a:latin typeface="Segoe UI"/>
                <a:cs typeface="Segoe UI"/>
              </a:rPr>
              <a:t>توقعات واضحة من جميع العاملين تجاه كل الطلاب</a:t>
            </a:r>
          </a:p>
          <a:p>
            <a:pPr algn="r" rtl="1">
              <a:spcBef>
                <a:spcPts val="100"/>
              </a:spcBef>
              <a:spcAft>
                <a:spcPts val="100"/>
              </a:spcAft>
            </a:pPr>
            <a:r>
              <a:rPr sz="1450" b="0" i="0">
                <a:solidFill>
                  <a:srgbClr val="2B2F38"/>
                </a:solidFill>
                <a:latin typeface="Segoe UI"/>
                <a:cs typeface="Segoe UI"/>
              </a:rPr>
              <a:t>ثقافة مدرسية ترحب بالاختلاف وترفض الإقصاء</a:t>
            </a:r>
          </a:p>
          <a:p>
            <a:pPr algn="r" rtl="1">
              <a:spcBef>
                <a:spcPts val="100"/>
              </a:spcBef>
              <a:spcAft>
                <a:spcPts val="100"/>
              </a:spcAft>
            </a:pPr>
            <a:r>
              <a:rPr sz="1450" b="0" i="0">
                <a:solidFill>
                  <a:srgbClr val="2B2F38"/>
                </a:solidFill>
                <a:latin typeface="Segoe UI"/>
                <a:cs typeface="Segoe UI"/>
              </a:rPr>
              <a:t>سياسات وإجراءات مكتوبة: القبول، الدعم، مكافحة التنمر</a:t>
            </a:r>
          </a:p>
        </p:txBody>
      </p:sp>
      <p:sp>
        <p:nvSpPr>
          <p:cNvPr id="10" name="Rounded Rectangle 9"/>
          <p:cNvSpPr/>
          <p:nvPr/>
        </p:nvSpPr>
        <p:spPr>
          <a:xfrm>
            <a:off x="502920"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2. البيئة المادية والتعليمية</a:t>
            </a:r>
          </a:p>
          <a:p>
            <a:pPr algn="r" rtl="1">
              <a:spcBef>
                <a:spcPts val="100"/>
              </a:spcBef>
              <a:spcAft>
                <a:spcPts val="100"/>
              </a:spcAft>
            </a:pPr>
            <a:r>
              <a:rPr sz="1450" b="0" i="0">
                <a:solidFill>
                  <a:srgbClr val="2B2F38"/>
                </a:solidFill>
                <a:latin typeface="Segoe UI"/>
                <a:cs typeface="Segoe UI"/>
              </a:rPr>
              <a:t>إتاحة الوصول: مداخل، ممرات، دورات مياه، مرافق مناسبة</a:t>
            </a:r>
          </a:p>
          <a:p>
            <a:pPr algn="r" rtl="1">
              <a:spcBef>
                <a:spcPts val="100"/>
              </a:spcBef>
              <a:spcAft>
                <a:spcPts val="100"/>
              </a:spcAft>
            </a:pPr>
            <a:r>
              <a:rPr sz="1450" b="0" i="0">
                <a:solidFill>
                  <a:srgbClr val="2B2F38"/>
                </a:solidFill>
                <a:latin typeface="Segoe UI"/>
                <a:cs typeface="Segoe UI"/>
              </a:rPr>
              <a:t>تنظيم صفّي مرن يسمح بالحركة والعمل الفردي والجماعي</a:t>
            </a:r>
          </a:p>
          <a:p>
            <a:pPr algn="r" rtl="1">
              <a:spcBef>
                <a:spcPts val="100"/>
              </a:spcBef>
              <a:spcAft>
                <a:spcPts val="100"/>
              </a:spcAft>
            </a:pPr>
            <a:r>
              <a:rPr sz="1450" b="0" i="0">
                <a:solidFill>
                  <a:srgbClr val="2B2F38"/>
                </a:solidFill>
                <a:latin typeface="Segoe UI"/>
                <a:cs typeface="Segoe UI"/>
              </a:rPr>
              <a:t>مواد تعليمية متنوعة: بصرية، سمعية، ملموسة</a:t>
            </a:r>
          </a:p>
          <a:p>
            <a:pPr algn="r" rtl="1">
              <a:spcBef>
                <a:spcPts val="100"/>
              </a:spcBef>
              <a:spcAft>
                <a:spcPts val="100"/>
              </a:spcAft>
            </a:pPr>
            <a:r>
              <a:rPr sz="1450" b="0" i="0">
                <a:solidFill>
                  <a:srgbClr val="2B2F38"/>
                </a:solidFill>
                <a:latin typeface="Segoe UI"/>
                <a:cs typeface="Segoe UI"/>
              </a:rPr>
              <a:t>مواءمات معقولة: مكان الجلوس، الإضاءة، تقليل الضوضاء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a:t>
            </a:r>
          </a:p>
          <a:p>
            <a:pPr algn="r" rtl="1">
              <a:spcBef>
                <a:spcPts val="0"/>
              </a:spcBef>
              <a:spcAft>
                <a:spcPts val="0"/>
              </a:spcAft>
            </a:pPr>
            <a:r>
              <a:rPr sz="2800" b="1" i="0">
                <a:solidFill>
                  <a:srgbClr val="FFFFFF"/>
                </a:solidFill>
                <a:latin typeface="Segoe UI"/>
                <a:cs typeface="Segoe UI"/>
              </a:rPr>
              <a:t>المجال 3 و 4: التعليم ودعم الطلاب</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28</a:t>
            </a:r>
          </a:p>
        </p:txBody>
      </p:sp>
      <p:sp>
        <p:nvSpPr>
          <p:cNvPr id="9" name="Rounded Rectangle 8"/>
          <p:cNvSpPr/>
          <p:nvPr/>
        </p:nvSpPr>
        <p:spPr>
          <a:xfrm>
            <a:off x="6195059"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3. التعليم والتعلم</a:t>
            </a:r>
          </a:p>
          <a:p>
            <a:pPr algn="r" rtl="1">
              <a:spcBef>
                <a:spcPts val="100"/>
              </a:spcBef>
              <a:spcAft>
                <a:spcPts val="100"/>
              </a:spcAft>
            </a:pPr>
            <a:r>
              <a:rPr sz="1400" b="0" i="0">
                <a:solidFill>
                  <a:srgbClr val="2B2F38"/>
                </a:solidFill>
                <a:latin typeface="Segoe UI"/>
                <a:cs typeface="Segoe UI"/>
              </a:rPr>
              <a:t>التمايز: تنويع المحتوى والأنشطة والمخرجات حسب الاحتياج</a:t>
            </a:r>
          </a:p>
          <a:p>
            <a:pPr algn="r" rtl="1">
              <a:spcBef>
                <a:spcPts val="100"/>
              </a:spcBef>
              <a:spcAft>
                <a:spcPts val="100"/>
              </a:spcAft>
            </a:pPr>
            <a:r>
              <a:rPr sz="1400" b="0" i="0">
                <a:solidFill>
                  <a:srgbClr val="2B2F38"/>
                </a:solidFill>
                <a:latin typeface="Segoe UI"/>
                <a:cs typeface="Segoe UI"/>
              </a:rPr>
              <a:t>تدريس مرن: شرح متعدد الطرق، أمثلة متنوعة، وقت كافٍ</a:t>
            </a:r>
          </a:p>
          <a:p>
            <a:pPr algn="r" rtl="1">
              <a:spcBef>
                <a:spcPts val="100"/>
              </a:spcBef>
              <a:spcAft>
                <a:spcPts val="100"/>
              </a:spcAft>
            </a:pPr>
            <a:r>
              <a:rPr sz="1400" b="0" i="0">
                <a:solidFill>
                  <a:srgbClr val="2B2F38"/>
                </a:solidFill>
                <a:latin typeface="Segoe UI"/>
                <a:cs typeface="Segoe UI"/>
              </a:rPr>
              <a:t>طرق مشاركة متعددة: شفهية، كتابية، عملية، جماعية</a:t>
            </a:r>
          </a:p>
          <a:p>
            <a:pPr algn="r" rtl="1">
              <a:spcBef>
                <a:spcPts val="100"/>
              </a:spcBef>
              <a:spcAft>
                <a:spcPts val="100"/>
              </a:spcAft>
            </a:pPr>
            <a:r>
              <a:rPr sz="1400" b="0" i="0">
                <a:solidFill>
                  <a:srgbClr val="2B2F38"/>
                </a:solidFill>
                <a:latin typeface="Segoe UI"/>
                <a:cs typeface="Segoe UI"/>
              </a:rPr>
              <a:t>تقويم تكويني مستمر يكشف التعثر مبكرًا</a:t>
            </a:r>
          </a:p>
          <a:p>
            <a:pPr algn="r" rtl="1">
              <a:spcBef>
                <a:spcPts val="100"/>
              </a:spcBef>
              <a:spcAft>
                <a:spcPts val="100"/>
              </a:spcAft>
            </a:pPr>
            <a:r>
              <a:rPr sz="1400" b="0" i="0">
                <a:solidFill>
                  <a:srgbClr val="2B2F38"/>
                </a:solidFill>
                <a:latin typeface="Segoe UI"/>
                <a:cs typeface="Segoe UI"/>
              </a:rPr>
              <a:t>دعم مناسب داخل الصف قبل أي إجراء آخر</a:t>
            </a:r>
          </a:p>
        </p:txBody>
      </p:sp>
      <p:sp>
        <p:nvSpPr>
          <p:cNvPr id="10" name="Rounded Rectangle 9"/>
          <p:cNvSpPr/>
          <p:nvPr/>
        </p:nvSpPr>
        <p:spPr>
          <a:xfrm>
            <a:off x="502920"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4. دعم الطلاب</a:t>
            </a:r>
          </a:p>
          <a:p>
            <a:pPr algn="r" rtl="1">
              <a:spcBef>
                <a:spcPts val="100"/>
              </a:spcBef>
              <a:spcAft>
                <a:spcPts val="100"/>
              </a:spcAft>
            </a:pPr>
            <a:r>
              <a:rPr sz="1400" b="0" i="0">
                <a:solidFill>
                  <a:srgbClr val="2B2F38"/>
                </a:solidFill>
                <a:latin typeface="Segoe UI"/>
                <a:cs typeface="Segoe UI"/>
              </a:rPr>
              <a:t>اكتشاف مبكر للاحتياجات عبر الملاحظة والبيانات</a:t>
            </a:r>
          </a:p>
          <a:p>
            <a:pPr algn="r" rtl="1">
              <a:spcBef>
                <a:spcPts val="100"/>
              </a:spcBef>
              <a:spcAft>
                <a:spcPts val="100"/>
              </a:spcAft>
            </a:pPr>
            <a:r>
              <a:rPr sz="1400" b="0" i="0">
                <a:solidFill>
                  <a:srgbClr val="2B2F38"/>
                </a:solidFill>
                <a:latin typeface="Segoe UI"/>
                <a:cs typeface="Segoe UI"/>
              </a:rPr>
              <a:t>دعم صفّي أولًا: مقعد، وقت، تعليمات، مواد ميسّرة</a:t>
            </a:r>
          </a:p>
          <a:p>
            <a:pPr algn="r" rtl="1">
              <a:spcBef>
                <a:spcPts val="100"/>
              </a:spcBef>
              <a:spcAft>
                <a:spcPts val="100"/>
              </a:spcAft>
            </a:pPr>
            <a:r>
              <a:rPr sz="1400" b="0" i="0">
                <a:solidFill>
                  <a:srgbClr val="2B2F38"/>
                </a:solidFill>
                <a:latin typeface="Segoe UI"/>
                <a:cs typeface="Segoe UI"/>
              </a:rPr>
              <a:t>تعاون منظم مع الاختصاصيين عند الحاجة</a:t>
            </a:r>
          </a:p>
          <a:p>
            <a:pPr algn="r" rtl="1">
              <a:spcBef>
                <a:spcPts val="100"/>
              </a:spcBef>
              <a:spcAft>
                <a:spcPts val="100"/>
              </a:spcAft>
            </a:pPr>
            <a:r>
              <a:rPr sz="1400" b="0" i="0">
                <a:solidFill>
                  <a:srgbClr val="2B2F38"/>
                </a:solidFill>
                <a:latin typeface="Segoe UI"/>
                <a:cs typeface="Segoe UI"/>
              </a:rPr>
              <a:t>دعم فردي مخطط له عندما لا يكفي الدعم الصفي</a:t>
            </a:r>
          </a:p>
          <a:p>
            <a:pPr algn="r" rtl="1">
              <a:spcBef>
                <a:spcPts val="100"/>
              </a:spcBef>
              <a:spcAft>
                <a:spcPts val="100"/>
              </a:spcAft>
            </a:pPr>
            <a:r>
              <a:rPr sz="1400" b="0" i="0">
                <a:solidFill>
                  <a:srgbClr val="2B2F38"/>
                </a:solidFill>
                <a:latin typeface="Segoe UI"/>
                <a:cs typeface="Segoe UI"/>
              </a:rPr>
              <a:t>متابعة أثر الدعم وتعديله بناء على الأدلة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a:t>
            </a:r>
          </a:p>
          <a:p>
            <a:pPr algn="r" rtl="1">
              <a:spcBef>
                <a:spcPts val="0"/>
              </a:spcBef>
              <a:spcAft>
                <a:spcPts val="0"/>
              </a:spcAft>
            </a:pPr>
            <a:r>
              <a:rPr sz="2800" b="1" i="0">
                <a:solidFill>
                  <a:srgbClr val="FFFFFF"/>
                </a:solidFill>
                <a:latin typeface="Segoe UI"/>
                <a:cs typeface="Segoe UI"/>
              </a:rPr>
              <a:t>المجال 5 و 6: الأسرة وقدرات المعلمين</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29</a:t>
            </a:r>
          </a:p>
        </p:txBody>
      </p:sp>
      <p:sp>
        <p:nvSpPr>
          <p:cNvPr id="9" name="Rounded Rectangle 8"/>
          <p:cNvSpPr/>
          <p:nvPr/>
        </p:nvSpPr>
        <p:spPr>
          <a:xfrm>
            <a:off x="6195059"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5. مشاركة الأسرة</a:t>
            </a:r>
          </a:p>
          <a:p>
            <a:pPr algn="r" rtl="1">
              <a:spcBef>
                <a:spcPts val="100"/>
              </a:spcBef>
              <a:spcAft>
                <a:spcPts val="100"/>
              </a:spcAft>
            </a:pPr>
            <a:r>
              <a:rPr sz="1450" b="0" i="0">
                <a:solidFill>
                  <a:srgbClr val="2B2F38"/>
                </a:solidFill>
                <a:latin typeface="Segoe UI"/>
                <a:cs typeface="Segoe UI"/>
              </a:rPr>
              <a:t>تواصل منتظم ومبكر — لا اتصالات الشكاوى فقط</a:t>
            </a:r>
          </a:p>
          <a:p>
            <a:pPr algn="r" rtl="1">
              <a:spcBef>
                <a:spcPts val="100"/>
              </a:spcBef>
              <a:spcAft>
                <a:spcPts val="100"/>
              </a:spcAft>
            </a:pPr>
            <a:r>
              <a:rPr sz="1450" b="0" i="0">
                <a:solidFill>
                  <a:srgbClr val="2B2F38"/>
                </a:solidFill>
                <a:latin typeface="Segoe UI"/>
                <a:cs typeface="Segoe UI"/>
              </a:rPr>
              <a:t>شراكة قائمة على الاحترام: الأسرة خبيرة بطفلها</a:t>
            </a:r>
          </a:p>
          <a:p>
            <a:pPr algn="r" rtl="1">
              <a:spcBef>
                <a:spcPts val="100"/>
              </a:spcBef>
              <a:spcAft>
                <a:spcPts val="100"/>
              </a:spcAft>
            </a:pPr>
            <a:r>
              <a:rPr sz="1450" b="0" i="0">
                <a:solidFill>
                  <a:srgbClr val="2B2F38"/>
                </a:solidFill>
                <a:latin typeface="Segoe UI"/>
                <a:cs typeface="Segoe UI"/>
              </a:rPr>
              <a:t>تبادل المعلومات في الاتجاهين: من المدرسة وإليها</a:t>
            </a:r>
          </a:p>
          <a:p>
            <a:pPr algn="r" rtl="1">
              <a:spcBef>
                <a:spcPts val="100"/>
              </a:spcBef>
              <a:spcAft>
                <a:spcPts val="100"/>
              </a:spcAft>
            </a:pPr>
            <a:r>
              <a:rPr sz="1450" b="0" i="0">
                <a:solidFill>
                  <a:srgbClr val="2B2F38"/>
                </a:solidFill>
                <a:latin typeface="Segoe UI"/>
                <a:cs typeface="Segoe UI"/>
              </a:rPr>
              <a:t>إشراك الأسرة في خطط الدعم ومتابعة التقدم</a:t>
            </a:r>
          </a:p>
        </p:txBody>
      </p:sp>
      <p:sp>
        <p:nvSpPr>
          <p:cNvPr id="10" name="Rounded Rectangle 9"/>
          <p:cNvSpPr/>
          <p:nvPr/>
        </p:nvSpPr>
        <p:spPr>
          <a:xfrm>
            <a:off x="502920"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6. قدرات المعلمين</a:t>
            </a:r>
          </a:p>
          <a:p>
            <a:pPr algn="r" rtl="1">
              <a:spcBef>
                <a:spcPts val="100"/>
              </a:spcBef>
              <a:spcAft>
                <a:spcPts val="100"/>
              </a:spcAft>
            </a:pPr>
            <a:r>
              <a:rPr sz="1450" b="0" i="0">
                <a:solidFill>
                  <a:srgbClr val="2B2F38"/>
                </a:solidFill>
                <a:latin typeface="Segoe UI"/>
                <a:cs typeface="Segoe UI"/>
              </a:rPr>
              <a:t>معرفة أساسية بالتنوع والحواجز والدعم الصفي</a:t>
            </a:r>
          </a:p>
          <a:p>
            <a:pPr algn="r" rtl="1">
              <a:spcBef>
                <a:spcPts val="100"/>
              </a:spcBef>
              <a:spcAft>
                <a:spcPts val="100"/>
              </a:spcAft>
            </a:pPr>
            <a:r>
              <a:rPr sz="1450" b="0" i="0">
                <a:solidFill>
                  <a:srgbClr val="2B2F38"/>
                </a:solidFill>
                <a:latin typeface="Segoe UI"/>
                <a:cs typeface="Segoe UI"/>
              </a:rPr>
              <a:t>مهارات عملية: التمايز، إدارة الصف، المواءمات</a:t>
            </a:r>
          </a:p>
          <a:p>
            <a:pPr algn="r" rtl="1">
              <a:spcBef>
                <a:spcPts val="100"/>
              </a:spcBef>
              <a:spcAft>
                <a:spcPts val="100"/>
              </a:spcAft>
            </a:pPr>
            <a:r>
              <a:rPr sz="1450" b="0" i="0">
                <a:solidFill>
                  <a:srgbClr val="2B2F38"/>
                </a:solidFill>
                <a:latin typeface="Segoe UI"/>
                <a:cs typeface="Segoe UI"/>
              </a:rPr>
              <a:t>تعاون مهني: تبادل الخبرات وحل المشكلات معًا</a:t>
            </a:r>
          </a:p>
          <a:p>
            <a:pPr algn="r" rtl="1">
              <a:spcBef>
                <a:spcPts val="100"/>
              </a:spcBef>
              <a:spcAft>
                <a:spcPts val="100"/>
              </a:spcAft>
            </a:pPr>
            <a:r>
              <a:rPr sz="1450" b="0" i="0">
                <a:solidFill>
                  <a:srgbClr val="2B2F38"/>
                </a:solidFill>
                <a:latin typeface="Segoe UI"/>
                <a:cs typeface="Segoe UI"/>
              </a:rPr>
              <a:t>تعلم مهني مستمر مرتبط باحتياجات المدرسة الفعلية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a:t>
            </a:r>
          </a:p>
          <a:p>
            <a:pPr algn="r" rtl="1">
              <a:spcBef>
                <a:spcPts val="0"/>
              </a:spcBef>
              <a:spcAft>
                <a:spcPts val="0"/>
              </a:spcAft>
            </a:pPr>
            <a:r>
              <a:rPr sz="2800" b="1" i="0">
                <a:solidFill>
                  <a:srgbClr val="FFFFFF"/>
                </a:solidFill>
                <a:latin typeface="Segoe UI"/>
                <a:cs typeface="Segoe UI"/>
              </a:rPr>
              <a:t>المجال 7: المتابعة والتحسين المستمر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30</a:t>
            </a:r>
          </a:p>
        </p:txBody>
      </p:sp>
      <p:sp>
        <p:nvSpPr>
          <p:cNvPr id="9" name="Rounded Rectangle 8"/>
          <p:cNvSpPr/>
          <p:nvPr/>
        </p:nvSpPr>
        <p:spPr>
          <a:xfrm>
            <a:off x="9543135" y="1554480"/>
            <a:ext cx="2103120" cy="2011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550" b="1" i="0">
                <a:solidFill>
                  <a:srgbClr val="1F3A93"/>
                </a:solidFill>
                <a:latin typeface="Segoe UI"/>
                <a:cs typeface="Segoe UI"/>
              </a:rPr>
              <a:t>أدلة وبيانات</a:t>
            </a:r>
          </a:p>
          <a:p>
            <a:pPr algn="ctr" rtl="1">
              <a:spcBef>
                <a:spcPts val="200"/>
              </a:spcBef>
              <a:spcAft>
                <a:spcPts val="200"/>
              </a:spcAft>
            </a:pPr>
            <a:r>
              <a:rPr sz="1200" b="0" i="0">
                <a:solidFill>
                  <a:srgbClr val="2B2F38"/>
                </a:solidFill>
                <a:latin typeface="Segoe UI"/>
                <a:cs typeface="Segoe UI"/>
              </a:rPr>
              <a:t>حضور، مشاركة، تقدم أكاديمي، مناخ مدرسي</a:t>
            </a:r>
          </a:p>
        </p:txBody>
      </p:sp>
      <p:sp>
        <p:nvSpPr>
          <p:cNvPr id="10" name="Left Arrow 9"/>
          <p:cNvSpPr/>
          <p:nvPr/>
        </p:nvSpPr>
        <p:spPr>
          <a:xfrm>
            <a:off x="9396831" y="2377440"/>
            <a:ext cx="146304"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93711" y="1554480"/>
            <a:ext cx="2103120" cy="20116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550" b="1" i="0">
                <a:solidFill>
                  <a:srgbClr val="1F3A93"/>
                </a:solidFill>
                <a:latin typeface="Segoe UI"/>
                <a:cs typeface="Segoe UI"/>
              </a:rPr>
              <a:t>متابعة</a:t>
            </a:r>
          </a:p>
          <a:p>
            <a:pPr algn="ctr" rtl="1">
              <a:spcBef>
                <a:spcPts val="200"/>
              </a:spcBef>
              <a:spcAft>
                <a:spcPts val="200"/>
              </a:spcAft>
            </a:pPr>
            <a:r>
              <a:rPr sz="1200" b="0" i="0">
                <a:solidFill>
                  <a:srgbClr val="2B2F38"/>
                </a:solidFill>
                <a:latin typeface="Segoe UI"/>
                <a:cs typeface="Segoe UI"/>
              </a:rPr>
              <a:t>هل تُنفَّذ خطط الدعم فعلًا؟ وما أثرها؟</a:t>
            </a:r>
          </a:p>
        </p:txBody>
      </p:sp>
      <p:sp>
        <p:nvSpPr>
          <p:cNvPr id="12" name="Left Arrow 11"/>
          <p:cNvSpPr/>
          <p:nvPr/>
        </p:nvSpPr>
        <p:spPr>
          <a:xfrm>
            <a:off x="7147407" y="2377440"/>
            <a:ext cx="146304"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44287" y="1554480"/>
            <a:ext cx="2103120" cy="2011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550" b="1" i="0">
                <a:solidFill>
                  <a:srgbClr val="1F3A93"/>
                </a:solidFill>
                <a:latin typeface="Segoe UI"/>
                <a:cs typeface="Segoe UI"/>
              </a:rPr>
              <a:t>مراجعة</a:t>
            </a:r>
          </a:p>
          <a:p>
            <a:pPr algn="ctr" rtl="1">
              <a:spcBef>
                <a:spcPts val="200"/>
              </a:spcBef>
              <a:spcAft>
                <a:spcPts val="200"/>
              </a:spcAft>
            </a:pPr>
            <a:r>
              <a:rPr sz="1200" b="0" i="0">
                <a:solidFill>
                  <a:srgbClr val="2B2F38"/>
                </a:solidFill>
                <a:latin typeface="Segoe UI"/>
                <a:cs typeface="Segoe UI"/>
              </a:rPr>
              <a:t>وقفات دورية: ما الذي ينجح؟ وما الذي لا ينجح؟</a:t>
            </a:r>
          </a:p>
        </p:txBody>
      </p:sp>
      <p:sp>
        <p:nvSpPr>
          <p:cNvPr id="14" name="Left Arrow 13"/>
          <p:cNvSpPr/>
          <p:nvPr/>
        </p:nvSpPr>
        <p:spPr>
          <a:xfrm>
            <a:off x="4897983" y="2377440"/>
            <a:ext cx="146304"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863" y="1554480"/>
            <a:ext cx="2103120" cy="20116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550" b="1" i="0">
                <a:solidFill>
                  <a:srgbClr val="1F3A93"/>
                </a:solidFill>
                <a:latin typeface="Segoe UI"/>
                <a:cs typeface="Segoe UI"/>
              </a:rPr>
              <a:t>تعديل</a:t>
            </a:r>
          </a:p>
          <a:p>
            <a:pPr algn="ctr" rtl="1">
              <a:spcBef>
                <a:spcPts val="200"/>
              </a:spcBef>
              <a:spcAft>
                <a:spcPts val="200"/>
              </a:spcAft>
            </a:pPr>
            <a:r>
              <a:rPr sz="1200" b="0" i="0">
                <a:solidFill>
                  <a:srgbClr val="2B2F38"/>
                </a:solidFill>
                <a:latin typeface="Segoe UI"/>
                <a:cs typeface="Segoe UI"/>
              </a:rPr>
              <a:t>تحسين الإجراءات بناءً على الأدلة لا الانطباعات</a:t>
            </a:r>
          </a:p>
        </p:txBody>
      </p:sp>
      <p:sp>
        <p:nvSpPr>
          <p:cNvPr id="16" name="Left Arrow 15"/>
          <p:cNvSpPr/>
          <p:nvPr/>
        </p:nvSpPr>
        <p:spPr>
          <a:xfrm>
            <a:off x="2648559" y="2377440"/>
            <a:ext cx="146304"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5439" y="1554480"/>
            <a:ext cx="2103120" cy="20116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550" b="1" i="0">
                <a:solidFill>
                  <a:srgbClr val="1F3A93"/>
                </a:solidFill>
                <a:latin typeface="Segoe UI"/>
                <a:cs typeface="Segoe UI"/>
              </a:rPr>
              <a:t>تحسين مستمر</a:t>
            </a:r>
          </a:p>
          <a:p>
            <a:pPr algn="ctr" rtl="1">
              <a:spcBef>
                <a:spcPts val="200"/>
              </a:spcBef>
              <a:spcAft>
                <a:spcPts val="200"/>
              </a:spcAft>
            </a:pPr>
            <a:r>
              <a:rPr sz="1200" b="0" i="0">
                <a:solidFill>
                  <a:srgbClr val="2B2F38"/>
                </a:solidFill>
                <a:latin typeface="Segoe UI"/>
                <a:cs typeface="Segoe UI"/>
              </a:rPr>
              <a:t>الشمول رحلة تطوير دائمة، لا مشروعًا ينتهي</a:t>
            </a:r>
          </a:p>
        </p:txBody>
      </p:sp>
      <p:sp>
        <p:nvSpPr>
          <p:cNvPr id="18" name="Rounded Rectangle 17"/>
          <p:cNvSpPr/>
          <p:nvPr/>
        </p:nvSpPr>
        <p:spPr>
          <a:xfrm>
            <a:off x="914400" y="4023360"/>
            <a:ext cx="10332720" cy="201168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400"/>
              </a:spcAft>
            </a:pPr>
            <a:r>
              <a:rPr sz="1900" b="1" i="0">
                <a:solidFill>
                  <a:srgbClr val="C9A227"/>
                </a:solidFill>
                <a:latin typeface="Segoe UI"/>
                <a:cs typeface="Segoe UI"/>
              </a:rPr>
              <a:t>أداة مسار لجاهزية المدرسة للشمول</a:t>
            </a:r>
          </a:p>
          <a:p>
            <a:pPr algn="r" rtl="1">
              <a:spcBef>
                <a:spcPts val="200"/>
              </a:spcBef>
              <a:spcAft>
                <a:spcPts val="300"/>
              </a:spcAft>
            </a:pPr>
            <a:r>
              <a:rPr sz="1500" b="0" i="0">
                <a:solidFill>
                  <a:srgbClr val="FFFFFF"/>
                </a:solidFill>
                <a:latin typeface="Segoe UI"/>
                <a:cs typeface="Segoe UI"/>
              </a:rPr>
              <a:t>أداة عملية تساعد فريق المدرسة على تقييم واقعه في المجالات السبعة، وتحديد نقاط القوة وأولويات التطوير، وبناء خطة تحسين واقعية قابلة للمتابعة.</a:t>
            </a:r>
          </a:p>
          <a:p>
            <a:pPr algn="r" rtl="1">
              <a:spcBef>
                <a:spcPts val="200"/>
              </a:spcBef>
              <a:spcAft>
                <a:spcPts val="200"/>
              </a:spcAft>
            </a:pPr>
            <a:r>
              <a:rPr sz="1350" b="0" i="0">
                <a:solidFill>
                  <a:srgbClr val="E4F6F6"/>
                </a:solidFill>
                <a:latin typeface="Segoe UI"/>
                <a:cs typeface="Segoe UI"/>
              </a:rPr>
              <a:t>ستتعرف عليها كخطوة تالية بعد هذه الدورة.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 — تأمل ذاتي</a:t>
            </a:r>
          </a:p>
          <a:p>
            <a:pPr algn="r" rtl="1">
              <a:spcBef>
                <a:spcPts val="0"/>
              </a:spcBef>
              <a:spcAft>
                <a:spcPts val="0"/>
              </a:spcAft>
            </a:pPr>
            <a:r>
              <a:rPr sz="2800" b="1" i="0">
                <a:solidFill>
                  <a:srgbClr val="FFFFFF"/>
                </a:solidFill>
                <a:latin typeface="Segoe UI"/>
                <a:cs typeface="Segoe UI"/>
              </a:rPr>
              <a:t>وقفة تأمل: مدرستنا اليوم</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31</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نشاط تأملي</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من المجالات السبعة: ما أقوى مجال في مدرستك اليوم؟ وما المجال الذي يحتاج أكبر قدر من التطوير؟</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أكمل نشاط التأمل الذاتي في ورقة العمل (6) — ستقيّم كل مجال وتحدد أولوية واحدة للتطوير.</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7</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7</a:t>
            </a:r>
          </a:p>
          <a:p>
            <a:pPr algn="r" rtl="1">
              <a:spcBef>
                <a:spcPts val="600"/>
              </a:spcBef>
              <a:spcAft>
                <a:spcPts val="400"/>
              </a:spcAft>
            </a:pPr>
            <a:r>
              <a:rPr sz="4000" b="1" i="0">
                <a:solidFill>
                  <a:srgbClr val="FFFFFF"/>
                </a:solidFill>
                <a:latin typeface="Segoe UI"/>
                <a:cs typeface="Segoe UI"/>
              </a:rPr>
              <a:t>الشمول في الممارسة اليومية</a:t>
            </a:r>
          </a:p>
          <a:p>
            <a:pPr algn="r" rtl="1">
              <a:spcBef>
                <a:spcPts val="400"/>
              </a:spcBef>
              <a:spcAft>
                <a:spcPts val="400"/>
              </a:spcAft>
            </a:pPr>
            <a:r>
              <a:rPr sz="1600" b="0" i="0">
                <a:solidFill>
                  <a:srgbClr val="E4F6F6"/>
                </a:solidFill>
                <a:latin typeface="Segoe UI"/>
                <a:cs typeface="Segoe UI"/>
              </a:rPr>
              <a:t>Inclusion in Daily School Practice</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كيف يبدو الشمول قبل الدرس وأثناءه؟</a:t>
            </a:r>
          </a:p>
          <a:p>
            <a:pPr algn="r" rtl="1">
              <a:spcBef>
                <a:spcPts val="400"/>
              </a:spcBef>
            </a:pPr>
            <a:r>
              <a:rPr sz="1600" b="0" i="0">
                <a:solidFill>
                  <a:srgbClr val="FFFFFF"/>
                </a:solidFill>
                <a:latin typeface="Segoe UI"/>
                <a:cs typeface="Segoe UI"/>
              </a:rPr>
              <a:t>◂  الشمول في التقويم</a:t>
            </a:r>
          </a:p>
          <a:p>
            <a:pPr algn="r" rtl="1">
              <a:spcBef>
                <a:spcPts val="400"/>
              </a:spcBef>
            </a:pPr>
            <a:r>
              <a:rPr sz="1600" b="0" i="0">
                <a:solidFill>
                  <a:srgbClr val="FFFFFF"/>
                </a:solidFill>
                <a:latin typeface="Segoe UI"/>
                <a:cs typeface="Segoe UI"/>
              </a:rPr>
              <a:t>◂  الشمول خارج الصف: الفسحة، التنقلات، الأنشطة</a:t>
            </a:r>
          </a:p>
          <a:p>
            <a:pPr algn="r" rtl="1">
              <a:spcBef>
                <a:spcPts val="400"/>
              </a:spcBef>
            </a:pPr>
            <a:r>
              <a:rPr sz="1600" b="0" i="0">
                <a:solidFill>
                  <a:srgbClr val="FFFFFF"/>
                </a:solidFill>
                <a:latin typeface="Segoe UI"/>
                <a:cs typeface="Segoe UI"/>
              </a:rPr>
              <a:t>◂  ممارسات صغيرة، أثر كبير</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 — قبل الدرس</a:t>
            </a:r>
          </a:p>
          <a:p>
            <a:pPr algn="r" rtl="1">
              <a:spcBef>
                <a:spcPts val="0"/>
              </a:spcBef>
              <a:spcAft>
                <a:spcPts val="0"/>
              </a:spcAft>
            </a:pPr>
            <a:r>
              <a:rPr sz="2800" b="1" i="0">
                <a:solidFill>
                  <a:srgbClr val="FFFFFF"/>
                </a:solidFill>
                <a:latin typeface="Segoe UI"/>
                <a:cs typeface="Segoe UI"/>
              </a:rPr>
              <a:t>قبل الدرس: التخطيط الذي يسبق الشمول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33</a:t>
            </a:r>
          </a:p>
        </p:txBody>
      </p:sp>
      <p:sp>
        <p:nvSpPr>
          <p:cNvPr id="9" name="Rounded Rectangle 8"/>
          <p:cNvSpPr/>
          <p:nvPr/>
        </p:nvSpPr>
        <p:spPr>
          <a:xfrm>
            <a:off x="809244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خطط لاختلافات المتعلمين</a:t>
            </a:r>
          </a:p>
          <a:p>
            <a:pPr algn="r" rtl="1">
              <a:spcBef>
                <a:spcPts val="100"/>
              </a:spcBef>
              <a:spcAft>
                <a:spcPts val="100"/>
              </a:spcAft>
            </a:pPr>
            <a:r>
              <a:rPr sz="1350" b="0" i="0">
                <a:solidFill>
                  <a:srgbClr val="2B2F38"/>
                </a:solidFill>
                <a:latin typeface="Segoe UI"/>
                <a:cs typeface="Segoe UI"/>
              </a:rPr>
              <a:t>اسأل نفسك: من قد يجد هذا الدرس صعبًا؟ ولماذا؟</a:t>
            </a:r>
          </a:p>
          <a:p>
            <a:pPr algn="r" rtl="1">
              <a:spcBef>
                <a:spcPts val="100"/>
              </a:spcBef>
              <a:spcAft>
                <a:spcPts val="100"/>
              </a:spcAft>
            </a:pPr>
            <a:r>
              <a:rPr sz="1350" b="0" i="0">
                <a:solidFill>
                  <a:srgbClr val="2B2F38"/>
                </a:solidFill>
                <a:latin typeface="Segoe UI"/>
                <a:cs typeface="Segoe UI"/>
              </a:rPr>
              <a:t>جهّز أكثر من طريقة للشرح: مثال بصري، قصة، تجربة</a:t>
            </a:r>
          </a:p>
          <a:p>
            <a:pPr algn="r" rtl="1">
              <a:spcBef>
                <a:spcPts val="100"/>
              </a:spcBef>
              <a:spcAft>
                <a:spcPts val="100"/>
              </a:spcAft>
            </a:pPr>
            <a:r>
              <a:rPr sz="1350" b="0" i="0">
                <a:solidFill>
                  <a:srgbClr val="2B2F38"/>
                </a:solidFill>
                <a:latin typeface="Segoe UI"/>
                <a:cs typeface="Segoe UI"/>
              </a:rPr>
              <a:t>خطط لمهمة أساسية + خيار أبسط + خيار أكثر تحديًا</a:t>
            </a:r>
          </a:p>
        </p:txBody>
      </p:sp>
      <p:sp>
        <p:nvSpPr>
          <p:cNvPr id="10" name="Rounded Rectangle 9"/>
          <p:cNvSpPr/>
          <p:nvPr/>
        </p:nvSpPr>
        <p:spPr>
          <a:xfrm>
            <a:off x="429768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جهّز المواد مسبقًا</a:t>
            </a:r>
          </a:p>
          <a:p>
            <a:pPr algn="r" rtl="1">
              <a:spcBef>
                <a:spcPts val="100"/>
              </a:spcBef>
              <a:spcAft>
                <a:spcPts val="100"/>
              </a:spcAft>
            </a:pPr>
            <a:r>
              <a:rPr sz="1350" b="0" i="0">
                <a:solidFill>
                  <a:srgbClr val="2B2F38"/>
                </a:solidFill>
                <a:latin typeface="Segoe UI"/>
                <a:cs typeface="Segoe UI"/>
              </a:rPr>
              <a:t>نسخ ورقية واضحة بخط مناسب ومساحات كافية</a:t>
            </a:r>
          </a:p>
          <a:p>
            <a:pPr algn="r" rtl="1">
              <a:spcBef>
                <a:spcPts val="100"/>
              </a:spcBef>
              <a:spcAft>
                <a:spcPts val="100"/>
              </a:spcAft>
            </a:pPr>
            <a:r>
              <a:rPr sz="1350" b="0" i="0">
                <a:solidFill>
                  <a:srgbClr val="2B2F38"/>
                </a:solidFill>
                <a:latin typeface="Segoe UI"/>
                <a:cs typeface="Segoe UI"/>
              </a:rPr>
              <a:t>كلمات مفتاحية وصور داعمة على السبورة أو الشاشة</a:t>
            </a:r>
          </a:p>
          <a:p>
            <a:pPr algn="r" rtl="1">
              <a:spcBef>
                <a:spcPts val="100"/>
              </a:spcBef>
              <a:spcAft>
                <a:spcPts val="100"/>
              </a:spcAft>
            </a:pPr>
            <a:r>
              <a:rPr sz="1350" b="0" i="0">
                <a:solidFill>
                  <a:srgbClr val="2B2F38"/>
                </a:solidFill>
                <a:latin typeface="Segoe UI"/>
                <a:cs typeface="Segoe UI"/>
              </a:rPr>
              <a:t>وسائل ملموسة لمن يحتاجها في المفاهيم المجردة</a:t>
            </a:r>
          </a:p>
        </p:txBody>
      </p:sp>
      <p:sp>
        <p:nvSpPr>
          <p:cNvPr id="11" name="Rounded Rectangle 10"/>
          <p:cNvSpPr/>
          <p:nvPr/>
        </p:nvSpPr>
        <p:spPr>
          <a:xfrm>
            <a:off x="50292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توقّع الحواجز المحتملة</a:t>
            </a:r>
          </a:p>
          <a:p>
            <a:pPr algn="r" rtl="1">
              <a:spcBef>
                <a:spcPts val="100"/>
              </a:spcBef>
              <a:spcAft>
                <a:spcPts val="100"/>
              </a:spcAft>
            </a:pPr>
            <a:r>
              <a:rPr sz="1350" b="0" i="0">
                <a:solidFill>
                  <a:srgbClr val="2B2F38"/>
                </a:solidFill>
                <a:latin typeface="Segoe UI"/>
                <a:cs typeface="Segoe UI"/>
              </a:rPr>
              <a:t>تعليمات طويلة؟ قسّمها إلى خطوات مرقمة</a:t>
            </a:r>
          </a:p>
          <a:p>
            <a:pPr algn="r" rtl="1">
              <a:spcBef>
                <a:spcPts val="100"/>
              </a:spcBef>
              <a:spcAft>
                <a:spcPts val="100"/>
              </a:spcAft>
            </a:pPr>
            <a:r>
              <a:rPr sz="1350" b="0" i="0">
                <a:solidFill>
                  <a:srgbClr val="2B2F38"/>
                </a:solidFill>
                <a:latin typeface="Segoe UI"/>
                <a:cs typeface="Segoe UI"/>
              </a:rPr>
              <a:t>نص كثيف؟ جهّز نسخة ميسّرة أو ملخصًا</a:t>
            </a:r>
          </a:p>
          <a:p>
            <a:pPr algn="r" rtl="1">
              <a:spcBef>
                <a:spcPts val="100"/>
              </a:spcBef>
              <a:spcAft>
                <a:spcPts val="100"/>
              </a:spcAft>
            </a:pPr>
            <a:r>
              <a:rPr sz="1350" b="0" i="0">
                <a:solidFill>
                  <a:srgbClr val="2B2F38"/>
                </a:solidFill>
                <a:latin typeface="Segoe UI"/>
                <a:cs typeface="Segoe UI"/>
              </a:rPr>
              <a:t>نشاط جماعي؟ حدد الأدوار مسبقًا حتى لا يُستبعد أحد</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 — أثناء الدرس</a:t>
            </a:r>
          </a:p>
          <a:p>
            <a:pPr algn="r" rtl="1">
              <a:spcBef>
                <a:spcPts val="0"/>
              </a:spcBef>
              <a:spcAft>
                <a:spcPts val="0"/>
              </a:spcAft>
            </a:pPr>
            <a:r>
              <a:rPr sz="2800" b="1" i="0">
                <a:solidFill>
                  <a:srgbClr val="FFFFFF"/>
                </a:solidFill>
                <a:latin typeface="Segoe UI"/>
                <a:cs typeface="Segoe UI"/>
              </a:rPr>
              <a:t>أثناء الدرس: ممارسات صغيرة بأثر كبير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34</a:t>
            </a:r>
          </a:p>
        </p:txBody>
      </p:sp>
      <p:sp>
        <p:nvSpPr>
          <p:cNvPr id="9" name="Rounded Rectangle 8"/>
          <p:cNvSpPr/>
          <p:nvPr/>
        </p:nvSpPr>
        <p:spPr>
          <a:xfrm>
            <a:off x="6195059"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تعليمات واضحة</a:t>
            </a:r>
          </a:p>
          <a:p>
            <a:pPr algn="r" rtl="1">
              <a:spcBef>
                <a:spcPts val="100"/>
              </a:spcBef>
              <a:spcAft>
                <a:spcPts val="100"/>
              </a:spcAft>
            </a:pPr>
            <a:r>
              <a:rPr sz="1350" b="0" i="0">
                <a:solidFill>
                  <a:srgbClr val="2B2F38"/>
                </a:solidFill>
                <a:latin typeface="Segoe UI"/>
                <a:cs typeface="Segoe UI"/>
              </a:rPr>
              <a:t>جملة واحدة لكل خطوة، بالترتيب</a:t>
            </a:r>
          </a:p>
          <a:p>
            <a:pPr algn="r" rtl="1">
              <a:spcBef>
                <a:spcPts val="100"/>
              </a:spcBef>
              <a:spcAft>
                <a:spcPts val="100"/>
              </a:spcAft>
            </a:pPr>
            <a:r>
              <a:rPr sz="1350" b="0" i="0">
                <a:solidFill>
                  <a:srgbClr val="2B2F38"/>
                </a:solidFill>
                <a:latin typeface="Segoe UI"/>
                <a:cs typeface="Segoe UI"/>
              </a:rPr>
              <a:t>اعرضها مكتوبة ومسموعة معًا</a:t>
            </a:r>
          </a:p>
          <a:p>
            <a:pPr algn="r" rtl="1">
              <a:spcBef>
                <a:spcPts val="100"/>
              </a:spcBef>
              <a:spcAft>
                <a:spcPts val="100"/>
              </a:spcAft>
            </a:pPr>
            <a:r>
              <a:rPr sz="1350" b="0" i="0">
                <a:solidFill>
                  <a:srgbClr val="2B2F38"/>
                </a:solidFill>
                <a:latin typeface="Segoe UI"/>
                <a:cs typeface="Segoe UI"/>
              </a:rPr>
              <a:t>اطلب من طالب إعادة الشرح بلغته للتأكد من الفهم</a:t>
            </a:r>
          </a:p>
        </p:txBody>
      </p:sp>
      <p:sp>
        <p:nvSpPr>
          <p:cNvPr id="10" name="Rounded Rectangle 9"/>
          <p:cNvSpPr/>
          <p:nvPr/>
        </p:nvSpPr>
        <p:spPr>
          <a:xfrm>
            <a:off x="502920"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مشاركة مرنة</a:t>
            </a:r>
          </a:p>
          <a:p>
            <a:pPr algn="r" rtl="1">
              <a:spcBef>
                <a:spcPts val="100"/>
              </a:spcBef>
              <a:spcAft>
                <a:spcPts val="100"/>
              </a:spcAft>
            </a:pPr>
            <a:r>
              <a:rPr sz="1350" b="0" i="0">
                <a:solidFill>
                  <a:srgbClr val="2B2F38"/>
                </a:solidFill>
                <a:latin typeface="Segoe UI"/>
                <a:cs typeface="Segoe UI"/>
              </a:rPr>
              <a:t>نوّع: إجابة فردية، ثنائية، جماعية، كتابية</a:t>
            </a:r>
          </a:p>
          <a:p>
            <a:pPr algn="r" rtl="1">
              <a:spcBef>
                <a:spcPts val="100"/>
              </a:spcBef>
              <a:spcAft>
                <a:spcPts val="100"/>
              </a:spcAft>
            </a:pPr>
            <a:r>
              <a:rPr sz="1350" b="0" i="0">
                <a:solidFill>
                  <a:srgbClr val="2B2F38"/>
                </a:solidFill>
                <a:latin typeface="Segoe UI"/>
                <a:cs typeface="Segoe UI"/>
              </a:rPr>
              <a:t>امنح وقت تفكير قبل طلب الإجابات (3–5 ثوانٍ)</a:t>
            </a:r>
          </a:p>
          <a:p>
            <a:pPr algn="r" rtl="1">
              <a:spcBef>
                <a:spcPts val="100"/>
              </a:spcBef>
              <a:spcAft>
                <a:spcPts val="100"/>
              </a:spcAft>
            </a:pPr>
            <a:r>
              <a:rPr sz="1350" b="0" i="0">
                <a:solidFill>
                  <a:srgbClr val="2B2F38"/>
                </a:solidFill>
                <a:latin typeface="Segoe UI"/>
                <a:cs typeface="Segoe UI"/>
              </a:rPr>
              <a:t>لا تجعل القراءة الجهرية أو العرض أمام الصف إجباريًا دائمًا</a:t>
            </a:r>
          </a:p>
        </p:txBody>
      </p:sp>
      <p:sp>
        <p:nvSpPr>
          <p:cNvPr id="11" name="Rounded Rectangle 10"/>
          <p:cNvSpPr/>
          <p:nvPr/>
        </p:nvSpPr>
        <p:spPr>
          <a:xfrm>
            <a:off x="6195059"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طرق متعددة لإظهار التعلم</a:t>
            </a:r>
          </a:p>
          <a:p>
            <a:pPr algn="r" rtl="1">
              <a:spcBef>
                <a:spcPts val="100"/>
              </a:spcBef>
              <a:spcAft>
                <a:spcPts val="100"/>
              </a:spcAft>
            </a:pPr>
            <a:r>
              <a:rPr sz="1350" b="0" i="0">
                <a:solidFill>
                  <a:srgbClr val="2B2F38"/>
                </a:solidFill>
                <a:latin typeface="Segoe UI"/>
                <a:cs typeface="Segoe UI"/>
              </a:rPr>
              <a:t>رسم، خريطة ذهنية، شرح شفهي، نموذج عملي</a:t>
            </a:r>
          </a:p>
          <a:p>
            <a:pPr algn="r" rtl="1">
              <a:spcBef>
                <a:spcPts val="100"/>
              </a:spcBef>
              <a:spcAft>
                <a:spcPts val="100"/>
              </a:spcAft>
            </a:pPr>
            <a:r>
              <a:rPr sz="1350" b="0" i="0">
                <a:solidFill>
                  <a:srgbClr val="2B2F38"/>
                </a:solidFill>
                <a:latin typeface="Segoe UI"/>
                <a:cs typeface="Segoe UI"/>
              </a:rPr>
              <a:t>المهم أن يثبت الطالب الفهم — لا أن يثبته بطريقة واحدة</a:t>
            </a:r>
          </a:p>
        </p:txBody>
      </p:sp>
      <p:sp>
        <p:nvSpPr>
          <p:cNvPr id="12" name="Rounded Rectangle 11"/>
          <p:cNvSpPr/>
          <p:nvPr/>
        </p:nvSpPr>
        <p:spPr>
          <a:xfrm>
            <a:off x="502920"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دعم وتفاعل إيجابي</a:t>
            </a:r>
          </a:p>
          <a:p>
            <a:pPr algn="r" rtl="1">
              <a:spcBef>
                <a:spcPts val="100"/>
              </a:spcBef>
              <a:spcAft>
                <a:spcPts val="100"/>
              </a:spcAft>
            </a:pPr>
            <a:r>
              <a:rPr sz="1350" b="0" i="0">
                <a:solidFill>
                  <a:srgbClr val="2B2F38"/>
                </a:solidFill>
                <a:latin typeface="Segoe UI"/>
                <a:cs typeface="Segoe UI"/>
              </a:rPr>
              <a:t>تنقّل في الصف وقدّم دعمًا هادئًا لمن يحتاجه</a:t>
            </a:r>
          </a:p>
          <a:p>
            <a:pPr algn="r" rtl="1">
              <a:spcBef>
                <a:spcPts val="100"/>
              </a:spcBef>
              <a:spcAft>
                <a:spcPts val="100"/>
              </a:spcAft>
            </a:pPr>
            <a:r>
              <a:rPr sz="1350" b="0" i="0">
                <a:solidFill>
                  <a:srgbClr val="2B2F38"/>
                </a:solidFill>
                <a:latin typeface="Segoe UI"/>
                <a:cs typeface="Segoe UI"/>
              </a:rPr>
              <a:t>عزز المحاولة لا الإجابة الصحيحة فقط</a:t>
            </a:r>
          </a:p>
          <a:p>
            <a:pPr algn="r" rtl="1">
              <a:spcBef>
                <a:spcPts val="100"/>
              </a:spcBef>
              <a:spcAft>
                <a:spcPts val="100"/>
              </a:spcAft>
            </a:pPr>
            <a:r>
              <a:rPr sz="1350" b="0" i="0">
                <a:solidFill>
                  <a:srgbClr val="2B2F38"/>
                </a:solidFill>
                <a:latin typeface="Segoe UI"/>
                <a:cs typeface="Segoe UI"/>
              </a:rPr>
              <a:t>انتبه للطالب الصامت — الهدوء ليس دائمًا فهمًا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 — التقويم</a:t>
            </a:r>
          </a:p>
          <a:p>
            <a:pPr algn="r" rtl="1">
              <a:spcBef>
                <a:spcPts val="0"/>
              </a:spcBef>
              <a:spcAft>
                <a:spcPts val="0"/>
              </a:spcAft>
            </a:pPr>
            <a:r>
              <a:rPr sz="2800" b="1" i="0">
                <a:solidFill>
                  <a:srgbClr val="FFFFFF"/>
                </a:solidFill>
                <a:latin typeface="Segoe UI"/>
                <a:cs typeface="Segoe UI"/>
              </a:rPr>
              <a:t>أثناء التقويم: نقيس التعلم لا الحواجز</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35</a:t>
            </a:r>
          </a:p>
        </p:txBody>
      </p:sp>
      <p:sp>
        <p:nvSpPr>
          <p:cNvPr id="9" name="Rounded Rectangle 8"/>
          <p:cNvSpPr/>
          <p:nvPr/>
        </p:nvSpPr>
        <p:spPr>
          <a:xfrm>
            <a:off x="809244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مواءمات مناسبة</a:t>
            </a:r>
          </a:p>
          <a:p>
            <a:pPr algn="r" rtl="1">
              <a:spcBef>
                <a:spcPts val="100"/>
              </a:spcBef>
              <a:spcAft>
                <a:spcPts val="100"/>
              </a:spcAft>
            </a:pPr>
            <a:r>
              <a:rPr sz="1300" b="0" i="0">
                <a:solidFill>
                  <a:srgbClr val="2B2F38"/>
                </a:solidFill>
                <a:latin typeface="Segoe UI"/>
                <a:cs typeface="Segoe UI"/>
              </a:rPr>
              <a:t>وقت إضافي لمن يحتاجه</a:t>
            </a:r>
          </a:p>
          <a:p>
            <a:pPr algn="r" rtl="1">
              <a:spcBef>
                <a:spcPts val="100"/>
              </a:spcBef>
              <a:spcAft>
                <a:spcPts val="100"/>
              </a:spcAft>
            </a:pPr>
            <a:r>
              <a:rPr sz="1300" b="0" i="0">
                <a:solidFill>
                  <a:srgbClr val="2B2F38"/>
                </a:solidFill>
                <a:latin typeface="Segoe UI"/>
                <a:cs typeface="Segoe UI"/>
              </a:rPr>
              <a:t>مكان هادئ لمن يتشتت بسهولة</a:t>
            </a:r>
          </a:p>
          <a:p>
            <a:pPr algn="r" rtl="1">
              <a:spcBef>
                <a:spcPts val="100"/>
              </a:spcBef>
              <a:spcAft>
                <a:spcPts val="100"/>
              </a:spcAft>
            </a:pPr>
            <a:r>
              <a:rPr sz="1300" b="0" i="0">
                <a:solidFill>
                  <a:srgbClr val="2B2F38"/>
                </a:solidFill>
                <a:latin typeface="Segoe UI"/>
                <a:cs typeface="Segoe UI"/>
              </a:rPr>
              <a:t>قراءة التعليمات بصوت مسموع والتأكد من فهمها</a:t>
            </a:r>
          </a:p>
          <a:p>
            <a:pPr algn="r" rtl="1">
              <a:spcBef>
                <a:spcPts val="100"/>
              </a:spcBef>
              <a:spcAft>
                <a:spcPts val="100"/>
              </a:spcAft>
            </a:pPr>
            <a:r>
              <a:rPr sz="1300" b="0" i="0">
                <a:solidFill>
                  <a:srgbClr val="2B2F38"/>
                </a:solidFill>
                <a:latin typeface="Segoe UI"/>
                <a:cs typeface="Segoe UI"/>
              </a:rPr>
              <a:t>أوراق أسئلة واضحة: خط مناسب، مساحات كافية</a:t>
            </a:r>
          </a:p>
        </p:txBody>
      </p:sp>
      <p:sp>
        <p:nvSpPr>
          <p:cNvPr id="10" name="Rounded Rectangle 9"/>
          <p:cNvSpPr/>
          <p:nvPr/>
        </p:nvSpPr>
        <p:spPr>
          <a:xfrm>
            <a:off x="429768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طرق متنوعة لإظهار الفهم</a:t>
            </a:r>
          </a:p>
          <a:p>
            <a:pPr algn="r" rtl="1">
              <a:spcBef>
                <a:spcPts val="100"/>
              </a:spcBef>
              <a:spcAft>
                <a:spcPts val="100"/>
              </a:spcAft>
            </a:pPr>
            <a:r>
              <a:rPr sz="1300" b="0" i="0">
                <a:solidFill>
                  <a:srgbClr val="2B2F38"/>
                </a:solidFill>
                <a:latin typeface="Segoe UI"/>
                <a:cs typeface="Segoe UI"/>
              </a:rPr>
              <a:t>شفهي بدل الكتابي عندما يكون الهدف هو الفهم لا الكتابة</a:t>
            </a:r>
          </a:p>
          <a:p>
            <a:pPr algn="r" rtl="1">
              <a:spcBef>
                <a:spcPts val="100"/>
              </a:spcBef>
              <a:spcAft>
                <a:spcPts val="100"/>
              </a:spcAft>
            </a:pPr>
            <a:r>
              <a:rPr sz="1300" b="0" i="0">
                <a:solidFill>
                  <a:srgbClr val="2B2F38"/>
                </a:solidFill>
                <a:latin typeface="Segoe UI"/>
                <a:cs typeface="Segoe UI"/>
              </a:rPr>
              <a:t>مشروع أو عرض عملي عند الملاءمة</a:t>
            </a:r>
          </a:p>
          <a:p>
            <a:pPr algn="r" rtl="1">
              <a:spcBef>
                <a:spcPts val="100"/>
              </a:spcBef>
              <a:spcAft>
                <a:spcPts val="100"/>
              </a:spcAft>
            </a:pPr>
            <a:r>
              <a:rPr sz="1300" b="0" i="0">
                <a:solidFill>
                  <a:srgbClr val="2B2F38"/>
                </a:solidFill>
                <a:latin typeface="Segoe UI"/>
                <a:cs typeface="Segoe UI"/>
              </a:rPr>
              <a:t>أسئلة متدرجة الصعوبة تتيح للجميع إظهار ما تعلموه</a:t>
            </a:r>
          </a:p>
        </p:txBody>
      </p:sp>
      <p:sp>
        <p:nvSpPr>
          <p:cNvPr id="11" name="Rounded Rectangle 10"/>
          <p:cNvSpPr/>
          <p:nvPr/>
        </p:nvSpPr>
        <p:spPr>
          <a:xfrm>
            <a:off x="502920" y="1371600"/>
            <a:ext cx="359359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متابعة التقدم</a:t>
            </a:r>
          </a:p>
          <a:p>
            <a:pPr algn="r" rtl="1">
              <a:spcBef>
                <a:spcPts val="100"/>
              </a:spcBef>
              <a:spcAft>
                <a:spcPts val="100"/>
              </a:spcAft>
            </a:pPr>
            <a:r>
              <a:rPr sz="1300" b="0" i="0">
                <a:solidFill>
                  <a:srgbClr val="2B2F38"/>
                </a:solidFill>
                <a:latin typeface="Segoe UI"/>
                <a:cs typeface="Segoe UI"/>
              </a:rPr>
              <a:t>قارن الطالب بنفسه: أين كان؟ وأين أصبح؟</a:t>
            </a:r>
          </a:p>
          <a:p>
            <a:pPr algn="r" rtl="1">
              <a:spcBef>
                <a:spcPts val="100"/>
              </a:spcBef>
              <a:spcAft>
                <a:spcPts val="100"/>
              </a:spcAft>
            </a:pPr>
            <a:r>
              <a:rPr sz="1300" b="0" i="0">
                <a:solidFill>
                  <a:srgbClr val="2B2F38"/>
                </a:solidFill>
                <a:latin typeface="Segoe UI"/>
                <a:cs typeface="Segoe UI"/>
              </a:rPr>
              <a:t>سجّل ملاحظات قصيرة منتظمة، لا انطباعات عامة</a:t>
            </a:r>
          </a:p>
          <a:p>
            <a:pPr algn="r" rtl="1">
              <a:spcBef>
                <a:spcPts val="100"/>
              </a:spcBef>
              <a:spcAft>
                <a:spcPts val="100"/>
              </a:spcAft>
            </a:pPr>
            <a:r>
              <a:rPr sz="1300" b="0" i="0">
                <a:solidFill>
                  <a:srgbClr val="2B2F38"/>
                </a:solidFill>
                <a:latin typeface="Segoe UI"/>
                <a:cs typeface="Segoe UI"/>
              </a:rPr>
              <a:t>استخدم نتائج التقويم لتعديل التدريس لا لإصدار الأحكام</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 — خارج الصف</a:t>
            </a:r>
          </a:p>
          <a:p>
            <a:pPr algn="r" rtl="1">
              <a:spcBef>
                <a:spcPts val="0"/>
              </a:spcBef>
              <a:spcAft>
                <a:spcPts val="0"/>
              </a:spcAft>
            </a:pPr>
            <a:r>
              <a:rPr sz="2800" b="1" i="0">
                <a:solidFill>
                  <a:srgbClr val="FFFFFF"/>
                </a:solidFill>
                <a:latin typeface="Segoe UI"/>
                <a:cs typeface="Segoe UI"/>
              </a:rPr>
              <a:t>خارج الصف: الشمول لا يتوقف عند باب الفصل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36</a:t>
            </a:r>
          </a:p>
        </p:txBody>
      </p:sp>
      <p:sp>
        <p:nvSpPr>
          <p:cNvPr id="9" name="Rounded Rectangle 8"/>
          <p:cNvSpPr/>
          <p:nvPr/>
        </p:nvSpPr>
        <p:spPr>
          <a:xfrm>
            <a:off x="6195059"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الفسحة والاستراحات</a:t>
            </a:r>
          </a:p>
          <a:p>
            <a:pPr algn="r" rtl="1">
              <a:spcBef>
                <a:spcPts val="100"/>
              </a:spcBef>
              <a:spcAft>
                <a:spcPts val="100"/>
              </a:spcAft>
            </a:pPr>
            <a:r>
              <a:rPr sz="1350" b="0" i="0">
                <a:solidFill>
                  <a:srgbClr val="2B2F38"/>
                </a:solidFill>
                <a:latin typeface="Segoe UI"/>
                <a:cs typeface="Segoe UI"/>
              </a:rPr>
              <a:t>لاحظ من يقضي الفسحة وحيدًا باستمرار</a:t>
            </a:r>
          </a:p>
          <a:p>
            <a:pPr algn="r" rtl="1">
              <a:spcBef>
                <a:spcPts val="100"/>
              </a:spcBef>
              <a:spcAft>
                <a:spcPts val="100"/>
              </a:spcAft>
            </a:pPr>
            <a:r>
              <a:rPr sz="1350" b="0" i="0">
                <a:solidFill>
                  <a:srgbClr val="2B2F38"/>
                </a:solidFill>
                <a:latin typeface="Segoe UI"/>
                <a:cs typeface="Segoe UI"/>
              </a:rPr>
              <a:t>وفّر خيارات: ألعاب منظمة، ركن هادئ، أدوار للطلاب</a:t>
            </a:r>
          </a:p>
        </p:txBody>
      </p:sp>
      <p:sp>
        <p:nvSpPr>
          <p:cNvPr id="10" name="Rounded Rectangle 9"/>
          <p:cNvSpPr/>
          <p:nvPr/>
        </p:nvSpPr>
        <p:spPr>
          <a:xfrm>
            <a:off x="502920"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التنقلات بين الحصص</a:t>
            </a:r>
          </a:p>
          <a:p>
            <a:pPr algn="r" rtl="1">
              <a:spcBef>
                <a:spcPts val="100"/>
              </a:spcBef>
              <a:spcAft>
                <a:spcPts val="100"/>
              </a:spcAft>
            </a:pPr>
            <a:r>
              <a:rPr sz="1350" b="0" i="0">
                <a:solidFill>
                  <a:srgbClr val="2B2F38"/>
                </a:solidFill>
                <a:latin typeface="Segoe UI"/>
                <a:cs typeface="Segoe UI"/>
              </a:rPr>
              <a:t>تعليمات وإشارات واضحة للانتقال</a:t>
            </a:r>
          </a:p>
          <a:p>
            <a:pPr algn="r" rtl="1">
              <a:spcBef>
                <a:spcPts val="100"/>
              </a:spcBef>
              <a:spcAft>
                <a:spcPts val="100"/>
              </a:spcAft>
            </a:pPr>
            <a:r>
              <a:rPr sz="1350" b="0" i="0">
                <a:solidFill>
                  <a:srgbClr val="2B2F38"/>
                </a:solidFill>
                <a:latin typeface="Segoe UI"/>
                <a:cs typeface="Segoe UI"/>
              </a:rPr>
              <a:t>وقت كافٍ لمن يحتاج حركة أبطأ دون إحراج</a:t>
            </a:r>
          </a:p>
        </p:txBody>
      </p:sp>
      <p:sp>
        <p:nvSpPr>
          <p:cNvPr id="11" name="Rounded Rectangle 10"/>
          <p:cNvSpPr/>
          <p:nvPr/>
        </p:nvSpPr>
        <p:spPr>
          <a:xfrm>
            <a:off x="6195059"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الأنشطة المدرسية</a:t>
            </a:r>
          </a:p>
          <a:p>
            <a:pPr algn="r" rtl="1">
              <a:spcBef>
                <a:spcPts val="100"/>
              </a:spcBef>
              <a:spcAft>
                <a:spcPts val="100"/>
              </a:spcAft>
            </a:pPr>
            <a:r>
              <a:rPr sz="1350" b="0" i="0">
                <a:solidFill>
                  <a:srgbClr val="2B2F38"/>
                </a:solidFill>
                <a:latin typeface="Segoe UI"/>
                <a:cs typeface="Segoe UI"/>
              </a:rPr>
              <a:t>خطط للرحلات والفعاليات بحيث يشارك الجميع منذ البداية</a:t>
            </a:r>
          </a:p>
          <a:p>
            <a:pPr algn="r" rtl="1">
              <a:spcBef>
                <a:spcPts val="100"/>
              </a:spcBef>
              <a:spcAft>
                <a:spcPts val="100"/>
              </a:spcAft>
            </a:pPr>
            <a:r>
              <a:rPr sz="1350" b="0" i="0">
                <a:solidFill>
                  <a:srgbClr val="2B2F38"/>
                </a:solidFill>
                <a:latin typeface="Segoe UI"/>
                <a:cs typeface="Segoe UI"/>
              </a:rPr>
              <a:t>أدوار متنوعة في الإذاعة والمسرح والرياضة تناسب قدرات مختلفة</a:t>
            </a:r>
          </a:p>
        </p:txBody>
      </p:sp>
      <p:sp>
        <p:nvSpPr>
          <p:cNvPr id="12" name="Rounded Rectangle 11"/>
          <p:cNvSpPr/>
          <p:nvPr/>
        </p:nvSpPr>
        <p:spPr>
          <a:xfrm>
            <a:off x="502920"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التواصل والمشاركة الاجتماعية</a:t>
            </a:r>
          </a:p>
          <a:p>
            <a:pPr algn="r" rtl="1">
              <a:spcBef>
                <a:spcPts val="100"/>
              </a:spcBef>
              <a:spcAft>
                <a:spcPts val="100"/>
              </a:spcAft>
            </a:pPr>
            <a:r>
              <a:rPr sz="1350" b="0" i="0">
                <a:solidFill>
                  <a:srgbClr val="2B2F38"/>
                </a:solidFill>
                <a:latin typeface="Segoe UI"/>
                <a:cs typeface="Segoe UI"/>
              </a:rPr>
              <a:t>لغة محترمة عن الطلاب في غرفة المعلمين أيضًا</a:t>
            </a:r>
          </a:p>
          <a:p>
            <a:pPr algn="r" rtl="1">
              <a:spcBef>
                <a:spcPts val="100"/>
              </a:spcBef>
              <a:spcAft>
                <a:spcPts val="100"/>
              </a:spcAft>
            </a:pPr>
            <a:r>
              <a:rPr sz="1350" b="0" i="0">
                <a:solidFill>
                  <a:srgbClr val="2B2F38"/>
                </a:solidFill>
                <a:latin typeface="Segoe UI"/>
                <a:cs typeface="Segoe UI"/>
              </a:rPr>
              <a:t>تدخل مبكر عند ملاحظة استبعاد أو تنمر</a:t>
            </a:r>
          </a:p>
          <a:p>
            <a:pPr algn="r" rtl="1">
              <a:spcBef>
                <a:spcPts val="100"/>
              </a:spcBef>
              <a:spcAft>
                <a:spcPts val="100"/>
              </a:spcAft>
            </a:pPr>
            <a:r>
              <a:rPr sz="1350" b="0" i="0">
                <a:solidFill>
                  <a:srgbClr val="2B2F38"/>
                </a:solidFill>
                <a:latin typeface="Segoe UI"/>
                <a:cs typeface="Segoe UI"/>
              </a:rPr>
              <a:t>كل موظف في المدرسة — من البوابة إلى المقصف — جزء من ثقافة الشمول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8</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8</a:t>
            </a:r>
          </a:p>
          <a:p>
            <a:pPr algn="r" rtl="1">
              <a:spcBef>
                <a:spcPts val="600"/>
              </a:spcBef>
              <a:spcAft>
                <a:spcPts val="400"/>
              </a:spcAft>
            </a:pPr>
            <a:r>
              <a:rPr sz="4000" b="1" i="0">
                <a:solidFill>
                  <a:srgbClr val="FFFFFF"/>
                </a:solidFill>
                <a:latin typeface="Segoe UI"/>
                <a:cs typeface="Segoe UI"/>
              </a:rPr>
              <a:t>لكلٍّ منا دور</a:t>
            </a:r>
          </a:p>
          <a:p>
            <a:pPr algn="r" rtl="1">
              <a:spcBef>
                <a:spcPts val="400"/>
              </a:spcBef>
              <a:spcAft>
                <a:spcPts val="400"/>
              </a:spcAft>
            </a:pPr>
            <a:r>
              <a:rPr sz="1600" b="0" i="0">
                <a:solidFill>
                  <a:srgbClr val="E4F6F6"/>
                </a:solidFill>
                <a:latin typeface="Segoe UI"/>
                <a:cs typeface="Segoe UI"/>
              </a:rPr>
              <a:t>Everyone Has a Role</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خريطة الأدوار في المدرسة الشاملة</a:t>
            </a:r>
          </a:p>
          <a:p>
            <a:pPr algn="r" rtl="1">
              <a:spcBef>
                <a:spcPts val="400"/>
              </a:spcBef>
            </a:pPr>
            <a:r>
              <a:rPr sz="1600" b="0" i="0">
                <a:solidFill>
                  <a:srgbClr val="FFFFFF"/>
                </a:solidFill>
                <a:latin typeface="Segoe UI"/>
                <a:cs typeface="Segoe UI"/>
              </a:rPr>
              <a:t>◂  القيادة، المعلمون، الاختصاصيون والكادر المساند</a:t>
            </a:r>
          </a:p>
          <a:p>
            <a:pPr algn="r" rtl="1">
              <a:spcBef>
                <a:spcPts val="400"/>
              </a:spcBef>
            </a:pPr>
            <a:r>
              <a:rPr sz="1600" b="0" i="0">
                <a:solidFill>
                  <a:srgbClr val="FFFFFF"/>
                </a:solidFill>
                <a:latin typeface="Segoe UI"/>
                <a:cs typeface="Segoe UI"/>
              </a:rPr>
              <a:t>◂  الأسرة والطلاب أنفسهم</a:t>
            </a:r>
          </a:p>
          <a:p>
            <a:pPr algn="r" rtl="1">
              <a:spcBef>
                <a:spcPts val="400"/>
              </a:spcBef>
            </a:pPr>
            <a:r>
              <a:rPr sz="1600" b="0" i="0">
                <a:solidFill>
                  <a:srgbClr val="FFFFFF"/>
                </a:solidFill>
                <a:latin typeface="Segoe UI"/>
                <a:cs typeface="Segoe UI"/>
              </a:rPr>
              <a:t>◂  الشمول مسؤولية مشتركة لا مهمة فرد واحد</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a:t>
            </a:r>
          </a:p>
          <a:p>
            <a:pPr algn="r" rtl="1">
              <a:spcBef>
                <a:spcPts val="0"/>
              </a:spcBef>
              <a:spcAft>
                <a:spcPts val="0"/>
              </a:spcAft>
            </a:pPr>
            <a:r>
              <a:rPr sz="2800" b="1" i="0">
                <a:solidFill>
                  <a:srgbClr val="FFFFFF"/>
                </a:solidFill>
                <a:latin typeface="Segoe UI"/>
                <a:cs typeface="Segoe UI"/>
              </a:rPr>
              <a:t>خريطة الأدوار (1): القيادة والمعلمون</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38</a:t>
            </a:r>
          </a:p>
        </p:txBody>
      </p:sp>
      <p:sp>
        <p:nvSpPr>
          <p:cNvPr id="9" name="Rounded Rectangle 8"/>
          <p:cNvSpPr/>
          <p:nvPr/>
        </p:nvSpPr>
        <p:spPr>
          <a:xfrm>
            <a:off x="6195059"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القيادة المدرسية</a:t>
            </a:r>
          </a:p>
          <a:p>
            <a:pPr algn="r" rtl="1">
              <a:spcBef>
                <a:spcPts val="100"/>
              </a:spcBef>
              <a:spcAft>
                <a:spcPts val="100"/>
              </a:spcAft>
            </a:pPr>
            <a:r>
              <a:rPr sz="1450" b="0" i="0">
                <a:solidFill>
                  <a:srgbClr val="2B2F38"/>
                </a:solidFill>
                <a:latin typeface="Segoe UI"/>
                <a:cs typeface="Segoe UI"/>
              </a:rPr>
              <a:t>تحدد الاتجاه: الشمول أولوية معلنة لا شعارًا</a:t>
            </a:r>
          </a:p>
          <a:p>
            <a:pPr algn="r" rtl="1">
              <a:spcBef>
                <a:spcPts val="100"/>
              </a:spcBef>
              <a:spcAft>
                <a:spcPts val="100"/>
              </a:spcAft>
            </a:pPr>
            <a:r>
              <a:rPr sz="1450" b="0" i="0">
                <a:solidFill>
                  <a:srgbClr val="2B2F38"/>
                </a:solidFill>
                <a:latin typeface="Segoe UI"/>
                <a:cs typeface="Segoe UI"/>
              </a:rPr>
              <a:t>تبني ثقافة مدرسية يشعر فيها الجميع بالأمان</a:t>
            </a:r>
          </a:p>
          <a:p>
            <a:pPr algn="r" rtl="1">
              <a:spcBef>
                <a:spcPts val="100"/>
              </a:spcBef>
              <a:spcAft>
                <a:spcPts val="100"/>
              </a:spcAft>
            </a:pPr>
            <a:r>
              <a:rPr sz="1450" b="0" i="0">
                <a:solidFill>
                  <a:srgbClr val="2B2F38"/>
                </a:solidFill>
                <a:latin typeface="Segoe UI"/>
                <a:cs typeface="Segoe UI"/>
              </a:rPr>
              <a:t>توفر الدعم والموارد والوقت للتعاون</a:t>
            </a:r>
          </a:p>
          <a:p>
            <a:pPr algn="r" rtl="1">
              <a:spcBef>
                <a:spcPts val="100"/>
              </a:spcBef>
              <a:spcAft>
                <a:spcPts val="100"/>
              </a:spcAft>
            </a:pPr>
            <a:r>
              <a:rPr sz="1450" b="0" i="0">
                <a:solidFill>
                  <a:srgbClr val="2B2F38"/>
                </a:solidFill>
                <a:latin typeface="Segoe UI"/>
                <a:cs typeface="Segoe UI"/>
              </a:rPr>
              <a:t>تتابع التنفيذ وتسأل عن الأثر بانتظام</a:t>
            </a:r>
          </a:p>
        </p:txBody>
      </p:sp>
      <p:sp>
        <p:nvSpPr>
          <p:cNvPr id="10" name="Rounded Rectangle 9"/>
          <p:cNvSpPr/>
          <p:nvPr/>
        </p:nvSpPr>
        <p:spPr>
          <a:xfrm>
            <a:off x="502920"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المعلمون</a:t>
            </a:r>
          </a:p>
          <a:p>
            <a:pPr algn="r" rtl="1">
              <a:spcBef>
                <a:spcPts val="100"/>
              </a:spcBef>
              <a:spcAft>
                <a:spcPts val="100"/>
              </a:spcAft>
            </a:pPr>
            <a:r>
              <a:rPr sz="1450" b="0" i="0">
                <a:solidFill>
                  <a:srgbClr val="2B2F38"/>
                </a:solidFill>
                <a:latin typeface="Segoe UI"/>
                <a:cs typeface="Segoe UI"/>
              </a:rPr>
              <a:t>يلاحظون: من يشارك؟ من يتعثر؟ وما النمط المتكرر؟</a:t>
            </a:r>
          </a:p>
          <a:p>
            <a:pPr algn="r" rtl="1">
              <a:spcBef>
                <a:spcPts val="100"/>
              </a:spcBef>
              <a:spcAft>
                <a:spcPts val="100"/>
              </a:spcAft>
            </a:pPr>
            <a:r>
              <a:rPr sz="1450" b="0" i="0">
                <a:solidFill>
                  <a:srgbClr val="2B2F38"/>
                </a:solidFill>
                <a:latin typeface="Segoe UI"/>
                <a:cs typeface="Segoe UI"/>
              </a:rPr>
              <a:t>يخططون للتنوع ويدرّسون بمرونة</a:t>
            </a:r>
          </a:p>
          <a:p>
            <a:pPr algn="r" rtl="1">
              <a:spcBef>
                <a:spcPts val="100"/>
              </a:spcBef>
              <a:spcAft>
                <a:spcPts val="100"/>
              </a:spcAft>
            </a:pPr>
            <a:r>
              <a:rPr sz="1450" b="0" i="0">
                <a:solidFill>
                  <a:srgbClr val="2B2F38"/>
                </a:solidFill>
                <a:latin typeface="Segoe UI"/>
                <a:cs typeface="Segoe UI"/>
              </a:rPr>
              <a:t>يكيّفون المواد والأنشطة والدعم حسب الحاجة</a:t>
            </a:r>
          </a:p>
          <a:p>
            <a:pPr algn="r" rtl="1">
              <a:spcBef>
                <a:spcPts val="100"/>
              </a:spcBef>
              <a:spcAft>
                <a:spcPts val="100"/>
              </a:spcAft>
            </a:pPr>
            <a:r>
              <a:rPr sz="1450" b="0" i="0">
                <a:solidFill>
                  <a:srgbClr val="2B2F38"/>
                </a:solidFill>
                <a:latin typeface="Segoe UI"/>
                <a:cs typeface="Segoe UI"/>
              </a:rPr>
              <a:t>يتابعون التقدم ويوثقون الملاحظات المهمة</a:t>
            </a:r>
          </a:p>
          <a:p>
            <a:pPr algn="r" rtl="1">
              <a:spcBef>
                <a:spcPts val="100"/>
              </a:spcBef>
              <a:spcAft>
                <a:spcPts val="100"/>
              </a:spcAft>
            </a:pPr>
            <a:r>
              <a:rPr sz="1450" b="0" i="0">
                <a:solidFill>
                  <a:srgbClr val="2B2F38"/>
                </a:solidFill>
                <a:latin typeface="Segoe UI"/>
                <a:cs typeface="Segoe UI"/>
              </a:rPr>
              <a:t>يتعاونون مع الزملاء والاختصاصيين والأسرة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a:t>
            </a:r>
          </a:p>
          <a:p>
            <a:pPr algn="r" rtl="1">
              <a:spcBef>
                <a:spcPts val="0"/>
              </a:spcBef>
              <a:spcAft>
                <a:spcPts val="0"/>
              </a:spcAft>
            </a:pPr>
            <a:r>
              <a:rPr sz="2800" b="1" i="0">
                <a:solidFill>
                  <a:srgbClr val="FFFFFF"/>
                </a:solidFill>
                <a:latin typeface="Segoe UI"/>
                <a:cs typeface="Segoe UI"/>
              </a:rPr>
              <a:t>خريطة الأدوار (2): الاختصاصيون والأسر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39</a:t>
            </a:r>
          </a:p>
        </p:txBody>
      </p:sp>
      <p:sp>
        <p:nvSpPr>
          <p:cNvPr id="9" name="Rounded Rectangle 8"/>
          <p:cNvSpPr/>
          <p:nvPr/>
        </p:nvSpPr>
        <p:spPr>
          <a:xfrm>
            <a:off x="6195059"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الاختصاصيون والكادر المساند</a:t>
            </a:r>
          </a:p>
          <a:p>
            <a:pPr algn="r" rtl="1">
              <a:spcBef>
                <a:spcPts val="100"/>
              </a:spcBef>
              <a:spcAft>
                <a:spcPts val="100"/>
              </a:spcAft>
            </a:pPr>
            <a:r>
              <a:rPr sz="1450" b="0" i="0">
                <a:solidFill>
                  <a:srgbClr val="2B2F38"/>
                </a:solidFill>
                <a:latin typeface="Segoe UI"/>
                <a:cs typeface="Segoe UI"/>
              </a:rPr>
              <a:t>يقدمون الخبرة الفنية في فهم الاحتياجات التعليمية</a:t>
            </a:r>
          </a:p>
          <a:p>
            <a:pPr algn="r" rtl="1">
              <a:spcBef>
                <a:spcPts val="100"/>
              </a:spcBef>
              <a:spcAft>
                <a:spcPts val="100"/>
              </a:spcAft>
            </a:pPr>
            <a:r>
              <a:rPr sz="1450" b="0" i="0">
                <a:solidFill>
                  <a:srgbClr val="2B2F38"/>
                </a:solidFill>
                <a:latin typeface="Segoe UI"/>
                <a:cs typeface="Segoe UI"/>
              </a:rPr>
              <a:t>يساندون المعلم بأدوات واستراتيجيات عملية — لا يحلون محله</a:t>
            </a:r>
          </a:p>
          <a:p>
            <a:pPr algn="r" rtl="1">
              <a:spcBef>
                <a:spcPts val="100"/>
              </a:spcBef>
              <a:spcAft>
                <a:spcPts val="100"/>
              </a:spcAft>
            </a:pPr>
            <a:r>
              <a:rPr sz="1450" b="0" i="0">
                <a:solidFill>
                  <a:srgbClr val="2B2F38"/>
                </a:solidFill>
                <a:latin typeface="Segoe UI"/>
                <a:cs typeface="Segoe UI"/>
              </a:rPr>
              <a:t>يشاركون في بناء خطط الدعم ومراجعتها</a:t>
            </a:r>
          </a:p>
          <a:p>
            <a:pPr algn="r" rtl="1">
              <a:spcBef>
                <a:spcPts val="100"/>
              </a:spcBef>
              <a:spcAft>
                <a:spcPts val="100"/>
              </a:spcAft>
            </a:pPr>
            <a:r>
              <a:rPr sz="1450" b="0" i="0">
                <a:solidFill>
                  <a:srgbClr val="2B2F38"/>
                </a:solidFill>
                <a:latin typeface="Segoe UI"/>
                <a:cs typeface="Segoe UI"/>
              </a:rPr>
              <a:t>يساعدون في تفسير الملاحظات والبيانات</a:t>
            </a:r>
          </a:p>
          <a:p>
            <a:pPr algn="r" rtl="1">
              <a:spcBef>
                <a:spcPts val="100"/>
              </a:spcBef>
              <a:spcAft>
                <a:spcPts val="100"/>
              </a:spcAft>
            </a:pPr>
            <a:r>
              <a:rPr sz="1450" b="0" i="0">
                <a:solidFill>
                  <a:srgbClr val="2B2F38"/>
                </a:solidFill>
                <a:latin typeface="Segoe UI"/>
                <a:cs typeface="Segoe UI"/>
              </a:rPr>
              <a:t>يتابعون أثر الدعم مع المعلم والأسرة</a:t>
            </a:r>
          </a:p>
        </p:txBody>
      </p:sp>
      <p:sp>
        <p:nvSpPr>
          <p:cNvPr id="10" name="Rounded Rectangle 9"/>
          <p:cNvSpPr/>
          <p:nvPr/>
        </p:nvSpPr>
        <p:spPr>
          <a:xfrm>
            <a:off x="502920" y="1371600"/>
            <a:ext cx="5490972" cy="5120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800" b="1" i="0">
                <a:solidFill>
                  <a:srgbClr val="1F3A93"/>
                </a:solidFill>
                <a:latin typeface="Segoe UI"/>
                <a:cs typeface="Segoe UI"/>
              </a:rPr>
              <a:t>أولياء الأمور والأسر</a:t>
            </a:r>
          </a:p>
          <a:p>
            <a:pPr algn="r" rtl="1">
              <a:spcBef>
                <a:spcPts val="100"/>
              </a:spcBef>
              <a:spcAft>
                <a:spcPts val="100"/>
              </a:spcAft>
            </a:pPr>
            <a:r>
              <a:rPr sz="1450" b="0" i="0">
                <a:solidFill>
                  <a:srgbClr val="2B2F38"/>
                </a:solidFill>
                <a:latin typeface="Segoe UI"/>
                <a:cs typeface="Segoe UI"/>
              </a:rPr>
              <a:t>يشاركون معلومات مهمة: ما الذي ينجح مع الطفل في المنزل؟</a:t>
            </a:r>
          </a:p>
          <a:p>
            <a:pPr algn="r" rtl="1">
              <a:spcBef>
                <a:spcPts val="100"/>
              </a:spcBef>
              <a:spcAft>
                <a:spcPts val="100"/>
              </a:spcAft>
            </a:pPr>
            <a:r>
              <a:rPr sz="1450" b="0" i="0">
                <a:solidFill>
                  <a:srgbClr val="2B2F38"/>
                </a:solidFill>
                <a:latin typeface="Segoe UI"/>
                <a:cs typeface="Segoe UI"/>
              </a:rPr>
              <a:t>يدعمون التعلم في البيت بخطوات بسيطة متفق عليها</a:t>
            </a:r>
          </a:p>
          <a:p>
            <a:pPr algn="r" rtl="1">
              <a:spcBef>
                <a:spcPts val="100"/>
              </a:spcBef>
              <a:spcAft>
                <a:spcPts val="100"/>
              </a:spcAft>
            </a:pPr>
            <a:r>
              <a:rPr sz="1450" b="0" i="0">
                <a:solidFill>
                  <a:srgbClr val="2B2F38"/>
                </a:solidFill>
                <a:latin typeface="Segoe UI"/>
                <a:cs typeface="Segoe UI"/>
              </a:rPr>
              <a:t>يتواصلون مع المدرسة مبكرًا وبانتظام</a:t>
            </a:r>
          </a:p>
          <a:p>
            <a:pPr algn="r" rtl="1">
              <a:spcBef>
                <a:spcPts val="100"/>
              </a:spcBef>
              <a:spcAft>
                <a:spcPts val="100"/>
              </a:spcAft>
            </a:pPr>
            <a:r>
              <a:rPr sz="1450" b="0" i="0">
                <a:solidFill>
                  <a:srgbClr val="2B2F38"/>
                </a:solidFill>
                <a:latin typeface="Segoe UI"/>
                <a:cs typeface="Segoe UI"/>
              </a:rPr>
              <a:t>يشاركون في التخطيط للدعم ومتابعة التقدم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a:t>
            </a:r>
          </a:p>
          <a:p>
            <a:pPr algn="r" rtl="1">
              <a:spcBef>
                <a:spcPts val="0"/>
              </a:spcBef>
              <a:spcAft>
                <a:spcPts val="0"/>
              </a:spcAft>
            </a:pPr>
            <a:r>
              <a:rPr sz="2800" b="1" i="0">
                <a:solidFill>
                  <a:srgbClr val="FFFFFF"/>
                </a:solidFill>
                <a:latin typeface="Segoe UI"/>
                <a:cs typeface="Segoe UI"/>
              </a:rPr>
              <a:t>خريطة الأدوار (3): الطلاب أنفسهم</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40</a:t>
            </a:r>
          </a:p>
        </p:txBody>
      </p:sp>
      <p:sp>
        <p:nvSpPr>
          <p:cNvPr id="9" name="Rounded Rectangle 8"/>
          <p:cNvSpPr/>
          <p:nvPr/>
        </p:nvSpPr>
        <p:spPr>
          <a:xfrm>
            <a:off x="6309360" y="1371600"/>
            <a:ext cx="5376672" cy="30175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500"/>
              </a:spcAft>
            </a:pPr>
            <a:r>
              <a:rPr sz="1700" b="1" i="0">
                <a:solidFill>
                  <a:srgbClr val="1F3A93"/>
                </a:solidFill>
                <a:latin typeface="Segoe UI"/>
                <a:cs typeface="Segoe UI"/>
              </a:rPr>
              <a:t>الطلاب — بحسب أعمارهم ونضجهم</a:t>
            </a:r>
          </a:p>
          <a:p>
            <a:pPr algn="r" rtl="1">
              <a:spcBef>
                <a:spcPts val="200"/>
              </a:spcBef>
              <a:spcAft>
                <a:spcPts val="200"/>
              </a:spcAft>
            </a:pPr>
            <a:r>
              <a:rPr sz="1450" b="0" i="0">
                <a:solidFill>
                  <a:srgbClr val="2B2F38"/>
                </a:solidFill>
                <a:latin typeface="Segoe UI"/>
                <a:cs typeface="Segoe UI"/>
              </a:rPr>
              <a:t>●  يشاركون في التعلم والأنشطة بفاعلية</a:t>
            </a:r>
          </a:p>
          <a:p>
            <a:pPr algn="r" rtl="1">
              <a:spcBef>
                <a:spcPts val="200"/>
              </a:spcBef>
              <a:spcAft>
                <a:spcPts val="200"/>
              </a:spcAft>
            </a:pPr>
            <a:r>
              <a:rPr sz="1450" b="0" i="0">
                <a:solidFill>
                  <a:srgbClr val="2B2F38"/>
                </a:solidFill>
                <a:latin typeface="Segoe UI"/>
                <a:cs typeface="Segoe UI"/>
              </a:rPr>
              <a:t>●  يعبّرون عن احتياجاتهم: «أحتاج وقتًا أطول»، «لم أفهم»</a:t>
            </a:r>
          </a:p>
          <a:p>
            <a:pPr algn="r" rtl="1">
              <a:spcBef>
                <a:spcPts val="200"/>
              </a:spcBef>
              <a:spcAft>
                <a:spcPts val="200"/>
              </a:spcAft>
            </a:pPr>
            <a:r>
              <a:rPr sz="1450" b="0" i="0">
                <a:solidFill>
                  <a:srgbClr val="2B2F38"/>
                </a:solidFill>
                <a:latin typeface="Segoe UI"/>
                <a:cs typeface="Segoe UI"/>
              </a:rPr>
              <a:t>●  ينمّون استقلاليتهم في التعلم تدريجيًا</a:t>
            </a:r>
          </a:p>
          <a:p>
            <a:pPr algn="r" rtl="1">
              <a:spcBef>
                <a:spcPts val="200"/>
              </a:spcBef>
              <a:spcAft>
                <a:spcPts val="200"/>
              </a:spcAft>
            </a:pPr>
            <a:r>
              <a:rPr sz="1450" b="0" i="0">
                <a:solidFill>
                  <a:srgbClr val="2B2F38"/>
                </a:solidFill>
                <a:latin typeface="Segoe UI"/>
                <a:cs typeface="Segoe UI"/>
              </a:rPr>
              <a:t>●  يشاركون في القرارات التي تخص تعلمهم عند الملاءمة</a:t>
            </a:r>
          </a:p>
          <a:p>
            <a:pPr algn="r" rtl="1">
              <a:spcBef>
                <a:spcPts val="200"/>
              </a:spcBef>
              <a:spcAft>
                <a:spcPts val="200"/>
              </a:spcAft>
            </a:pPr>
            <a:r>
              <a:rPr sz="1450" b="0" i="0">
                <a:solidFill>
                  <a:srgbClr val="2B2F38"/>
                </a:solidFill>
                <a:latin typeface="Segoe UI"/>
                <a:cs typeface="Segoe UI"/>
              </a:rPr>
              <a:t>●  يدعمون زملاءهم ويرفضون الاستبعاد والتنمر</a:t>
            </a:r>
          </a:p>
        </p:txBody>
      </p:sp>
      <p:sp>
        <p:nvSpPr>
          <p:cNvPr id="10" name="Rounded Rectangle 9"/>
          <p:cNvSpPr/>
          <p:nvPr/>
        </p:nvSpPr>
        <p:spPr>
          <a:xfrm>
            <a:off x="502920" y="1371600"/>
            <a:ext cx="5577840" cy="30175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500"/>
              </a:spcAft>
            </a:pPr>
            <a:r>
              <a:rPr sz="1700" b="1" i="0">
                <a:solidFill>
                  <a:srgbClr val="1F3A93"/>
                </a:solidFill>
                <a:latin typeface="Segoe UI"/>
                <a:cs typeface="Segoe UI"/>
              </a:rPr>
              <a:t>لماذا صوت الطالب مهم؟</a:t>
            </a:r>
          </a:p>
          <a:p>
            <a:pPr algn="r" rtl="1">
              <a:spcBef>
                <a:spcPts val="200"/>
              </a:spcBef>
              <a:spcAft>
                <a:spcPts val="400"/>
              </a:spcAft>
            </a:pPr>
            <a:r>
              <a:rPr sz="1450" b="0" i="0">
                <a:solidFill>
                  <a:srgbClr val="2B2F38"/>
                </a:solidFill>
                <a:latin typeface="Segoe UI"/>
                <a:cs typeface="Segoe UI"/>
              </a:rPr>
              <a:t>الطالب هو الخبير الوحيد في تجربته اليومية. عندما نسأله: «ما الذي يساعدك على التعلم؟» نحصل غالبًا على إجابات عملية أدق من كثير من التحليلات.</a:t>
            </a:r>
          </a:p>
          <a:p>
            <a:pPr algn="r" rtl="1">
              <a:spcBef>
                <a:spcPts val="200"/>
              </a:spcBef>
              <a:spcAft>
                <a:spcPts val="200"/>
              </a:spcAft>
            </a:pPr>
            <a:r>
              <a:rPr sz="1450" b="0" i="0">
                <a:solidFill>
                  <a:srgbClr val="2B2F38"/>
                </a:solidFill>
                <a:latin typeface="Segoe UI"/>
                <a:cs typeface="Segoe UI"/>
              </a:rPr>
              <a:t>تعليم الطالب أن يعبّر عن احتياجه بأدب وثقة مهارة حياتية تبقى معه مدى الحياة.</a:t>
            </a:r>
          </a:p>
        </p:txBody>
      </p:sp>
      <p:sp>
        <p:nvSpPr>
          <p:cNvPr id="11" name="Rounded Rectangle 10"/>
          <p:cNvSpPr/>
          <p:nvPr/>
        </p:nvSpPr>
        <p:spPr>
          <a:xfrm>
            <a:off x="1188720" y="4709160"/>
            <a:ext cx="9784080" cy="141732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100" b="1" i="0">
                <a:solidFill>
                  <a:srgbClr val="C9A227"/>
                </a:solidFill>
                <a:latin typeface="Segoe UI"/>
                <a:cs typeface="Segoe UI"/>
              </a:rPr>
              <a:t>الشمول مسؤولية مشتركة</a:t>
            </a:r>
          </a:p>
          <a:p>
            <a:pPr algn="ctr" rtl="1">
              <a:spcBef>
                <a:spcPts val="200"/>
              </a:spcBef>
              <a:spcAft>
                <a:spcPts val="200"/>
              </a:spcAft>
            </a:pPr>
            <a:r>
              <a:rPr sz="1600" b="0" i="0">
                <a:solidFill>
                  <a:srgbClr val="FFFFFF"/>
                </a:solidFill>
                <a:latin typeface="Segoe UI"/>
                <a:cs typeface="Segoe UI"/>
              </a:rPr>
              <a:t>ليست مهمة معلم واحد ولا اختصاصي واحد — إنها الطريقة التي تعمل بها المدرسة كلها.</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 — نشاط</a:t>
            </a:r>
          </a:p>
          <a:p>
            <a:pPr algn="r" rtl="1">
              <a:spcBef>
                <a:spcPts val="0"/>
              </a:spcBef>
              <a:spcAft>
                <a:spcPts val="0"/>
              </a:spcAft>
            </a:pPr>
            <a:r>
              <a:rPr sz="2800" b="1" i="0">
                <a:solidFill>
                  <a:srgbClr val="FFFFFF"/>
                </a:solidFill>
                <a:latin typeface="Segoe UI"/>
                <a:cs typeface="Segoe UI"/>
              </a:rPr>
              <a:t>دوري أنا في الشمول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41</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نشاط فردي</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بالنظر إلى دورك الوظيفي الحالي: ما ثلاث مسؤوليات واقعية يمكنك تحملها لدعم الشمول في مدرستك؟</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أكمل ورقة العمل (7) — حدد دورك، ومسؤولياتك الممكنة، ومن ستتعاون معه.</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9</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9</a:t>
            </a:r>
          </a:p>
          <a:p>
            <a:pPr algn="r" rtl="1">
              <a:spcBef>
                <a:spcPts val="600"/>
              </a:spcBef>
              <a:spcAft>
                <a:spcPts val="400"/>
              </a:spcAft>
            </a:pPr>
            <a:r>
              <a:rPr sz="4000" b="1" i="0">
                <a:solidFill>
                  <a:srgbClr val="FFFFFF"/>
                </a:solidFill>
                <a:latin typeface="Segoe UI"/>
                <a:cs typeface="Segoe UI"/>
              </a:rPr>
              <a:t>من الوعي إلى الممارسة</a:t>
            </a:r>
          </a:p>
          <a:p>
            <a:pPr algn="r" rtl="1">
              <a:spcBef>
                <a:spcPts val="400"/>
              </a:spcBef>
              <a:spcAft>
                <a:spcPts val="400"/>
              </a:spcAft>
            </a:pPr>
            <a:r>
              <a:rPr sz="1600" b="0" i="0">
                <a:solidFill>
                  <a:srgbClr val="E4F6F6"/>
                </a:solidFill>
                <a:latin typeface="Segoe UI"/>
                <a:cs typeface="Segoe UI"/>
              </a:rPr>
              <a:t>From Awareness to Practice</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دورة عملية بسيطة: لاحظ ← افهم ← ادعم ← تابع ← قرر</a:t>
            </a:r>
          </a:p>
          <a:p>
            <a:pPr algn="r" rtl="1">
              <a:spcBef>
                <a:spcPts val="400"/>
              </a:spcBef>
            </a:pPr>
            <a:r>
              <a:rPr sz="1600" b="0" i="0">
                <a:solidFill>
                  <a:srgbClr val="FFFFFF"/>
                </a:solidFill>
                <a:latin typeface="Segoe UI"/>
                <a:cs typeface="Segoe UI"/>
              </a:rPr>
              <a:t>◂  مثال تطبيقي بطالب افتراضي</a:t>
            </a:r>
          </a:p>
          <a:p>
            <a:pPr algn="r" rtl="1">
              <a:spcBef>
                <a:spcPts val="400"/>
              </a:spcBef>
            </a:pPr>
            <a:r>
              <a:rPr sz="1600" b="0" i="0">
                <a:solidFill>
                  <a:srgbClr val="FFFFFF"/>
                </a:solidFill>
                <a:latin typeface="Segoe UI"/>
                <a:cs typeface="Segoe UI"/>
              </a:rPr>
              <a:t>◂  الربط بمنهجية مسار الأشمل</a:t>
            </a:r>
          </a:p>
          <a:p>
            <a:pPr algn="r" rtl="1">
              <a:spcBef>
                <a:spcPts val="400"/>
              </a:spcBef>
            </a:pPr>
            <a:r>
              <a:rPr sz="1600" b="0" i="0">
                <a:solidFill>
                  <a:srgbClr val="FFFFFF"/>
                </a:solidFill>
                <a:latin typeface="Segoe UI"/>
                <a:cs typeface="Segoe UI"/>
              </a:rPr>
              <a:t>◂  مشاركة المدرسة والمعلم والطالب والأسرة</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a:t>
            </a:r>
          </a:p>
          <a:p>
            <a:pPr algn="r" rtl="1">
              <a:spcBef>
                <a:spcPts val="0"/>
              </a:spcBef>
              <a:spcAft>
                <a:spcPts val="0"/>
              </a:spcAft>
            </a:pPr>
            <a:r>
              <a:rPr sz="2800" b="1" i="0">
                <a:solidFill>
                  <a:srgbClr val="FFFFFF"/>
                </a:solidFill>
                <a:latin typeface="Segoe UI"/>
                <a:cs typeface="Segoe UI"/>
              </a:rPr>
              <a:t>دورة عمل بسيطة لدعم أي طالب</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43</a:t>
            </a:r>
          </a:p>
        </p:txBody>
      </p:sp>
      <p:sp>
        <p:nvSpPr>
          <p:cNvPr id="9" name="Oval 8"/>
          <p:cNvSpPr/>
          <p:nvPr/>
        </p:nvSpPr>
        <p:spPr>
          <a:xfrm>
            <a:off x="10183215" y="1417320"/>
            <a:ext cx="822960" cy="82296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FFFFFF"/>
                </a:solidFill>
                <a:latin typeface="Segoe UI"/>
                <a:cs typeface="Segoe UI"/>
              </a:rPr>
              <a:t>1</a:t>
            </a:r>
          </a:p>
        </p:txBody>
      </p:sp>
      <p:sp>
        <p:nvSpPr>
          <p:cNvPr id="10" name="Rounded Rectangle 9"/>
          <p:cNvSpPr/>
          <p:nvPr/>
        </p:nvSpPr>
        <p:spPr>
          <a:xfrm>
            <a:off x="9552279" y="2423160"/>
            <a:ext cx="2084831"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700" b="1" i="0">
                <a:solidFill>
                  <a:srgbClr val="1F3A93"/>
                </a:solidFill>
                <a:latin typeface="Segoe UI"/>
                <a:cs typeface="Segoe UI"/>
              </a:rPr>
              <a:t>لاحظ</a:t>
            </a:r>
          </a:p>
          <a:p>
            <a:pPr algn="ctr" rtl="1">
              <a:spcBef>
                <a:spcPts val="200"/>
              </a:spcBef>
              <a:spcAft>
                <a:spcPts val="200"/>
              </a:spcAft>
            </a:pPr>
            <a:r>
              <a:rPr sz="1250" b="0" i="0">
                <a:solidFill>
                  <a:srgbClr val="2B2F38"/>
                </a:solidFill>
                <a:latin typeface="Segoe UI"/>
                <a:cs typeface="Segoe UI"/>
              </a:rPr>
              <a:t>ماذا يحدث فعلًا؟ متى؟ وفي أي مواقف؟</a:t>
            </a:r>
          </a:p>
        </p:txBody>
      </p:sp>
      <p:sp>
        <p:nvSpPr>
          <p:cNvPr id="11" name="Left Arrow 10"/>
          <p:cNvSpPr/>
          <p:nvPr/>
        </p:nvSpPr>
        <p:spPr>
          <a:xfrm>
            <a:off x="9387687" y="1691640"/>
            <a:ext cx="164592"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3791" y="1417320"/>
            <a:ext cx="822960" cy="82296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FFFFFF"/>
                </a:solidFill>
                <a:latin typeface="Segoe UI"/>
                <a:cs typeface="Segoe UI"/>
              </a:rPr>
              <a:t>2</a:t>
            </a:r>
          </a:p>
        </p:txBody>
      </p:sp>
      <p:sp>
        <p:nvSpPr>
          <p:cNvPr id="13" name="Rounded Rectangle 12"/>
          <p:cNvSpPr/>
          <p:nvPr/>
        </p:nvSpPr>
        <p:spPr>
          <a:xfrm>
            <a:off x="7302855" y="2423160"/>
            <a:ext cx="2084831"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700" b="1" i="0">
                <a:solidFill>
                  <a:srgbClr val="1F3A93"/>
                </a:solidFill>
                <a:latin typeface="Segoe UI"/>
                <a:cs typeface="Segoe UI"/>
              </a:rPr>
              <a:t>افهم</a:t>
            </a:r>
          </a:p>
          <a:p>
            <a:pPr algn="ctr" rtl="1">
              <a:spcBef>
                <a:spcPts val="200"/>
              </a:spcBef>
              <a:spcAft>
                <a:spcPts val="200"/>
              </a:spcAft>
            </a:pPr>
            <a:r>
              <a:rPr sz="1250" b="0" i="0">
                <a:solidFill>
                  <a:srgbClr val="2B2F38"/>
                </a:solidFill>
                <a:latin typeface="Segoe UI"/>
                <a:cs typeface="Segoe UI"/>
              </a:rPr>
              <a:t>ما الحاجز المحتمل؟ ما نقاط القوة؟</a:t>
            </a:r>
          </a:p>
        </p:txBody>
      </p:sp>
      <p:sp>
        <p:nvSpPr>
          <p:cNvPr id="14" name="Left Arrow 13"/>
          <p:cNvSpPr/>
          <p:nvPr/>
        </p:nvSpPr>
        <p:spPr>
          <a:xfrm>
            <a:off x="7138263" y="1691640"/>
            <a:ext cx="164592"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84367" y="1417320"/>
            <a:ext cx="822960" cy="8229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162B6B"/>
                </a:solidFill>
                <a:latin typeface="Segoe UI"/>
                <a:cs typeface="Segoe UI"/>
              </a:rPr>
              <a:t>3</a:t>
            </a:r>
          </a:p>
        </p:txBody>
      </p:sp>
      <p:sp>
        <p:nvSpPr>
          <p:cNvPr id="16" name="Rounded Rectangle 15"/>
          <p:cNvSpPr/>
          <p:nvPr/>
        </p:nvSpPr>
        <p:spPr>
          <a:xfrm>
            <a:off x="5053431" y="2423160"/>
            <a:ext cx="2084831"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700" b="1" i="0">
                <a:solidFill>
                  <a:srgbClr val="1F3A93"/>
                </a:solidFill>
                <a:latin typeface="Segoe UI"/>
                <a:cs typeface="Segoe UI"/>
              </a:rPr>
              <a:t>ادعم</a:t>
            </a:r>
          </a:p>
          <a:p>
            <a:pPr algn="ctr" rtl="1">
              <a:spcBef>
                <a:spcPts val="200"/>
              </a:spcBef>
              <a:spcAft>
                <a:spcPts val="200"/>
              </a:spcAft>
            </a:pPr>
            <a:r>
              <a:rPr sz="1250" b="0" i="0">
                <a:solidFill>
                  <a:srgbClr val="2B2F38"/>
                </a:solidFill>
                <a:latin typeface="Segoe UI"/>
                <a:cs typeface="Segoe UI"/>
              </a:rPr>
              <a:t>جرّب إجراء دعم بسيطًا ومحددًا</a:t>
            </a:r>
          </a:p>
        </p:txBody>
      </p:sp>
      <p:sp>
        <p:nvSpPr>
          <p:cNvPr id="17" name="Left Arrow 16"/>
          <p:cNvSpPr/>
          <p:nvPr/>
        </p:nvSpPr>
        <p:spPr>
          <a:xfrm>
            <a:off x="4888839" y="1691640"/>
            <a:ext cx="164592"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434943" y="1417320"/>
            <a:ext cx="822960" cy="82296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FFFFFF"/>
                </a:solidFill>
                <a:latin typeface="Segoe UI"/>
                <a:cs typeface="Segoe UI"/>
              </a:rPr>
              <a:t>4</a:t>
            </a:r>
          </a:p>
        </p:txBody>
      </p:sp>
      <p:sp>
        <p:nvSpPr>
          <p:cNvPr id="19" name="Rounded Rectangle 18"/>
          <p:cNvSpPr/>
          <p:nvPr/>
        </p:nvSpPr>
        <p:spPr>
          <a:xfrm>
            <a:off x="2804007" y="2423160"/>
            <a:ext cx="2084831"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700" b="1" i="0">
                <a:solidFill>
                  <a:srgbClr val="1F3A93"/>
                </a:solidFill>
                <a:latin typeface="Segoe UI"/>
                <a:cs typeface="Segoe UI"/>
              </a:rPr>
              <a:t>تابع</a:t>
            </a:r>
          </a:p>
          <a:p>
            <a:pPr algn="ctr" rtl="1">
              <a:spcBef>
                <a:spcPts val="200"/>
              </a:spcBef>
              <a:spcAft>
                <a:spcPts val="200"/>
              </a:spcAft>
            </a:pPr>
            <a:r>
              <a:rPr sz="1250" b="0" i="0">
                <a:solidFill>
                  <a:srgbClr val="2B2F38"/>
                </a:solidFill>
                <a:latin typeface="Segoe UI"/>
                <a:cs typeface="Segoe UI"/>
              </a:rPr>
              <a:t>هل تغير شيء؟ اجمع أدلة لا انطباعات</a:t>
            </a:r>
          </a:p>
        </p:txBody>
      </p:sp>
      <p:sp>
        <p:nvSpPr>
          <p:cNvPr id="20" name="Left Arrow 19"/>
          <p:cNvSpPr/>
          <p:nvPr/>
        </p:nvSpPr>
        <p:spPr>
          <a:xfrm>
            <a:off x="2639415" y="1691640"/>
            <a:ext cx="164592" cy="274320"/>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85519" y="1417320"/>
            <a:ext cx="822960" cy="82296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FFFFFF"/>
                </a:solidFill>
                <a:latin typeface="Segoe UI"/>
                <a:cs typeface="Segoe UI"/>
              </a:rPr>
              <a:t>5</a:t>
            </a:r>
          </a:p>
        </p:txBody>
      </p:sp>
      <p:sp>
        <p:nvSpPr>
          <p:cNvPr id="22" name="Rounded Rectangle 21"/>
          <p:cNvSpPr/>
          <p:nvPr/>
        </p:nvSpPr>
        <p:spPr>
          <a:xfrm>
            <a:off x="554583" y="2423160"/>
            <a:ext cx="2084831"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700" b="1" i="0">
                <a:solidFill>
                  <a:srgbClr val="1F3A93"/>
                </a:solidFill>
                <a:latin typeface="Segoe UI"/>
                <a:cs typeface="Segoe UI"/>
              </a:rPr>
              <a:t>قرر</a:t>
            </a:r>
          </a:p>
          <a:p>
            <a:pPr algn="ctr" rtl="1">
              <a:spcBef>
                <a:spcPts val="200"/>
              </a:spcBef>
              <a:spcAft>
                <a:spcPts val="200"/>
              </a:spcAft>
            </a:pPr>
            <a:r>
              <a:rPr sz="1250" b="0" i="0">
                <a:solidFill>
                  <a:srgbClr val="2B2F38"/>
                </a:solidFill>
                <a:latin typeface="Segoe UI"/>
                <a:cs typeface="Segoe UI"/>
              </a:rPr>
              <a:t>استمر، عدّل، أو اطلب دعمًا أوسع</a:t>
            </a:r>
          </a:p>
        </p:txBody>
      </p:sp>
      <p:sp>
        <p:nvSpPr>
          <p:cNvPr id="23" name="Rounded Rectangle 22"/>
          <p:cNvSpPr/>
          <p:nvPr/>
        </p:nvSpPr>
        <p:spPr>
          <a:xfrm>
            <a:off x="731520" y="4434840"/>
            <a:ext cx="10698480" cy="17373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300"/>
              </a:spcAft>
            </a:pPr>
            <a:r>
              <a:rPr sz="1600" b="1" i="0">
                <a:solidFill>
                  <a:srgbClr val="1F3A93"/>
                </a:solidFill>
                <a:latin typeface="Segoe UI"/>
                <a:cs typeface="Segoe UI"/>
              </a:rPr>
              <a:t>مثال: الطالب فارس — الصف الثالث</a:t>
            </a:r>
          </a:p>
          <a:p>
            <a:pPr algn="r" rtl="1">
              <a:spcBef>
                <a:spcPts val="200"/>
              </a:spcBef>
              <a:spcAft>
                <a:spcPts val="200"/>
              </a:spcAft>
            </a:pPr>
            <a:r>
              <a:rPr sz="1350" b="0" i="0">
                <a:solidFill>
                  <a:srgbClr val="2B2F38"/>
                </a:solidFill>
                <a:latin typeface="Segoe UI"/>
                <a:cs typeface="Segoe UI"/>
              </a:rPr>
              <a:t>لاحظ المعلم أن فارس يتوقف عن العمل في المهام الكتابية الطويلة (لاحظ). راجع أعماله فوجد أن المشكلة في البدء لا في الفهم (افهم). جرّب تقسيم المهمة إلى ثلاث خطوات قصيرة مع تحديد وقت لكل خطوة (ادعم). خلال أسبوعين، أنهى فارس معظم المهام المقسّمة (تابع). قرر المعلم اعتماد التقسيم وتقليل الخطوات تدريجيًا (قرر).</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منهجية مسار</a:t>
            </a:r>
          </a:p>
          <a:p>
            <a:pPr algn="r" rtl="1">
              <a:spcBef>
                <a:spcPts val="0"/>
              </a:spcBef>
              <a:spcAft>
                <a:spcPts val="0"/>
              </a:spcAft>
            </a:pPr>
            <a:r>
              <a:rPr sz="2800" b="1" i="0">
                <a:solidFill>
                  <a:srgbClr val="FFFFFF"/>
                </a:solidFill>
                <a:latin typeface="Segoe UI"/>
                <a:cs typeface="Segoe UI"/>
              </a:rPr>
              <a:t>المنهجية الأوسع: مسار المدرسة الكامل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44</a:t>
            </a:r>
          </a:p>
        </p:txBody>
      </p:sp>
      <p:sp>
        <p:nvSpPr>
          <p:cNvPr id="9" name="Rounded Rectangle 8"/>
          <p:cNvSpPr/>
          <p:nvPr/>
        </p:nvSpPr>
        <p:spPr>
          <a:xfrm>
            <a:off x="9927183" y="1463040"/>
            <a:ext cx="1755648" cy="10058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التقييم</a:t>
            </a:r>
          </a:p>
        </p:txBody>
      </p:sp>
      <p:sp>
        <p:nvSpPr>
          <p:cNvPr id="10" name="Left Arrow 9"/>
          <p:cNvSpPr/>
          <p:nvPr/>
        </p:nvSpPr>
        <p:spPr>
          <a:xfrm>
            <a:off x="9799167" y="1828800"/>
            <a:ext cx="128016" cy="256032"/>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3519" y="1463040"/>
            <a:ext cx="1755648" cy="10058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تحديد الاحتياج</a:t>
            </a:r>
          </a:p>
        </p:txBody>
      </p:sp>
      <p:sp>
        <p:nvSpPr>
          <p:cNvPr id="12" name="Left Arrow 11"/>
          <p:cNvSpPr/>
          <p:nvPr/>
        </p:nvSpPr>
        <p:spPr>
          <a:xfrm>
            <a:off x="7915503" y="1828800"/>
            <a:ext cx="128016" cy="256032"/>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59855" y="1463040"/>
            <a:ext cx="1755648" cy="10058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التخطيط</a:t>
            </a:r>
          </a:p>
        </p:txBody>
      </p:sp>
      <p:sp>
        <p:nvSpPr>
          <p:cNvPr id="14" name="Left Arrow 13"/>
          <p:cNvSpPr/>
          <p:nvPr/>
        </p:nvSpPr>
        <p:spPr>
          <a:xfrm>
            <a:off x="6031839" y="1828800"/>
            <a:ext cx="128016" cy="256032"/>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76191" y="1463040"/>
            <a:ext cx="1755648" cy="10058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التنفيذ</a:t>
            </a:r>
          </a:p>
        </p:txBody>
      </p:sp>
      <p:sp>
        <p:nvSpPr>
          <p:cNvPr id="16" name="Left Arrow 15"/>
          <p:cNvSpPr/>
          <p:nvPr/>
        </p:nvSpPr>
        <p:spPr>
          <a:xfrm>
            <a:off x="4148175" y="1828800"/>
            <a:ext cx="128016" cy="256032"/>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92527" y="1463040"/>
            <a:ext cx="1755648" cy="10058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المتابعة</a:t>
            </a:r>
          </a:p>
        </p:txBody>
      </p:sp>
      <p:sp>
        <p:nvSpPr>
          <p:cNvPr id="18" name="Left Arrow 17"/>
          <p:cNvSpPr/>
          <p:nvPr/>
        </p:nvSpPr>
        <p:spPr>
          <a:xfrm>
            <a:off x="2264511" y="1828800"/>
            <a:ext cx="128016" cy="256032"/>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8863" y="1463040"/>
            <a:ext cx="1755648" cy="10058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القرار</a:t>
            </a:r>
          </a:p>
        </p:txBody>
      </p:sp>
      <p:sp>
        <p:nvSpPr>
          <p:cNvPr id="20" name="TextBox 19"/>
          <p:cNvSpPr txBox="1"/>
          <p:nvPr/>
        </p:nvSpPr>
        <p:spPr>
          <a:xfrm>
            <a:off x="502920" y="2743200"/>
            <a:ext cx="11183112" cy="1097280"/>
          </a:xfrm>
          <a:prstGeom prst="rect">
            <a:avLst/>
          </a:prstGeom>
          <a:noFill/>
        </p:spPr>
        <p:txBody>
          <a:bodyPr wrap="square" anchor="t" lIns="50800" rIns="50800" tIns="25400" bIns="25400">
            <a:spAutoFit/>
          </a:bodyPr>
          <a:lstStyle/>
          <a:p>
            <a:pPr algn="r" rtl="1">
              <a:spcBef>
                <a:spcPts val="400"/>
              </a:spcBef>
              <a:spcAft>
                <a:spcPts val="400"/>
              </a:spcAft>
            </a:pPr>
            <a:r>
              <a:rPr sz="1600" b="0" i="0">
                <a:solidFill>
                  <a:srgbClr val="2B2F38"/>
                </a:solidFill>
                <a:latin typeface="Segoe UI"/>
                <a:cs typeface="Segoe UI"/>
              </a:rPr>
              <a:t>الدورة الصغيرة التي تعلمناها (لاحظ ← افهم ← ادعم ← تابع ← قرر) هي الروح نفسها التي تقوم عليها منهجية مسار على مستوى المدرسة — لكن بشكل منظم وموثق وتشاركي.</a:t>
            </a:r>
          </a:p>
        </p:txBody>
      </p:sp>
      <p:sp>
        <p:nvSpPr>
          <p:cNvPr id="21" name="Rounded Rectangle 20"/>
          <p:cNvSpPr/>
          <p:nvPr/>
        </p:nvSpPr>
        <p:spPr>
          <a:xfrm>
            <a:off x="9006840" y="4069080"/>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600" b="1" i="0">
                <a:solidFill>
                  <a:srgbClr val="1F3A93"/>
                </a:solidFill>
                <a:latin typeface="Segoe UI"/>
                <a:cs typeface="Segoe UI"/>
              </a:rPr>
              <a:t>المدرسة</a:t>
            </a:r>
          </a:p>
          <a:p>
            <a:pPr algn="ctr" rtl="1">
              <a:spcBef>
                <a:spcPts val="200"/>
              </a:spcBef>
              <a:spcAft>
                <a:spcPts val="200"/>
              </a:spcAft>
            </a:pPr>
            <a:r>
              <a:rPr sz="1250" b="0" i="0">
                <a:solidFill>
                  <a:srgbClr val="2B2F38"/>
                </a:solidFill>
                <a:latin typeface="Segoe UI"/>
                <a:cs typeface="Segoe UI"/>
              </a:rPr>
              <a:t>توفر الإطار والوقت والأدوات، وتتخذ القرارات الداعمة</a:t>
            </a:r>
          </a:p>
        </p:txBody>
      </p:sp>
      <p:sp>
        <p:nvSpPr>
          <p:cNvPr id="22" name="Rounded Rectangle 21"/>
          <p:cNvSpPr/>
          <p:nvPr/>
        </p:nvSpPr>
        <p:spPr>
          <a:xfrm>
            <a:off x="6172200" y="4069080"/>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600" b="1" i="0">
                <a:solidFill>
                  <a:srgbClr val="1F3A93"/>
                </a:solidFill>
                <a:latin typeface="Segoe UI"/>
                <a:cs typeface="Segoe UI"/>
              </a:rPr>
              <a:t>المعلم</a:t>
            </a:r>
          </a:p>
          <a:p>
            <a:pPr algn="ctr" rtl="1">
              <a:spcBef>
                <a:spcPts val="200"/>
              </a:spcBef>
              <a:spcAft>
                <a:spcPts val="200"/>
              </a:spcAft>
            </a:pPr>
            <a:r>
              <a:rPr sz="1250" b="0" i="0">
                <a:solidFill>
                  <a:srgbClr val="2B2F38"/>
                </a:solidFill>
                <a:latin typeface="Segoe UI"/>
                <a:cs typeface="Segoe UI"/>
              </a:rPr>
              <a:t>يلاحظ ويجرّب الدعم الصفي ويوثق الأثر</a:t>
            </a:r>
          </a:p>
        </p:txBody>
      </p:sp>
      <p:sp>
        <p:nvSpPr>
          <p:cNvPr id="23" name="Rounded Rectangle 22"/>
          <p:cNvSpPr/>
          <p:nvPr/>
        </p:nvSpPr>
        <p:spPr>
          <a:xfrm>
            <a:off x="3337560" y="4069080"/>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600" b="1" i="0">
                <a:solidFill>
                  <a:srgbClr val="1F3A93"/>
                </a:solidFill>
                <a:latin typeface="Segoe UI"/>
                <a:cs typeface="Segoe UI"/>
              </a:rPr>
              <a:t>الأسرة</a:t>
            </a:r>
          </a:p>
          <a:p>
            <a:pPr algn="ctr" rtl="1">
              <a:spcBef>
                <a:spcPts val="200"/>
              </a:spcBef>
              <a:spcAft>
                <a:spcPts val="200"/>
              </a:spcAft>
            </a:pPr>
            <a:r>
              <a:rPr sz="1250" b="0" i="0">
                <a:solidFill>
                  <a:srgbClr val="2B2F38"/>
                </a:solidFill>
                <a:latin typeface="Segoe UI"/>
                <a:cs typeface="Segoe UI"/>
              </a:rPr>
              <a:t>تشارك المعلومات وتدعم الخطة في المنزل</a:t>
            </a:r>
          </a:p>
        </p:txBody>
      </p:sp>
      <p:sp>
        <p:nvSpPr>
          <p:cNvPr id="24" name="Rounded Rectangle 23"/>
          <p:cNvSpPr/>
          <p:nvPr/>
        </p:nvSpPr>
        <p:spPr>
          <a:xfrm>
            <a:off x="502920" y="4069080"/>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300"/>
              </a:spcAft>
            </a:pPr>
            <a:r>
              <a:rPr sz="1600" b="1" i="0">
                <a:solidFill>
                  <a:srgbClr val="1F3A93"/>
                </a:solidFill>
                <a:latin typeface="Segoe UI"/>
                <a:cs typeface="Segoe UI"/>
              </a:rPr>
              <a:t>الطالب</a:t>
            </a:r>
          </a:p>
          <a:p>
            <a:pPr algn="ctr" rtl="1">
              <a:spcBef>
                <a:spcPts val="200"/>
              </a:spcBef>
              <a:spcAft>
                <a:spcPts val="200"/>
              </a:spcAft>
            </a:pPr>
            <a:r>
              <a:rPr sz="1250" b="0" i="0">
                <a:solidFill>
                  <a:srgbClr val="2B2F38"/>
                </a:solidFill>
                <a:latin typeface="Segoe UI"/>
                <a:cs typeface="Segoe UI"/>
              </a:rPr>
              <a:t>يشارك برأيه في ما يساعده — بحسب عمره</a:t>
            </a:r>
          </a:p>
        </p:txBody>
      </p:sp>
      <p:sp>
        <p:nvSpPr>
          <p:cNvPr id="25" name="TextBox 24"/>
          <p:cNvSpPr txBox="1"/>
          <p:nvPr/>
        </p:nvSpPr>
        <p:spPr>
          <a:xfrm>
            <a:off x="502920" y="5943600"/>
            <a:ext cx="11183112" cy="548640"/>
          </a:xfrm>
          <a:prstGeom prst="rect">
            <a:avLst/>
          </a:prstGeom>
          <a:noFill/>
        </p:spPr>
        <p:txBody>
          <a:bodyPr wrap="square" anchor="t" lIns="50800" rIns="50800" tIns="25400" bIns="25400">
            <a:spAutoFit/>
          </a:bodyPr>
          <a:lstStyle/>
          <a:p>
            <a:pPr algn="ctr" rtl="1">
              <a:spcBef>
                <a:spcPts val="400"/>
              </a:spcBef>
              <a:spcAft>
                <a:spcPts val="400"/>
              </a:spcAft>
            </a:pPr>
            <a:r>
              <a:rPr sz="1550" b="1" i="0">
                <a:solidFill>
                  <a:srgbClr val="1F3A93"/>
                </a:solidFill>
                <a:latin typeface="Segoe UI"/>
                <a:cs typeface="Segoe UI"/>
              </a:rPr>
              <a:t>الفكرة الجوهرية: قرارات تعليمية مبنية على الملاحظة والأدلة — بمشاركة الجميع.</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10</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10</a:t>
            </a:r>
          </a:p>
          <a:p>
            <a:pPr algn="r" rtl="1">
              <a:spcBef>
                <a:spcPts val="600"/>
              </a:spcBef>
              <a:spcAft>
                <a:spcPts val="400"/>
              </a:spcAft>
            </a:pPr>
            <a:r>
              <a:rPr sz="4000" b="1" i="0">
                <a:solidFill>
                  <a:srgbClr val="FFFFFF"/>
                </a:solidFill>
                <a:latin typeface="Segoe UI"/>
                <a:cs typeface="Segoe UI"/>
              </a:rPr>
              <a:t>دراسة حالة: طالب واحد، مدرسة واحدة</a:t>
            </a:r>
          </a:p>
          <a:p>
            <a:pPr algn="r" rtl="1">
              <a:spcBef>
                <a:spcPts val="400"/>
              </a:spcBef>
              <a:spcAft>
                <a:spcPts val="400"/>
              </a:spcAft>
            </a:pPr>
            <a:r>
              <a:rPr sz="1600" b="0" i="0">
                <a:solidFill>
                  <a:srgbClr val="E4F6F6"/>
                </a:solidFill>
                <a:latin typeface="Segoe UI"/>
                <a:cs typeface="Segoe UI"/>
              </a:rPr>
              <a:t>Case Study: One Student, One School</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حالة واقعية افتراضية: آدم، الصف الرابع</a:t>
            </a:r>
          </a:p>
          <a:p>
            <a:pPr algn="r" rtl="1">
              <a:spcBef>
                <a:spcPts val="400"/>
              </a:spcBef>
            </a:pPr>
            <a:r>
              <a:rPr sz="1600" b="0" i="0">
                <a:solidFill>
                  <a:srgbClr val="FFFFFF"/>
                </a:solidFill>
                <a:latin typeface="Segoe UI"/>
                <a:cs typeface="Segoe UI"/>
              </a:rPr>
              <a:t>◂  الملاحظات، نقاط القوة، الصعوبات، الحواجز</a:t>
            </a:r>
          </a:p>
          <a:p>
            <a:pPr algn="r" rtl="1">
              <a:spcBef>
                <a:spcPts val="400"/>
              </a:spcBef>
            </a:pPr>
            <a:r>
              <a:rPr sz="1600" b="0" i="0">
                <a:solidFill>
                  <a:srgbClr val="FFFFFF"/>
                </a:solidFill>
                <a:latin typeface="Segoe UI"/>
                <a:cs typeface="Segoe UI"/>
              </a:rPr>
              <a:t>◂  استجابة المعلمة والدعم الصفي والتواصل مع الأسرة</a:t>
            </a:r>
          </a:p>
          <a:p>
            <a:pPr algn="r" rtl="1">
              <a:spcBef>
                <a:spcPts val="400"/>
              </a:spcBef>
            </a:pPr>
            <a:r>
              <a:rPr sz="1600" b="0" i="0">
                <a:solidFill>
                  <a:srgbClr val="FFFFFF"/>
                </a:solidFill>
                <a:latin typeface="Segoe UI"/>
                <a:cs typeface="Segoe UI"/>
              </a:rPr>
              <a:t>◂  نقاش موجّه ثم نموذج إجابة</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دراسة حالة (شخصية افتراضية)</a:t>
            </a:r>
          </a:p>
          <a:p>
            <a:pPr algn="r" rtl="1">
              <a:spcBef>
                <a:spcPts val="0"/>
              </a:spcBef>
              <a:spcAft>
                <a:spcPts val="0"/>
              </a:spcAft>
            </a:pPr>
            <a:r>
              <a:rPr sz="2800" b="1" i="0">
                <a:solidFill>
                  <a:srgbClr val="FFFFFF"/>
                </a:solidFill>
                <a:latin typeface="Segoe UI"/>
                <a:cs typeface="Segoe UI"/>
              </a:rPr>
              <a:t>تعرّف على آدم — الصف الرابع</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46</a:t>
            </a:r>
          </a:p>
        </p:txBody>
      </p:sp>
      <p:sp>
        <p:nvSpPr>
          <p:cNvPr id="9" name="Rounded Rectangle 8"/>
          <p:cNvSpPr/>
          <p:nvPr/>
        </p:nvSpPr>
        <p:spPr>
          <a:xfrm>
            <a:off x="6309360" y="1325880"/>
            <a:ext cx="5376672" cy="23774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ملاحظات المعلمة في الصف</a:t>
            </a:r>
          </a:p>
          <a:p>
            <a:pPr algn="r" rtl="1">
              <a:spcBef>
                <a:spcPts val="100"/>
              </a:spcBef>
              <a:spcAft>
                <a:spcPts val="100"/>
              </a:spcAft>
            </a:pPr>
            <a:r>
              <a:rPr sz="1350" b="0" i="0">
                <a:solidFill>
                  <a:srgbClr val="2B2F38"/>
                </a:solidFill>
                <a:latin typeface="Segoe UI"/>
                <a:cs typeface="Segoe UI"/>
              </a:rPr>
              <a:t>●  يفقد تسلسل الخطوات عندما تكون التعليمات الشفهية طويلة</a:t>
            </a:r>
          </a:p>
          <a:p>
            <a:pPr algn="r" rtl="1">
              <a:spcBef>
                <a:spcPts val="100"/>
              </a:spcBef>
              <a:spcAft>
                <a:spcPts val="100"/>
              </a:spcAft>
            </a:pPr>
            <a:r>
              <a:rPr sz="1350" b="0" i="0">
                <a:solidFill>
                  <a:srgbClr val="2B2F38"/>
                </a:solidFill>
                <a:latin typeface="Segoe UI"/>
                <a:cs typeface="Segoe UI"/>
              </a:rPr>
              <a:t>●  يتأخر في بدء المهام الكتابية وقد لا يكملها في الوقت المعتاد</a:t>
            </a:r>
          </a:p>
          <a:p>
            <a:pPr algn="r" rtl="1">
              <a:spcBef>
                <a:spcPts val="100"/>
              </a:spcBef>
              <a:spcAft>
                <a:spcPts val="100"/>
              </a:spcAft>
            </a:pPr>
            <a:r>
              <a:rPr sz="1350" b="0" i="0">
                <a:solidFill>
                  <a:srgbClr val="2B2F38"/>
                </a:solidFill>
                <a:latin typeface="Segoe UI"/>
                <a:cs typeface="Segoe UI"/>
              </a:rPr>
              <a:t>●  أدواته ودفاتره غير منظمة، وينسى إحضار المطلوب أحيانًا</a:t>
            </a:r>
          </a:p>
          <a:p>
            <a:pPr algn="r" rtl="1">
              <a:spcBef>
                <a:spcPts val="100"/>
              </a:spcBef>
              <a:spcAft>
                <a:spcPts val="100"/>
              </a:spcAft>
            </a:pPr>
            <a:r>
              <a:rPr sz="1350" b="0" i="0">
                <a:solidFill>
                  <a:srgbClr val="2B2F38"/>
                </a:solidFill>
                <a:latin typeface="Segoe UI"/>
                <a:cs typeface="Segoe UI"/>
              </a:rPr>
              <a:t>●  يبدو مرتبكًا عند الانتقال بين الأنشطة المتتابعة</a:t>
            </a:r>
          </a:p>
        </p:txBody>
      </p:sp>
      <p:sp>
        <p:nvSpPr>
          <p:cNvPr id="10" name="Rounded Rectangle 9"/>
          <p:cNvSpPr/>
          <p:nvPr/>
        </p:nvSpPr>
        <p:spPr>
          <a:xfrm>
            <a:off x="502920" y="1325880"/>
            <a:ext cx="5577840" cy="23774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نقاط القوة</a:t>
            </a:r>
          </a:p>
          <a:p>
            <a:pPr algn="r" rtl="1">
              <a:spcBef>
                <a:spcPts val="100"/>
              </a:spcBef>
              <a:spcAft>
                <a:spcPts val="100"/>
              </a:spcAft>
            </a:pPr>
            <a:r>
              <a:rPr sz="1350" b="0" i="0">
                <a:solidFill>
                  <a:srgbClr val="2B2F38"/>
                </a:solidFill>
                <a:latin typeface="Segoe UI"/>
                <a:cs typeface="Segoe UI"/>
              </a:rPr>
              <a:t>●  فهم رياضي جيد ويحل المسائل ذهنيًا بسرعة</a:t>
            </a:r>
          </a:p>
          <a:p>
            <a:pPr algn="r" rtl="1">
              <a:spcBef>
                <a:spcPts val="100"/>
              </a:spcBef>
              <a:spcAft>
                <a:spcPts val="100"/>
              </a:spcAft>
            </a:pPr>
            <a:r>
              <a:rPr sz="1350" b="0" i="0">
                <a:solidFill>
                  <a:srgbClr val="2B2F38"/>
                </a:solidFill>
                <a:latin typeface="Segoe UI"/>
                <a:cs typeface="Segoe UI"/>
              </a:rPr>
              <a:t>●  يشارك بحماس في النقاشات الشفهية ويطرح أسئلة ذكية</a:t>
            </a:r>
          </a:p>
          <a:p>
            <a:pPr algn="r" rtl="1">
              <a:spcBef>
                <a:spcPts val="100"/>
              </a:spcBef>
              <a:spcAft>
                <a:spcPts val="100"/>
              </a:spcAft>
            </a:pPr>
            <a:r>
              <a:rPr sz="1350" b="0" i="0">
                <a:solidFill>
                  <a:srgbClr val="2B2F38"/>
                </a:solidFill>
                <a:latin typeface="Segoe UI"/>
                <a:cs typeface="Segoe UI"/>
              </a:rPr>
              <a:t>●  علاقات اجتماعية جيدة ومحبوب من زملائه</a:t>
            </a:r>
          </a:p>
          <a:p>
            <a:pPr algn="r" rtl="1">
              <a:spcBef>
                <a:spcPts val="100"/>
              </a:spcBef>
              <a:spcAft>
                <a:spcPts val="100"/>
              </a:spcAft>
            </a:pPr>
            <a:r>
              <a:rPr sz="1350" b="0" i="0">
                <a:solidFill>
                  <a:srgbClr val="2B2F38"/>
                </a:solidFill>
                <a:latin typeface="Segoe UI"/>
                <a:cs typeface="Segoe UI"/>
              </a:rPr>
              <a:t>●  يتحمس للأنشطة العملية والتجارب</a:t>
            </a:r>
          </a:p>
        </p:txBody>
      </p:sp>
      <p:sp>
        <p:nvSpPr>
          <p:cNvPr id="11" name="Rounded Rectangle 10"/>
          <p:cNvSpPr/>
          <p:nvPr/>
        </p:nvSpPr>
        <p:spPr>
          <a:xfrm>
            <a:off x="502920" y="3886200"/>
            <a:ext cx="11183112" cy="2194560"/>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مهم قبل أن نبدأ النقاش</a:t>
            </a:r>
          </a:p>
          <a:p>
            <a:pPr algn="r" rtl="1">
              <a:spcBef>
                <a:spcPts val="100"/>
              </a:spcBef>
              <a:spcAft>
                <a:spcPts val="100"/>
              </a:spcAft>
            </a:pPr>
            <a:r>
              <a:rPr sz="1400" b="0" i="0">
                <a:solidFill>
                  <a:srgbClr val="2B2F38"/>
                </a:solidFill>
                <a:latin typeface="Segoe UI"/>
                <a:cs typeface="Segoe UI"/>
              </a:rPr>
              <a:t>●  آدم قادر أكاديميًا في جوانب عدة — الصورة ليست «طالبًا ضعيفًا»</a:t>
            </a:r>
          </a:p>
          <a:p>
            <a:pPr algn="r" rtl="1">
              <a:spcBef>
                <a:spcPts val="100"/>
              </a:spcBef>
              <a:spcAft>
                <a:spcPts val="100"/>
              </a:spcAft>
            </a:pPr>
            <a:r>
              <a:rPr sz="1400" b="0" i="0">
                <a:solidFill>
                  <a:srgbClr val="2B2F38"/>
                </a:solidFill>
                <a:latin typeface="Segoe UI"/>
                <a:cs typeface="Segoe UI"/>
              </a:rPr>
              <a:t>●  الصعوبات تتركز في: متابعة التعليمات الشفهية الطويلة، تنظيم المهام، وإتمام العمل الكتابي في الوقت المعتاد</a:t>
            </a:r>
          </a:p>
          <a:p>
            <a:pPr algn="r" rtl="1">
              <a:spcBef>
                <a:spcPts val="100"/>
              </a:spcBef>
              <a:spcAft>
                <a:spcPts val="100"/>
              </a:spcAft>
            </a:pPr>
            <a:r>
              <a:rPr sz="1400" b="1" i="0">
                <a:solidFill>
                  <a:srgbClr val="B03333"/>
                </a:solidFill>
                <a:latin typeface="Segoe UI"/>
                <a:cs typeface="Segoe UI"/>
              </a:rPr>
              <a:t>●  لا نُشخّص آدم ولا نطلق عليه تسميات — نصف ما نلاحظه ونبحث عن الحواجز</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دراسة حالة — نقاش</a:t>
            </a:r>
          </a:p>
          <a:p>
            <a:pPr algn="r" rtl="1">
              <a:spcBef>
                <a:spcPts val="0"/>
              </a:spcBef>
              <a:spcAft>
                <a:spcPts val="0"/>
              </a:spcAft>
            </a:pPr>
            <a:r>
              <a:rPr sz="2800" b="1" i="0">
                <a:solidFill>
                  <a:srgbClr val="FFFFFF"/>
                </a:solidFill>
                <a:latin typeface="Segoe UI"/>
                <a:cs typeface="Segoe UI"/>
              </a:rPr>
              <a:t>ناقش: ماذا ترى في حالة آدم؟</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47</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نقاش جماعي</a:t>
            </a:r>
          </a:p>
        </p:txBody>
      </p:sp>
      <p:sp>
        <p:nvSpPr>
          <p:cNvPr id="10" name="Rounded Rectangle 9"/>
          <p:cNvSpPr/>
          <p:nvPr/>
        </p:nvSpPr>
        <p:spPr>
          <a:xfrm>
            <a:off x="6190488" y="192024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1. </a:t>
            </a:r>
            <a:r>
              <a:rPr sz="1600" b="1" i="0">
                <a:solidFill>
                  <a:srgbClr val="1F3A93"/>
                </a:solidFill>
                <a:latin typeface="Segoe UI"/>
                <a:cs typeface="Segoe UI"/>
              </a:rPr>
              <a:t>ماذا تلاحظ في وصف آدم؟</a:t>
            </a:r>
          </a:p>
        </p:txBody>
      </p:sp>
      <p:sp>
        <p:nvSpPr>
          <p:cNvPr id="11" name="Rounded Rectangle 10"/>
          <p:cNvSpPr/>
          <p:nvPr/>
        </p:nvSpPr>
        <p:spPr>
          <a:xfrm>
            <a:off x="502920" y="192024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2. </a:t>
            </a:r>
            <a:r>
              <a:rPr sz="1600" b="1" i="0">
                <a:solidFill>
                  <a:srgbClr val="1F3A93"/>
                </a:solidFill>
                <a:latin typeface="Segoe UI"/>
                <a:cs typeface="Segoe UI"/>
              </a:rPr>
              <a:t>ما نقاط قوته التي يمكن البناء عليها؟</a:t>
            </a:r>
          </a:p>
        </p:txBody>
      </p:sp>
      <p:sp>
        <p:nvSpPr>
          <p:cNvPr id="12" name="Rounded Rectangle 11"/>
          <p:cNvSpPr/>
          <p:nvPr/>
        </p:nvSpPr>
        <p:spPr>
          <a:xfrm>
            <a:off x="6190488" y="333756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3. </a:t>
            </a:r>
            <a:r>
              <a:rPr sz="1600" b="1" i="0">
                <a:solidFill>
                  <a:srgbClr val="1F3A93"/>
                </a:solidFill>
                <a:latin typeface="Segoe UI"/>
                <a:cs typeface="Segoe UI"/>
              </a:rPr>
              <a:t>ما الحواجز التي قد تعيق مشاركته الكاملة؟</a:t>
            </a:r>
          </a:p>
        </p:txBody>
      </p:sp>
      <p:sp>
        <p:nvSpPr>
          <p:cNvPr id="13" name="Rounded Rectangle 12"/>
          <p:cNvSpPr/>
          <p:nvPr/>
        </p:nvSpPr>
        <p:spPr>
          <a:xfrm>
            <a:off x="502920" y="333756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4. </a:t>
            </a:r>
            <a:r>
              <a:rPr sz="1600" b="1" i="0">
                <a:solidFill>
                  <a:srgbClr val="1F3A93"/>
                </a:solidFill>
                <a:latin typeface="Segoe UI"/>
                <a:cs typeface="Segoe UI"/>
              </a:rPr>
              <a:t>ما الذي يمكن أن تجربه المعلمة داخل الصف؟</a:t>
            </a:r>
          </a:p>
        </p:txBody>
      </p:sp>
      <p:sp>
        <p:nvSpPr>
          <p:cNvPr id="14" name="Rounded Rectangle 13"/>
          <p:cNvSpPr/>
          <p:nvPr/>
        </p:nvSpPr>
        <p:spPr>
          <a:xfrm>
            <a:off x="6190488" y="475488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5. </a:t>
            </a:r>
            <a:r>
              <a:rPr sz="1600" b="1" i="0">
                <a:solidFill>
                  <a:srgbClr val="1F3A93"/>
                </a:solidFill>
                <a:latin typeface="Segoe UI"/>
                <a:cs typeface="Segoe UI"/>
              </a:rPr>
              <a:t>ما الأدلة التي ينبغي متابعتها لمعرفة أثر الدعم؟</a:t>
            </a:r>
          </a:p>
        </p:txBody>
      </p:sp>
      <p:sp>
        <p:nvSpPr>
          <p:cNvPr id="15" name="Rounded Rectangle 14"/>
          <p:cNvSpPr/>
          <p:nvPr/>
        </p:nvSpPr>
        <p:spPr>
          <a:xfrm>
            <a:off x="502920" y="4754880"/>
            <a:ext cx="5486400" cy="12801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700" b="1" i="0">
                <a:solidFill>
                  <a:srgbClr val="C9A227"/>
                </a:solidFill>
                <a:latin typeface="Segoe UI"/>
                <a:cs typeface="Segoe UI"/>
              </a:rPr>
              <a:t>6. </a:t>
            </a:r>
            <a:r>
              <a:rPr sz="1600" b="1" i="0">
                <a:solidFill>
                  <a:srgbClr val="1F3A93"/>
                </a:solidFill>
                <a:latin typeface="Segoe UI"/>
                <a:cs typeface="Segoe UI"/>
              </a:rPr>
              <a:t>متى قد يحتاج آدم إلى دعم إضافي أوسع من الدعم الصفي؟</a:t>
            </a:r>
          </a:p>
        </p:txBody>
      </p:sp>
      <p:sp>
        <p:nvSpPr>
          <p:cNvPr id="16" name="TextBox 15"/>
          <p:cNvSpPr txBox="1"/>
          <p:nvPr/>
        </p:nvSpPr>
        <p:spPr>
          <a:xfrm>
            <a:off x="502920" y="6172200"/>
            <a:ext cx="11183112" cy="411480"/>
          </a:xfrm>
          <a:prstGeom prst="rect">
            <a:avLst/>
          </a:prstGeom>
          <a:noFill/>
        </p:spPr>
        <p:txBody>
          <a:bodyPr wrap="square" anchor="t" lIns="50800" rIns="50800" tIns="25400" bIns="25400">
            <a:spAutoFit/>
          </a:bodyPr>
          <a:lstStyle/>
          <a:p>
            <a:pPr algn="ctr" rtl="1">
              <a:spcBef>
                <a:spcPts val="400"/>
              </a:spcBef>
              <a:spcAft>
                <a:spcPts val="400"/>
              </a:spcAft>
            </a:pPr>
            <a:r>
              <a:rPr sz="1450" b="0" i="0">
                <a:solidFill>
                  <a:srgbClr val="6B7280"/>
                </a:solidFill>
                <a:latin typeface="Segoe UI"/>
                <a:cs typeface="Segoe UI"/>
              </a:rPr>
              <a:t>سجّل إجاباتك في ورقة العمل (8) — ثم سنعرض نموذج مناقشة.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دراسة حالة — نموذج</a:t>
            </a:r>
          </a:p>
          <a:p>
            <a:pPr algn="r" rtl="1">
              <a:spcBef>
                <a:spcPts val="0"/>
              </a:spcBef>
              <a:spcAft>
                <a:spcPts val="0"/>
              </a:spcAft>
            </a:pPr>
            <a:r>
              <a:rPr sz="2800" b="1" i="0">
                <a:solidFill>
                  <a:srgbClr val="FFFFFF"/>
                </a:solidFill>
                <a:latin typeface="Segoe UI"/>
                <a:cs typeface="Segoe UI"/>
              </a:rPr>
              <a:t>نموذج مناقشة (1): الفهم والحواجز</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48</a:t>
            </a:r>
          </a:p>
        </p:txBody>
      </p:sp>
      <p:sp>
        <p:nvSpPr>
          <p:cNvPr id="9" name="Rounded Rectangle 8"/>
          <p:cNvSpPr/>
          <p:nvPr/>
        </p:nvSpPr>
        <p:spPr>
          <a:xfrm>
            <a:off x="502920" y="1325880"/>
            <a:ext cx="11183112" cy="1024128"/>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ماذا نلاحظ؟ — </a:t>
            </a:r>
            <a:r>
              <a:rPr sz="1500" b="1" i="0">
                <a:solidFill>
                  <a:srgbClr val="1F3A93"/>
                </a:solidFill>
                <a:latin typeface="Segoe UI"/>
                <a:cs typeface="Segoe UI"/>
              </a:rPr>
              <a:t>نمط محدد لا ضعف عام</a:t>
            </a:r>
          </a:p>
          <a:p>
            <a:pPr algn="r" rtl="1">
              <a:spcBef>
                <a:spcPts val="200"/>
              </a:spcBef>
            </a:pPr>
            <a:r>
              <a:rPr sz="1350" b="0" i="0">
                <a:solidFill>
                  <a:srgbClr val="2B2F38"/>
                </a:solidFill>
                <a:latin typeface="Segoe UI"/>
                <a:cs typeface="Segoe UI"/>
              </a:rPr>
              <a:t>الصعوبة تظهر في مواقف محددة: تعليمات شفهية طويلة، مهام كتابية ممتدة، تنقلات متتابعة. في المقابل: فهم قوي ومشاركة شفهية ممتازة.</a:t>
            </a:r>
          </a:p>
        </p:txBody>
      </p:sp>
      <p:sp>
        <p:nvSpPr>
          <p:cNvPr id="10" name="Rounded Rectangle 9"/>
          <p:cNvSpPr/>
          <p:nvPr/>
        </p:nvSpPr>
        <p:spPr>
          <a:xfrm>
            <a:off x="502920" y="2459736"/>
            <a:ext cx="11183112" cy="1024128"/>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نقاط القوة — </a:t>
            </a:r>
            <a:r>
              <a:rPr sz="1500" b="1" i="0">
                <a:solidFill>
                  <a:srgbClr val="2BB3B1"/>
                </a:solidFill>
                <a:latin typeface="Segoe UI"/>
                <a:cs typeface="Segoe UI"/>
              </a:rPr>
              <a:t>أدوات الحل الجاهزة</a:t>
            </a:r>
          </a:p>
          <a:p>
            <a:pPr algn="r" rtl="1">
              <a:spcBef>
                <a:spcPts val="200"/>
              </a:spcBef>
            </a:pPr>
            <a:r>
              <a:rPr sz="1350" b="0" i="0">
                <a:solidFill>
                  <a:srgbClr val="2B2F38"/>
                </a:solidFill>
                <a:latin typeface="Segoe UI"/>
                <a:cs typeface="Segoe UI"/>
              </a:rPr>
              <a:t>الفهم الرياضي، والقوة الشفهية، والعلاقات الجيدة، وحب الأنشطة العملية — كلها قنوات يمكن للمعلمة البناء عليها فورًا.</a:t>
            </a:r>
          </a:p>
        </p:txBody>
      </p:sp>
      <p:sp>
        <p:nvSpPr>
          <p:cNvPr id="11" name="Rounded Rectangle 10"/>
          <p:cNvSpPr/>
          <p:nvPr/>
        </p:nvSpPr>
        <p:spPr>
          <a:xfrm>
            <a:off x="502920" y="3593592"/>
            <a:ext cx="11183112" cy="1024128"/>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الحواجز المحتملة — </a:t>
            </a:r>
            <a:r>
              <a:rPr sz="1500" b="1" i="0">
                <a:solidFill>
                  <a:srgbClr val="C9A227"/>
                </a:solidFill>
                <a:latin typeface="Segoe UI"/>
                <a:cs typeface="Segoe UI"/>
              </a:rPr>
              <a:t>في البيئة وطريقة التقديم</a:t>
            </a:r>
          </a:p>
          <a:p>
            <a:pPr algn="r" rtl="1">
              <a:spcBef>
                <a:spcPts val="200"/>
              </a:spcBef>
            </a:pPr>
            <a:r>
              <a:rPr sz="1350" b="0" i="0">
                <a:solidFill>
                  <a:srgbClr val="2B2F38"/>
                </a:solidFill>
                <a:latin typeface="Segoe UI"/>
                <a:cs typeface="Segoe UI"/>
              </a:rPr>
              <a:t>تعليمات طويلة غير مدعومة بصريًا، مهام غير مجزأة، غياب أدوات تنظيم (قوائم، جداول)، وقت موحد للجميع في الكتابة.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دراسة حالة — نموذج</a:t>
            </a:r>
          </a:p>
          <a:p>
            <a:pPr algn="r" rtl="1">
              <a:spcBef>
                <a:spcPts val="0"/>
              </a:spcBef>
              <a:spcAft>
                <a:spcPts val="0"/>
              </a:spcAft>
            </a:pPr>
            <a:r>
              <a:rPr sz="2800" b="1" i="0">
                <a:solidFill>
                  <a:srgbClr val="FFFFFF"/>
                </a:solidFill>
                <a:latin typeface="Segoe UI"/>
                <a:cs typeface="Segoe UI"/>
              </a:rPr>
              <a:t>نموذج مناقشة (2): الدعم والمتابعة والقرار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49</a:t>
            </a:r>
          </a:p>
        </p:txBody>
      </p:sp>
      <p:sp>
        <p:nvSpPr>
          <p:cNvPr id="9" name="Rounded Rectangle 8"/>
          <p:cNvSpPr/>
          <p:nvPr/>
        </p:nvSpPr>
        <p:spPr>
          <a:xfrm>
            <a:off x="502920" y="1325880"/>
            <a:ext cx="11183112" cy="1024128"/>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ما تجربه المعلمة — </a:t>
            </a:r>
            <a:r>
              <a:rPr sz="1500" b="1" i="0">
                <a:solidFill>
                  <a:srgbClr val="2BB3B1"/>
                </a:solidFill>
                <a:latin typeface="Segoe UI"/>
                <a:cs typeface="Segoe UI"/>
              </a:rPr>
              <a:t>دعم صفّي بسيط</a:t>
            </a:r>
          </a:p>
          <a:p>
            <a:pPr algn="r" rtl="1">
              <a:spcBef>
                <a:spcPts val="200"/>
              </a:spcBef>
            </a:pPr>
            <a:r>
              <a:rPr sz="1350" b="0" i="0">
                <a:solidFill>
                  <a:srgbClr val="2B2F38"/>
                </a:solidFill>
                <a:latin typeface="Segoe UI"/>
                <a:cs typeface="Segoe UI"/>
              </a:rPr>
              <a:t>تعليمات مجزأة ومرقمة ومكتوبة، قوائم تحقق للمهام، تقسيم العمل الكتابي إلى خطوات، وقت إضافي عند الحاجة، إتاحة الإجابة الشفهية أحيانًا، وتنبيه مسبق قبل الانتقالات.</a:t>
            </a:r>
          </a:p>
        </p:txBody>
      </p:sp>
      <p:sp>
        <p:nvSpPr>
          <p:cNvPr id="10" name="Rounded Rectangle 9"/>
          <p:cNvSpPr/>
          <p:nvPr/>
        </p:nvSpPr>
        <p:spPr>
          <a:xfrm>
            <a:off x="502920" y="2459736"/>
            <a:ext cx="11183112" cy="1024128"/>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التواصل مع الأسرة — </a:t>
            </a:r>
            <a:r>
              <a:rPr sz="1500" b="1" i="0">
                <a:solidFill>
                  <a:srgbClr val="1F3A93"/>
                </a:solidFill>
                <a:latin typeface="Segoe UI"/>
                <a:cs typeface="Segoe UI"/>
              </a:rPr>
              <a:t>شراكة مبكرة إيجابية</a:t>
            </a:r>
          </a:p>
          <a:p>
            <a:pPr algn="r" rtl="1">
              <a:spcBef>
                <a:spcPts val="200"/>
              </a:spcBef>
            </a:pPr>
            <a:r>
              <a:rPr sz="1350" b="0" i="0">
                <a:solidFill>
                  <a:srgbClr val="2B2F38"/>
                </a:solidFill>
                <a:latin typeface="Segoe UI"/>
                <a:cs typeface="Segoe UI"/>
              </a:rPr>
              <a:t>مكالمة تبدأ بنقاط القوة، ثم سؤال: هل تلاحظون شيئًا مشابهًا في الواجبات؟ وما الذي يساعده في المنزل؟ ثم اتفاق على خطوات بسيطة موحدة بين البيت والمدرسة.</a:t>
            </a:r>
          </a:p>
        </p:txBody>
      </p:sp>
      <p:sp>
        <p:nvSpPr>
          <p:cNvPr id="11" name="Rounded Rectangle 10"/>
          <p:cNvSpPr/>
          <p:nvPr/>
        </p:nvSpPr>
        <p:spPr>
          <a:xfrm>
            <a:off x="502920" y="3593592"/>
            <a:ext cx="11183112" cy="1024128"/>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المتابعة والأدلة — </a:t>
            </a:r>
            <a:r>
              <a:rPr sz="1500" b="1" i="0">
                <a:solidFill>
                  <a:srgbClr val="C9A227"/>
                </a:solidFill>
                <a:latin typeface="Segoe UI"/>
                <a:cs typeface="Segoe UI"/>
              </a:rPr>
              <a:t>أسبوعان ثم مراجعة</a:t>
            </a:r>
          </a:p>
          <a:p>
            <a:pPr algn="r" rtl="1">
              <a:spcBef>
                <a:spcPts val="200"/>
              </a:spcBef>
            </a:pPr>
            <a:r>
              <a:rPr sz="1350" b="0" i="0">
                <a:solidFill>
                  <a:srgbClr val="2B2F38"/>
                </a:solidFill>
                <a:latin typeface="Segoe UI"/>
                <a:cs typeface="Segoe UI"/>
              </a:rPr>
              <a:t>نسبة إتمام المهام، عدد مرات طلب إعادة التعليمات، عينات من العمل الكتابي، وملاحظات قصيرة مؤرخة — أدلة لا انطباعات.</a:t>
            </a:r>
          </a:p>
        </p:txBody>
      </p:sp>
      <p:sp>
        <p:nvSpPr>
          <p:cNvPr id="12" name="Rounded Rectangle 11"/>
          <p:cNvSpPr/>
          <p:nvPr/>
        </p:nvSpPr>
        <p:spPr>
          <a:xfrm>
            <a:off x="502920" y="4727448"/>
            <a:ext cx="11183112" cy="1024128"/>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متى دعم أوسع؟ — </a:t>
            </a:r>
            <a:r>
              <a:rPr sz="1500" b="1" i="0">
                <a:solidFill>
                  <a:srgbClr val="1F3A93"/>
                </a:solidFill>
                <a:latin typeface="Segoe UI"/>
                <a:cs typeface="Segoe UI"/>
              </a:rPr>
              <a:t>إذا استمر الأثر محدودًا</a:t>
            </a:r>
          </a:p>
          <a:p>
            <a:pPr algn="r" rtl="1">
              <a:spcBef>
                <a:spcPts val="200"/>
              </a:spcBef>
            </a:pPr>
            <a:r>
              <a:rPr sz="1350" b="0" i="0">
                <a:solidFill>
                  <a:srgbClr val="2B2F38"/>
                </a:solidFill>
                <a:latin typeface="Segoe UI"/>
                <a:cs typeface="Segoe UI"/>
              </a:rPr>
              <a:t>إذا لم يتحسن الأداء رغم الدعم الصفي المنتظم لعدة أسابيع، تُشرك المعلمة منسق الدعم أو الاختصاصي لتقييم أدق — مع استمرار الدعم الصفي لا إيقافه.</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11</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11</a:t>
            </a:r>
          </a:p>
          <a:p>
            <a:pPr algn="r" rtl="1">
              <a:spcBef>
                <a:spcPts val="600"/>
              </a:spcBef>
              <a:spcAft>
                <a:spcPts val="400"/>
              </a:spcAft>
            </a:pPr>
            <a:r>
              <a:rPr sz="4000" b="1" i="0">
                <a:solidFill>
                  <a:srgbClr val="FFFFFF"/>
                </a:solidFill>
                <a:latin typeface="Segoe UI"/>
                <a:cs typeface="Segoe UI"/>
              </a:rPr>
              <a:t>ماذا يمكنني أن أفعل غدًا؟</a:t>
            </a:r>
          </a:p>
          <a:p>
            <a:pPr algn="r" rtl="1">
              <a:spcBef>
                <a:spcPts val="400"/>
              </a:spcBef>
              <a:spcAft>
                <a:spcPts val="400"/>
              </a:spcAft>
            </a:pPr>
            <a:r>
              <a:rPr sz="1600" b="0" i="0">
                <a:solidFill>
                  <a:srgbClr val="E4F6F6"/>
                </a:solidFill>
                <a:latin typeface="Segoe UI"/>
                <a:cs typeface="Segoe UI"/>
              </a:rPr>
              <a:t>What Can I Do Tomorrow?</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من الأفكار إلى الالتزام الشخصي</a:t>
            </a:r>
          </a:p>
          <a:p>
            <a:pPr algn="r" rtl="1">
              <a:spcBef>
                <a:spcPts val="400"/>
              </a:spcBef>
            </a:pPr>
            <a:r>
              <a:rPr sz="1600" b="0" i="0">
                <a:solidFill>
                  <a:srgbClr val="FFFFFF"/>
                </a:solidFill>
                <a:latin typeface="Segoe UI"/>
                <a:cs typeface="Segoe UI"/>
              </a:rPr>
              <a:t>◂  أبدأ — أتوقف — أستمر — أتعلم</a:t>
            </a:r>
          </a:p>
          <a:p>
            <a:pPr algn="r" rtl="1">
              <a:spcBef>
                <a:spcPts val="400"/>
              </a:spcBef>
            </a:pPr>
            <a:r>
              <a:rPr sz="1600" b="0" i="0">
                <a:solidFill>
                  <a:srgbClr val="FFFFFF"/>
                </a:solidFill>
                <a:latin typeface="Segoe UI"/>
                <a:cs typeface="Segoe UI"/>
              </a:rPr>
              <a:t>◂  خطة عملي الشخصية في كراسة المشارك</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11 — خطة العمل</a:t>
            </a:r>
          </a:p>
          <a:p>
            <a:pPr algn="r" rtl="1">
              <a:spcBef>
                <a:spcPts val="0"/>
              </a:spcBef>
              <a:spcAft>
                <a:spcPts val="0"/>
              </a:spcAft>
            </a:pPr>
            <a:r>
              <a:rPr sz="2800" b="1" i="0">
                <a:solidFill>
                  <a:srgbClr val="FFFFFF"/>
                </a:solidFill>
                <a:latin typeface="Segoe UI"/>
                <a:cs typeface="Segoe UI"/>
              </a:rPr>
              <a:t>التزامي الشخصي: أربعة قرارات</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51</a:t>
            </a:r>
          </a:p>
        </p:txBody>
      </p:sp>
      <p:sp>
        <p:nvSpPr>
          <p:cNvPr id="9" name="Rounded Rectangle 8"/>
          <p:cNvSpPr/>
          <p:nvPr/>
        </p:nvSpPr>
        <p:spPr>
          <a:xfrm>
            <a:off x="6208776" y="1371600"/>
            <a:ext cx="5477256" cy="2331720"/>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b" wrap="square" lIns="152400" rIns="152400" bIns="152400"/>
          <a:lstStyle/>
          <a:p>
            <a:pPr algn="r" rtl="1"/>
            <a:r>
              <a:rPr sz="1600" b="1" i="0">
                <a:solidFill>
                  <a:srgbClr val="2B2F38"/>
                </a:solidFill>
                <a:latin typeface="Segoe UI"/>
                <a:cs typeface="Segoe UI"/>
              </a:rPr>
              <a:t>شيء واحد جديد سأبدأ بفعله</a:t>
            </a:r>
          </a:p>
          <a:p>
            <a:pPr algn="r" rtl="1">
              <a:spcBef>
                <a:spcPts val="400"/>
              </a:spcBef>
            </a:pPr>
            <a:r>
              <a:rPr sz="1350" b="0" i="0">
                <a:solidFill>
                  <a:srgbClr val="6B7280"/>
                </a:solidFill>
                <a:latin typeface="Segoe UI"/>
                <a:cs typeface="Segoe UI"/>
              </a:rPr>
              <a:t>مثال: سأعرض التعليمات مكتوبة ومسموعة في كل حصة</a:t>
            </a:r>
          </a:p>
        </p:txBody>
      </p:sp>
      <p:sp>
        <p:nvSpPr>
          <p:cNvPr id="10" name="Rounded Rectangle 9"/>
          <p:cNvSpPr/>
          <p:nvPr/>
        </p:nvSpPr>
        <p:spPr>
          <a:xfrm>
            <a:off x="9765792" y="1536192"/>
            <a:ext cx="1737360" cy="5486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سأبدأ</a:t>
            </a:r>
          </a:p>
        </p:txBody>
      </p:sp>
      <p:sp>
        <p:nvSpPr>
          <p:cNvPr id="11" name="Rounded Rectangle 10"/>
          <p:cNvSpPr/>
          <p:nvPr/>
        </p:nvSpPr>
        <p:spPr>
          <a:xfrm>
            <a:off x="502920" y="1371600"/>
            <a:ext cx="5477256" cy="2331720"/>
          </a:xfrm>
          <a:prstGeom prst="roundRect">
            <a:avLst>
              <a:gd name="adj" fmla="val 8000"/>
            </a:avLst>
          </a:prstGeom>
          <a:solidFill>
            <a:srgbClr val="FFFFFF"/>
          </a:solidFill>
          <a:ln w="12700">
            <a:solidFill>
              <a:srgbClr val="B03333"/>
            </a:solidFill>
          </a:ln>
          <a:effectLst/>
        </p:spPr>
        <p:style>
          <a:lnRef idx="1">
            <a:schemeClr val="accent1"/>
          </a:lnRef>
          <a:fillRef idx="3">
            <a:schemeClr val="accent1"/>
          </a:fillRef>
          <a:effectRef idx="2">
            <a:schemeClr val="accent1"/>
          </a:effectRef>
          <a:fontRef idx="minor">
            <a:schemeClr val="lt1"/>
          </a:fontRef>
        </p:style>
        <p:txBody>
          <a:bodyPr rtlCol="0" anchor="b" wrap="square" lIns="152400" rIns="152400" bIns="152400"/>
          <a:lstStyle/>
          <a:p>
            <a:pPr algn="r" rtl="1"/>
            <a:r>
              <a:rPr sz="1600" b="1" i="0">
                <a:solidFill>
                  <a:srgbClr val="2B2F38"/>
                </a:solidFill>
                <a:latin typeface="Segoe UI"/>
                <a:cs typeface="Segoe UI"/>
              </a:rPr>
              <a:t>شيء واحد سأتوقف عن فعله</a:t>
            </a:r>
          </a:p>
          <a:p>
            <a:pPr algn="r" rtl="1">
              <a:spcBef>
                <a:spcPts val="400"/>
              </a:spcBef>
            </a:pPr>
            <a:r>
              <a:rPr sz="1350" b="0" i="0">
                <a:solidFill>
                  <a:srgbClr val="6B7280"/>
                </a:solidFill>
                <a:latin typeface="Segoe UI"/>
                <a:cs typeface="Segoe UI"/>
              </a:rPr>
              <a:t>مثال: سأتوقف عن إجبار الطلاب على القراءة الجهرية أمام الجميع</a:t>
            </a:r>
          </a:p>
        </p:txBody>
      </p:sp>
      <p:sp>
        <p:nvSpPr>
          <p:cNvPr id="12" name="Rounded Rectangle 11"/>
          <p:cNvSpPr/>
          <p:nvPr/>
        </p:nvSpPr>
        <p:spPr>
          <a:xfrm>
            <a:off x="4059936" y="1536192"/>
            <a:ext cx="1737360" cy="548640"/>
          </a:xfrm>
          <a:prstGeom prst="roundRect">
            <a:avLst>
              <a:gd name="adj" fmla="val 8000"/>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سأتوقف</a:t>
            </a:r>
          </a:p>
        </p:txBody>
      </p:sp>
      <p:sp>
        <p:nvSpPr>
          <p:cNvPr id="13" name="Rounded Rectangle 12"/>
          <p:cNvSpPr/>
          <p:nvPr/>
        </p:nvSpPr>
        <p:spPr>
          <a:xfrm>
            <a:off x="6208776" y="3904487"/>
            <a:ext cx="5477256" cy="2331720"/>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b" wrap="square" lIns="152400" rIns="152400" bIns="152400"/>
          <a:lstStyle/>
          <a:p>
            <a:pPr algn="r" rtl="1"/>
            <a:r>
              <a:rPr sz="1600" b="1" i="0">
                <a:solidFill>
                  <a:srgbClr val="2B2F38"/>
                </a:solidFill>
                <a:latin typeface="Segoe UI"/>
                <a:cs typeface="Segoe UI"/>
              </a:rPr>
              <a:t>ممارسة جيدة أفعلها وسأحافظ عليها</a:t>
            </a:r>
          </a:p>
          <a:p>
            <a:pPr algn="r" rtl="1">
              <a:spcBef>
                <a:spcPts val="400"/>
              </a:spcBef>
            </a:pPr>
            <a:r>
              <a:rPr sz="1350" b="0" i="0">
                <a:solidFill>
                  <a:srgbClr val="6B7280"/>
                </a:solidFill>
                <a:latin typeface="Segoe UI"/>
                <a:cs typeface="Segoe UI"/>
              </a:rPr>
              <a:t>مثال: سأستمر في الترحيب بكل طالب بالاسم صباحًا</a:t>
            </a:r>
          </a:p>
        </p:txBody>
      </p:sp>
      <p:sp>
        <p:nvSpPr>
          <p:cNvPr id="14" name="Rounded Rectangle 13"/>
          <p:cNvSpPr/>
          <p:nvPr/>
        </p:nvSpPr>
        <p:spPr>
          <a:xfrm>
            <a:off x="9765792" y="4069079"/>
            <a:ext cx="1737360" cy="5486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سأستمر</a:t>
            </a:r>
          </a:p>
        </p:txBody>
      </p:sp>
      <p:sp>
        <p:nvSpPr>
          <p:cNvPr id="15" name="Rounded Rectangle 14"/>
          <p:cNvSpPr/>
          <p:nvPr/>
        </p:nvSpPr>
        <p:spPr>
          <a:xfrm>
            <a:off x="502920" y="3904487"/>
            <a:ext cx="5477256" cy="2331720"/>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b" wrap="square" lIns="152400" rIns="152400" bIns="152400"/>
          <a:lstStyle/>
          <a:p>
            <a:pPr algn="r" rtl="1"/>
            <a:r>
              <a:rPr sz="1600" b="1" i="0">
                <a:solidFill>
                  <a:srgbClr val="2B2F38"/>
                </a:solidFill>
                <a:latin typeface="Segoe UI"/>
                <a:cs typeface="Segoe UI"/>
              </a:rPr>
              <a:t>موضوع أحتاج أن أتعلم عنه أكثر</a:t>
            </a:r>
          </a:p>
          <a:p>
            <a:pPr algn="r" rtl="1">
              <a:spcBef>
                <a:spcPts val="400"/>
              </a:spcBef>
            </a:pPr>
            <a:r>
              <a:rPr sz="1350" b="0" i="0">
                <a:solidFill>
                  <a:srgbClr val="6B7280"/>
                </a:solidFill>
                <a:latin typeface="Segoe UI"/>
                <a:cs typeface="Segoe UI"/>
              </a:rPr>
              <a:t>مثال: أريد فهم التمايز في التدريس بعمق أكبر</a:t>
            </a:r>
          </a:p>
        </p:txBody>
      </p:sp>
      <p:sp>
        <p:nvSpPr>
          <p:cNvPr id="16" name="Rounded Rectangle 15"/>
          <p:cNvSpPr/>
          <p:nvPr/>
        </p:nvSpPr>
        <p:spPr>
          <a:xfrm>
            <a:off x="4059936" y="4069079"/>
            <a:ext cx="173736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162B6B"/>
                </a:solidFill>
                <a:latin typeface="Segoe UI"/>
                <a:cs typeface="Segoe UI"/>
              </a:rPr>
              <a:t>سأتعلم</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11 — نشاط ختامي</a:t>
            </a:r>
          </a:p>
          <a:p>
            <a:pPr algn="r" rtl="1">
              <a:spcBef>
                <a:spcPts val="0"/>
              </a:spcBef>
              <a:spcAft>
                <a:spcPts val="0"/>
              </a:spcAft>
            </a:pPr>
            <a:r>
              <a:rPr sz="2800" b="1" i="0">
                <a:solidFill>
                  <a:srgbClr val="FFFFFF"/>
                </a:solidFill>
                <a:latin typeface="Segoe UI"/>
                <a:cs typeface="Segoe UI"/>
              </a:rPr>
              <a:t>خطة عملي الشخصية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52</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خطة عمل</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افتح ورقة العمل (9) وأكمل خطة عملك:
قراراتك الأربعة + مع من ستتعاون + متى ستراجع تقدمك</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اجعل التزامك محددًا وقابلًا للتنفيذ خلال أسبوعين. ستراجع هذه الخطة بنفسك في الموعد الذي تحدده.</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12</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12</a:t>
            </a:r>
          </a:p>
          <a:p>
            <a:pPr algn="r" rtl="1">
              <a:spcBef>
                <a:spcPts val="600"/>
              </a:spcBef>
              <a:spcAft>
                <a:spcPts val="400"/>
              </a:spcAft>
            </a:pPr>
            <a:r>
              <a:rPr sz="4000" b="1" i="0">
                <a:solidFill>
                  <a:srgbClr val="FFFFFF"/>
                </a:solidFill>
                <a:latin typeface="Segoe UI"/>
                <a:cs typeface="Segoe UI"/>
              </a:rPr>
              <a:t>الاختبار الختامي</a:t>
            </a:r>
          </a:p>
          <a:p>
            <a:pPr algn="r" rtl="1">
              <a:spcBef>
                <a:spcPts val="400"/>
              </a:spcBef>
              <a:spcAft>
                <a:spcPts val="400"/>
              </a:spcAft>
            </a:pPr>
            <a:r>
              <a:rPr sz="1600" b="0" i="0">
                <a:solidFill>
                  <a:srgbClr val="E4F6F6"/>
                </a:solidFill>
                <a:latin typeface="Segoe UI"/>
                <a:cs typeface="Segoe UI"/>
              </a:rPr>
              <a:t>Final Knowledge Check</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12 سؤالًا: اختيار من متعدد، صواب وخطأ، ومواقف</a:t>
            </a:r>
          </a:p>
          <a:p>
            <a:pPr algn="r" rtl="1">
              <a:spcBef>
                <a:spcPts val="400"/>
              </a:spcBef>
            </a:pPr>
            <a:r>
              <a:rPr sz="1600" b="0" i="0">
                <a:solidFill>
                  <a:srgbClr val="FFFFFF"/>
                </a:solidFill>
                <a:latin typeface="Segoe UI"/>
                <a:cs typeface="Segoe UI"/>
              </a:rPr>
              <a:t>◂  الأسئلة تقيس الفهم لا الحفظ</a:t>
            </a:r>
          </a:p>
          <a:p>
            <a:pPr algn="r" rtl="1">
              <a:spcBef>
                <a:spcPts val="400"/>
              </a:spcBef>
            </a:pPr>
            <a:r>
              <a:rPr sz="1600" b="0" i="0">
                <a:solidFill>
                  <a:srgbClr val="FFFFFF"/>
                </a:solidFill>
                <a:latin typeface="Segoe UI"/>
                <a:cs typeface="Segoe UI"/>
              </a:rPr>
              <a:t>◂  درجة الاجتياز المقترحة: 80%</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اختبار ختامي</a:t>
            </a:r>
          </a:p>
          <a:p>
            <a:pPr algn="r" rtl="1">
              <a:spcBef>
                <a:spcPts val="0"/>
              </a:spcBef>
              <a:spcAft>
                <a:spcPts val="0"/>
              </a:spcAft>
            </a:pPr>
            <a:r>
              <a:rPr sz="2800" b="1" i="0">
                <a:solidFill>
                  <a:srgbClr val="FFFFFF"/>
                </a:solidFill>
                <a:latin typeface="Segoe UI"/>
                <a:cs typeface="Segoe UI"/>
              </a:rPr>
              <a:t>الاختبار الختامي (1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54</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س1. </a:t>
            </a:r>
            <a:r>
              <a:rPr sz="1500" b="1" i="0">
                <a:solidFill>
                  <a:srgbClr val="1F3A93"/>
                </a:solidFill>
                <a:latin typeface="Segoe UI"/>
                <a:cs typeface="Segoe UI"/>
              </a:rPr>
              <a:t>التعليم الشامل يعني في جوهره:</a:t>
            </a:r>
          </a:p>
          <a:p>
            <a:pPr algn="r" rtl="1">
              <a:spcBef>
                <a:spcPts val="300"/>
              </a:spcBef>
            </a:pPr>
            <a:r>
              <a:rPr sz="1350" b="0" i="0">
                <a:solidFill>
                  <a:srgbClr val="2B2F38"/>
                </a:solidFill>
                <a:latin typeface="Segoe UI"/>
                <a:cs typeface="Segoe UI"/>
              </a:rPr>
              <a:t>أ) فتح صفوف خاصة داخل المدرسة   ب) أن تتكيف المدرسة مع تنوع طلابها ليتعلم الجميع ويشاركوا   ج) خفض مستوى المناهج   د) نقل الطلاب ذوي الاحتياجات إلى مدارس متخصصة</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س2. </a:t>
            </a:r>
            <a:r>
              <a:rPr sz="1500" b="1" i="0">
                <a:solidFill>
                  <a:srgbClr val="1F3A93"/>
                </a:solidFill>
                <a:latin typeface="Segoe UI"/>
                <a:cs typeface="Segoe UI"/>
              </a:rPr>
              <a:t>التعليم الشامل موجّه فقط للطلاب ذوي الإعاقة.</a:t>
            </a:r>
          </a:p>
          <a:p>
            <a:pPr algn="r" rtl="1">
              <a:spcBef>
                <a:spcPts val="300"/>
              </a:spcBef>
            </a:pPr>
            <a:r>
              <a:rPr sz="1350" b="0" i="0">
                <a:solidFill>
                  <a:srgbClr val="2B2F38"/>
                </a:solidFill>
                <a:latin typeface="Segoe UI"/>
                <a:cs typeface="Segoe UI"/>
              </a:rPr>
              <a:t>صواب / خطأ</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س3. </a:t>
            </a:r>
            <a:r>
              <a:rPr sz="1500" b="1" i="0">
                <a:solidFill>
                  <a:srgbClr val="1F3A93"/>
                </a:solidFill>
                <a:latin typeface="Segoe UI"/>
                <a:cs typeface="Segoe UI"/>
              </a:rPr>
              <a:t>أي مما يلي يصف «الإنصاف» بدقة؟</a:t>
            </a:r>
          </a:p>
          <a:p>
            <a:pPr algn="r" rtl="1">
              <a:spcBef>
                <a:spcPts val="300"/>
              </a:spcBef>
            </a:pPr>
            <a:r>
              <a:rPr sz="1350" b="0" i="0">
                <a:solidFill>
                  <a:srgbClr val="2B2F38"/>
                </a:solidFill>
                <a:latin typeface="Segoe UI"/>
                <a:cs typeface="Segoe UI"/>
              </a:rPr>
              <a:t>أ) إعطاء الجميع الشيء نفسه دائمًا   ب) إعفاء المتعثرين من المهام   ج) توفير ما يحتاجه كل متعلم ليشارك ويتعلم   د) تقليل التوقعات عن بعض الطلاب</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اختبار ختامي</a:t>
            </a:r>
          </a:p>
          <a:p>
            <a:pPr algn="r" rtl="1">
              <a:spcBef>
                <a:spcPts val="0"/>
              </a:spcBef>
              <a:spcAft>
                <a:spcPts val="0"/>
              </a:spcAft>
            </a:pPr>
            <a:r>
              <a:rPr sz="2800" b="1" i="0">
                <a:solidFill>
                  <a:srgbClr val="FFFFFF"/>
                </a:solidFill>
                <a:latin typeface="Segoe UI"/>
                <a:cs typeface="Segoe UI"/>
              </a:rPr>
              <a:t>الاختبار الختامي (2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55</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س4. </a:t>
            </a:r>
            <a:r>
              <a:rPr sz="1500" b="1" i="0">
                <a:solidFill>
                  <a:srgbClr val="1F3A93"/>
                </a:solidFill>
                <a:latin typeface="Segoe UI"/>
                <a:cs typeface="Segoe UI"/>
              </a:rPr>
              <a:t>طالب حاضر جسديًا في الصف لكنه لا يُدعى للمشاركة أبدًا. هذا الوضع:</a:t>
            </a:r>
          </a:p>
          <a:p>
            <a:pPr algn="r" rtl="1">
              <a:spcBef>
                <a:spcPts val="300"/>
              </a:spcBef>
            </a:pPr>
            <a:r>
              <a:rPr sz="1350" b="0" i="0">
                <a:solidFill>
                  <a:srgbClr val="2B2F38"/>
                </a:solidFill>
                <a:latin typeface="Segoe UI"/>
                <a:cs typeface="Segoe UI"/>
              </a:rPr>
              <a:t>أ) شمول كامل لأنه موجود مع أقرانه   ب) ليس شمولًا حقيقيًا لأن المشاركة والانتماء غائبان   ج) مقبول إذا كانت درجاته جيدة   د) مسؤولية الطالب وحده</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س5. </a:t>
            </a:r>
            <a:r>
              <a:rPr sz="1500" b="1" i="0">
                <a:solidFill>
                  <a:srgbClr val="1F3A93"/>
                </a:solidFill>
                <a:latin typeface="Segoe UI"/>
                <a:cs typeface="Segoe UI"/>
              </a:rPr>
              <a:t>وجود اختلافات بين الطلاب في سرعة التعلم والانتباه واللغة أمر استثنائي يدل على وجود خلل في الصف.</a:t>
            </a:r>
          </a:p>
          <a:p>
            <a:pPr algn="r" rtl="1">
              <a:spcBef>
                <a:spcPts val="300"/>
              </a:spcBef>
            </a:pPr>
            <a:r>
              <a:rPr sz="1350" b="0" i="0">
                <a:solidFill>
                  <a:srgbClr val="2B2F38"/>
                </a:solidFill>
                <a:latin typeface="Segoe UI"/>
                <a:cs typeface="Segoe UI"/>
              </a:rPr>
              <a:t>صواب / خطأ</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س6. </a:t>
            </a:r>
            <a:r>
              <a:rPr sz="1500" b="1" i="0">
                <a:solidFill>
                  <a:srgbClr val="1F3A93"/>
                </a:solidFill>
                <a:latin typeface="Segoe UI"/>
                <a:cs typeface="Segoe UI"/>
              </a:rPr>
              <a:t>لاحظ معلم أن طالبًا يتعثر في القراءة. التصرف الأنسب أولًا:</a:t>
            </a:r>
          </a:p>
          <a:p>
            <a:pPr algn="r" rtl="1">
              <a:spcBef>
                <a:spcPts val="300"/>
              </a:spcBef>
            </a:pPr>
            <a:r>
              <a:rPr sz="1350" b="0" i="0">
                <a:solidFill>
                  <a:srgbClr val="2B2F38"/>
                </a:solidFill>
                <a:latin typeface="Segoe UI"/>
                <a:cs typeface="Segoe UI"/>
              </a:rPr>
              <a:t>أ) إخبار الأسرة بأن لديه صعوبات تعلم   ب) وصف الملاحظات وتجربة دعم صفّي بسيط ومتابعة أثره   ج) إعفاؤه من القراءة نهائيًا   د) انتظار نهاية الفصل لتأكيد المشكلة</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اختبار ختامي</a:t>
            </a:r>
          </a:p>
          <a:p>
            <a:pPr algn="r" rtl="1">
              <a:spcBef>
                <a:spcPts val="0"/>
              </a:spcBef>
              <a:spcAft>
                <a:spcPts val="0"/>
              </a:spcAft>
            </a:pPr>
            <a:r>
              <a:rPr sz="2800" b="1" i="0">
                <a:solidFill>
                  <a:srgbClr val="FFFFFF"/>
                </a:solidFill>
                <a:latin typeface="Segoe UI"/>
                <a:cs typeface="Segoe UI"/>
              </a:rPr>
              <a:t>الاختبار الختامي (3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56</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س7. </a:t>
            </a:r>
            <a:r>
              <a:rPr sz="1500" b="1" i="0">
                <a:solidFill>
                  <a:srgbClr val="1F3A93"/>
                </a:solidFill>
                <a:latin typeface="Segoe UI"/>
                <a:cs typeface="Segoe UI"/>
              </a:rPr>
              <a:t>منحت المعلمة طالبًا بطيء الكتابة إمكانية تقديم الإجابة شفهيًا في مهمة هدفها فهم المحتوى. هذا مثال على:</a:t>
            </a:r>
          </a:p>
          <a:p>
            <a:pPr algn="r" rtl="1">
              <a:spcBef>
                <a:spcPts val="300"/>
              </a:spcBef>
            </a:pPr>
            <a:r>
              <a:rPr sz="1350" b="0" i="0">
                <a:solidFill>
                  <a:srgbClr val="2B2F38"/>
                </a:solidFill>
                <a:latin typeface="Segoe UI"/>
                <a:cs typeface="Segoe UI"/>
              </a:rPr>
              <a:t>أ) محاباة غير عادلة   ب) خفض للمستوى   ج) مواءمة منصفة تحافظ على الهدف التعليمي   د) مساواة</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س8. </a:t>
            </a:r>
            <a:r>
              <a:rPr sz="1500" b="1" i="0">
                <a:solidFill>
                  <a:srgbClr val="1F3A93"/>
                </a:solidFill>
                <a:latin typeface="Segoe UI"/>
                <a:cs typeface="Segoe UI"/>
              </a:rPr>
              <a:t>الشمول في المدرسة مسؤولية:</a:t>
            </a:r>
          </a:p>
          <a:p>
            <a:pPr algn="r" rtl="1">
              <a:spcBef>
                <a:spcPts val="300"/>
              </a:spcBef>
            </a:pPr>
            <a:r>
              <a:rPr sz="1350" b="0" i="0">
                <a:solidFill>
                  <a:srgbClr val="2B2F38"/>
                </a:solidFill>
                <a:latin typeface="Segoe UI"/>
                <a:cs typeface="Segoe UI"/>
              </a:rPr>
              <a:t>أ) معلم التربية الخاصة فقط   ب) إدارة المدرسة فقط   ج) الأسرة فقط   د) مسؤولية مشتركة بين القيادة والمعلمين والاختصاصيين والأسر والطلاب</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س9. </a:t>
            </a:r>
            <a:r>
              <a:rPr sz="1500" b="1" i="0">
                <a:solidFill>
                  <a:srgbClr val="1F3A93"/>
                </a:solidFill>
                <a:latin typeface="Segoe UI"/>
                <a:cs typeface="Segoe UI"/>
              </a:rPr>
              <a:t>خفض التوقعات الأكاديمية بشكل دائم عن طالب متعثر يُعد شكلًا من أشكال الإنصاف.</a:t>
            </a:r>
          </a:p>
          <a:p>
            <a:pPr algn="r" rtl="1">
              <a:spcBef>
                <a:spcPts val="300"/>
              </a:spcBef>
            </a:pPr>
            <a:r>
              <a:rPr sz="1350" b="0" i="0">
                <a:solidFill>
                  <a:srgbClr val="2B2F38"/>
                </a:solidFill>
                <a:latin typeface="Segoe UI"/>
                <a:cs typeface="Segoe UI"/>
              </a:rPr>
              <a:t>صواب / خطأ</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اختبار ختامي</a:t>
            </a:r>
          </a:p>
          <a:p>
            <a:pPr algn="r" rtl="1">
              <a:spcBef>
                <a:spcPts val="0"/>
              </a:spcBef>
              <a:spcAft>
                <a:spcPts val="0"/>
              </a:spcAft>
            </a:pPr>
            <a:r>
              <a:rPr sz="2800" b="1" i="0">
                <a:solidFill>
                  <a:srgbClr val="FFFFFF"/>
                </a:solidFill>
                <a:latin typeface="Segoe UI"/>
                <a:cs typeface="Segoe UI"/>
              </a:rPr>
              <a:t>الاختبار الختامي (4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57</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س10. </a:t>
            </a:r>
            <a:r>
              <a:rPr sz="1500" b="1" i="0">
                <a:solidFill>
                  <a:srgbClr val="1F3A93"/>
                </a:solidFill>
                <a:latin typeface="Segoe UI"/>
                <a:cs typeface="Segoe UI"/>
              </a:rPr>
              <a:t>في دورة العمل البسيطة، الخطوة التي تلي «ادعم» مباشرة هي:</a:t>
            </a:r>
          </a:p>
          <a:p>
            <a:pPr algn="r" rtl="1">
              <a:spcBef>
                <a:spcPts val="300"/>
              </a:spcBef>
            </a:pPr>
            <a:r>
              <a:rPr sz="1350" b="0" i="0">
                <a:solidFill>
                  <a:srgbClr val="2B2F38"/>
                </a:solidFill>
                <a:latin typeface="Segoe UI"/>
                <a:cs typeface="Segoe UI"/>
              </a:rPr>
              <a:t>أ) قرر   ب) تابع   ج) لاحظ   د) افهم</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س11. </a:t>
            </a:r>
            <a:r>
              <a:rPr sz="1500" b="1" i="0">
                <a:solidFill>
                  <a:srgbClr val="1F3A93"/>
                </a:solidFill>
                <a:latin typeface="Segoe UI"/>
                <a:cs typeface="Segoe UI"/>
              </a:rPr>
              <a:t>أفضل دليل على نجاح إجراء دعم صفّي هو:</a:t>
            </a:r>
          </a:p>
          <a:p>
            <a:pPr algn="r" rtl="1">
              <a:spcBef>
                <a:spcPts val="300"/>
              </a:spcBef>
            </a:pPr>
            <a:r>
              <a:rPr sz="1350" b="0" i="0">
                <a:solidFill>
                  <a:srgbClr val="2B2F38"/>
                </a:solidFill>
                <a:latin typeface="Segoe UI"/>
                <a:cs typeface="Segoe UI"/>
              </a:rPr>
              <a:t>أ) شعور المعلم بالرضا   ب) هدوء الطالب   ج) أدلة موثقة على تحسن المشاركة أو الأداء عبر الوقت   د) عدم شكوى الأسرة</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00" b="1" i="0">
                <a:solidFill>
                  <a:srgbClr val="C9A227"/>
                </a:solidFill>
                <a:latin typeface="Segoe UI"/>
                <a:cs typeface="Segoe UI"/>
              </a:rPr>
              <a:t>س12. </a:t>
            </a:r>
            <a:r>
              <a:rPr sz="1500" b="1" i="0">
                <a:solidFill>
                  <a:srgbClr val="1F3A93"/>
                </a:solidFill>
                <a:latin typeface="Segoe UI"/>
                <a:cs typeface="Segoe UI"/>
              </a:rPr>
              <a:t>معلمة قسّمت التعليمات إلى خطوات مكتوبة قصيرة لمساعدة طالب واحد، فلاحظت تحسن التنفيذ لدى معظم الصف. ماذا يوضح هذا الموقف؟</a:t>
            </a:r>
          </a:p>
          <a:p>
            <a:pPr algn="r" rtl="1">
              <a:spcBef>
                <a:spcPts val="300"/>
              </a:spcBef>
            </a:pPr>
            <a:r>
              <a:rPr sz="1350" b="0" i="0">
                <a:solidFill>
                  <a:srgbClr val="2B2F38"/>
                </a:solidFill>
                <a:latin typeface="Segoe UI"/>
                <a:cs typeface="Segoe UI"/>
              </a:rPr>
              <a:t>أ) إزالة الحواجز تفيد كثيرًا من المتعلمين لا طالبًا واحدًا   ب) بقية الطلاب كانوا مقصرين   ج) التعليمات المكتوبة تُستخدم للحالات الخاصة فقط   د) الصدفة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مفتاح الإجابة</a:t>
            </a:r>
          </a:p>
          <a:p>
            <a:pPr algn="r" rtl="1">
              <a:spcBef>
                <a:spcPts val="0"/>
              </a:spcBef>
              <a:spcAft>
                <a:spcPts val="0"/>
              </a:spcAft>
            </a:pPr>
            <a:r>
              <a:rPr sz="2800" b="1" i="0">
                <a:solidFill>
                  <a:srgbClr val="FFFFFF"/>
                </a:solidFill>
                <a:latin typeface="Segoe UI"/>
                <a:cs typeface="Segoe UI"/>
              </a:rPr>
              <a:t>إجابات الاختبار الختامي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58</a:t>
            </a:r>
          </a:p>
        </p:txBody>
      </p:sp>
      <p:sp>
        <p:nvSpPr>
          <p:cNvPr id="9" name="Rounded Rectangle 8"/>
          <p:cNvSpPr/>
          <p:nvPr/>
        </p:nvSpPr>
        <p:spPr>
          <a:xfrm>
            <a:off x="6190488" y="132588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 </a:t>
            </a:r>
            <a:r>
              <a:rPr sz="1350" b="1" i="0">
                <a:solidFill>
                  <a:srgbClr val="2BB3B1"/>
                </a:solidFill>
                <a:latin typeface="Segoe UI"/>
                <a:cs typeface="Segoe UI"/>
              </a:rPr>
              <a:t>ب — </a:t>
            </a:r>
            <a:r>
              <a:rPr sz="1250" b="0" i="0">
                <a:solidFill>
                  <a:srgbClr val="2B2F38"/>
                </a:solidFill>
                <a:latin typeface="Segoe UI"/>
                <a:cs typeface="Segoe UI"/>
              </a:rPr>
              <a:t>الشمول = تكيّف المدرسة مع تنوع الطلاب</a:t>
            </a:r>
          </a:p>
        </p:txBody>
      </p:sp>
      <p:sp>
        <p:nvSpPr>
          <p:cNvPr id="10" name="Rounded Rectangle 9"/>
          <p:cNvSpPr/>
          <p:nvPr/>
        </p:nvSpPr>
        <p:spPr>
          <a:xfrm>
            <a:off x="502920" y="132588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س2: </a:t>
            </a:r>
            <a:r>
              <a:rPr sz="1350" b="1" i="0">
                <a:solidFill>
                  <a:srgbClr val="C9A227"/>
                </a:solidFill>
                <a:latin typeface="Segoe UI"/>
                <a:cs typeface="Segoe UI"/>
              </a:rPr>
              <a:t>خطأ — </a:t>
            </a:r>
            <a:r>
              <a:rPr sz="1250" b="0" i="0">
                <a:solidFill>
                  <a:srgbClr val="2B2F38"/>
                </a:solidFill>
                <a:latin typeface="Segoe UI"/>
                <a:cs typeface="Segoe UI"/>
              </a:rPr>
              <a:t>الشمول لجميع الطلاب، والإعاقة جزء من الصورة لا كلها</a:t>
            </a:r>
          </a:p>
        </p:txBody>
      </p:sp>
      <p:sp>
        <p:nvSpPr>
          <p:cNvPr id="11" name="Rounded Rectangle 10"/>
          <p:cNvSpPr/>
          <p:nvPr/>
        </p:nvSpPr>
        <p:spPr>
          <a:xfrm>
            <a:off x="6190488" y="217170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س3: </a:t>
            </a:r>
            <a:r>
              <a:rPr sz="1350" b="1" i="0">
                <a:solidFill>
                  <a:srgbClr val="2BB3B1"/>
                </a:solidFill>
                <a:latin typeface="Segoe UI"/>
                <a:cs typeface="Segoe UI"/>
              </a:rPr>
              <a:t>ج — </a:t>
            </a:r>
            <a:r>
              <a:rPr sz="1250" b="0" i="0">
                <a:solidFill>
                  <a:srgbClr val="2B2F38"/>
                </a:solidFill>
                <a:latin typeface="Segoe UI"/>
                <a:cs typeface="Segoe UI"/>
              </a:rPr>
              <a:t>الإنصاف = توفير ما يحتاجه كل متعلم</a:t>
            </a:r>
          </a:p>
        </p:txBody>
      </p:sp>
      <p:sp>
        <p:nvSpPr>
          <p:cNvPr id="12" name="Rounded Rectangle 11"/>
          <p:cNvSpPr/>
          <p:nvPr/>
        </p:nvSpPr>
        <p:spPr>
          <a:xfrm>
            <a:off x="502920" y="217170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س4: </a:t>
            </a:r>
            <a:r>
              <a:rPr sz="1350" b="1" i="0">
                <a:solidFill>
                  <a:srgbClr val="C9A227"/>
                </a:solidFill>
                <a:latin typeface="Segoe UI"/>
                <a:cs typeface="Segoe UI"/>
              </a:rPr>
              <a:t>ب — </a:t>
            </a:r>
            <a:r>
              <a:rPr sz="1250" b="0" i="0">
                <a:solidFill>
                  <a:srgbClr val="2B2F38"/>
                </a:solidFill>
                <a:latin typeface="Segoe UI"/>
                <a:cs typeface="Segoe UI"/>
              </a:rPr>
              <a:t>الحضور بلا مشاركة وانتماء ليس شمولًا</a:t>
            </a:r>
          </a:p>
        </p:txBody>
      </p:sp>
      <p:sp>
        <p:nvSpPr>
          <p:cNvPr id="13" name="Rounded Rectangle 12"/>
          <p:cNvSpPr/>
          <p:nvPr/>
        </p:nvSpPr>
        <p:spPr>
          <a:xfrm>
            <a:off x="6190488" y="301752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س5: </a:t>
            </a:r>
            <a:r>
              <a:rPr sz="1350" b="1" i="0">
                <a:solidFill>
                  <a:srgbClr val="2BB3B1"/>
                </a:solidFill>
                <a:latin typeface="Segoe UI"/>
                <a:cs typeface="Segoe UI"/>
              </a:rPr>
              <a:t>خطأ — </a:t>
            </a:r>
            <a:r>
              <a:rPr sz="1250" b="0" i="0">
                <a:solidFill>
                  <a:srgbClr val="2B2F38"/>
                </a:solidFill>
                <a:latin typeface="Segoe UI"/>
                <a:cs typeface="Segoe UI"/>
              </a:rPr>
              <a:t>التنوع سمة طبيعية لكل صف</a:t>
            </a:r>
          </a:p>
        </p:txBody>
      </p:sp>
      <p:sp>
        <p:nvSpPr>
          <p:cNvPr id="14" name="Rounded Rectangle 13"/>
          <p:cNvSpPr/>
          <p:nvPr/>
        </p:nvSpPr>
        <p:spPr>
          <a:xfrm>
            <a:off x="502920" y="301752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س6: </a:t>
            </a:r>
            <a:r>
              <a:rPr sz="1350" b="1" i="0">
                <a:solidFill>
                  <a:srgbClr val="C9A227"/>
                </a:solidFill>
                <a:latin typeface="Segoe UI"/>
                <a:cs typeface="Segoe UI"/>
              </a:rPr>
              <a:t>ب — </a:t>
            </a:r>
            <a:r>
              <a:rPr sz="1250" b="0" i="0">
                <a:solidFill>
                  <a:srgbClr val="2B2F38"/>
                </a:solidFill>
                <a:latin typeface="Segoe UI"/>
                <a:cs typeface="Segoe UI"/>
              </a:rPr>
              <a:t>صِف ولاحظ وجرّب الدعم — لا تشخّص</a:t>
            </a:r>
          </a:p>
        </p:txBody>
      </p:sp>
      <p:sp>
        <p:nvSpPr>
          <p:cNvPr id="15" name="Rounded Rectangle 14"/>
          <p:cNvSpPr/>
          <p:nvPr/>
        </p:nvSpPr>
        <p:spPr>
          <a:xfrm>
            <a:off x="6190488" y="3863339"/>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س7: </a:t>
            </a:r>
            <a:r>
              <a:rPr sz="1350" b="1" i="0">
                <a:solidFill>
                  <a:srgbClr val="2BB3B1"/>
                </a:solidFill>
                <a:latin typeface="Segoe UI"/>
                <a:cs typeface="Segoe UI"/>
              </a:rPr>
              <a:t>ج — </a:t>
            </a:r>
            <a:r>
              <a:rPr sz="1250" b="0" i="0">
                <a:solidFill>
                  <a:srgbClr val="2B2F38"/>
                </a:solidFill>
                <a:latin typeface="Segoe UI"/>
                <a:cs typeface="Segoe UI"/>
              </a:rPr>
              <a:t>مواءمة تحفظ الهدف وتغيّر الوسيلة</a:t>
            </a:r>
          </a:p>
        </p:txBody>
      </p:sp>
      <p:sp>
        <p:nvSpPr>
          <p:cNvPr id="16" name="Rounded Rectangle 15"/>
          <p:cNvSpPr/>
          <p:nvPr/>
        </p:nvSpPr>
        <p:spPr>
          <a:xfrm>
            <a:off x="502920" y="3863339"/>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س8: </a:t>
            </a:r>
            <a:r>
              <a:rPr sz="1350" b="1" i="0">
                <a:solidFill>
                  <a:srgbClr val="C9A227"/>
                </a:solidFill>
                <a:latin typeface="Segoe UI"/>
                <a:cs typeface="Segoe UI"/>
              </a:rPr>
              <a:t>د — </a:t>
            </a:r>
            <a:r>
              <a:rPr sz="1250" b="0" i="0">
                <a:solidFill>
                  <a:srgbClr val="2B2F38"/>
                </a:solidFill>
                <a:latin typeface="Segoe UI"/>
                <a:cs typeface="Segoe UI"/>
              </a:rPr>
              <a:t>الشمول مسؤولية مشتركة</a:t>
            </a:r>
          </a:p>
        </p:txBody>
      </p:sp>
      <p:sp>
        <p:nvSpPr>
          <p:cNvPr id="17" name="Rounded Rectangle 16"/>
          <p:cNvSpPr/>
          <p:nvPr/>
        </p:nvSpPr>
        <p:spPr>
          <a:xfrm>
            <a:off x="6190488" y="4709159"/>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س9: </a:t>
            </a:r>
            <a:r>
              <a:rPr sz="1350" b="1" i="0">
                <a:solidFill>
                  <a:srgbClr val="2BB3B1"/>
                </a:solidFill>
                <a:latin typeface="Segoe UI"/>
                <a:cs typeface="Segoe UI"/>
              </a:rPr>
              <a:t>خطأ — </a:t>
            </a:r>
            <a:r>
              <a:rPr sz="1250" b="0" i="0">
                <a:solidFill>
                  <a:srgbClr val="2B2F38"/>
                </a:solidFill>
                <a:latin typeface="Segoe UI"/>
                <a:cs typeface="Segoe UI"/>
              </a:rPr>
              <a:t>خفض التوقعات الدائم استبعاد ناعم</a:t>
            </a:r>
          </a:p>
        </p:txBody>
      </p:sp>
      <p:sp>
        <p:nvSpPr>
          <p:cNvPr id="18" name="Rounded Rectangle 17"/>
          <p:cNvSpPr/>
          <p:nvPr/>
        </p:nvSpPr>
        <p:spPr>
          <a:xfrm>
            <a:off x="502920" y="4709159"/>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س10: </a:t>
            </a:r>
            <a:r>
              <a:rPr sz="1350" b="1" i="0">
                <a:solidFill>
                  <a:srgbClr val="C9A227"/>
                </a:solidFill>
                <a:latin typeface="Segoe UI"/>
                <a:cs typeface="Segoe UI"/>
              </a:rPr>
              <a:t>ب — </a:t>
            </a:r>
            <a:r>
              <a:rPr sz="1250" b="0" i="0">
                <a:solidFill>
                  <a:srgbClr val="2B2F38"/>
                </a:solidFill>
                <a:latin typeface="Segoe UI"/>
                <a:cs typeface="Segoe UI"/>
              </a:rPr>
              <a:t>لاحظ ← افهم ← ادعم ← تابع ← قرر</a:t>
            </a:r>
          </a:p>
        </p:txBody>
      </p:sp>
      <p:sp>
        <p:nvSpPr>
          <p:cNvPr id="19" name="Rounded Rectangle 18"/>
          <p:cNvSpPr/>
          <p:nvPr/>
        </p:nvSpPr>
        <p:spPr>
          <a:xfrm>
            <a:off x="6190488" y="555498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س11: </a:t>
            </a:r>
            <a:r>
              <a:rPr sz="1350" b="1" i="0">
                <a:solidFill>
                  <a:srgbClr val="2BB3B1"/>
                </a:solidFill>
                <a:latin typeface="Segoe UI"/>
                <a:cs typeface="Segoe UI"/>
              </a:rPr>
              <a:t>ج — </a:t>
            </a:r>
            <a:r>
              <a:rPr sz="1250" b="0" i="0">
                <a:solidFill>
                  <a:srgbClr val="2B2F38"/>
                </a:solidFill>
                <a:latin typeface="Segoe UI"/>
                <a:cs typeface="Segoe UI"/>
              </a:rPr>
              <a:t>القرار يُبنى على أدلة موثقة</a:t>
            </a:r>
          </a:p>
        </p:txBody>
      </p:sp>
      <p:sp>
        <p:nvSpPr>
          <p:cNvPr id="20" name="Rounded Rectangle 19"/>
          <p:cNvSpPr/>
          <p:nvPr/>
        </p:nvSpPr>
        <p:spPr>
          <a:xfrm>
            <a:off x="502920" y="555498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س12: </a:t>
            </a:r>
            <a:r>
              <a:rPr sz="1350" b="1" i="0">
                <a:solidFill>
                  <a:srgbClr val="C9A227"/>
                </a:solidFill>
                <a:latin typeface="Segoe UI"/>
                <a:cs typeface="Segoe UI"/>
              </a:rPr>
              <a:t>أ — </a:t>
            </a:r>
            <a:r>
              <a:rPr sz="1250" b="0" i="0">
                <a:solidFill>
                  <a:srgbClr val="2B2F38"/>
                </a:solidFill>
                <a:latin typeface="Segoe UI"/>
                <a:cs typeface="Segoe UI"/>
              </a:rPr>
              <a:t>إزالة حاجز واحد تفيد كثيرين</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13</a:t>
            </a:r>
          </a:p>
          <a:p>
            <a:pPr algn="r" rtl="1">
              <a:spcBef>
                <a:spcPts val="0"/>
              </a:spcBef>
              <a:spcAft>
                <a:spcPts val="0"/>
              </a:spcAft>
            </a:pPr>
            <a:r>
              <a:rPr sz="2800" b="1" i="0">
                <a:solidFill>
                  <a:srgbClr val="FFFFFF"/>
                </a:solidFill>
                <a:latin typeface="Segoe UI"/>
                <a:cs typeface="Segoe UI"/>
              </a:rPr>
              <a:t>تأمل ختامي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59</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تأمل فردي</a:t>
            </a:r>
          </a:p>
        </p:txBody>
      </p:sp>
      <p:sp>
        <p:nvSpPr>
          <p:cNvPr id="10" name="Rounded Rectangle 9"/>
          <p:cNvSpPr/>
          <p:nvPr/>
        </p:nvSpPr>
        <p:spPr>
          <a:xfrm>
            <a:off x="502920" y="1965960"/>
            <a:ext cx="11183112" cy="9601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700" b="1" i="0">
                <a:solidFill>
                  <a:srgbClr val="C9A227"/>
                </a:solidFill>
                <a:latin typeface="Segoe UI"/>
                <a:cs typeface="Segoe UI"/>
              </a:rPr>
              <a:t>1. </a:t>
            </a:r>
            <a:r>
              <a:rPr sz="1700" b="1" i="0">
                <a:solidFill>
                  <a:srgbClr val="1F3A93"/>
                </a:solidFill>
                <a:latin typeface="Segoe UI"/>
                <a:cs typeface="Segoe UI"/>
              </a:rPr>
              <a:t>ما الفكرة التي غيّرت فهمك أو عمّقته في هذه الدورة؟</a:t>
            </a:r>
          </a:p>
        </p:txBody>
      </p:sp>
      <p:sp>
        <p:nvSpPr>
          <p:cNvPr id="11" name="Rounded Rectangle 10"/>
          <p:cNvSpPr/>
          <p:nvPr/>
        </p:nvSpPr>
        <p:spPr>
          <a:xfrm>
            <a:off x="502920" y="3063239"/>
            <a:ext cx="11183112" cy="9601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700" b="1" i="0">
                <a:solidFill>
                  <a:srgbClr val="2BB3B1"/>
                </a:solidFill>
                <a:latin typeface="Segoe UI"/>
                <a:cs typeface="Segoe UI"/>
              </a:rPr>
              <a:t>2. </a:t>
            </a:r>
            <a:r>
              <a:rPr sz="1700" b="1" i="0">
                <a:solidFill>
                  <a:srgbClr val="1F3A93"/>
                </a:solidFill>
                <a:latin typeface="Segoe UI"/>
                <a:cs typeface="Segoe UI"/>
              </a:rPr>
              <a:t>ما الحاجز أمام الشمول الذي أصبحت تلاحظه بوضوح أكبر الآن؟</a:t>
            </a:r>
          </a:p>
        </p:txBody>
      </p:sp>
      <p:sp>
        <p:nvSpPr>
          <p:cNvPr id="12" name="Rounded Rectangle 11"/>
          <p:cNvSpPr/>
          <p:nvPr/>
        </p:nvSpPr>
        <p:spPr>
          <a:xfrm>
            <a:off x="502920" y="4160520"/>
            <a:ext cx="11183112" cy="9601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700" b="1" i="0">
                <a:solidFill>
                  <a:srgbClr val="C9A227"/>
                </a:solidFill>
                <a:latin typeface="Segoe UI"/>
                <a:cs typeface="Segoe UI"/>
              </a:rPr>
              <a:t>3. </a:t>
            </a:r>
            <a:r>
              <a:rPr sz="1700" b="1" i="0">
                <a:solidFill>
                  <a:srgbClr val="1F3A93"/>
                </a:solidFill>
                <a:latin typeface="Segoe UI"/>
                <a:cs typeface="Segoe UI"/>
              </a:rPr>
              <a:t>ما التغيير العملي الواحد الذي يمكنك إحداثه؟</a:t>
            </a:r>
          </a:p>
        </p:txBody>
      </p:sp>
      <p:sp>
        <p:nvSpPr>
          <p:cNvPr id="13" name="Rounded Rectangle 12"/>
          <p:cNvSpPr/>
          <p:nvPr/>
        </p:nvSpPr>
        <p:spPr>
          <a:xfrm>
            <a:off x="502920" y="5257800"/>
            <a:ext cx="11183112" cy="9601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700" b="1" i="0">
                <a:solidFill>
                  <a:srgbClr val="2BB3B1"/>
                </a:solidFill>
                <a:latin typeface="Segoe UI"/>
                <a:cs typeface="Segoe UI"/>
              </a:rPr>
              <a:t>4. </a:t>
            </a:r>
            <a:r>
              <a:rPr sz="1700" b="1" i="0">
                <a:solidFill>
                  <a:srgbClr val="1F3A93"/>
                </a:solidFill>
                <a:latin typeface="Segoe UI"/>
                <a:cs typeface="Segoe UI"/>
              </a:rPr>
              <a:t>من تحتاج أن تتعاون معه لتحقيق ذلك؟</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13248" y="777240"/>
            <a:ext cx="1371600" cy="137160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000" b="1" i="0">
                <a:solidFill>
                  <a:srgbClr val="162B6B"/>
                </a:solidFill>
                <a:latin typeface="Segoe UI"/>
                <a:cs typeface="Segoe UI"/>
              </a:rPr>
              <a:t>✓</a:t>
            </a:r>
          </a:p>
        </p:txBody>
      </p:sp>
      <p:sp>
        <p:nvSpPr>
          <p:cNvPr id="6" name="TextBox 5"/>
          <p:cNvSpPr txBox="1"/>
          <p:nvPr/>
        </p:nvSpPr>
        <p:spPr>
          <a:xfrm>
            <a:off x="822960" y="2377440"/>
            <a:ext cx="10515600" cy="1463040"/>
          </a:xfrm>
          <a:prstGeom prst="rect">
            <a:avLst/>
          </a:prstGeom>
          <a:noFill/>
        </p:spPr>
        <p:txBody>
          <a:bodyPr wrap="square" anchor="t" lIns="50800" rIns="50800" tIns="25400" bIns="25400">
            <a:spAutoFit/>
          </a:bodyPr>
          <a:lstStyle/>
          <a:p>
            <a:pPr algn="ctr" rtl="1">
              <a:spcBef>
                <a:spcPts val="400"/>
              </a:spcBef>
              <a:spcAft>
                <a:spcPts val="400"/>
              </a:spcAft>
            </a:pPr>
            <a:r>
              <a:rPr sz="4000" b="1" i="0">
                <a:solidFill>
                  <a:srgbClr val="FFFFFF"/>
                </a:solidFill>
                <a:latin typeface="Segoe UI"/>
                <a:cs typeface="Segoe UI"/>
              </a:rPr>
              <a:t>تهانينا! أكملت الدورة</a:t>
            </a:r>
          </a:p>
          <a:p>
            <a:pPr algn="ctr" rtl="1">
              <a:spcBef>
                <a:spcPts val="600"/>
              </a:spcBef>
              <a:spcAft>
                <a:spcPts val="400"/>
              </a:spcAft>
            </a:pPr>
            <a:r>
              <a:rPr sz="1700" b="0" i="0">
                <a:solidFill>
                  <a:srgbClr val="E4F6F6"/>
                </a:solidFill>
                <a:latin typeface="Segoe UI"/>
                <a:cs typeface="Segoe UI"/>
              </a:rPr>
              <a:t>التعليم الشامل والمدرسة الشاملة — الدورة الأولى في حزمة المدرسة الشاملة من مسار</a:t>
            </a:r>
          </a:p>
        </p:txBody>
      </p:sp>
      <p:sp>
        <p:nvSpPr>
          <p:cNvPr id="7" name="Rounded Rectangle 6"/>
          <p:cNvSpPr/>
          <p:nvPr/>
        </p:nvSpPr>
        <p:spPr>
          <a:xfrm>
            <a:off x="2011680" y="3977639"/>
            <a:ext cx="8138160" cy="137160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300"/>
              </a:spcAft>
            </a:pPr>
            <a:r>
              <a:rPr sz="1600" b="1" i="0">
                <a:solidFill>
                  <a:srgbClr val="C9A227"/>
                </a:solidFill>
                <a:latin typeface="Segoe UI"/>
                <a:cs typeface="Segoe UI"/>
              </a:rPr>
              <a:t>بيان الإتمام</a:t>
            </a:r>
          </a:p>
          <a:p>
            <a:pPr algn="ctr" rtl="1">
              <a:spcBef>
                <a:spcPts val="200"/>
              </a:spcBef>
              <a:spcAft>
                <a:spcPts val="200"/>
              </a:spcAft>
            </a:pPr>
            <a:r>
              <a:rPr sz="1400" b="0" i="0">
                <a:solidFill>
                  <a:srgbClr val="FFFFFF"/>
                </a:solidFill>
                <a:latin typeface="Segoe UI"/>
                <a:cs typeface="Segoe UI"/>
              </a:rPr>
              <a:t>أتممتُ هذه الدورة التوعوية التدريبية، وأفهم مفهوم التعليم الشامل ودوري في دعمه، وقد حددت التزامًا عمليًا سأبدأ به في مدرستي.</a:t>
            </a:r>
          </a:p>
        </p:txBody>
      </p:sp>
      <p:sp>
        <p:nvSpPr>
          <p:cNvPr id="8" name="TextBox 7"/>
          <p:cNvSpPr txBox="1"/>
          <p:nvPr/>
        </p:nvSpPr>
        <p:spPr>
          <a:xfrm>
            <a:off x="822960" y="5623560"/>
            <a:ext cx="10515600" cy="822960"/>
          </a:xfrm>
          <a:prstGeom prst="rect">
            <a:avLst/>
          </a:prstGeom>
          <a:noFill/>
        </p:spPr>
        <p:txBody>
          <a:bodyPr wrap="square" anchor="t" lIns="50800" rIns="50800" tIns="25400" bIns="25400">
            <a:spAutoFit/>
          </a:bodyPr>
          <a:lstStyle/>
          <a:p>
            <a:pPr algn="ctr" rtl="1">
              <a:spcBef>
                <a:spcPts val="400"/>
              </a:spcBef>
              <a:spcAft>
                <a:spcPts val="400"/>
              </a:spcAft>
            </a:pPr>
            <a:r>
              <a:rPr sz="1300" b="0" i="0">
                <a:solidFill>
                  <a:srgbClr val="E4F6F6"/>
                </a:solidFill>
                <a:latin typeface="Segoe UI"/>
                <a:cs typeface="Segoe UI"/>
              </a:rPr>
              <a:t>ملاحظة: هذه دورة توعوية مهنية، وإتمامها لا يُعد اعتمادًا رسميًا أو مؤهلًا تخصصيًا.</a:t>
            </a:r>
          </a:p>
        </p:txBody>
      </p:sp>
      <p:sp>
        <p:nvSpPr>
          <p:cNvPr id="9" name="Rectangle 8"/>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11" name="TextBox 10"/>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14 — مواصلة الرحلة</a:t>
            </a:r>
          </a:p>
          <a:p>
            <a:pPr algn="r" rtl="1">
              <a:spcBef>
                <a:spcPts val="0"/>
              </a:spcBef>
              <a:spcAft>
                <a:spcPts val="0"/>
              </a:spcAft>
            </a:pPr>
            <a:r>
              <a:rPr sz="2800" b="1" i="0">
                <a:solidFill>
                  <a:srgbClr val="FFFFFF"/>
                </a:solidFill>
                <a:latin typeface="Segoe UI"/>
                <a:cs typeface="Segoe UI"/>
              </a:rPr>
              <a:t>ما الخطوة التالية في مسارك؟</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التعليم الشامل والمدرسة الشاملة</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61</a:t>
            </a:r>
          </a:p>
        </p:txBody>
      </p:sp>
      <p:sp>
        <p:nvSpPr>
          <p:cNvPr id="9" name="Rounded Rectangle 8"/>
          <p:cNvSpPr/>
          <p:nvPr/>
        </p:nvSpPr>
        <p:spPr>
          <a:xfrm>
            <a:off x="6208776" y="1371600"/>
            <a:ext cx="5477256" cy="2194560"/>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200"/>
              </a:spcAft>
            </a:pPr>
            <a:r>
              <a:rPr sz="1350" b="1" i="0">
                <a:solidFill>
                  <a:srgbClr val="C9A227"/>
                </a:solidFill>
                <a:latin typeface="Segoe UI"/>
                <a:cs typeface="Segoe UI"/>
              </a:rPr>
              <a:t>الدورة التالية المقترحة</a:t>
            </a:r>
          </a:p>
          <a:p>
            <a:pPr algn="r" rtl="1">
              <a:spcBef>
                <a:spcPts val="200"/>
              </a:spcBef>
              <a:spcAft>
                <a:spcPts val="400"/>
              </a:spcAft>
            </a:pPr>
            <a:r>
              <a:rPr sz="1800" b="1" i="0">
                <a:solidFill>
                  <a:srgbClr val="1F3A93"/>
                </a:solidFill>
                <a:latin typeface="Segoe UI"/>
                <a:cs typeface="Segoe UI"/>
              </a:rPr>
              <a:t>الصف المتمايز
The Differentiated Classroom</a:t>
            </a:r>
          </a:p>
          <a:p>
            <a:pPr algn="r" rtl="1">
              <a:spcBef>
                <a:spcPts val="200"/>
              </a:spcBef>
              <a:spcAft>
                <a:spcPts val="200"/>
              </a:spcAft>
            </a:pPr>
            <a:r>
              <a:rPr sz="1400" b="0" i="0">
                <a:solidFill>
                  <a:srgbClr val="2B2F38"/>
                </a:solidFill>
                <a:latin typeface="Segoe UI"/>
                <a:cs typeface="Segoe UI"/>
              </a:rPr>
              <a:t>كيف تخطط وتدرّس صفًا متنوعًا بطرق عملية يومية؟</a:t>
            </a:r>
          </a:p>
        </p:txBody>
      </p:sp>
      <p:sp>
        <p:nvSpPr>
          <p:cNvPr id="10" name="Rounded Rectangle 9"/>
          <p:cNvSpPr/>
          <p:nvPr/>
        </p:nvSpPr>
        <p:spPr>
          <a:xfrm>
            <a:off x="502920" y="1371600"/>
            <a:ext cx="5477256" cy="2194560"/>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200"/>
              </a:spcAft>
            </a:pPr>
            <a:r>
              <a:rPr sz="1350" b="1" i="0">
                <a:solidFill>
                  <a:srgbClr val="C9A227"/>
                </a:solidFill>
                <a:latin typeface="Segoe UI"/>
                <a:cs typeface="Segoe UI"/>
              </a:rPr>
              <a:t>ثم بعدها</a:t>
            </a:r>
          </a:p>
          <a:p>
            <a:pPr algn="r" rtl="1">
              <a:spcBef>
                <a:spcPts val="200"/>
              </a:spcBef>
              <a:spcAft>
                <a:spcPts val="400"/>
              </a:spcAft>
            </a:pPr>
            <a:r>
              <a:rPr sz="1800" b="1" i="0">
                <a:solidFill>
                  <a:srgbClr val="1F3A93"/>
                </a:solidFill>
                <a:latin typeface="Segoe UI"/>
                <a:cs typeface="Segoe UI"/>
              </a:rPr>
              <a:t>المواءمات والتعديلات
Accommodations &amp; Modifications</a:t>
            </a:r>
          </a:p>
          <a:p>
            <a:pPr algn="r" rtl="1">
              <a:spcBef>
                <a:spcPts val="200"/>
              </a:spcBef>
              <a:spcAft>
                <a:spcPts val="200"/>
              </a:spcAft>
            </a:pPr>
            <a:r>
              <a:rPr sz="1400" b="0" i="0">
                <a:solidFill>
                  <a:srgbClr val="2B2F38"/>
                </a:solidFill>
                <a:latin typeface="Segoe UI"/>
                <a:cs typeface="Segoe UI"/>
              </a:rPr>
              <a:t>متى نغيّر الوسيلة؟ ومتى نعدّل الهدف؟ وكيف نوثق ذلك؟</a:t>
            </a:r>
          </a:p>
        </p:txBody>
      </p:sp>
      <p:sp>
        <p:nvSpPr>
          <p:cNvPr id="11" name="Rounded Rectangle 10"/>
          <p:cNvSpPr/>
          <p:nvPr/>
        </p:nvSpPr>
        <p:spPr>
          <a:xfrm>
            <a:off x="6208776" y="3794760"/>
            <a:ext cx="5477256" cy="160020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550" b="1" i="0">
                <a:solidFill>
                  <a:srgbClr val="1F3A93"/>
                </a:solidFill>
                <a:latin typeface="Segoe UI"/>
                <a:cs typeface="Segoe UI"/>
              </a:rPr>
              <a:t>مورد اختياري: حقيبة مسار لدعم المعلم</a:t>
            </a:r>
          </a:p>
          <a:p>
            <a:pPr algn="r" rtl="1">
              <a:spcBef>
                <a:spcPts val="200"/>
              </a:spcBef>
              <a:spcAft>
                <a:spcPts val="200"/>
              </a:spcAft>
            </a:pPr>
            <a:r>
              <a:rPr sz="1350" b="0" i="0">
                <a:solidFill>
                  <a:srgbClr val="2B2F38"/>
                </a:solidFill>
                <a:latin typeface="Segoe UI"/>
                <a:cs typeface="Segoe UI"/>
              </a:rPr>
              <a:t>أدوات واستراتيجيات صفّية جاهزة تساعد المعلم على تطبيق ما تعلمه في هذه الدورة.</a:t>
            </a:r>
          </a:p>
        </p:txBody>
      </p:sp>
      <p:sp>
        <p:nvSpPr>
          <p:cNvPr id="12" name="Rounded Rectangle 11"/>
          <p:cNvSpPr/>
          <p:nvPr/>
        </p:nvSpPr>
        <p:spPr>
          <a:xfrm>
            <a:off x="502920" y="3794760"/>
            <a:ext cx="5477256" cy="160020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550" b="1" i="0">
                <a:solidFill>
                  <a:srgbClr val="1F3A93"/>
                </a:solidFill>
                <a:latin typeface="Segoe UI"/>
                <a:cs typeface="Segoe UI"/>
              </a:rPr>
              <a:t>مورد اختياري: أداة مسار لجاهزية المدرسة للشمول</a:t>
            </a:r>
          </a:p>
          <a:p>
            <a:pPr algn="r" rtl="1">
              <a:spcBef>
                <a:spcPts val="200"/>
              </a:spcBef>
              <a:spcAft>
                <a:spcPts val="200"/>
              </a:spcAft>
            </a:pPr>
            <a:r>
              <a:rPr sz="1350" b="0" i="0">
                <a:solidFill>
                  <a:srgbClr val="2B2F38"/>
                </a:solidFill>
                <a:latin typeface="Segoe UI"/>
                <a:cs typeface="Segoe UI"/>
              </a:rPr>
              <a:t>لفريق القيادة: قيّموا مدرستكم في المجالات السبعة وابنوا خطة تطوير واقعية.</a:t>
            </a:r>
          </a:p>
        </p:txBody>
      </p:sp>
      <p:sp>
        <p:nvSpPr>
          <p:cNvPr id="13" name="TextBox 12"/>
          <p:cNvSpPr txBox="1"/>
          <p:nvPr/>
        </p:nvSpPr>
        <p:spPr>
          <a:xfrm>
            <a:off x="502920" y="5623560"/>
            <a:ext cx="11183112" cy="731520"/>
          </a:xfrm>
          <a:prstGeom prst="rect">
            <a:avLst/>
          </a:prstGeom>
          <a:noFill/>
        </p:spPr>
        <p:txBody>
          <a:bodyPr wrap="square" anchor="t" lIns="50800" rIns="50800" tIns="25400" bIns="25400">
            <a:spAutoFit/>
          </a:bodyPr>
          <a:lstStyle/>
          <a:p>
            <a:pPr algn="ctr" rtl="1">
              <a:spcBef>
                <a:spcPts val="400"/>
              </a:spcBef>
              <a:spcAft>
                <a:spcPts val="400"/>
              </a:spcAft>
            </a:pPr>
            <a:r>
              <a:rPr sz="1700" b="1" i="0">
                <a:solidFill>
                  <a:srgbClr val="1F3A93"/>
                </a:solidFill>
                <a:latin typeface="Segoe UI"/>
                <a:cs typeface="Segoe UI"/>
              </a:rPr>
              <a:t>شكرًا لكم — رحلة الشمول تبدأ بخطوة واحدة، وقد حددتم خطوتكم اليوم.</a:t>
            </a:r>
          </a:p>
          <a:p>
            <a:pPr algn="ctr" rtl="1">
              <a:spcBef>
                <a:spcPts val="200"/>
              </a:spcBef>
              <a:spcAft>
                <a:spcPts val="400"/>
              </a:spcAft>
            </a:pPr>
            <a:r>
              <a:rPr sz="1350" b="0" i="0">
                <a:solidFill>
                  <a:srgbClr val="6B7280"/>
                </a:solidFill>
                <a:latin typeface="Segoe UI"/>
                <a:cs typeface="Segoe UI"/>
              </a:rPr>
              <a:t>MASAR | مسار — نحو مدرسة يجد فيها كل طالب مكانه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