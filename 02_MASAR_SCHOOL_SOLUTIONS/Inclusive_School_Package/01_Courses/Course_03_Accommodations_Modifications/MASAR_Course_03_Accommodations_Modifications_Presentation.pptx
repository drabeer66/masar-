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شريحة الغلاف — دقيقة واحدة</a:t>
            </a:r>
          </a:p>
          <a:p>
            <a:r>
              <a:rPr sz="1200">
                <a:latin typeface="Segoe UI"/>
              </a:rPr>
              <a:t>الرسالة الأساسية: هذه دورة قرارات عملية، لا شرح نظري للمصطلحات.</a:t>
            </a:r>
          </a:p>
          <a:p>
            <a:r>
              <a:rPr sz="1200">
                <a:latin typeface="Segoe UI"/>
              </a:rPr>
              <a:t>ما ينبغي شرحه: رحّب بالمشاركين، وذكّر بأن هذه الدورة الثالثة تبني على الأولى (التعليم الشامل) والثانية (الصف المتمايز).</a:t>
            </a:r>
          </a:p>
          <a:p>
            <a:r>
              <a:rPr sz="1200">
                <a:latin typeface="Segoe UI"/>
              </a:rPr>
              <a:t>تنبيه: تأكد أن كل مشارك معه كراسة المتدرب قبل البدء.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المقدمة — دقيقتان</a:t>
            </a:r>
          </a:p>
          <a:p>
            <a:r>
              <a:rPr sz="1200">
                <a:latin typeface="Segoe UI"/>
              </a:rPr>
              <a:t>الرسالة الأساسية: الدورة كلها إجابة عملية عن سؤال: «لدي طالب يواجه صعوبة في هذا الدرس — ماذا يحتاج؟ وما الذي أغيره؟ وهل ما أغيره تسهيل أم تعديل؟ وكيف أعرف أنه نجح؟».</a:t>
            </a:r>
          </a:p>
          <a:p>
            <a:r>
              <a:rPr sz="1200">
                <a:latin typeface="Segoe UI"/>
              </a:rPr>
              <a:t>سؤال للمشاركين: من واجه هذا الأسبوع طالبًا يفهم الدرس لكن شيئًا ما منعه من إظهار فهمه؟ (النقاط المتوقعة: أمثلة كثيرة — وهذا موضوعنا).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الأهداف — دقيقة واحدة</a:t>
            </a:r>
          </a:p>
          <a:p>
            <a:r>
              <a:rPr sz="1200">
                <a:latin typeface="Segoe UI"/>
              </a:rPr>
              <a:t>اقرأ الأهداف سريعًا. لاحظ التدرج: فهم ← تمييز ← اختيار ← تطبيق ← توثيق ← متابعة ← قرار.</a:t>
            </a:r>
          </a:p>
          <a:p>
            <a:r>
              <a:rPr sz="1200">
                <a:latin typeface="Segoe UI"/>
              </a:rPr>
              <a:t>لا تتوقف طويلًا هنا.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خريطة الدورة — دقيقة واحدة</a:t>
            </a:r>
          </a:p>
          <a:p>
            <a:r>
              <a:rPr sz="1200">
                <a:latin typeface="Segoe UI"/>
              </a:rPr>
              <a:t>الرسالة الأساسية: القرار المهني الجيد يمر بهذه المحطات بالترتيب — والقفز فوق «الهدف» أو «الحاجز» هو مصدر معظم الأخطاء.</a:t>
            </a:r>
          </a:p>
          <a:p>
            <a:r>
              <a:rPr sz="1200">
                <a:latin typeface="Segoe UI"/>
              </a:rPr>
              <a:t>ما ينبغي شرحه: المحطة 5 (تسهيل أم تعديل؟) هي قلب هذه الدورة وستأخذ النصيب الأكبر من التدريب.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 — 30 ثانية. انتقل مباشرة إلى الموقف.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الموقف الواقعي — 3 دقائق</a:t>
            </a:r>
          </a:p>
          <a:p>
            <a:r>
              <a:rPr sz="1200">
                <a:latin typeface="Segoe UI"/>
              </a:rPr>
              <a:t>ما ينبغي شرحه: اقرأ الحالات الثلاث. لاحظ أن الثلاثة قادرون على التعلم — لكن شيئًا مختلفًا يقف في طريق كل منهم.</a:t>
            </a:r>
          </a:p>
          <a:p>
            <a:r>
              <a:rPr sz="1200">
                <a:latin typeface="Segoe UI"/>
              </a:rPr>
              <a:t>سؤال للمشاركين: هل درجة خالد المنخفضة في هذا الاختبار تقيس فهمه للرياضيات أم سرعة قراءته؟</a:t>
            </a:r>
          </a:p>
          <a:p>
            <a:r>
              <a:rPr sz="1200">
                <a:latin typeface="Segoe UI"/>
              </a:rPr>
              <a:t>النقاط المتوقعة: تقيس القراءة لا الرياضيات — وهذه بوابة مفهوم «الحاجز».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السؤال المؤسس — دقيقتان</a:t>
            </a:r>
          </a:p>
          <a:p>
            <a:r>
              <a:rPr sz="1200">
                <a:latin typeface="Segoe UI"/>
              </a:rPr>
              <a:t>الرسالة الأساسية: التمييز بين «حاجز في الطريق» و«مهارة لم تُكتسب» هو أول مفترق قرار — وسنعود إليه مرارًا.</a:t>
            </a:r>
          </a:p>
          <a:p>
            <a:r>
              <a:rPr sz="1200">
                <a:latin typeface="Segoe UI"/>
              </a:rPr>
              <a:t>مفهوم خاطئ محتمل: «كل صعوبة تعني أن الطالب ضعيف» — صحّح: خالد وريم يفهمان المادة تمامًا؛ الحاجز إجرائي لا معرفي.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الوصول والحواجز — 4 دقائق</a:t>
            </a:r>
          </a:p>
          <a:p>
            <a:r>
              <a:rPr sz="1200">
                <a:latin typeface="Segoe UI"/>
              </a:rPr>
              <a:t>الرسالة الأساسية: الحاجز في المهمة أو البيئة أو التقديم — لا في «قدرة» الطالب بالضرورة.</a:t>
            </a:r>
          </a:p>
          <a:p>
            <a:r>
              <a:rPr sz="1200">
                <a:latin typeface="Segoe UI"/>
              </a:rPr>
              <a:t>مثال إضافي: نظارة القراءة — من يحتاجها ليس أقل ذكاءً؛ الحاجز بصري لا معرفي. التسهيلات هي «نظارات» تعليمية.</a:t>
            </a:r>
          </a:p>
          <a:p>
            <a:r>
              <a:rPr sz="1200">
                <a:latin typeface="Segoe UI"/>
              </a:rPr>
              <a:t>سؤال للمشاركين: افتحوا ورقة العمل (2): أي هذه الحواجز الأكثر حضورًا في صفوفكم؟</a:t>
            </a:r>
          </a:p>
          <a:p>
            <a:r>
              <a:rPr sz="1200">
                <a:latin typeface="Segoe UI"/>
              </a:rPr>
              <a:t>الزمن: 4 دقائق مع النشاط القصير.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3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تعريف التسهيلات — 4 دقائق</a:t>
            </a:r>
          </a:p>
          <a:p>
            <a:r>
              <a:rPr sz="1200">
                <a:latin typeface="Segoe UI"/>
              </a:rPr>
              <a:t>الرسالة الأساسية: التسهيل يغيّر «كيف يصل الطالب» و«كيف يُظهر تعلمه» — لا «ماذا يتعلم».</a:t>
            </a:r>
          </a:p>
          <a:p>
            <a:r>
              <a:rPr sz="1200">
                <a:latin typeface="Segoe UI"/>
              </a:rPr>
              <a:t>ما ينبغي شرحه: اذكر المصطلح الإنجليزي مرة واحدة ثم التزم بالعربية.</a:t>
            </a:r>
          </a:p>
          <a:p>
            <a:r>
              <a:rPr sz="1200">
                <a:latin typeface="Segoe UI"/>
              </a:rPr>
              <a:t>مثال إضافي: خالد (من الوحدة 1): قراءة تعليمات المسألة له بصوت مسموع — الهدف (حل المسألة) لم يتغير قيد أنملة.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ما ليس تسهيلًا — 3 دقائق</a:t>
            </a:r>
          </a:p>
          <a:p>
            <a:r>
              <a:rPr sz="1200">
                <a:latin typeface="Segoe UI"/>
              </a:rPr>
              <a:t>الرسالة الأساسية: أخطر مفهوم خاطئ لدى المعلمين (وبعض الأسر): «التسهيل تدليل أو ظلم للبقية».</a:t>
            </a:r>
          </a:p>
          <a:p>
            <a:r>
              <a:rPr sz="1200">
                <a:latin typeface="Segoe UI"/>
              </a:rPr>
              <a:t>سؤال للنقاش: هل النظارة الطبية امتياز غير عادل؟ لماذا نقبلها فورًا ونتردد في الوقت الإضافي؟</a:t>
            </a:r>
          </a:p>
          <a:p>
            <a:r>
              <a:rPr sz="1200">
                <a:latin typeface="Segoe UI"/>
              </a:rPr>
              <a:t>النقاط المتوقعة: لأن حاجز البصر مرئي وحاجز القراءة غير مرئي — التسهيلات تعالج حواجز غير مرئية.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تعريف التعديلات — 4 دقائق</a:t>
            </a:r>
          </a:p>
          <a:p>
            <a:r>
              <a:rPr sz="1200">
                <a:latin typeface="Segoe UI"/>
              </a:rPr>
              <a:t>الرسالة الأساسية: التعديل يغيّر «ماذا» أو «إلى أي مستوى» — وهذا قرار أثقل من التسهيل ويحتاج تخطيطًا ومتابعة.</a:t>
            </a:r>
          </a:p>
          <a:p>
            <a:r>
              <a:rPr sz="1200">
                <a:latin typeface="Segoe UI"/>
              </a:rPr>
              <a:t>ما ينبغي شرحه: التعديل ليس خطأً ولا فشلًا — أحيانًا يكون القرار المهني الصحيح تمامًا. الخطأ هو استخدامه دون وعي أو توثيق.</a:t>
            </a:r>
          </a:p>
          <a:p>
            <a:r>
              <a:rPr sz="1200">
                <a:latin typeface="Segoe UI"/>
              </a:rPr>
              <a:t>مفهوم خاطئ محتمل: «التعديل يعني الاستسلام» — صحّح: التعديل المدروس مع خطة عودة تدريجية قد يكون أفضل خدمة للطالب.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5 — 30 ثانية. هذه الوحدة الحاسمة — خذ وقتك فيها.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جدول المقارنة — 4 دقائق</a:t>
            </a:r>
          </a:p>
          <a:p>
            <a:r>
              <a:rPr sz="1200">
                <a:latin typeface="Segoe UI"/>
              </a:rPr>
              <a:t>الرسالة الأساسية: امش على الصفوف واحدًا واحدًا. الصف الحاسم: «هل يتغير الهدف التعلمي؟» — لا في التسهيل (في الأصل)، قد يتغير في التعديل.</a:t>
            </a:r>
          </a:p>
          <a:p>
            <a:r>
              <a:rPr sz="1200">
                <a:latin typeface="Segoe UI"/>
              </a:rPr>
              <a:t>ما ينبغي شرحه: لاحظ الصفين الأخيرين: كلاهما يحتاج قرارًا مدروسًا، وكلاهما لا يُبنى على التشخيص وحده.</a:t>
            </a:r>
          </a:p>
          <a:p>
            <a:r>
              <a:rPr sz="1200">
                <a:latin typeface="Segoe UI"/>
              </a:rPr>
              <a:t>ملاحظة مهنية: وضّح أن التطبيق العملي قد يختلف بحسب النظام التعليمي والسياسات المعتمدة — التعريفات هنا إطار عملي لا نص قانوني.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القاعدة المبسطة — 3 دقائق</a:t>
            </a:r>
          </a:p>
          <a:p>
            <a:r>
              <a:rPr sz="1200">
                <a:latin typeface="Segoe UI"/>
              </a:rPr>
              <a:t>الرسالة الأساسية: اطلب من المشاركين حفظ عبارة واحدة فقط من الدورة كلها: «لا تحكم على التغيير من شكله؛ انظر إلى أثره على الهدف التعلمي».</a:t>
            </a:r>
          </a:p>
          <a:p>
            <a:r>
              <a:rPr sz="1200">
                <a:latin typeface="Segoe UI"/>
              </a:rPr>
              <a:t>مثال إضافي: قراءة النص للطالب: في درس العلوم (الهدف فهم المفهوم) تسهيل؛ في حصة القراءة الجهرية (الهدف مهارة القراءة نفسها) تغيير يمس الهدف.</a:t>
            </a:r>
          </a:p>
          <a:p>
            <a:r>
              <a:rPr sz="1200">
                <a:latin typeface="Segoe UI"/>
              </a:rPr>
              <a:t>سؤال للمشاركين: أعطوني تغييرًا واحدًا آخر يتحول حكمه بتحول الهدف. (أمثلة متوقعة: الآلة الحاسبة، الكتابة بدل الشفهي).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المستويات الثلاثة — 4 دقائق</a:t>
            </a:r>
          </a:p>
          <a:p>
            <a:r>
              <a:rPr sz="1200">
                <a:latin typeface="Segoe UI"/>
              </a:rPr>
              <a:t>الرسالة الأساسية: معظم ما يفعله المعلم الجيد يوميًا هو «دعم» لا يحتاج قرارًا خاصًا. التسهيل استجابة لحاجة محددة. التعديل قرار أثقل يغيّر الهدف.</a:t>
            </a:r>
          </a:p>
          <a:p>
            <a:r>
              <a:rPr sz="1200">
                <a:latin typeface="Segoe UI"/>
              </a:rPr>
              <a:t>ما ينبغي شرحه: عرّف هنا «الدعم التعليمي» و«الدعم المتدرج» بالمصطلح الإنجليزي مرة واحدة.</a:t>
            </a:r>
          </a:p>
          <a:p>
            <a:r>
              <a:rPr sz="1200">
                <a:latin typeface="Segoe UI"/>
              </a:rPr>
              <a:t>مفهوم خاطئ محتمل: «كل مساعدة للطالب تسهيل رسمي» — صحّح: الشرح الإضافي والنمذجة تدريس جيد للجميع، لا يحتاج توثيقًا خاصًا.</a:t>
            </a:r>
          </a:p>
          <a:p>
            <a:r>
              <a:rPr sz="1200">
                <a:latin typeface="Segoe UI"/>
              </a:rPr>
              <a:t>الزمن: 4 دقائق. وجّه لاحقًا إلى ورقة العمل (5) للمقارنة الذاتية.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6 — 30 ثانية. هذه من أهم الرسائل المهنية في الدورة.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الحاجة لا التشخيص — 4 دقائق</a:t>
            </a:r>
          </a:p>
          <a:p>
            <a:r>
              <a:rPr sz="1200">
                <a:latin typeface="Segoe UI"/>
              </a:rPr>
              <a:t>الرسالة الأساسية: هذه من أهم الرسائل المهنية في الدورة: التشخيص يفتح بابًا للفهم، لكنه لا يحل محل الملاحظة والقرار المهني.</a:t>
            </a:r>
          </a:p>
          <a:p>
            <a:r>
              <a:rPr sz="1200">
                <a:latin typeface="Segoe UI"/>
              </a:rPr>
              <a:t>مفهوم خاطئ محتمل: «لا يجوز تقديم تسهيل دون تشخيص» — صحّح: التسهيلات الصفية اليومية (وقت، تعليمات، تقسيم) قرار تعليمي مبني على الحاجة الملاحظة.</a:t>
            </a:r>
          </a:p>
          <a:p>
            <a:r>
              <a:rPr sz="1200">
                <a:latin typeface="Segoe UI"/>
              </a:rPr>
              <a:t>سؤال للمشاركين: ما مخاطر «قوائم التسهيلات الجاهزة» المرتبطة بكل تشخيص؟ (النقاط المتوقعة: تسهيلات غير لازمة، إغفال الحاجة الفعلية، معاملة الطلاب كفئات لا كأفراد).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مثال النص الطويل — 3 دقائق</a:t>
            </a:r>
          </a:p>
          <a:p>
            <a:r>
              <a:rPr sz="1200">
                <a:latin typeface="Segoe UI"/>
              </a:rPr>
              <a:t>الرسالة الأساسية: الموقف الواحد (تعثر أمام نص) قد يخفي ستة حواجز مختلفة — التشخيص الدقيق للحاجز نصف الحل.</a:t>
            </a:r>
          </a:p>
          <a:p>
            <a:r>
              <a:rPr sz="1200">
                <a:latin typeface="Segoe UI"/>
              </a:rPr>
              <a:t>ما ينبغي شرحه: كيف يفحص المعلم؟ بالملاحظة وسؤال الطالب نفسه: «ما أصعب شيء في هذا النص؟» — إجابة الطالب غالبًا أدق من افتراضاتنا.</a:t>
            </a:r>
          </a:p>
          <a:p>
            <a:r>
              <a:rPr sz="1200">
                <a:latin typeface="Segoe UI"/>
              </a:rPr>
              <a:t>سؤال للمشاركين: افتحوا ورقة العمل (2) وأكملوا نشاط تحليل الحاجز لموقف من صفوفكم.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7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المجالات الخمسة — 5 دقائق</a:t>
            </a:r>
          </a:p>
          <a:p>
            <a:r>
              <a:rPr sz="1200">
                <a:latin typeface="Segoe UI"/>
              </a:rPr>
              <a:t>الرسالة الأساسية: المجالات الخمسة «قائمة تفقد» يفكر بها المعلم — لا قائمة توزع على كل طالب.</a:t>
            </a:r>
          </a:p>
          <a:p>
            <a:r>
              <a:rPr sz="1200">
                <a:latin typeface="Segoe UI"/>
              </a:rPr>
              <a:t>ما ينبغي شرحه: اربط كل مجال بحاجز من الوحدة 2: تعليمات طويلة ← العرض؛ مشتتات ← البيئة؛ وقت ← الوقت؛ صعوبة كتابة ← الاستجابة؛ ضياع في الخطوات ← تنظيم المهمة.</a:t>
            </a:r>
          </a:p>
          <a:p>
            <a:r>
              <a:rPr sz="1200">
                <a:latin typeface="Segoe UI"/>
              </a:rPr>
              <a:t>مفهوم خاطئ محتمل: «كلما زادت التسهيلات كان أفضل» — صحّح: التسهيل غير اللازم يضعف الاستقلالية ويهدر الجهد. الأقل الذي يكفي هو الأفضل.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متى يصبح التسهيل تعديلًا — 4 دقائق</a:t>
            </a:r>
          </a:p>
          <a:p>
            <a:r>
              <a:rPr sz="1200">
                <a:latin typeface="Segoe UI"/>
              </a:rPr>
              <a:t>الرسالة الأساسية: نقطة التحول ليست في «حجم» التغيير بل في مساسه بالهدف أو مستوى التوقع.</a:t>
            </a:r>
          </a:p>
          <a:p>
            <a:r>
              <a:rPr sz="1200">
                <a:latin typeface="Segoe UI"/>
              </a:rPr>
              <a:t>مثال إضافي: الآلة الحاسبة — في درس حل المسائل المركبة (الهدف الاستراتيجية) تسهيل؛ في درس إتقان حقائق الضرب (الهدف الحساب نفسه) تمس الهدف مباشرة.</a:t>
            </a:r>
          </a:p>
          <a:p>
            <a:r>
              <a:rPr sz="1200">
                <a:latin typeface="Segoe UI"/>
              </a:rPr>
              <a:t>سؤال للمشاركين: القراءة الجهرية أمام الصف — متى يكون إعفاء الطالب منها تسهيلًا ومتى يقترب من التعديل؟ (حسب هدف الحصة: عرض شفهي أم مهارة قراءة جهرية).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الحالات الأربع — 4 دقائق (تفكير) </a:t>
            </a:r>
          </a:p>
          <a:p>
            <a:r>
              <a:rPr sz="1200">
                <a:latin typeface="Segoe UI"/>
              </a:rPr>
              <a:t>تعليمات: امنح 3 دقائق للتفكير الفردي أو الثنائي في ورقة العمل (6). لا تكشف الإجابات قبل أن يكتب الجميع رأيهم.</a:t>
            </a:r>
          </a:p>
          <a:p>
            <a:r>
              <a:rPr sz="1200">
                <a:latin typeface="Segoe UI"/>
              </a:rPr>
              <a:t>الرسالة الأساسية: الحالة 4 مختلفة جوهريًا عن الثلاث الأولى — راقب من يلتقط ذلك.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إجابات الحالات — 4 دقائق</a:t>
            </a:r>
          </a:p>
          <a:p>
            <a:r>
              <a:rPr sz="1200">
                <a:latin typeface="Segoe UI"/>
              </a:rPr>
              <a:t>الرسالة الأساسية: الحالات 1–3 حواجز وصول (تسهيلات)؛ الحالة 4 فجوة مهارة أساسية (قد تتطلب تعديلًا مؤقتًا مدروسًا).</a:t>
            </a:r>
          </a:p>
          <a:p>
            <a:r>
              <a:rPr sz="1200">
                <a:latin typeface="Segoe UI"/>
              </a:rPr>
              <a:t>ما ينبغي شرحه: في الحالة 4 أكّد كلمتي «مؤقتًا» و«مع خطة» — التعديل الجيد يأتي مع خطة عودة تدريجية نحو هدف الصف حيثما أمكن.</a:t>
            </a:r>
          </a:p>
          <a:p>
            <a:r>
              <a:rPr sz="1200">
                <a:latin typeface="Segoe UI"/>
              </a:rPr>
              <a:t>مفهوم خاطئ محتمل: «الحالة 4 فشل للطالب» — صحّح: العمل على المستوى المناسب هو ما يبني الجسر، والعمل فوق المستوى بلا أساس يوسع الفجوة.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نموذج القرار — 4 دقائق</a:t>
            </a:r>
          </a:p>
          <a:p>
            <a:r>
              <a:rPr sz="1200">
                <a:latin typeface="Segoe UI"/>
              </a:rPr>
              <a:t>الرسالة الأساسية: الخطوة 3 هي مفترق الطرق: حاجز الوصول ← تسهيل؛ مهارة غير مكتسبة ← تدريس ودعم (وربما تعديل مؤقت).</a:t>
            </a:r>
          </a:p>
          <a:p>
            <a:r>
              <a:rPr sz="1200">
                <a:latin typeface="Segoe UI"/>
              </a:rPr>
              <a:t>ما ينبغي شرحه: الخطوة 4 (أخف تدخل): جرب التعليمات المجزأة قبل القارئ البشري، والوقت الإضافي قبل تغيير المهمة كلها.</a:t>
            </a:r>
          </a:p>
          <a:p>
            <a:r>
              <a:rPr sz="1200">
                <a:latin typeface="Segoe UI"/>
              </a:rPr>
              <a:t>سؤال للمشاركين: لماذا نبدأ بالأقل تأثيرًا؟ (النقاط المتوقعة: يحفظ استقلالية الطالب، أسهل تعميمًا وسحبًا تدريجيًا، أقل وصمة).</a:t>
            </a:r>
          </a:p>
          <a:p>
            <a:r>
              <a:rPr sz="1200">
                <a:latin typeface="Segoe UI"/>
              </a:rPr>
              <a:t>وجّه إلى ورقة العمل (7) لتطبيق النموذج على حالة من صفوفهم.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التسهيلات والتقييم — 3 دقائق</a:t>
            </a:r>
          </a:p>
          <a:p>
            <a:r>
              <a:rPr sz="1200">
                <a:latin typeface="Segoe UI"/>
              </a:rPr>
              <a:t>الرسالة الأساسية: سؤال الفصل في تسهيلات التقييم: ماذا يقيس هذا التقييم؟ التسهيل المقبول يزيل حاجزًا لا علاقة له بالشيء المقيس.</a:t>
            </a:r>
          </a:p>
          <a:p>
            <a:r>
              <a:rPr sz="1200">
                <a:latin typeface="Segoe UI"/>
              </a:rPr>
              <a:t>ما ينبغي شرحه: لا نقدم قواعد قانونية عامة — السياسات تختلف بين الأنظمة التعليمية، والمرجع دائمًا سياسات المدرسة والنظام المعمول به.</a:t>
            </a:r>
          </a:p>
          <a:p>
            <a:r>
              <a:rPr sz="1200">
                <a:latin typeface="Segoe UI"/>
              </a:rPr>
              <a:t>مثال إضافي: قراءة أسئلة اختبار العلوم لطالب — تقيس علومه لا قراءته: غالبًا مقبولة. قراءة نص اختبار الفهم القرائي نفسه — تمس الشيء المقيس: غالبًا غير مقبولة.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12 — 30 ثانية. مع الوحدة 13 تشكّل هذه الوحدة جانب «المتابعة» في مسار.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نموذج التوثيق — 4 دقائق</a:t>
            </a:r>
          </a:p>
          <a:p>
            <a:r>
              <a:rPr sz="1200">
                <a:latin typeface="Segoe UI"/>
              </a:rPr>
              <a:t>الرسالة الأساسية: تسعة حقول قصيرة، تُملأ في دقائق — التوثيق الجيد بسيط بما يكفي ليُستخدم فعلًا.</a:t>
            </a:r>
          </a:p>
          <a:p>
            <a:r>
              <a:rPr sz="1200">
                <a:latin typeface="Segoe UI"/>
              </a:rPr>
              <a:t>ما ينبغي شرحه: الحقلان الأهم عمليًا هما «الأدلة على الأثر» و«القرار التالي» — هما ما يحوّل الورقة من سجل إلى أداة قرار.</a:t>
            </a:r>
          </a:p>
          <a:p>
            <a:r>
              <a:rPr sz="1200">
                <a:latin typeface="Segoe UI"/>
              </a:rPr>
              <a:t>مفهوم خاطئ محتمل: «التوثيق عبء إداري إضافي» — صحّح: نموذج واحد بسيط يوفر ساعات من النقاش غير الموثق ويحمي قرار المعلم مهنيًا.</a:t>
            </a:r>
          </a:p>
          <a:p>
            <a:r>
              <a:rPr sz="1200">
                <a:latin typeface="Segoe UI"/>
              </a:rPr>
              <a:t>وجّه المشاركين إلى ورقة العمل (9): نموذج التوثيق جاهز للاستخدام في المدرسة.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مثال التوثيق — 3 دقائق</a:t>
            </a:r>
          </a:p>
          <a:p>
            <a:r>
              <a:rPr sz="1200">
                <a:latin typeface="Segoe UI"/>
              </a:rPr>
              <a:t>الرسالة الأساسية: لاحظوا سطر «القرار التالي»: ليس فقط «نستمر» بل «نستمر مع سحب تدريجي» — التسهيل الجيد يتجه نحو الاستقلالية حيثما أمكن.</a:t>
            </a:r>
          </a:p>
          <a:p>
            <a:r>
              <a:rPr sz="1200">
                <a:latin typeface="Segoe UI"/>
              </a:rPr>
              <a:t>سؤال للمشاركين: ما الذي يجعل هذا النموذج قابلًا للاستخدام أمام ولي الأمر أو منسق الدمج؟ (النقاط المتوقعة: وقائع وأدلة لا انطباعات، تواريخ، قرار واضح).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13 — 30 ثانية. هنا يُقدَّم مصطلحا التقييم التكويني والأدلة على التعلم.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الدعم–الدليل–القرار — 4 دقائق</a:t>
            </a:r>
          </a:p>
          <a:p>
            <a:r>
              <a:rPr sz="1200">
                <a:latin typeface="Segoe UI"/>
              </a:rPr>
              <a:t>الرسالة الأساسية: الدعم بلا متابعة يتحول إلى عادة؛ والمتابعة بلا أدلة تتحول إلى انطباع. الحلقة الكاملة: دعم ← دليل ← قرار.</a:t>
            </a:r>
          </a:p>
          <a:p>
            <a:r>
              <a:rPr sz="1200">
                <a:latin typeface="Segoe UI"/>
              </a:rPr>
              <a:t>ما ينبغي شرحه: هنا يظهر مصطلحا التقييم التكويني والأدلة على التعلم — الأدلة اليومية الصغيرة (سؤال خروج، عينة عمل) تكفي غالبًا؛ لا ننتظر الاختبارات الكبيرة.</a:t>
            </a:r>
          </a:p>
          <a:p>
            <a:r>
              <a:rPr sz="1200">
                <a:latin typeface="Segoe UI"/>
              </a:rPr>
              <a:t>مفهوم خاطئ محتمل: «السحب التدريجي تخلٍّ عن الطالب» — صحّح: السحب المدروس عند وجود دليل تقدم هو قمة نجاح التسهيل، لأنه يبني الاستقلالية.</a:t>
            </a:r>
          </a:p>
          <a:p>
            <a:r>
              <a:rPr sz="1200">
                <a:latin typeface="Segoe UI"/>
              </a:rPr>
              <a:t>وجّه إلى ورقة العمل (10): نموذج متابعة الأثر.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14 — 30 ثانية. هذه الوحدة التطبيق التجميعي الأكبر قبل الأنشطة الختامية.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عرض الحالة — 3 دقائق</a:t>
            </a:r>
          </a:p>
          <a:p>
            <a:r>
              <a:rPr sz="1200">
                <a:latin typeface="Segoe UI"/>
              </a:rPr>
              <a:t>تعليمات: اقرأ الحالة بصوت مسموع أو اطلب قراءتها فرديًا. لا تعلّق ولا تلمّح إلى التحليل بعد.</a:t>
            </a:r>
          </a:p>
          <a:p>
            <a:r>
              <a:rPr sz="1200">
                <a:latin typeface="Segoe UI"/>
              </a:rPr>
              <a:t>الرسالة الأساسية: كل معلومة في الحالة وُضعت لسبب — المشاركة الشفهية الغنية هي المفتاح.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أسئلة الحالة — 8 دقائق عمل + 4 نقاش</a:t>
            </a:r>
          </a:p>
          <a:p>
            <a:r>
              <a:rPr sz="1200">
                <a:latin typeface="Segoe UI"/>
              </a:rPr>
              <a:t>تعليمات: تجول بين المجموعات. إذا سمعت «نور ضعيفة في الكتابة» وجّه: ما الدليل؟ هي قوية شفهيًا — أين الحاجز تحديدًا؟</a:t>
            </a:r>
          </a:p>
          <a:p>
            <a:r>
              <a:rPr sz="1200">
                <a:latin typeface="Segoe UI"/>
              </a:rPr>
              <a:t>السؤال 3 مهم: الوقت الإضافي لم ينجح لأن الحاجز ليس زمنيًا — درس عملي في أن التسهيل غير المطابق للحاجز لا يعمل.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التحليل النموذجي — 4 دقائق</a:t>
            </a:r>
          </a:p>
          <a:p>
            <a:r>
              <a:rPr sz="1200">
                <a:latin typeface="Segoe UI"/>
              </a:rPr>
              <a:t>الرسالة الأساسية: لاحظوا أننا لم نغير الهدف إطلاقًا — كل المقترحات تسهيلات وصول لأن الدليل (القدرة الشفهية) أظهر أن الهدف في متناولها.</a:t>
            </a:r>
          </a:p>
          <a:p>
            <a:r>
              <a:rPr sz="1200">
                <a:latin typeface="Segoe UI"/>
              </a:rPr>
              <a:t>سؤال للمشاركين: متى كانت هذه الحالة ستتجه نحو تعديل؟ (لو كانت الفجوة في بناء الجمل نفسه شفهيًا وكتابيًا — أي مهارة أساسية غير مكتسبة).</a:t>
            </a:r>
          </a:p>
          <a:p>
            <a:r>
              <a:rPr sz="1200">
                <a:latin typeface="Segoe UI"/>
              </a:rPr>
              <a:t>اقبل الحلول المختلفة عن النموذج إذا كانت مبنية على الهدف والحاجز والدليل.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الأخطاء السبعة — 5 دقائق</a:t>
            </a:r>
          </a:p>
          <a:p>
            <a:r>
              <a:rPr sz="1200">
                <a:latin typeface="Segoe UI"/>
              </a:rPr>
              <a:t>الرسالة الأساسية: هذه الأخطاء شائعة لأنها مريحة على المدى القصير — وكلها تُعالج بالعودة إلى السلسلة: الهدف ← الحاجز ← الحاجة ← الدليل.</a:t>
            </a:r>
          </a:p>
          <a:p>
            <a:r>
              <a:rPr sz="1200">
                <a:latin typeface="Segoe UI"/>
              </a:rPr>
              <a:t>تعليمات: اعرض الأخطاء سريعًا ثم اطلب من كل مشارك اختيار الخطأ الأقرب إلى ممارسته (البطاقة الأخيرة) — مشاركة طوعية.</a:t>
            </a:r>
          </a:p>
          <a:p>
            <a:r>
              <a:rPr sz="1200">
                <a:latin typeface="Segoe UI"/>
              </a:rPr>
              <a:t>مفهوم خاطئ محتمل: قد يشعر بعضهم بالإحراج — طمئنهم: الجميع وقع في بعضها؛ الاحتراف هو ملاحظتها وتصحيحها.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16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المهمة التطبيقية — 15 دقيقة (12 عمل + مراجعة ثنائية)</a:t>
            </a:r>
          </a:p>
          <a:p>
            <a:r>
              <a:rPr sz="1200">
                <a:latin typeface="Segoe UI"/>
              </a:rPr>
              <a:t>الرسالة الأساسية: هذه الخطة هي المنتج الأهم من الدورة — تعود مع المشارك إلى صفه قابلة للتنفيذ غدًا.</a:t>
            </a:r>
          </a:p>
          <a:p>
            <a:r>
              <a:rPr sz="1200">
                <a:latin typeface="Segoe UI"/>
              </a:rPr>
              <a:t>تعليمات: الحقل 6 حساس: راقب من يكتب تشخيصًا («لديه تشتت») بدل حاجة («يحتاج تعليمات مجزأة وبيئة أقل تشتيتًا») وصحح بلطف.</a:t>
            </a:r>
          </a:p>
          <a:p>
            <a:r>
              <a:rPr sz="1200">
                <a:latin typeface="Segoe UI"/>
              </a:rPr>
              <a:t>الحقل 10 هو صمام الأمان: إن لم يستطع المشارك تأكيد بقاء الهدف، فليعد إلى الحقل 7 ويسأل: هل انزلقت نحو تعديل غير مقصود؟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17 — 30 ثانية. النشاط التفاعلي الأهم في الدورة؛ الغموض في بعض البنود مقصود.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المواقف 1–4 — 5 دقائق</a:t>
            </a:r>
          </a:p>
          <a:p>
            <a:r>
              <a:rPr sz="1200">
                <a:latin typeface="Segoe UI"/>
              </a:rPr>
              <a:t>تعليمات: اعرض المواقف واطلب تصويتًا برفع الأيدي أو بطاقات ملونة (3 ألوان: تسهيل/تعديل/معلومات) لكل موقف قبل أي نقاش.</a:t>
            </a:r>
          </a:p>
          <a:p>
            <a:r>
              <a:rPr sz="1200">
                <a:latin typeface="Segoe UI"/>
              </a:rPr>
              <a:t>الموقف 3 هو الفخ التعليمي الأول: كثيرون سيقولون «تسهيل» فورًا — لا تصحح الآن؛ الإجابة تعتمد على هدف النشاط.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تحليل 1–4 — 4 دقائق</a:t>
            </a:r>
          </a:p>
          <a:p>
            <a:r>
              <a:rPr sz="1200">
                <a:latin typeface="Segoe UI"/>
              </a:rPr>
              <a:t>الرسالة الأساسية: الموقف 3 هو قلب النشاط: التغيير نفسه لا يمكن تصنيفه دون معرفة الهدف. من قال «تسهيل» مباشرة وقع في الفخ المقصود.</a:t>
            </a:r>
          </a:p>
          <a:p>
            <a:r>
              <a:rPr sz="1200">
                <a:latin typeface="Segoe UI"/>
              </a:rPr>
              <a:t>عزز: «يحتاج إلى مزيد من المعلومات» إجابة مهنية ممتازة لا تهربًا — القرار الجيد يبدأ بسؤال: ما الهدف؟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المواقف 5–8 — 5 دقائق</a:t>
            </a:r>
          </a:p>
          <a:p>
            <a:r>
              <a:rPr sz="1200">
                <a:latin typeface="Segoe UI"/>
              </a:rPr>
              <a:t>الموقف 5 غامض عمدًا (مثل 3): يعتمد على الهدف — استراتيجية الحل أم إتقان الحساب؟</a:t>
            </a:r>
          </a:p>
          <a:p>
            <a:r>
              <a:rPr sz="1200">
                <a:latin typeface="Segoe UI"/>
              </a:rPr>
              <a:t>الموقف 6 دقيق: تقليل الكمية مع بقاء النوع والمستوى والهدف — ناقشه بعمق عند الكشف.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تحليل 5–8 — 4 دقائق</a:t>
            </a:r>
          </a:p>
          <a:p>
            <a:r>
              <a:rPr sz="1200">
                <a:latin typeface="Segoe UI"/>
              </a:rPr>
              <a:t>الرسالة الأساسية: خرجنا بنمط ثابت: التصنيف لا يُقرأ من شكل التغيير بل من علاقته بالهدف ومستوى التوقع.</a:t>
            </a:r>
          </a:p>
          <a:p>
            <a:r>
              <a:rPr sz="1200">
                <a:latin typeface="Segoe UI"/>
              </a:rPr>
              <a:t>الموقف 8: أول ذكر صريح للخطة التعليمية الفردية — اذكرها بإيجاز: إطار لتوثيق الأهداف والدعم للطلاب ذوي الاحتياجات المستمرة؛ تفاصيلها تختلف بين الأنظمة التعليمية وليست موضوع هذه الدورة.</a:t>
            </a:r>
          </a:p>
          <a:p>
            <a:r>
              <a:rPr sz="1200">
                <a:latin typeface="Segoe UI"/>
              </a:rPr>
              <a:t>اختم النشاط بالسؤال: كم موقفًا احتاج معرفة الهدف قبل الحكم؟ — هذه هي الرسالة.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خريطة القرار — 3 دقائق</a:t>
            </a:r>
          </a:p>
          <a:p>
            <a:r>
              <a:rPr sz="1200">
                <a:latin typeface="Segoe UI"/>
              </a:rPr>
              <a:t>الرسالة الأساسية: هذه الخريطة هي الدورة كلها في شكل واحد — الصف الأول قبل التغيير، والصف الثاني بعده.</a:t>
            </a:r>
          </a:p>
          <a:p>
            <a:r>
              <a:rPr sz="1200">
                <a:latin typeface="Segoe UI"/>
              </a:rPr>
              <a:t>ما ينبغي شرحه: اربطها بسلسلة مسار: التقييم ← تحديد الاحتياج ← التخطيط ← التنفيذ ← المتابعة ← القرار.</a:t>
            </a:r>
          </a:p>
          <a:p>
            <a:r>
              <a:rPr sz="1200">
                <a:latin typeface="Segoe UI"/>
              </a:rPr>
              <a:t>تعليمات: اطلب من المشاركين تصوير هذه الشريحة أو الاحتفاظ بنسختها في ورقة العمل — مرجع سريع يومي.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الاختبار — 30 ثانية. طريقة التنفيذ المقترحة: إجابة فردية صامتة على الورق ثم كشف جماعي، أو تصويت لكل سؤال.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1 — دقيقة واحدة للإجابة.</a:t>
            </a:r>
          </a:p>
          <a:p>
            <a:r>
              <a:rPr sz="1200">
                <a:latin typeface="Segoe UI"/>
              </a:rPr>
              <a:t>الإجابة الصحيحة: ب. ب — الشكل لا يحسم؛ العلاقة بالهدف والتوقع هي الفيصل.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2 — دقيقة واحدة للإجابة.</a:t>
            </a:r>
          </a:p>
          <a:p>
            <a:r>
              <a:rPr sz="1200">
                <a:latin typeface="Segoe UI"/>
              </a:rPr>
              <a:t>الإجابة الصحيحة: ب. ب — المطلوب نفسه والهدف نفسه؛ تغيّر الوصول الزمني فقط.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3 — دقيقة واحدة للإجابة.</a:t>
            </a:r>
          </a:p>
          <a:p>
            <a:r>
              <a:rPr sz="1200">
                <a:latin typeface="Segoe UI"/>
              </a:rPr>
              <a:t>الإجابة الصحيحة: ج. ج — إن كان الهدف الفهم فالقراءة تزيل حاجزًا لا يُقاس؛ وإن كان الهدف مهارة القراءة نفسها فهي تمس الهدف.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4 — دقيقة واحدة للإجابة.</a:t>
            </a:r>
          </a:p>
          <a:p>
            <a:r>
              <a:rPr sz="1200">
                <a:latin typeface="Segoe UI"/>
              </a:rPr>
              <a:t>الإجابة الصحيحة: ب. ب — الحاجة أولًا؛ التشخيص يُنير ولا يقرر.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5 — دقيقة واحدة للإجابة.</a:t>
            </a:r>
          </a:p>
          <a:p>
            <a:r>
              <a:rPr sz="1200">
                <a:latin typeface="Segoe UI"/>
              </a:rPr>
              <a:t>الإجابة الصحيحة: ج. ج — المهمة الجديدة لا تحمل الهدف الأصلي (التحليل)؛ التعلم المتوقع تغيّر جوهريًا.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6 — دقيقة واحدة للإجابة.</a:t>
            </a:r>
          </a:p>
          <a:p>
            <a:r>
              <a:rPr sz="1200">
                <a:latin typeface="Segoe UI"/>
              </a:rPr>
              <a:t>الإجابة الصحيحة: ب. ب — نغيّر الطريق لا الوجهة، كلما كان ذلك ممكنًا.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7 — دقيقة واحدة للإجابة.</a:t>
            </a:r>
          </a:p>
          <a:p>
            <a:r>
              <a:rPr sz="1200">
                <a:latin typeface="Segoe UI"/>
              </a:rPr>
              <a:t>الإجابة الصحيحة: ب. ب — الأول يحتاج تسهيلًا، والثاني يحتاج تدريسًا ودعمًا وقد يحتاج تعديلًا مؤقتًا.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8 — دقيقة واحدة للإجابة.</a:t>
            </a:r>
          </a:p>
          <a:p>
            <a:r>
              <a:rPr sz="1200">
                <a:latin typeface="Segoe UI"/>
              </a:rPr>
              <a:t>الإجابة الصحيحة: ج. ج — الحلقة الكاملة: دعم ← دليل ← قرار؛ الدعم بلا دليل يصبح عادة عمياء.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9 — دقيقة واحدة للإجابة.</a:t>
            </a:r>
          </a:p>
          <a:p>
            <a:r>
              <a:rPr sz="1200">
                <a:latin typeface="Segoe UI"/>
              </a:rPr>
              <a:t>الإجابة الصحيحة: ج. ج — الأدلة الصغيرة المنتظمة أسرع وأدق لقرارات الضبط.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10 — دقيقة واحدة للإجابة.</a:t>
            </a:r>
          </a:p>
          <a:p>
            <a:r>
              <a:rPr sz="1200">
                <a:latin typeface="Segoe UI"/>
              </a:rPr>
              <a:t>الإجابة الصحيحة: ب. ب — التعديل قرار مدروس بالأدلة لا مهرب سريع — ومعه خطة مراجعة.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11 — دقيقة واحدة للإجابة.</a:t>
            </a:r>
          </a:p>
          <a:p>
            <a:r>
              <a:rPr sz="1200">
                <a:latin typeface="Segoe UI"/>
              </a:rPr>
              <a:t>الإجابة الصحيحة: ب. ب — تسهيل في الاستجابة: الحاجز (الكتابة) لا علاقة له بالشيء المقيس (الفهم).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سؤال 12 — دقيقة واحدة للإجابة.</a:t>
            </a:r>
          </a:p>
          <a:p>
            <a:r>
              <a:rPr sz="1200">
                <a:latin typeface="Segoe UI"/>
              </a:rPr>
              <a:t>الإجابة الصحيحة: ج. ج — لا تصنيف بلا هدف: القرار المهني الجيد يبدأ من معرفة الهدف.</a:t>
            </a:r>
          </a:p>
          <a:p>
            <a:r>
              <a:rPr sz="1200">
                <a:latin typeface="Segoe UI"/>
              </a:rPr>
              <a:t>اطلب التصويت قبل الكشف؛ إن انقسم الرأي فذلك فرصة نقاش قصيرة.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مفتاح الإجابات — 3 دقائق</a:t>
            </a:r>
          </a:p>
          <a:p>
            <a:r>
              <a:rPr sz="1200">
                <a:latin typeface="Segoe UI"/>
              </a:rPr>
              <a:t>درجة الاجتياز 80% أي 10 من 12. من لم يجتز: راجع معه الأسئلة الخاطئة — غالبًا يتركز الخلط في سؤالي «الهدف أولًا» (3 و12).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التأمل الختامي — 6 دقائق صمت</a:t>
            </a:r>
          </a:p>
          <a:p>
            <a:r>
              <a:rPr sz="1200">
                <a:latin typeface="Segoe UI"/>
              </a:rPr>
              <a:t>تعليمات: وفر هدوءًا حقيقيًا. لا مشاركة إجبارية؛ في النهاية اطلب من متطوعين مشاركة إجابة السؤال 3 فقط (الالتزام العملي).</a:t>
            </a:r>
          </a:p>
          <a:p>
            <a:r>
              <a:rPr sz="1200">
                <a:latin typeface="Segoe UI"/>
              </a:rPr>
              <a:t>الرسالة الأساسية: التأمل يحوّل المحتوى إلى نية تنفيذ — السؤالان 3 و4 هما جسر العودة إلى المدرسة.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الختام — 3 دقائق</a:t>
            </a:r>
          </a:p>
          <a:p>
            <a:r>
              <a:rPr sz="1200">
                <a:latin typeface="Segoe UI"/>
              </a:rPr>
              <a:t>الرسالة الأساسية: اختم بالسؤال الذي بدأنا به: «كيف أساعد الطالب على الوصول إلى التعلم دون أن أغيّر الهدف؟» — الآن لدى كل مشارك طريق إجابة كامل.</a:t>
            </a:r>
          </a:p>
          <a:p>
            <a:r>
              <a:rPr sz="1200">
                <a:latin typeface="Segoe UI"/>
              </a:rPr>
              <a:t>ذكّرهم: خطة الوحدة 16 تعود معهم إلى المدرسة، ونموذجا التوثيق والمتابعة جاهزان في كتيب المشارك.</a:t>
            </a:r>
          </a:p>
          <a:p>
            <a:r>
              <a:rPr sz="1200">
                <a:latin typeface="Segoe UI"/>
              </a:rPr>
              <a:t>عرّف بالوجهة التالية (حزمة دعم المعلم) ووزّع استمارات التقييم إن وجدت. وداع حار.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846320"/>
            <a:ext cx="2926080" cy="2926080"/>
          </a:xfrm>
          <a:prstGeom prst="ellipse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-1280160"/>
            <a:ext cx="2743200" cy="2743200"/>
          </a:xfrm>
          <a:prstGeom prst="ellipse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37176" y="640080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Segoe UI"/>
              </a:rPr>
              <a:t>MASAR | مسار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2468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  <a:cs typeface="Segoe UI"/>
              </a:rPr>
              <a:t>التسهيلات والتعديلات التعليمية</a:t>
            </a:r>
          </a:p>
          <a:p>
            <a:pPr algn="ctr" rtl="1">
              <a:spcBef>
                <a:spcPts val="600"/>
              </a:spcBef>
              <a:spcAft>
                <a:spcPts val="400"/>
              </a:spcAft>
            </a:pPr>
            <a:r>
              <a:rPr sz="2400" b="1" i="0">
                <a:solidFill>
                  <a:srgbClr val="C9A227"/>
                </a:solidFill>
                <a:latin typeface="Segoe UI"/>
                <a:cs typeface="Segoe UI"/>
              </a:rPr>
              <a:t>كيف نُكيّف التعلم دون أن نفقد الهدف؟</a:t>
            </a:r>
          </a:p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>(Accommodations &amp; Modifications)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4389120"/>
            <a:ext cx="7772400" cy="64008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162B6B"/>
                </a:solidFill>
                <a:latin typeface="Segoe UI"/>
                <a:cs typeface="Segoe UI"/>
              </a:rPr>
              <a:t>الدورة التدريبية الثالثة — منظومة مسار للتعليم الشامل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دورة عملية للمعلمين والمعلمات والعاملين داخل الصفوف ومنسقي التعليم الشامل</a:t>
            </a:r>
          </a:p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E4F6F6"/>
                </a:solidFill>
                <a:latin typeface="Segoe UI"/>
                <a:cs typeface="Segoe UI"/>
              </a:rPr>
              <a:t>المدة: 60–90 دقيقة  |  يمكن إكمالها على مراحل قصيرة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مقدمة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واحد تدور حوله الدورة كلها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10332720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Segoe UI"/>
              </a:rPr>
              <a:t>كيف أساعد الطالب على الوصول إلى التعلم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400" b="1" i="0">
                <a:solidFill>
                  <a:srgbClr val="C9A227"/>
                </a:solidFill>
                <a:latin typeface="Segoe UI"/>
                <a:cs typeface="Segoe UI"/>
              </a:rPr>
              <a:t>دون أن أغيّر الهدف الذي يفترض أن يتعلمه؟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1183112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ثم السؤال الثاني الذي سيلازمنا في كل وحدة: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50" b="0" i="0">
                <a:solidFill>
                  <a:srgbClr val="2B2F38"/>
                </a:solidFill>
                <a:latin typeface="Segoe UI"/>
                <a:cs typeface="Segoe UI"/>
              </a:rPr>
              <a:t>متى يكون التغيير في طريقة الوصول إلى التعلم تسهيلًا؟ ومتى يصبح تغييرًا في الهدف أو مستوى التعلم نفسه؟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4434840"/>
            <a:ext cx="3602736" cy="18288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لمن هذه الدورة؟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المعلمون والمعلمات، والعاملون داخل الصفوف، ومنسقو التعليم الشامل، وكل من يعمل مع طلاب يحتاجون دعمًا أو ترتيبات إضافية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434840"/>
            <a:ext cx="3602736" cy="18288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ماذا ستخرج به؟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قدرة على اتخاذ القرار: ماذا يحتاج الطالب؟ ما الذي أغيره؟ هل هو تسهيل أم تعديل؟ وكيف أعرف أنه نجح؟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34840"/>
            <a:ext cx="3602736" cy="18288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كيف سنعمل؟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مواقف صفية، مقارنات، دراسة حالة، سيناريوهات «تسهيل أم تعديل؟»، ثم مهمة تطبيقية على درس حقيقي من مادتك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أهداف التعلم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ماذا ستستطيع أن تفعل في نهاية الدورة؟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298448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1.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تشرح مفهوم التسهيلات التعليمية بطريقة عملية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2.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تشرح مفهوم التعديلات التعليمية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153412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3.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تميز بين التسهيل والتعديل في المواقف الصفية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53412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4.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تفهم العلاقة بين احتياج الطالب والهدف التعلمي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008376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5.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تحدد الحواجز التي قد تمنع الوصول إلى التعلم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08376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6.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تختار تسهيلًا مناسبًا بناءً على الحاجة لا التشخيص وحده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863339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7.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تتعرف على الحالات التي يتحول فيها التسهيل إلى تعديل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63339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8.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تطبق أمثلة عملية للتسهيلات داخل الصف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718304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9.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تطبق أمثلة عملية للتعديلات عند الحاجة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18304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10.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توثق الدعم أو التسهيل المستخدم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5573268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11.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تتابع أثر التسهيل أو التعديل بالأدلة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73268"/>
            <a:ext cx="5486400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27000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12.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تتخذ قرارًا مبنيًا على الأدلة: استمرار، تعديل، أو استجابة أخرى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خريطة الدورة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المسار الذي سنسير فيه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61523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افهم الاحتياج</a:t>
            </a:r>
          </a:p>
        </p:txBody>
      </p:sp>
      <p:sp>
        <p:nvSpPr>
          <p:cNvPr id="10" name="Left Arrow 9"/>
          <p:cNvSpPr/>
          <p:nvPr/>
        </p:nvSpPr>
        <p:spPr>
          <a:xfrm>
            <a:off x="10279227" y="2121408"/>
            <a:ext cx="82296" cy="219456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53347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حدد الهدف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8871051" y="2121408"/>
            <a:ext cx="82296" cy="219456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5171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حدد الحاجز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7462875" y="2121408"/>
            <a:ext cx="82296" cy="219456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36995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اختر الاستجابة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6054699" y="2121408"/>
            <a:ext cx="82296" cy="219456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28819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62B6B"/>
                </a:solidFill>
                <a:latin typeface="Segoe UI"/>
                <a:cs typeface="Segoe UI"/>
              </a:rPr>
              <a:t>5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162B6B"/>
                </a:solidFill>
                <a:latin typeface="Segoe UI"/>
                <a:cs typeface="Segoe UI"/>
              </a:rPr>
              <a:t>تسهيل أم تعديل؟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4646523" y="2121408"/>
            <a:ext cx="82296" cy="219456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20643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خطط ووثق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238347" y="2121408"/>
            <a:ext cx="82296" cy="219456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12467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طبق واجمع الأدلة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1830171" y="2121408"/>
            <a:ext cx="82296" cy="219456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4291" y="155448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62B6B"/>
                </a:solidFill>
                <a:latin typeface="Segoe UI"/>
                <a:cs typeface="Segoe UI"/>
              </a:rPr>
              <a:t>8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162B6B"/>
                </a:solidFill>
                <a:latin typeface="Segoe UI"/>
                <a:cs typeface="Segoe UI"/>
              </a:rPr>
              <a:t>راجع وقرر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3383280"/>
            <a:ext cx="9784080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50" b="0" i="0">
                <a:solidFill>
                  <a:srgbClr val="E4F6F6"/>
                </a:solidFill>
                <a:latin typeface="Segoe UI"/>
                <a:cs typeface="Segoe UI"/>
              </a:rPr>
              <a:t>هذا هو قلب منهجية مسار نفسها: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التقييم ← تحديد الاحتياج ← التخطيط ← التنفيذ ← المتابعة ← القرار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لن نحفظ تعريفات — سنتدرب على اتخاذ القرار في مواقف حقيقية.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لماذا نحتاج إلى التسهيلات والتعديلات؟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موقف صفي: هدف واحد وثلاثة طلاب يتعثرون لأسباب مختلفة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السؤال المؤسس: نغيّر الهدف أم نغيّر طريقة الوصول إليه؟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 — موقف واقعي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هدف واحد... وثلاثة طلاب متعثرون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تأمل في الموقف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الأستاذة منى لديها هدف تعلمي واحد مطلوب من الجميع. لاحظت ما يلي: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الهدف: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أن يفهم الطالب المسألة اللفظية ويحلها بالعملية الحسابية المناسبة.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خالد: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يفهم الرياضيات جيدًا، لكنه يقرأ التعليمات المكتوبة ببطء شديد — فينتهي الوقت قبل أن يبدأ الحل.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22775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ريم: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تفهم المسألة وتحلها ذهنيًا بسرعة، لكن الكتابة اليدوية مرهقة لها — فتسلّم ورقة شبه فارغة.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01183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ماجد: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يحتاج دعمًا إضافيًا لفهم المطلوب من المهمة نفسها — يسأل: «ماذا أفعل؟» بعد كل شرح.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السؤال المؤسس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417320"/>
            <a:ext cx="9966960" cy="105156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300" b="1" i="0">
                <a:solidFill>
                  <a:srgbClr val="162B6B"/>
                </a:solidFill>
                <a:latin typeface="Segoe UI"/>
                <a:cs typeface="Segoe UI"/>
              </a:rPr>
              <a:t>هل يجب أن نغيّر الهدف؟ أم نغيّر طريقة وصول الطالب إليه؟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1183112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8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700" b="0" i="0">
                <a:solidFill>
                  <a:srgbClr val="2B2F38"/>
                </a:solidFill>
                <a:latin typeface="Segoe UI"/>
                <a:cs typeface="Segoe UI"/>
              </a:rPr>
              <a:t>لخالد وريم: الهدف في متناولهما — الحاجز في الطريق (سرعة القراءة، إرهاق الكتابة). نغيّر الطريق ونحافظ على الهدف.</a:t>
            </a:r>
          </a:p>
          <a:p>
            <a:pPr algn="r" rtl="1">
              <a:spcBef>
                <a:spcPts val="8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700" b="0" i="0">
                <a:solidFill>
                  <a:srgbClr val="2B2F38"/>
                </a:solidFill>
                <a:latin typeface="Segoe UI"/>
                <a:cs typeface="Segoe UI"/>
              </a:rPr>
              <a:t>لماجد: قد يحتاج الأمر نظرة أعمق — هل الحاجز في وضوح التعليمات؟ أم أن المهارة الأساسية نفسها لم تُكتسب بعد؟</a:t>
            </a:r>
          </a:p>
          <a:p>
            <a:pPr algn="r" rtl="1">
              <a:spcBef>
                <a:spcPts val="8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هذان طريقان مختلفان تمامًا في الاستجابة — ولكل منهما اسم ومنطق وقرار مختلف.</a:t>
            </a:r>
          </a:p>
          <a:p>
            <a:pPr algn="r" rtl="1">
              <a:spcBef>
                <a:spcPts val="8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هذه الدورة تعلمك متى تسلك كل طريق، وكيف تعرف أنك اخترت الصحيح.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2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الوصول إلى التعلم... والحواجز التي تعترضه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83112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الوصول إلى التعلم </a:t>
            </a:r>
            <a:r>
              <a:rPr sz="1300" b="0" i="0">
                <a:solidFill>
                  <a:srgbClr val="6B7280"/>
                </a:solidFill>
                <a:latin typeface="Segoe UI"/>
                <a:cs typeface="Segoe UI"/>
              </a:rPr>
              <a:t>(Access to Learning)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 يعني أن يستطيع الطالب فهم المهمة والتفاعل معها وإظهار تعلمه. وقد يمتلك الطالب القدرة على تعلم المفهوم، لكن </a:t>
            </a: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حاجزًا أمام التعلم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(Barriers to Learning)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 يقف في طريقة تقديم المهمة أو الاستجابة لها: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3848" y="2331720"/>
            <a:ext cx="3127248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تعليمات طويلة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خطوات متداخلة يصعب تتبعها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6872" y="2331720"/>
            <a:ext cx="31272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نص صغير أو مزدحم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صفحة تربك العين قبل العقل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9896" y="2331720"/>
            <a:ext cx="3127248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وقت غير كافٍ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السرعة تُقاس بدل الفهم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31272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صعوبة في الكتابة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اليد أبطأ من الفكر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849624"/>
            <a:ext cx="31272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صعوبة تنظيم الخطوات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يعرف ماذا، ويتوه في كيف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3" y="3849624"/>
            <a:ext cx="3127248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بيئة كثيرة المشتتات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ضوضاء وحركة تسرق الانتباه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3849624"/>
            <a:ext cx="31272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عدم وضوح المطلوب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الطالب لا يعرف ماذا يُنتظر منه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486400"/>
            <a:ext cx="8869680" cy="77724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وجود حاجز لا يعني بالضرورة أن الطالب غير قادر على تعلم الهدف.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3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ما هي التسهيلات التعليمية؟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تعريف عملي واضح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ثمانية أمثلة صفية مباشرة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ما ليس تسهيلًا: لا مكافأة، ولا إعفاء، ولا خفض توقعات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3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التسهيلات التعليمية ببساطة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831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1F3A93"/>
                </a:solidFill>
                <a:latin typeface="Segoe UI"/>
                <a:cs typeface="Segoe UI"/>
              </a:rPr>
              <a:t>التسهيلات التعليمية </a:t>
            </a:r>
            <a:r>
              <a:rPr sz="1500" b="0" i="0">
                <a:solidFill>
                  <a:srgbClr val="6B7280"/>
                </a:solidFill>
                <a:latin typeface="Segoe UI"/>
                <a:cs typeface="Segoe UI"/>
              </a:rPr>
              <a:t>(Accommodations)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83080"/>
            <a:ext cx="10332720" cy="13258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50" b="1" i="0">
                <a:solidFill>
                  <a:srgbClr val="1F3A93"/>
                </a:solidFill>
                <a:latin typeface="Segoe UI"/>
                <a:cs typeface="Segoe UI"/>
              </a:rPr>
              <a:t>تغيير في طريقة وصول الطالب إلى التعلم أو إظهار تعلمه،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50" b="1" i="0">
                <a:solidFill>
                  <a:srgbClr val="1F3A93"/>
                </a:solidFill>
                <a:latin typeface="Segoe UI"/>
                <a:cs typeface="Segoe UI"/>
              </a:rPr>
              <a:t>مع الحفاظ — حيثما كان ذلك مناسبًا — على الهدف أو التوقع التعليمي الأساسي.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3832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وقت إضافي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عندما يقيس الوقتُ السرعةَ لا الفهم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832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تعليمات أوضح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جمل قصيرة، خطوات مرقمة، لغة مباشرة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3832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تقسيم المهمة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خطوات صغيرة بنقاط وصول قريبة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832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وسيلة بصرية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صورة أو مخطط يدعم الشرح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882896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تقليل المشتتات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مقعد هادئ، مساحة عمل منظمة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882896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طريقة بديلة للإجابة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شفهي أو رسم عندما يكون ذلك مناسبًا للهدف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4882896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تقنية مساعدة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عند توفرها: قارئ، مسجل، حاسوب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82896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نموذج قبل البدء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مثال محلول يوضح شكل العمل المطلوب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3 — تصحيح المفاهيم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التسهيل ليس...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417320"/>
            <a:ext cx="547725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B03333"/>
                </a:solidFill>
                <a:latin typeface="Segoe UI"/>
                <a:cs typeface="Segoe UI"/>
              </a:rPr>
              <a:t>ليس مكافأة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لا يُمنح للسلوك الجيد ولا يُسحب عقابًا — إنه استجابة لحاجة تعليمية، مثل النظارة تمامًا.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7725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B03333"/>
                </a:solidFill>
                <a:latin typeface="Segoe UI"/>
                <a:cs typeface="Segoe UI"/>
              </a:rPr>
              <a:t>ليس إعفاءً من التعلم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الطالب يتعلم المحتوى نفسه ويُحاسب على الهدف نفسه — تغيّر الطريق لا الوجهة.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904488"/>
            <a:ext cx="547725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B03333"/>
                </a:solidFill>
                <a:latin typeface="Segoe UI"/>
                <a:cs typeface="Segoe UI"/>
              </a:rPr>
              <a:t>ليس خفضًا للتوقعات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التوقع التعليمي يبقى كما هو في الأصل. من يحصل على وقت إضافي يحل الأسئلة نفسها.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04488"/>
            <a:ext cx="547725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1F3A93"/>
                </a:solidFill>
                <a:latin typeface="Segoe UI"/>
                <a:cs typeface="Segoe UI"/>
              </a:rPr>
              <a:t>ليس بالضرورة «أسهل»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قد لا تكون المهمة أسهل إطلاقًا — فقط أصبح الوصول إليها ممكنًا.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4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التعديلات التعليمية ببساطة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831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1F3A93"/>
                </a:solidFill>
                <a:latin typeface="Segoe UI"/>
                <a:cs typeface="Segoe UI"/>
              </a:rPr>
              <a:t>التعديلات التعليمية </a:t>
            </a:r>
            <a:r>
              <a:rPr sz="1500" b="0" i="0">
                <a:solidFill>
                  <a:srgbClr val="6B7280"/>
                </a:solidFill>
                <a:latin typeface="Segoe UI"/>
                <a:cs typeface="Segoe UI"/>
              </a:rPr>
              <a:t>(Modifications)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83080"/>
            <a:ext cx="10332720" cy="13258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50" b="1" i="0">
                <a:solidFill>
                  <a:srgbClr val="1F3A93"/>
                </a:solidFill>
                <a:latin typeface="Segoe UI"/>
                <a:cs typeface="Segoe UI"/>
              </a:rPr>
              <a:t>تغيير قد يطال ما يتعلمه الطالب نفسه أو مستوى التوقع التعليمي منه —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50" b="1" i="0">
                <a:solidFill>
                  <a:srgbClr val="1F3A93"/>
                </a:solidFill>
                <a:latin typeface="Segoe UI"/>
                <a:cs typeface="Segoe UI"/>
              </a:rPr>
              <a:t>وليس مجرد تغيير في طريقة تقديم المهمة أو الاستجابة لها.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11183112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قد يتضمن التعديل تغييرًا في: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931920"/>
            <a:ext cx="5477256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محتوى التعلم —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مثال: يعمل الطالب على جمع الأعداد ضمن 20 بينما يعمل الصف على الضرب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5477256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مستوى الصعوبة —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مثال: نص قرائي أقصر وأبسط بمفردات أقل من نص الصف المستهدف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5120640"/>
            <a:ext cx="5477256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نطاق المهارة —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مثال: يُطلب تحديد فكرة واحدة بدل تحليل ثلاث أفكار والموازنة بينها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20640"/>
            <a:ext cx="5477256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مستوى التوقع — </a:t>
            </a: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مثال: يُقيَّم الطالب على معايير مختلفة عن معايير بقية الصف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1118311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التعديل قرار تعليمي مدروس وموثق — وليس اختصارًا سريعًا لتجاوز الصعوبة.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5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الفرق بين التسهيل والتعديل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المقارنة الحاسمة — أهم وحدة في الدورة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القاعدة المبسطة للتمييز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الدعم والتسهيل والتعديل: ثلاثة مستويات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5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المقارنة الحاسمة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08392" y="1371600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السؤال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05656" y="1371600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التسهيل (Accommodations)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التعديل (Modifications)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8392" y="2176272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2B2F38"/>
                </a:solidFill>
                <a:latin typeface="Segoe UI"/>
                <a:cs typeface="Segoe UI"/>
              </a:rPr>
              <a:t>هل تتغير طريقة الوصول إلى التعلم؟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6" y="2176272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غالبًا نعم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76272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قد يحدث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980944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2B2F38"/>
                </a:solidFill>
                <a:latin typeface="Segoe UI"/>
                <a:cs typeface="Segoe UI"/>
              </a:rPr>
              <a:t>هل يتغير الهدف التعلمي؟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05656" y="2980944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لا، في الأصل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80944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قد يتغير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08392" y="3785615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2B2F38"/>
                </a:solidFill>
                <a:latin typeface="Segoe UI"/>
                <a:cs typeface="Segoe UI"/>
              </a:rPr>
              <a:t>هل يتغير مستوى التوقع؟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05656" y="3785615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عادةً لا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85615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قد يتغير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08392" y="4590288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2B2F38"/>
                </a:solidFill>
                <a:latin typeface="Segoe UI"/>
                <a:cs typeface="Segoe UI"/>
              </a:rPr>
              <a:t>هل يحتاج إلى قرار مدروس؟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05656" y="4590288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90288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8392" y="5394959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2B2F38"/>
                </a:solidFill>
                <a:latin typeface="Segoe UI"/>
                <a:cs typeface="Segoe UI"/>
              </a:rPr>
              <a:t>هل يُستخدم لمجرد وجود تشخيص؟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05656" y="5394959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لا — الحاجة أولًا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94959"/>
            <a:ext cx="3566160" cy="74980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لا — الحاجة أولًا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5806440"/>
            <a:ext cx="9784080" cy="54864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  <a:cs typeface="Segoe UI"/>
              </a:rPr>
              <a:t>العمود الفاصل هو: ماذا يحدث للهدف التعلمي ومستوى التوقع؟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5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القاعدة المبسطة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1F3A93"/>
                </a:solidFill>
                <a:latin typeface="Segoe UI"/>
                <a:cs typeface="Segoe UI"/>
              </a:rPr>
              <a:t>إذا تغيّرت طريقة وصول الطالب إلى الهدف مع بقاء الهدف نفسه،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2BB3B1"/>
                </a:solidFill>
                <a:latin typeface="Segoe UI"/>
                <a:cs typeface="Segoe UI"/>
              </a:rPr>
              <a:t>فنحن غالبًا أمام تسهيل.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1F3A93"/>
                </a:solidFill>
                <a:latin typeface="Segoe UI"/>
                <a:cs typeface="Segoe UI"/>
              </a:rPr>
              <a:t>إذا تغيّر الهدف أو مستوى التوقع التعليمي نفسه،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C9A227"/>
                </a:solidFill>
                <a:latin typeface="Segoe UI"/>
                <a:cs typeface="Segoe UI"/>
              </a:rPr>
              <a:t>فقد نكون أمام تعديل.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343400"/>
            <a:ext cx="9235440" cy="11887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  <a:cs typeface="Segoe UI"/>
              </a:rPr>
              <a:t>لا تحكم على التغيير من شكله؛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100" b="1" i="0">
                <a:solidFill>
                  <a:srgbClr val="C9A227"/>
                </a:solidFill>
                <a:latin typeface="Segoe UI"/>
                <a:cs typeface="Segoe UI"/>
              </a:rPr>
              <a:t>انظر إلى أثره على الهدف التعلمي.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التغيير نفسه (مثل القراءة للطالب) قد يكون تسهيلًا في درس وتعديلًا في آخر — الهدف هو الحكم.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5 — الدعم والتسهيل والتعديل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ثلاثة مستويات لا تخلط بينها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5912" cy="14173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77800"/>
          <a:lstStyle/>
          <a:p>
            <a:pPr algn="r" rtl="1"/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الدعم التعليمي </a:t>
            </a:r>
            <a:r>
              <a:rPr sz="1150" b="0" i="0">
                <a:solidFill>
                  <a:srgbClr val="6B7280"/>
                </a:solidFill>
                <a:latin typeface="Segoe UI"/>
                <a:cs typeface="Segoe UI"/>
              </a:rPr>
              <a:t>(Instructional Support)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يساعد الطالب على التعلم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شرح إضافي، نمذجة، دعم متدرج (Scaffolding)، تشجيع، مجموعة صغيرة — ممارسات تدريس جيدة متاحة للجميع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1072591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77800"/>
          <a:lstStyle/>
          <a:p>
            <a:pPr algn="r" rtl="1"/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التسهيل </a:t>
            </a:r>
            <a:r>
              <a:rPr sz="1150" b="0" i="0">
                <a:solidFill>
                  <a:srgbClr val="6B7280"/>
                </a:solidFill>
                <a:latin typeface="Segoe UI"/>
                <a:cs typeface="Segoe UI"/>
              </a:rPr>
              <a:t>(Accommodations) — </a:t>
            </a: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يغيّر طريقة الوصول أو الاستجابة مع الحفاظ على الهدف في الأصل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وقت إضافي، قراءة التعليمات، طريقة إجابة بديلة، تقليل مشتتات — استجابة لحاجة محددة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725912" cy="141732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77800"/>
          <a:lstStyle/>
          <a:p>
            <a:pPr algn="r" rtl="1"/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التعديل </a:t>
            </a:r>
            <a:r>
              <a:rPr sz="1150" b="0" i="0">
                <a:solidFill>
                  <a:srgbClr val="6B7280"/>
                </a:solidFill>
                <a:latin typeface="Segoe UI"/>
                <a:cs typeface="Segoe UI"/>
              </a:rPr>
              <a:t>(Modifications) — </a:t>
            </a: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قد يغيّر ما يتعلمه الطالب أو مستوى التوقع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محتوى مختلف، مستوى أبسط، نطاق أضيق، معايير تقييم مختلفة — قرار مدروس وموثق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72200"/>
            <a:ext cx="111831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  <a:cs typeface="Segoe UI"/>
              </a:rPr>
              <a:t>هذه التعريفات إطار عملي — والتطبيق قد يختلف بحسب النظام التعليمي والسياسات المعتمدة.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6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لا تبدأ من التشخيص... ابدأ من الحاجة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لماذا لا يحدد التشخيصُ وحده نوعَ التسهيل؟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أسئلة الفحص قبل اختيار الاستجابة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مثال تطبيقي: طالب يتعثر في نص طويل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6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التشخيص لا يختار التسهيل — الحاجة تختاره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22392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B03333"/>
                </a:solidFill>
                <a:latin typeface="Segoe UI"/>
                <a:cs typeface="Segoe UI"/>
              </a:rPr>
              <a:t>✗ التفكير الخاطئ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«هذا الطالب لديه تشخيص معيّن، إذن يحتاج إلى التسهيل الفلاني تلقائيًا.»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2BB3B1"/>
                </a:solidFill>
                <a:latin typeface="Segoe UI"/>
                <a:cs typeface="Segoe UI"/>
              </a:rPr>
              <a:t>✓ التفكير المهني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«ما الحاجز الذي يمنع هذا الطالب من الوصول إلى الهدف؟ وما الاستجابة التعليمية المناسبة له؟»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1183112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طالبان بالتشخيص نفسه قد يحتاجان تسهيلين مختلفين تمامًا — وطالبان بلا أي تشخيص قد يحتاجان التسهيل نفسه.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التشخيص معلومة مفيدة تُنير الفهم، لكنه لا يغني عن ملاحظة الطالب الفعلية في المهمة الفعلية.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وجود تشخيص لا يحدد تلقائيًا نوع التسهيل — والقرار يستند إلى: الهدف + الحاجة + الحاجز + الأدلة + السياق.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التسهيلات ليست حكرًا على التربية الخاصة — أي طالب قد يحتاجها مؤقتًا أو دائمًا.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5440680"/>
            <a:ext cx="8869680" cy="77724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  <a:cs typeface="Segoe UI"/>
              </a:rPr>
              <a:t>القرار = الهدف + الحاجة التعليمية + الحاجز + الأدلة + السياق التعليمي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6 — لا تفترض الحل، افحص الحاجز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مثال: طالب يتعثر أمام نص طويل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8311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قبل أن يفترض المعلم الحل، يسأل: أين الحاجز تحديدًا؟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103120"/>
            <a:ext cx="5477256" cy="1170432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هل المشكلة في فهم المفردات؟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الاستجابة: كلمات مفتاحية مشروحة قبل القراءة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5477256" cy="1170432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في طول النص؟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الاستجابة: تقسيمه إلى مقاطع بأسئلة توجيهية بعد كل مقطع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401568"/>
            <a:ext cx="5477256" cy="1170432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في سرعة القراءة؟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الاستجابة: وقت إضافي أو قراءة مشتركة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01568"/>
            <a:ext cx="5477256" cy="1170432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في الوصول البصري؟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الاستجابة: خط أكبر، تباعد أوسع، صفحة أنظف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4700016"/>
            <a:ext cx="5477256" cy="1170432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في وضوح التعليمات؟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الاستجابة: إعادة صياغة المطلوب بجملة مباشرة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00016"/>
            <a:ext cx="5477256" cy="1170432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في القدرة على التركيز؟</a:t>
            </a:r>
          </a:p>
          <a:p>
            <a:pPr algn="r" rtl="1">
              <a:spcBef>
                <a:spcPts val="200"/>
              </a:spcBef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الاستجابة: مقعد هادئ وتجزئة زمن القراءة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31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ستة حواجز محتملة لموقف واحد — وست استجابات مختلفة. لهذا لا يوجد «تسهيل جاهز» لكل الحالات.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7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مجالات التسهيلات التعليمية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خمسة مجالات عملية: العرض، البيئة، الوقت، الاستجابة، تنظيم المهمة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أمثلة صفية لكل مجال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القاعدة: التسهيل المناسب يرتبط بحاجة حقيقية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7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خمسة مجالات للتسهيلات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1. تسهيلات العرض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تبسيط طريقة عرض التعليمات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وسائل بصرية داعمة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قراءة التعليمات عند الحاجة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تقسيم المعلومات إلى أجزاء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2. تسهيلات البيئة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تقليل المشتتات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تغيير مكان الجلوس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تنظيم المواد والأدوات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3. تسهيلات الوقت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وقت إضافي عند الحاجة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فترات راحة قصيرة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تجزئة المهمة زمنيًا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032504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4. تسهيلات الاستجابة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طريقة مناسبة لإظهار التعلم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وسيلة تقنية عند توفرها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الإجابة الشفهية أو المرسومة عند ملاءمتها للهدف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32504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5. تسهيلات تنظيم المهمة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تقسيم المهمة إلى خطوات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قوائم التحقق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نماذج العمل والأمثلة المحلولة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32504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القاعدة الذهبية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هذه ليست قائمة إلزامية لجميع الطلاب.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التسهيل المناسب هو الذي يرتبط بحاجة حقيقية لدى الطالب — لا أكثر ولا أقل.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8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متى يصبح التسهيل تعديلًا؟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325880"/>
            <a:ext cx="10332720" cy="77724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الهدف: أن يقرأ الطالب نصًا معينًا ويحدد الفكرة الرئيسية.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31720"/>
            <a:ext cx="5422392" cy="19659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الحالة الأولى: قراءة النص للطالب</a:t>
            </a:r>
          </a:p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إذا كان الهدف هو فهم الفكرة الرئيسية (لا مهارة القراءة نفسها)، فقراءة النص بصوت مسموع تزيل حاجز فك الرموز وتبقي الهدف سليمًا.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2BB3B1"/>
                </a:solidFill>
                <a:latin typeface="Segoe UI"/>
                <a:cs typeface="Segoe UI"/>
              </a:rPr>
              <a:t>← غالبًا تسهيل في الوصول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الحالة الثانية: استبدال النص بجملة قصيرة جدًا</a:t>
            </a:r>
          </a:p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إذا أصبح المطلوب قراءة جملة قصيرة جدًا بدل النص المستهدف لأن الهدف نفسه خُفّض، فقد تغيّر مستوى التعلم المتوقع.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← قد نكون أمام تعديل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617720"/>
            <a:ext cx="97840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الحكم يعتمد دائمًا على ثلاثة أشياء: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الهدف + التغيير + ما الذي يُتوقع من الطالب أن يتعلمه أو يظهره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التغيير نفسه قد يكون تسهيلًا هنا وتعديلًا هناك — لأن الهدف تغيّر، لا لأن شكل التغيير تغيّر.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9 — حالات عملية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أربع حالات: فكر قبل أن ترى الإجابة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نشاط تفكير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لكل حالة: ما الخيارات الممكنة؟ وهل هي تسهيل أم تعديل؟ سجّل رأيك في ورقة العمل (6) قبل عرض الإجابات.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الحالة 1: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 يفهم الدرس جيدًا لكنه يحتاج وقتًا أطول من زملائه لإكمال الاختبار.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الحالة 2: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طالبة تعرف الإجابة الصحيحة، لكن الكتابة اليدوية البطيئة والمرهقة تمنعها من إظهار معرفتها.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22775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الحالة 3: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 يواجه صعوبة متكررة في فهم التعليمات الطويلة متعددة الخطوات.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01183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الحالة 4: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 لم يتقن المهارة الأساسية السابقة (جمع الأعداد)، بينما يعمل الصف على مهارة أعلى (الضرب) — ويحتاج هدفًا مختلفًا في جزء من المهمة.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9 — التحليل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الحالات الأربع: التحليل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الحالة 1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 — في الوقت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الفهم موجود والحاجز زمني. وقت إضافي (بما يتوافق مع سياسات التقييم المعمول بها) يُظهر التعلم الحقيقي دون تغيير الهدف.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59736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الحالة 2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 — في الاستجابة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المعرفة موجودة والحاجز في وسيلة الإظهار. إجابة شفهية أو كتابة على جهاز أو وقت إضافي — الهدف (إظهار المعرفة) لم يتغير.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93592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الحالة 3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 — في العرض وتنظيم المهمة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تعليمات مجزأة مرقمة، مكتوبة ومسموعة، مع قائمة تحقق. الحاجز في طريقة تقديم التعليمات لا في القدرة على التنفيذ.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27448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الحالة 4 — </a:t>
            </a: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قد يتطلب تعديلًا — مع خطة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هنا المهارة الأساسية نفسها غير مكتسبة؛ العمل مؤقتًا على هدف مختلف (إتقان الجمع) تغيير في مستوى التعلم المستهدف — قرار مدروس يُخطط له ويُوثق مع خطة لردم الفجوة.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10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كيف أختار التسهيل المناسب؟ نموذج القرار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5912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1. ما الهدف التعلمي؟ — </a:t>
            </a: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لا قرار سليم دون هدف واضح — هذه نقطة البداية دائمًا</a:t>
            </a:r>
          </a:p>
        </p:txBody>
      </p:sp>
      <p:sp>
        <p:nvSpPr>
          <p:cNvPr id="10" name="Oval 9"/>
          <p:cNvSpPr/>
          <p:nvPr/>
        </p:nvSpPr>
        <p:spPr>
          <a:xfrm>
            <a:off x="10835640" y="1435607"/>
            <a:ext cx="548640" cy="54864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10725912" cy="768096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2. ما الحاجز الذي يواجهه الطالب؟ — </a:t>
            </a: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لاحظ وافحص واسأل الطالب — لا تفترض</a:t>
            </a:r>
          </a:p>
        </p:txBody>
      </p:sp>
      <p:sp>
        <p:nvSpPr>
          <p:cNvPr id="12" name="Oval 11"/>
          <p:cNvSpPr/>
          <p:nvPr/>
        </p:nvSpPr>
        <p:spPr>
          <a:xfrm>
            <a:off x="10835640" y="2304288"/>
            <a:ext cx="548640" cy="54864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39"/>
            <a:ext cx="10725912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3. حاجز وصول أم مهارة لم تُكتسب؟ — </a:t>
            </a: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أخطر مفترق في النموذج: الأول يحتاج تسهيلًا، والثاني قد يحتاج تدريسًا أو دعمًا أو تعديلًا</a:t>
            </a:r>
          </a:p>
        </p:txBody>
      </p:sp>
      <p:sp>
        <p:nvSpPr>
          <p:cNvPr id="14" name="Oval 13"/>
          <p:cNvSpPr/>
          <p:nvPr/>
        </p:nvSpPr>
        <p:spPr>
          <a:xfrm>
            <a:off x="10835640" y="3172968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62B6B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5912" cy="768096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4. ما التغيير الأقل تأثيرًا على الهدف؟ — </a:t>
            </a: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ابدأ بأخف تدخل يفتح الطريق — لا تقفز إلى الحل الأكبر</a:t>
            </a:r>
          </a:p>
        </p:txBody>
      </p:sp>
      <p:sp>
        <p:nvSpPr>
          <p:cNvPr id="16" name="Oval 15"/>
          <p:cNvSpPr/>
          <p:nvPr/>
        </p:nvSpPr>
        <p:spPr>
          <a:xfrm>
            <a:off x="10835640" y="4041648"/>
            <a:ext cx="548640" cy="54864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10725912" cy="7680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5. كيف سأعرف أن التغيير ساعد؟ — </a:t>
            </a: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حدد الدليل مسبقًا: أداء، عينة عمل، ملاحظة، نتيجة</a:t>
            </a:r>
          </a:p>
        </p:txBody>
      </p:sp>
      <p:sp>
        <p:nvSpPr>
          <p:cNvPr id="18" name="Oval 17"/>
          <p:cNvSpPr/>
          <p:nvPr/>
        </p:nvSpPr>
        <p:spPr>
          <a:xfrm>
            <a:off x="10835640" y="4910328"/>
            <a:ext cx="548640" cy="54864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725912" cy="768096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6. أستمر أم أعدّل؟ — </a:t>
            </a: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راجع بعد فترة محددة وقرر بالأدلة</a:t>
            </a:r>
          </a:p>
        </p:txBody>
      </p:sp>
      <p:sp>
        <p:nvSpPr>
          <p:cNvPr id="20" name="Oval 19"/>
          <p:cNvSpPr/>
          <p:nvPr/>
        </p:nvSpPr>
        <p:spPr>
          <a:xfrm>
            <a:off x="10835640" y="5779008"/>
            <a:ext cx="548640" cy="54864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11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التسهيلات والتقييم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8311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1F3A93"/>
                </a:solidFill>
                <a:latin typeface="Segoe UI"/>
                <a:cs typeface="Segoe UI"/>
              </a:rPr>
              <a:t>التسهيلات قد تكون مهمة في أربعة مواطن: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05740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التعلم اليومي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تعليمات مجزأة، وسائل بصرية، نماذج — تُجرب هنا أولًا وتُضبط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الأنشطة الصفية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طرق مشاركة بديلة، أدوار مناسبة في العمل الجماعي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42900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الواجبات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تجزئة الواجب، وضوح المطلوب، وقت مرن عند الحاجة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2900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الاختبارات والتقييمات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وقت إضافي، مكان هادئ، قراءة التعليمات — عندما تكون مناسبة ومتوافقة مع متطلبات التقييم المعمول بها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725912" cy="9601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  <a:cs typeface="Segoe UI"/>
              </a:rPr>
              <a:t>يجب أن تتوافق التسهيلات في التقييم مع الهدف من التقييم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50" b="1" i="0">
                <a:solidFill>
                  <a:srgbClr val="C9A227"/>
                </a:solidFill>
                <a:latin typeface="Segoe UI"/>
                <a:cs typeface="Segoe UI"/>
              </a:rPr>
              <a:t>والسياسات والمتطلبات المعمول بها في المدرسة أو النظام التعليمي.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111831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قاعدة عملية: التسهيل الذي يظهر لأول مرة يوم الاختبار مفاجأة لا تسهيل — جرّبه في التعلم اليومي أولًا.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12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التوثيق: قرار مكتوب خير من ذاكرة مزدحمة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نموذج توثيق بسيط وعملي للتسهيلات والتعديلات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ما الذي نكتبه؟ ولماذا؟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التوثيق أداة للقرار — لا لإنتاج أوراق أكثر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12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نموذج التوثيق: تسعة حقول تكفي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98448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1. اسم الطالب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من نتابع؟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98448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2. الهدف التعلمي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ما الذي نريد أن يتعلمه؟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3. الحاجة الملاحظة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ما الحاجز الذي رأيناه فعلًا؟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43200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4. التسهيل أو التعديل المستخدم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ما الذي غيّرناه؟ وأيهما هو؟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743200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5. متى يُستخدم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في أي مواقف وحصص؟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6. كيف يُطبق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خطوات التطبيق باختصار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187952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7. الملاحظات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ماذا حدث عند التطبيق؟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87952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8. الأدلة على الأثر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عينة عمل، أداء، نتيجة، ملاحظة موثقة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87952"/>
            <a:ext cx="3593592" cy="129844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9. القرار التالي وموعد المراجعة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نستمر؟ نعدّل؟ نجرب غيره؟ متى نراجع؟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5806440"/>
            <a:ext cx="9235440" cy="658368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  <a:cs typeface="Segoe UI"/>
              </a:rPr>
              <a:t>التوثيق ليس لإنتاج أوراق أكثر — بل ليكون القرار التالي مبنيًا على دليل لا على انطباع.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12 — كيف يبدو عمليًا؟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مثال: نموذج توثيق معبأ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الطالب / الصف: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سليم — الصف الخامس، مادة العلوم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3852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الهدف التعلمي: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أن يفسر الطالب خطوات تجربة بسيطة ويستنتج النتيجة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الحاجة الملاحظة: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يتوه في أوراق العمل ذات التعليمات الطويلة؛ يبدأ ثم يتوقف ويسأل كثيرًا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1868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الاستجابة المختارة: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تسهيل: تقسيم التعليمات إلى خطوات مرقمة + قائمة تحقق يشطب منها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5876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متى وكيف: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في أوراق العمل متعددة الخطوات؛ تُسلّم النسخة المجزأة مع نسخة الصف نفسها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9884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الملاحظات بعد أسبوعين: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أكمل 4 من 5 أوراق عمل دون مساعدة إضافية؛ انخفضت أسئلته أثناء العمل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3892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الدليل: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عينتا عمل مكتملتان + ملاحظة صفية موثقة بتاريخين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79008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القرار التالي: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الاستمرار، مع تجربة سحب تدريجي: قائمة التحقق يعدّها سليم بنفسه — مراجعة بعد 3 أسابيع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13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متابعة الأثر: هل ساعد التغيير فعلًا؟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نموذج بسيط: الدعم ← الدليل ← القرار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التقييم التكويني (Formative Assessment) مصدرًا للأدلة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خيارات القرار: نستمر، نضبط، نجرب غيره، نسحب تدريجيًا، نزيد، نستشير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13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الدعم ← الدليل ← القرار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3716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  <a:cs typeface="Segoe UI"/>
              </a:rPr>
              <a:t>الدعم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ما التسهيل أو التعديل الذي استخدمته؟ ولماذا اخترته؟</a:t>
            </a:r>
          </a:p>
        </p:txBody>
      </p:sp>
      <p:sp>
        <p:nvSpPr>
          <p:cNvPr id="10" name="Left Arrow 9"/>
          <p:cNvSpPr/>
          <p:nvPr/>
        </p:nvSpPr>
        <p:spPr>
          <a:xfrm>
            <a:off x="7836408" y="2148840"/>
            <a:ext cx="347472" cy="411480"/>
          </a:xfrm>
          <a:prstGeom prst="lef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3716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  <a:cs typeface="Segoe UI"/>
              </a:rPr>
              <a:t>الدليل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ماذا حدث فعلًا؟ ما الأدلة على التعلم (Evidence of Learning)؟ عينات عمل، أداء في مهمة، ملاحظة موثقة، نتيجة تقييم تكويني (Formative Assessment)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4005072" y="2148840"/>
            <a:ext cx="347472" cy="411480"/>
          </a:xfrm>
          <a:prstGeom prst="lef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  <a:cs typeface="Segoe UI"/>
              </a:rPr>
              <a:t>القرار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ماذا أفعل الآن بناءً على الدليل؟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1118311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خيارات القرار الستة: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160520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نستمر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الدليل إيجابي — نُبقي الدعم كما هو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60520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نضبط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يعمل جزئيًا — نعدّل التفاصيل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نجرب استجابة أخرى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لم يساعد — نعود إلى تحليل الحاجز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5239512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نسحب تدريجيًا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الطالب يتقدم — نقلل الدعم خطوة خطوة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239512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نزيد الدعم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الحاجة أكبر مما قدّرنا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39512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نطلب رأي مختص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الصورة غير واضحة أو الحاجة تتجاوز الصف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14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حالة متكاملة: من الملاحظة إلى القرار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حالة واقعية (متخيلة) بكامل تفاصيلها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حللوها أولًا — ثم نقارن بالتحليل النموذجي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تطبيق كل ما سبق: الهدف، الحاجز، الاستجابة، الدليل، القرار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14 — اقرأ بتمعن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الحالة: نور والفقرة الكتابية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السياق: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نور، طالبة في الصف السادس — مادة اللغة العربية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29967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الهدف التعلمي: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أن تكتب الطالبة فقرة وصفية من خمس جمل مترابطة باستخدام أدوات ربط مناسبة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المهمة: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كتابة فقرة تصف مكانًا مفضلًا خلال 20 دقيقة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7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الصعوبة الظاهرة: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تسلّم نور ورقة شبه فارغة في أغلب مهام الكتابة، رغم مشاركتها الشفهية الجيدة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24527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ملاحظات المعلمة: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شفهيًا تصف المكان بجمل غنية ومترابطة؛ عند الكتابة تبدأ ثم تمحو كثيرًا وتتوقف عند الجملة الأولى؛ تسأل: «من أين أبدأ؟»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56047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ما جربته المعلمة: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شجعتها وأعطتها وقتًا إضافيًا (5 دقائق) — النتيجة: جملة واحدة فقط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687567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النتيجة الحالية: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الفجوة بين قدرتها الشفهية وإنتاجها الكتابي تتسع، وبدأت تتجنب مهام الكتابة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14 — نشاط المجموعات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حللوا الحالة: خمسة أسئلة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نشاط تفاعلي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في مجموعات ثنائية أو ثلاثية، أجيبوا في ورقة العمل (8) — 8 دقائق: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1.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الهدف التعلمي بدقة؟ وهل الحاجز يمس الهدف نفسه أم الطريق إليه؟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65729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2.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الحاجز الأرجح؟ وما الدليل عليه من الملاحظات؟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65499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3.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لماذا لم ينجح الوقت الإضافي وحده؟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65268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4.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الاستجابة التي تقترحونها؟ وهل هي تسهيل أم تعديل؟ ولماذا؟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65038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5.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كيف ستعرفون بعد أسبوعين أن الاستجابة نجحت؟ ما الدليل الذي ستجمعونه؟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14 — التحليل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التحليل النموذجي لحالة نور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الهدف والحاجز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الحاجز في الطريق، لا في الهدف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الهدف: بناء فقرة مترابطة (تنظيم الأفكار وربطها). قدرتها الشفهية تثبت أن جوهر الهدف في متناولها — الحاجز في تحويل الأفكار إلى كتابة والبدء والتنظيم.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59736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لماذا فشل الوقت الإضافي؟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 لا يطابق الحاجز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الحاجز ليس السرعة بل «من أين أبدأ؟». مزيد من الوقت أمام ورقة فارغة يزيد الإحباط ولا يزيل الحاجز.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93592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الاستجابة المقترحة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 في تنظيم المهمة والاستجابة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مخطط تخطيطي للفقرة (مكان – 3 صفات – شعور)، تسجيل أفكارها صوتيًا ثم كتابتها، جمل بادئة، ونموذج فقرة محلولة. الهدف كما هو: فقرة من خمس جمل مترابطة.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27448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الدليل بعد أسبوعين — </a:t>
            </a: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عينات عمل + ملاحظة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عدد الجمل المكتملة في كل مهمة، استخدام أدوات الربط، وملاحظة سلوك التجنب. إن اكتملت الفقرات: خطة سحب تدريجي للمخطط. إن لم تتحسن: نعيد تحليل الحاجز وقد نستشير مختصًا.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15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سبعة أخطاء شائعة — وتصحيحها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1130" y="1325880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1. التسهيلات نفسها للجميع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الخطأ: قائمة موحدة تُطبق على كل طالب لديه صعوبة.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التصحيح: التسهيل يُبنى على حاجة الطالب المحددة.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325880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2. التسهيل = خفض التوقعات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الخطأ: «سنخفف عنه» بدل «سنفتح له الطريق».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التصحيح: التسهيل يحفظ التوقع ويغيّر الوصول.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325880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3. الاختيار بالتشخيص فقط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الخطأ: التشخيص الفلاني ← التسهيل الفلاني تلقائيًا.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التصحيح: الحاجة الملاحظة أولًا؛ التشخيص معلومة داعمة.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325880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4. تغيير النشاط دون معرفة الهدف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الخطأ: نبدّل المهمة قبل أن نسأل: ما الهدف؟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التصحيح: لا قرار قبل وضوح الهدف التعلمي.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1130" y="4009644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5. دعم مستمر بلا متابعة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الخطأ: تسهيل يستمر أشهرًا دون سؤال: هل ما زال لازمًا؟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التصحيح: مراجعة دورية بالأدلة، وسحب تدريجي عند التقدم.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4009644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6. التعديل مخرجًا سهلًا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الخطأ: نخفض الهدف عند أول صعوبة بدل تجربة التسهيلات.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التصحيح: نجرب أخف تدخل أولًا؛ التعديل قرار مدروس لا مهرب.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8990" y="4009644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7. غياب التوثيق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الخطأ: قرارات في الذاكرة تضيع مع الوقت وتغيّر المعلمين.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التصحيح: نموذج توثيق بسيط يحفظ القرار وأدلته.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9644"/>
            <a:ext cx="2644902" cy="248259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راجع نفسك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أي هذه الأخطاء أقربها إلى ممارستي الحالية؟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سجّل ذلك في ورقة العمل — بصراحة مهنية.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16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المهمة التطبيقية: خطط لطالب حقيقي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اختر طالبًا من صفك يواجه صعوبة حقيقية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خطط استجابة كاملة في اثني عشر حقلًا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هذه الخطة تعود معك إلى المدرسة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16 — ورقة العمل (11)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المهمة التطبيقية: اثنا عشر حقلًا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325880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1. المادة الدراسية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2. الصف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075688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3. الهدف التعلمي للمهمة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75688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4. وصف المهمة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825496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5. الحاجز المرجح أن يواجهه الطالب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25496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6. الحاجة التعليمية (بلغة الحاجة لا التشخيص)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575304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7. الاستجابة: تسهيل أم تعديل؟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75304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8. التغيير المحدد الذي سأجريه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325112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9. لماذا اخترت هذا التغيير؟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25112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10. هل بقي الهدف واضحًا كما هو؟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5074920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11. الدليل الذي سأجمعه على الأثر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74920"/>
            <a:ext cx="5477256" cy="6400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12. موعد المراجعة والقرار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الوقت: 12 دقيقة عمل فردي، ثم تبادل الخطط ثنائيًا للمراجعة بالأسئلة: هل الهدف واضح؟ هل الاستجابة تطابق الحاجز؟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17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نشاط: تسهيل أم تعديل؟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ثمانية مواقف — قرروا: تسهيل، تعديل، أم يحتاج إلى مزيد من المعلومات؟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بعض المواقف غامضة عمدًا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الرسالة: القرار المهني الجيد يحتاج معرفة الهدف أولًا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17 — نشاط تفاعلي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تسهيل أم تعديل؟ (المواقف 1–4)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نشاط تفاعلي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لكل موقف ثلاثة خيارات: تسهيل / تعديل / يحتاج إلى مزيد من المعلومات — سجلوا في ورقة العمل (12):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1: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 يؤدي اختبار العلوم نفسه، لكن في غرفة هادئة مع وقت إضافي.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2: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بينما يكتب الصف تقريرًا من ثلاث فقرات عن دورة الماء، يُطلب من طالب تسمية مراحلها الثلاث فقط، ويُقيَّم على ذلك.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22775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3: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معلمة تقرأ نص أحد الأنشطة بصوت مسموع لطالب.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01183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4: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طالبة تستخدم مخططًا جاهزًا لترتيب أفكارها قبل كتابة الموضوع المطلوب من الجميع.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17 — التحليل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تحليل المواقف 1–4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1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الاختبار نفسه والمطلوب نفسه — تغيّر الوصول (بيئة ووقت) فقط، والهدف من التقييم كما هو.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59736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2 — </a:t>
            </a: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تعديل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المطلوب تغيّر من تفسير مكتوب من ثلاث فقرات إلى تسمية المراحل — تغيّر مستوى التعلم المتوقع والتقييم معًا.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93592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3 — </a:t>
            </a:r>
            <a:r>
              <a:rPr sz="1500" b="1" i="0">
                <a:solidFill>
                  <a:srgbClr val="B03333"/>
                </a:solidFill>
                <a:latin typeface="Segoe UI"/>
                <a:cs typeface="Segoe UI"/>
              </a:rPr>
              <a:t>يحتاج إلى مزيد من المعلومات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ما هدف النشاط؟ إن كان فهم المحتوى فالقراءة المسموعة غالبًا تسهيل؛ وإن كان تقييم مهارة القراءة نفسها فهي تمس الهدف. لا حكم قبل معرفة الهدف.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27448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4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المهمة نفسها والتوقع نفسه — المخطط ينظم الطريق إلى الهدف ولا يغيّره. (وقد يكون دعمًا تعليميًا مفيدًا لكثيرين).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17 — نشاط تفاعلي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تسهيل أم تعديل؟ (المواقف 5–8)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نشاط تفاعلي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الجولة الثانية — انتبهوا: الغموض قد يكون مقصودًا: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5: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 يستخدم الآلة الحاسبة في أحد أنشطة الرياضيات.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6: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بدل حل عشر مسائل كلامية مثل زملائه، يحل طالب أربع مسائل من النوع نفسه وبالمستوى نفسه، لضيق وقته بسبب بطء القراءة.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22775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7: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طالبة تجيب عن أسئلة الفهم شفهيًا بدل كتابتها، والهدف المعلن هو فهم النص.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01183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الموقف 8: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 يعمل على أهداف قراءة من مستوى صفٍّ أدنى ضمن خطته التعليمية الفردية، بينما يعمل الصف على أهداف صفهم الحالي.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17 — التحليل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تحليل المواقف 5–8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5 — </a:t>
            </a:r>
            <a:r>
              <a:rPr sz="1500" b="1" i="0">
                <a:solidFill>
                  <a:srgbClr val="B03333"/>
                </a:solidFill>
                <a:latin typeface="Segoe UI"/>
                <a:cs typeface="Segoe UI"/>
              </a:rPr>
              <a:t>يحتاج إلى مزيد من المعلومات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إن كان الهدف استراتيجية حل المسألة فالحاسبة غالبًا تسهيل؛ وإن كان إتقان العمليات الحسابية نفسها فهي تمس الهدف مباشرة.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59736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6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غالبًا تسهيل — بشرط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النوع والمستوى والهدف كما هي، والتغيير في الكمية لإزالة حاجز الوقت. الشرط: أن تبقى العينة كافية لإظهار التمكن — وإلا بدأنا ننزلق نحو تغيير التوقع.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93592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7 — </a:t>
            </a: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تسهيل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الهدف المعلن فهم النص، والإجابة الشفهية طريقة بديلة لإظهاره — الحاجز (الكتابة) لا علاقة له بالشيء المقيس.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27448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الموقف 8 — </a:t>
            </a: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تعديل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أهداف من مستوى مختلف — تغيير في ما يتعلمه الطالب ومستوى التوقع، مخطط وموثق ضمن الخطة التعليمية الفردية (Individualized Education Program – IEP).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18 — من الملاحظة إلى القرار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خريطة القرار النهائية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4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الهدف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ما المطلوب تعلمه؟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796528" y="2057400"/>
            <a:ext cx="283464" cy="384048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8776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الحاجز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ما الذي يعترض الطريق؟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5943600" y="2057400"/>
            <a:ext cx="283464" cy="384048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5848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الحاجة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ما الذي يحتاجه الطالب فعلًا؟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3090672" y="2057400"/>
            <a:ext cx="283464" cy="384048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الاستجابة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أخف تغيير يفتح الطريق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5. تسهيل أم تعديل؟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هل يمس الهدف أو التوقع؟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90672" y="4251960"/>
            <a:ext cx="28346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55848" y="37947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6. التطبيق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نفّذ ووثّق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43600" y="4251960"/>
            <a:ext cx="28346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37947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7. الدليل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ماذا حدث فعلًا؟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96528" y="4251960"/>
            <a:ext cx="28346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1704" y="37947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8. القرار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  <a:cs typeface="Segoe UI"/>
              </a:rPr>
              <a:t>نستمر / نضبط / نغيّر / نسحب تدريجيًا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600200" y="3063240"/>
            <a:ext cx="384048" cy="68580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63040" y="5806440"/>
            <a:ext cx="9235440" cy="65836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سلسلة واحدة تجيب عن سؤال المعلم: ماذا يحتاج طالبي؟ وما الذي أغيّره؟ وكيف أعرف أنه نجح؟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19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اثنا عشر سؤالًا من مواقف عملية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درجة الاجتياز: 80% (عشر إجابات صحيحة من اثنتي عشرة)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بعد كل سؤال: الإجابة مع شرح موجز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1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جوهر الفرق بين التسهيل والتعديل هو: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حجم التغيير الذي نجريه على المهمة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أثر التغيير على الهدف التعلمي ومستوى التوقع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المكان الذي يُطبق فيه التغيير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عدد الطلاب الذين يستفيدون منه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2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طالب يفهم المادة لكنه يحتاج وقتًا أطول في الاختبار. منحه وقتًا إضافيًا (وفق السياسات المعمول بها) يُعد: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تعديلًا لأنه غيّر ظروف الاختبار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تسهيلًا لأنه يزيل حاجز الوقت دون تغيير المطلوب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خفضًا للتوقعات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غير مقبول في أي تقييم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3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قراءة نص بصوت مسموع لطالب تُعد تسهيلًا عندما يكون هدف النشاط: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تقييم مهارة فك الرموز القرائية نفسها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تقييم الطلاقة في القراءة الجهرية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فهم المحتوى أو المفهوم الذي يحمله النص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لا يمكن أن تكون تسهيلًا أبدًا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4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زميل يقول: «الطالب لديه تشخيص معين، إذن نطبق قائمة التسهيلات الجاهزة لهذا التشخيص.» الرد المهني الأدق: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صحيح — التشخيص يحدد التسهيلات تلقائيًا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التشخيص معلومة مفيدة، لكن الاختيار يُبنى على الحاجة الملاحظة والهدف والحاجز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لا نقدم تسهيلات إلا بوجود تشخيص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نطبق القائمة كاملة احتياطًا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5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بينما يكتب الصف تقريرًا تحليليًا، طُلب من طالبة نسخ ملخص جاهز، وقُيّمت على النسخ. هذا: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تسهيل في الاستجابة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دعم تعليمي عادي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تعديل — تغيّر ما يُتعلم ومستوى التوقع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تسهيل في تنظيم المهمة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6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«وجود حاجز أمام الطالب لا يعني عدم قدرته على التعلم.» التطبيق العملي الصحيح لهذه العبارة: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نخفض الهدف فورًا حتى لا يُحبط الطالب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نبحث عن التغيير الذي يزيل الحاجز مع بقاء الهدف كلما أمكن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نعفيه من المهام الصعبة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ننتظر حتى يتجاوز الحاجز بنفسه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7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أخطر مفترق في نموذج القرار هو التمييز بين: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الواجبات والاختبارات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حاجز يمنع الوصول ومهارة أساسية لم تُكتسب بعد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الطالب الهادئ والطالب المشاغب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التسهيلات الفردية والجماعية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8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طبّق معلم تسهيلًا لمدة شهرين دون أي متابعة أو أدلة. الخطأ هنا: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لا خطأ — التسهيل الجيد يستمر تلقائيًا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كان عليه إيقاف التسهيل بعد أسبوع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دعم مستمر بلا متابعة: لا نعرف أثره ولا متى نضبطه أو نسحبه تدريجيًا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كان عليه تحويله إلى تعديل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9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أفضل مصدر يومي للأدلة على أثر التسهيل هو: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الاختبارات النهائية فقط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انطباع المعلم العام في نهاية الفصل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التقييم التكويني اليومي: عينات عمل، أداء في مهام، ملاحظات موثقة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رأي زملاء الطالب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10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متى يكون اللجوء إلى التعديل قرارًا مهنيًا سليمًا؟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عند أول صعوبة يواجهها الطالب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عندما تُظهر الأدلة فجوة في مهارة أساسية، بعد تجربة التسهيلات، وبقرار مدروس وموثق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عندما يطلب الطالب مهمة أسهل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لا يكون سليمًا أبدًا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11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طالبة تجيد الإجابة شفهيًا وتتعثر كتابيًا، والهدف قياس فهم المحتوى. الاستجابة الأنسب: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إعفاؤها من التقييم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تمكينها من إظهار فهمها بطريقة بديلة مناسبة مع بقاء الهدف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خفض مستوى الأسئلة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تأجيل التقييم إلى أن تتحسن كتابتها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سؤال 12 من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قبل الحكم على أي تغيير بأنه تسهيل أو تعديل، السؤال الأول دائمًا: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كم سيكلف من وقت المعلم؟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هل سيرضى بقية الطلاب؟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9432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الهدف التعلمي من المهمة الأصلية؟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675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د.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هل التغيير مذكور في قائمة جاهزة؟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الاختبار الختامي — درجة الاجتياز 10/12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مفتاح الإجابات وشروحها الموجزة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83112" cy="5120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1. (ب)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الأثر على الهدف والتوقع هو الفيصل، لا شكل التغيير.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2. (ب)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وقت إضافي مع بقاء المطلوب = إزالة حاجز وصول.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3. (ج)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التصنيف يتبع هدف النشاط: فهم المحتوى ← تسهيل.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4. (ب)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الحاجة الملاحظة تقرر؛ التشخيص معلومة داعمة.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5. (ج)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نسخ ملخص بدل التحليل = تغيّر التعلم المتوقع.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6. (ب)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نزيل الحاجز ونحفظ الهدف كلما أمكن.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7. (ب)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حاجز وصول أم مهارة غير مكتسبة — مفترق النموذج.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8. (ج)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دعم بلا دليل = عادة بلا قرار.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9. (ج)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التقييم التكويني اليومي أفضل مصدر للأدلة.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10. (ب)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التعديل قرار مدروس موثق بعد تجربة التسهيلات.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11. (ب)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طريقة بديلة لإظهار الفهم مع بقاء الهدف.</a:t>
            </a:r>
          </a:p>
          <a:p>
            <a:pPr algn="r" rtl="1"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12. (ج)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السؤال الأول دائمًا: ما الهدف التعلمي؟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20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تأمل ختامي: ست دقائق مع نفسك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تأمل فردي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أجب كتابيًا في ورقة العمل (13) — إجابات صادقة قصيرة: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1.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أهم فكرة غيّرت فهمي في هذه الدورة؟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15768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2.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طالب محدد في صفي: ما الحاجز الذي أراه الآن بوضوح أكبر؟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65576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3.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التسهيل الذي سأجربه أول أسبوع بعد الدورة؟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15384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4.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الدليل الذي سأجمعه لأعرف أثره؟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65192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5.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الخطأ من الأخطاء السبعة الذي سأتوقف عنه؟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1500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6.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الذي سأشاركه مع زملائي في المدرسة من هذه الدورة؟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5912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2BB3B1"/>
                </a:solidFill>
                <a:latin typeface="Segoe UI"/>
                <a:cs typeface="Segoe UI"/>
              </a:rPr>
              <a:t>رسالة الختام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234440"/>
            <a:ext cx="10149840" cy="146304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cs typeface="Segoe UI"/>
              </a:rPr>
              <a:t>«التسهيل الجيد لا يغيّر الطالب حتى يناسب الدرس؛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200" b="1" i="0">
                <a:solidFill>
                  <a:srgbClr val="C9A227"/>
                </a:solidFill>
                <a:latin typeface="Segoe UI"/>
                <a:cs typeface="Segoe UI"/>
              </a:rPr>
              <a:t>بل يساعدنا على إزالة الحاجز الذي يقف بين الطالب والتعلم.»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7259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4F6F6"/>
                </a:solidFill>
                <a:latin typeface="Segoe UI"/>
                <a:cs typeface="Segoe UI"/>
              </a:rPr>
              <a:t>سلسلة مسار التي عشناها في هذه الدورة: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112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ملاحظة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96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احتياج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80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هدف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دعم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48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تنفيذ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32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أدلة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16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متابعة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031" y="3474720"/>
            <a:ext cx="1170432" cy="56692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قرار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34840"/>
            <a:ext cx="101498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الوجهة التالية في مسار: حزمة دعم المعلم</a:t>
            </a:r>
          </a:p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أدوات عملية جاهزة للاستخدام اليومي: بطاقات تحليل الحاجز — بنك التسهيلات بحسب المجالات الخمسة — نماذج التوثيق والمتابعة — أدوات جمع الأدلة الصفية — أدلة مختصرة للتواصل مع الأسرة والمنسقين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شكرًا لمشاركتكم — طلابكم هم المستفيد الأول مما تعلمتموه اليوم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19088"/>
            <a:ext cx="116128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F6F6"/>
                </a:solidFill>
                <a:latin typeface="Segoe UI"/>
                <a:cs typeface="Segoe UI"/>
              </a:rPr>
              <a:t>MASAR | مسار — التسهيلات والتعديلات التعليمية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